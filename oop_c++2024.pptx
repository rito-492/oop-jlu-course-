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6" r:id="rId4"/>
    <p:sldMasterId id="2147483689" r:id="rId5"/>
    <p:sldMasterId id="2147483703" r:id="rId6"/>
    <p:sldMasterId id="2147483718" r:id="rId7"/>
  </p:sldMasterIdLst>
  <p:notesMasterIdLst>
    <p:notesMasterId r:id="rId182"/>
  </p:notesMasterIdLst>
  <p:sldIdLst>
    <p:sldId id="270" r:id="rId8"/>
    <p:sldId id="789" r:id="rId9"/>
    <p:sldId id="923" r:id="rId10"/>
    <p:sldId id="573" r:id="rId11"/>
    <p:sldId id="361" r:id="rId12"/>
    <p:sldId id="696" r:id="rId13"/>
    <p:sldId id="574" r:id="rId14"/>
    <p:sldId id="891" r:id="rId15"/>
    <p:sldId id="924" r:id="rId16"/>
    <p:sldId id="925" r:id="rId17"/>
    <p:sldId id="926" r:id="rId18"/>
    <p:sldId id="1635" r:id="rId19"/>
    <p:sldId id="927" r:id="rId20"/>
    <p:sldId id="928" r:id="rId21"/>
    <p:sldId id="929" r:id="rId22"/>
    <p:sldId id="930" r:id="rId23"/>
    <p:sldId id="931" r:id="rId24"/>
    <p:sldId id="932" r:id="rId25"/>
    <p:sldId id="933" r:id="rId26"/>
    <p:sldId id="934" r:id="rId27"/>
    <p:sldId id="935" r:id="rId28"/>
    <p:sldId id="936" r:id="rId29"/>
    <p:sldId id="937" r:id="rId30"/>
    <p:sldId id="1638" r:id="rId31"/>
    <p:sldId id="1636" r:id="rId32"/>
    <p:sldId id="1637" r:id="rId33"/>
    <p:sldId id="938" r:id="rId34"/>
    <p:sldId id="939" r:id="rId35"/>
    <p:sldId id="940" r:id="rId36"/>
    <p:sldId id="1318" r:id="rId37"/>
    <p:sldId id="941" r:id="rId38"/>
    <p:sldId id="942" r:id="rId39"/>
    <p:sldId id="943" r:id="rId40"/>
    <p:sldId id="944" r:id="rId41"/>
    <p:sldId id="945" r:id="rId42"/>
    <p:sldId id="1319" r:id="rId43"/>
    <p:sldId id="946" r:id="rId44"/>
    <p:sldId id="947" r:id="rId45"/>
    <p:sldId id="948" r:id="rId46"/>
    <p:sldId id="949" r:id="rId47"/>
    <p:sldId id="950" r:id="rId48"/>
    <p:sldId id="951" r:id="rId49"/>
    <p:sldId id="952" r:id="rId50"/>
    <p:sldId id="953" r:id="rId51"/>
    <p:sldId id="954" r:id="rId52"/>
    <p:sldId id="955" r:id="rId53"/>
    <p:sldId id="956" r:id="rId54"/>
    <p:sldId id="957" r:id="rId55"/>
    <p:sldId id="1639" r:id="rId56"/>
    <p:sldId id="959" r:id="rId57"/>
    <p:sldId id="958" r:id="rId58"/>
    <p:sldId id="961" r:id="rId59"/>
    <p:sldId id="960" r:id="rId60"/>
    <p:sldId id="962" r:id="rId61"/>
    <p:sldId id="963" r:id="rId62"/>
    <p:sldId id="964" r:id="rId63"/>
    <p:sldId id="966" r:id="rId64"/>
    <p:sldId id="965" r:id="rId65"/>
    <p:sldId id="1640" r:id="rId66"/>
    <p:sldId id="967" r:id="rId67"/>
    <p:sldId id="968" r:id="rId68"/>
    <p:sldId id="970" r:id="rId69"/>
    <p:sldId id="969" r:id="rId70"/>
    <p:sldId id="971" r:id="rId71"/>
    <p:sldId id="972" r:id="rId72"/>
    <p:sldId id="973" r:id="rId73"/>
    <p:sldId id="974" r:id="rId74"/>
    <p:sldId id="975" r:id="rId75"/>
    <p:sldId id="976" r:id="rId76"/>
    <p:sldId id="977" r:id="rId77"/>
    <p:sldId id="978" r:id="rId78"/>
    <p:sldId id="979" r:id="rId79"/>
    <p:sldId id="980" r:id="rId80"/>
    <p:sldId id="981" r:id="rId81"/>
    <p:sldId id="982" r:id="rId82"/>
    <p:sldId id="983" r:id="rId83"/>
    <p:sldId id="984" r:id="rId84"/>
    <p:sldId id="985" r:id="rId85"/>
    <p:sldId id="986" r:id="rId86"/>
    <p:sldId id="987" r:id="rId87"/>
    <p:sldId id="1214" r:id="rId88"/>
    <p:sldId id="988" r:id="rId89"/>
    <p:sldId id="989" r:id="rId90"/>
    <p:sldId id="990" r:id="rId91"/>
    <p:sldId id="991" r:id="rId92"/>
    <p:sldId id="992" r:id="rId93"/>
    <p:sldId id="993" r:id="rId94"/>
    <p:sldId id="994" r:id="rId95"/>
    <p:sldId id="995" r:id="rId96"/>
    <p:sldId id="996" r:id="rId97"/>
    <p:sldId id="997" r:id="rId98"/>
    <p:sldId id="1215" r:id="rId99"/>
    <p:sldId id="998" r:id="rId100"/>
    <p:sldId id="1972" r:id="rId101"/>
    <p:sldId id="1216" r:id="rId102"/>
    <p:sldId id="999" r:id="rId103"/>
    <p:sldId id="1000" r:id="rId104"/>
    <p:sldId id="1287" r:id="rId105"/>
    <p:sldId id="1001" r:id="rId106"/>
    <p:sldId id="1002" r:id="rId107"/>
    <p:sldId id="1003" r:id="rId108"/>
    <p:sldId id="1005" r:id="rId109"/>
    <p:sldId id="1004" r:id="rId110"/>
    <p:sldId id="1007" r:id="rId111"/>
    <p:sldId id="1008" r:id="rId112"/>
    <p:sldId id="1009" r:id="rId113"/>
    <p:sldId id="1010" r:id="rId114"/>
    <p:sldId id="1011" r:id="rId115"/>
    <p:sldId id="1012" r:id="rId116"/>
    <p:sldId id="1013" r:id="rId117"/>
    <p:sldId id="1014" r:id="rId118"/>
    <p:sldId id="1015" r:id="rId119"/>
    <p:sldId id="1016" r:id="rId120"/>
    <p:sldId id="1017" r:id="rId121"/>
    <p:sldId id="1217" r:id="rId122"/>
    <p:sldId id="1021" r:id="rId123"/>
    <p:sldId id="1218" r:id="rId124"/>
    <p:sldId id="1022" r:id="rId125"/>
    <p:sldId id="1023" r:id="rId126"/>
    <p:sldId id="1024" r:id="rId127"/>
    <p:sldId id="1025" r:id="rId128"/>
    <p:sldId id="1288" r:id="rId129"/>
    <p:sldId id="1026" r:id="rId130"/>
    <p:sldId id="1289" r:id="rId131"/>
    <p:sldId id="1027" r:id="rId132"/>
    <p:sldId id="1028" r:id="rId133"/>
    <p:sldId id="1029" r:id="rId134"/>
    <p:sldId id="1030" r:id="rId135"/>
    <p:sldId id="1031" r:id="rId136"/>
    <p:sldId id="1032" r:id="rId137"/>
    <p:sldId id="1033" r:id="rId138"/>
    <p:sldId id="1034" r:id="rId139"/>
    <p:sldId id="1035" r:id="rId140"/>
    <p:sldId id="1290" r:id="rId141"/>
    <p:sldId id="1291" r:id="rId142"/>
    <p:sldId id="1037" r:id="rId143"/>
    <p:sldId id="1038" r:id="rId144"/>
    <p:sldId id="1039" r:id="rId145"/>
    <p:sldId id="1040" r:id="rId146"/>
    <p:sldId id="1041" r:id="rId147"/>
    <p:sldId id="1042" r:id="rId148"/>
    <p:sldId id="1043" r:id="rId149"/>
    <p:sldId id="1044" r:id="rId150"/>
    <p:sldId id="1045" r:id="rId151"/>
    <p:sldId id="1046" r:id="rId152"/>
    <p:sldId id="1047" r:id="rId153"/>
    <p:sldId id="1048" r:id="rId154"/>
    <p:sldId id="1049" r:id="rId155"/>
    <p:sldId id="1050" r:id="rId156"/>
    <p:sldId id="1051" r:id="rId157"/>
    <p:sldId id="1052" r:id="rId158"/>
    <p:sldId id="1053" r:id="rId159"/>
    <p:sldId id="1054" r:id="rId160"/>
    <p:sldId id="1055" r:id="rId161"/>
    <p:sldId id="1056" r:id="rId162"/>
    <p:sldId id="1634" r:id="rId163"/>
    <p:sldId id="1057" r:id="rId164"/>
    <p:sldId id="1058" r:id="rId165"/>
    <p:sldId id="1059" r:id="rId166"/>
    <p:sldId id="1060" r:id="rId167"/>
    <p:sldId id="1061" r:id="rId168"/>
    <p:sldId id="1219" r:id="rId169"/>
    <p:sldId id="1062" r:id="rId170"/>
    <p:sldId id="1063" r:id="rId171"/>
    <p:sldId id="1064" r:id="rId172"/>
    <p:sldId id="1065" r:id="rId173"/>
    <p:sldId id="1066" r:id="rId174"/>
    <p:sldId id="1067" r:id="rId175"/>
    <p:sldId id="1068" r:id="rId176"/>
    <p:sldId id="1069" r:id="rId177"/>
    <p:sldId id="1070" r:id="rId178"/>
    <p:sldId id="1071" r:id="rId179"/>
    <p:sldId id="1072" r:id="rId180"/>
    <p:sldId id="1073" r:id="rId181"/>
    <p:sldId id="1074" r:id="rId183"/>
    <p:sldId id="1075" r:id="rId184"/>
    <p:sldId id="1076" r:id="rId185"/>
    <p:sldId id="1077" r:id="rId186"/>
    <p:sldId id="1078" r:id="rId187"/>
    <p:sldId id="1079" r:id="rId188"/>
    <p:sldId id="1080" r:id="rId189"/>
    <p:sldId id="1081" r:id="rId190"/>
    <p:sldId id="1082" r:id="rId191"/>
    <p:sldId id="1083" r:id="rId192"/>
    <p:sldId id="1084" r:id="rId193"/>
    <p:sldId id="1085" r:id="rId194"/>
    <p:sldId id="1086" r:id="rId195"/>
    <p:sldId id="1087" r:id="rId196"/>
    <p:sldId id="1088" r:id="rId197"/>
    <p:sldId id="1089" r:id="rId198"/>
    <p:sldId id="1090" r:id="rId199"/>
    <p:sldId id="1091" r:id="rId200"/>
    <p:sldId id="1092" r:id="rId201"/>
    <p:sldId id="1093" r:id="rId202"/>
    <p:sldId id="1094" r:id="rId203"/>
    <p:sldId id="1095" r:id="rId204"/>
    <p:sldId id="1096" r:id="rId205"/>
    <p:sldId id="1097" r:id="rId206"/>
    <p:sldId id="1098" r:id="rId207"/>
    <p:sldId id="1099" r:id="rId208"/>
    <p:sldId id="1100" r:id="rId209"/>
    <p:sldId id="1101" r:id="rId210"/>
    <p:sldId id="2227" r:id="rId211"/>
    <p:sldId id="1292" r:id="rId212"/>
    <p:sldId id="1102" r:id="rId213"/>
    <p:sldId id="1103" r:id="rId214"/>
    <p:sldId id="1104" r:id="rId215"/>
    <p:sldId id="1105" r:id="rId216"/>
    <p:sldId id="1106" r:id="rId217"/>
    <p:sldId id="1107" r:id="rId218"/>
    <p:sldId id="1108" r:id="rId219"/>
    <p:sldId id="1109" r:id="rId220"/>
    <p:sldId id="1110" r:id="rId221"/>
    <p:sldId id="1111" r:id="rId222"/>
    <p:sldId id="1293" r:id="rId223"/>
    <p:sldId id="1112" r:id="rId224"/>
    <p:sldId id="1294" r:id="rId225"/>
    <p:sldId id="1113" r:id="rId226"/>
    <p:sldId id="1114" r:id="rId227"/>
    <p:sldId id="1115" r:id="rId228"/>
    <p:sldId id="1116" r:id="rId229"/>
    <p:sldId id="1117" r:id="rId230"/>
    <p:sldId id="1118" r:id="rId231"/>
    <p:sldId id="1119" r:id="rId232"/>
    <p:sldId id="1120" r:id="rId233"/>
    <p:sldId id="1121" r:id="rId234"/>
    <p:sldId id="1122" r:id="rId235"/>
    <p:sldId id="1123" r:id="rId236"/>
    <p:sldId id="1124" r:id="rId237"/>
    <p:sldId id="1125" r:id="rId238"/>
    <p:sldId id="1126" r:id="rId239"/>
    <p:sldId id="1128" r:id="rId240"/>
    <p:sldId id="1127" r:id="rId241"/>
    <p:sldId id="1129" r:id="rId242"/>
    <p:sldId id="1130" r:id="rId243"/>
    <p:sldId id="1131" r:id="rId244"/>
    <p:sldId id="1132" r:id="rId245"/>
    <p:sldId id="1133" r:id="rId246"/>
    <p:sldId id="1134" r:id="rId247"/>
    <p:sldId id="1135" r:id="rId248"/>
    <p:sldId id="1136" r:id="rId249"/>
    <p:sldId id="1137" r:id="rId250"/>
    <p:sldId id="1138" r:id="rId251"/>
    <p:sldId id="1139" r:id="rId252"/>
    <p:sldId id="1140" r:id="rId253"/>
    <p:sldId id="1320" r:id="rId254"/>
    <p:sldId id="1141" r:id="rId255"/>
    <p:sldId id="1295" r:id="rId256"/>
    <p:sldId id="1285" r:id="rId257"/>
    <p:sldId id="1297" r:id="rId258"/>
    <p:sldId id="1142" r:id="rId259"/>
    <p:sldId id="1143" r:id="rId260"/>
    <p:sldId id="1144" r:id="rId261"/>
    <p:sldId id="1145" r:id="rId262"/>
    <p:sldId id="1146" r:id="rId263"/>
    <p:sldId id="1147" r:id="rId264"/>
    <p:sldId id="1148" r:id="rId265"/>
    <p:sldId id="1220" r:id="rId266"/>
    <p:sldId id="1324" r:id="rId267"/>
    <p:sldId id="1322" r:id="rId268"/>
    <p:sldId id="1323" r:id="rId269"/>
    <p:sldId id="1325" r:id="rId270"/>
    <p:sldId id="1299" r:id="rId271"/>
    <p:sldId id="1221" r:id="rId272"/>
    <p:sldId id="1222" r:id="rId273"/>
    <p:sldId id="1223" r:id="rId274"/>
    <p:sldId id="1224" r:id="rId275"/>
    <p:sldId id="1225" r:id="rId276"/>
    <p:sldId id="1226" r:id="rId277"/>
    <p:sldId id="1227" r:id="rId278"/>
    <p:sldId id="1228" r:id="rId279"/>
    <p:sldId id="1229" r:id="rId280"/>
    <p:sldId id="1230" r:id="rId281"/>
    <p:sldId id="1231" r:id="rId282"/>
    <p:sldId id="1232" r:id="rId283"/>
    <p:sldId id="1233" r:id="rId284"/>
    <p:sldId id="1234" r:id="rId285"/>
    <p:sldId id="1321" r:id="rId286"/>
    <p:sldId id="1235" r:id="rId287"/>
    <p:sldId id="1236" r:id="rId288"/>
    <p:sldId id="1237" r:id="rId289"/>
    <p:sldId id="1300" r:id="rId290"/>
    <p:sldId id="1238" r:id="rId291"/>
    <p:sldId id="1328" r:id="rId292"/>
    <p:sldId id="1239" r:id="rId293"/>
    <p:sldId id="1240" r:id="rId294"/>
    <p:sldId id="1301" r:id="rId295"/>
    <p:sldId id="1327" r:id="rId296"/>
    <p:sldId id="1241" r:id="rId297"/>
    <p:sldId id="2374" r:id="rId298"/>
    <p:sldId id="1242" r:id="rId299"/>
    <p:sldId id="1326" r:id="rId300"/>
    <p:sldId id="1243" r:id="rId301"/>
    <p:sldId id="1244" r:id="rId302"/>
    <p:sldId id="1302" r:id="rId303"/>
    <p:sldId id="1303" r:id="rId304"/>
    <p:sldId id="1304" r:id="rId305"/>
    <p:sldId id="1308" r:id="rId306"/>
    <p:sldId id="1309" r:id="rId307"/>
    <p:sldId id="1245" r:id="rId308"/>
    <p:sldId id="1247" r:id="rId309"/>
    <p:sldId id="1248" r:id="rId310"/>
    <p:sldId id="1249" r:id="rId311"/>
    <p:sldId id="1250" r:id="rId312"/>
    <p:sldId id="1251" r:id="rId313"/>
    <p:sldId id="1252" r:id="rId314"/>
    <p:sldId id="1253" r:id="rId315"/>
    <p:sldId id="1254" r:id="rId316"/>
    <p:sldId id="1255" r:id="rId317"/>
    <p:sldId id="1256" r:id="rId318"/>
    <p:sldId id="1305" r:id="rId319"/>
    <p:sldId id="1306" r:id="rId320"/>
    <p:sldId id="1307" r:id="rId321"/>
    <p:sldId id="1257" r:id="rId322"/>
    <p:sldId id="1310" r:id="rId323"/>
    <p:sldId id="1312" r:id="rId324"/>
    <p:sldId id="1314" r:id="rId325"/>
    <p:sldId id="1315" r:id="rId326"/>
    <p:sldId id="1313" r:id="rId327"/>
    <p:sldId id="1316" r:id="rId328"/>
    <p:sldId id="1317" r:id="rId329"/>
    <p:sldId id="1258" r:id="rId330"/>
    <p:sldId id="1259" r:id="rId331"/>
    <p:sldId id="1260" r:id="rId332"/>
    <p:sldId id="1261" r:id="rId333"/>
    <p:sldId id="1262" r:id="rId334"/>
    <p:sldId id="1263" r:id="rId335"/>
    <p:sldId id="1264" r:id="rId336"/>
    <p:sldId id="1265" r:id="rId337"/>
    <p:sldId id="1266" r:id="rId338"/>
    <p:sldId id="1267" r:id="rId339"/>
    <p:sldId id="1268" r:id="rId340"/>
    <p:sldId id="1269" r:id="rId341"/>
    <p:sldId id="1270" r:id="rId342"/>
    <p:sldId id="1271" r:id="rId343"/>
    <p:sldId id="1311" r:id="rId344"/>
    <p:sldId id="1272" r:id="rId345"/>
    <p:sldId id="1273" r:id="rId346"/>
    <p:sldId id="1274" r:id="rId347"/>
    <p:sldId id="1275" r:id="rId348"/>
    <p:sldId id="1276" r:id="rId349"/>
    <p:sldId id="1277" r:id="rId350"/>
    <p:sldId id="1278" r:id="rId351"/>
    <p:sldId id="1279" r:id="rId352"/>
    <p:sldId id="1280" r:id="rId353"/>
    <p:sldId id="1281" r:id="rId354"/>
    <p:sldId id="1282" r:id="rId355"/>
    <p:sldId id="1283" r:id="rId356"/>
    <p:sldId id="1284" r:id="rId357"/>
    <p:sldId id="2373" r:id="rId358"/>
  </p:sldIdLst>
  <p:sldSz cx="9144000" cy="6858000" type="screen4x3"/>
  <p:notesSz cx="6858000" cy="9144000"/>
  <p:custDataLst>
    <p:tags r:id="rId362"/>
  </p:custDataLst>
  <p:defaultTextStyle>
    <a:defPPr>
      <a:defRPr lang="zh-CN"/>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1600" b="0" i="0" u="none" kern="1200" baseline="0">
        <a:solidFill>
          <a:schemeClr val="bg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FF9933"/>
    <a:srgbClr val="FFFF00"/>
    <a:srgbClr val="006600"/>
    <a:srgbClr val="FF9900"/>
    <a:srgbClr val="FF00FF"/>
    <a:srgbClr val="FF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741"/>
    <p:restoredTop sz="94660"/>
  </p:normalViewPr>
  <p:slideViewPr>
    <p:cSldViewPr showGuides="1">
      <p:cViewPr varScale="1">
        <p:scale>
          <a:sx n="73" d="100"/>
          <a:sy n="73" d="100"/>
        </p:scale>
        <p:origin x="-1072" y="-76"/>
      </p:cViewPr>
      <p:guideLst>
        <p:guide orient="horz" pos="2180"/>
        <p:guide pos="289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2.xml"/><Relationship Id="rId98" Type="http://schemas.openxmlformats.org/officeDocument/2006/relationships/slide" Target="slides/slide91.xml"/><Relationship Id="rId97" Type="http://schemas.openxmlformats.org/officeDocument/2006/relationships/slide" Target="slides/slide90.xml"/><Relationship Id="rId96" Type="http://schemas.openxmlformats.org/officeDocument/2006/relationships/slide" Target="slides/slide89.xml"/><Relationship Id="rId95" Type="http://schemas.openxmlformats.org/officeDocument/2006/relationships/slide" Target="slides/slide88.xml"/><Relationship Id="rId94" Type="http://schemas.openxmlformats.org/officeDocument/2006/relationships/slide" Target="slides/slide87.xml"/><Relationship Id="rId93" Type="http://schemas.openxmlformats.org/officeDocument/2006/relationships/slide" Target="slides/slide86.xml"/><Relationship Id="rId92" Type="http://schemas.openxmlformats.org/officeDocument/2006/relationships/slide" Target="slides/slide85.xml"/><Relationship Id="rId91" Type="http://schemas.openxmlformats.org/officeDocument/2006/relationships/slide" Target="slides/slide84.xml"/><Relationship Id="rId90" Type="http://schemas.openxmlformats.org/officeDocument/2006/relationships/slide" Target="slides/slide83.xml"/><Relationship Id="rId9" Type="http://schemas.openxmlformats.org/officeDocument/2006/relationships/slide" Target="slides/slide2.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slide" Target="slides/slide1.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Master" Target="slideMasters/slideMaster6.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2" Type="http://schemas.openxmlformats.org/officeDocument/2006/relationships/tags" Target="tags/tag7.xml"/><Relationship Id="rId361" Type="http://schemas.openxmlformats.org/officeDocument/2006/relationships/tableStyles" Target="tableStyles.xml"/><Relationship Id="rId360" Type="http://schemas.openxmlformats.org/officeDocument/2006/relationships/viewProps" Target="viewProps.xml"/><Relationship Id="rId36" Type="http://schemas.openxmlformats.org/officeDocument/2006/relationships/slide" Target="slides/slide29.xml"/><Relationship Id="rId359" Type="http://schemas.openxmlformats.org/officeDocument/2006/relationships/presProps" Target="presProps.xml"/><Relationship Id="rId358" Type="http://schemas.openxmlformats.org/officeDocument/2006/relationships/slide" Target="slides/slide350.xml"/><Relationship Id="rId357" Type="http://schemas.openxmlformats.org/officeDocument/2006/relationships/slide" Target="slides/slide349.xml"/><Relationship Id="rId356" Type="http://schemas.openxmlformats.org/officeDocument/2006/relationships/slide" Target="slides/slide348.xml"/><Relationship Id="rId355" Type="http://schemas.openxmlformats.org/officeDocument/2006/relationships/slide" Target="slides/slide347.xml"/><Relationship Id="rId354" Type="http://schemas.openxmlformats.org/officeDocument/2006/relationships/slide" Target="slides/slide346.xml"/><Relationship Id="rId353" Type="http://schemas.openxmlformats.org/officeDocument/2006/relationships/slide" Target="slides/slide345.xml"/><Relationship Id="rId352" Type="http://schemas.openxmlformats.org/officeDocument/2006/relationships/slide" Target="slides/slide344.xml"/><Relationship Id="rId351" Type="http://schemas.openxmlformats.org/officeDocument/2006/relationships/slide" Target="slides/slide343.xml"/><Relationship Id="rId350" Type="http://schemas.openxmlformats.org/officeDocument/2006/relationships/slide" Target="slides/slide342.xml"/><Relationship Id="rId35" Type="http://schemas.openxmlformats.org/officeDocument/2006/relationships/slide" Target="slides/slide28.xml"/><Relationship Id="rId349" Type="http://schemas.openxmlformats.org/officeDocument/2006/relationships/slide" Target="slides/slide341.xml"/><Relationship Id="rId348" Type="http://schemas.openxmlformats.org/officeDocument/2006/relationships/slide" Target="slides/slide340.xml"/><Relationship Id="rId347" Type="http://schemas.openxmlformats.org/officeDocument/2006/relationships/slide" Target="slides/slide339.xml"/><Relationship Id="rId346" Type="http://schemas.openxmlformats.org/officeDocument/2006/relationships/slide" Target="slides/slide338.xml"/><Relationship Id="rId345" Type="http://schemas.openxmlformats.org/officeDocument/2006/relationships/slide" Target="slides/slide337.xml"/><Relationship Id="rId344" Type="http://schemas.openxmlformats.org/officeDocument/2006/relationships/slide" Target="slides/slide336.xml"/><Relationship Id="rId343" Type="http://schemas.openxmlformats.org/officeDocument/2006/relationships/slide" Target="slides/slide335.xml"/><Relationship Id="rId342" Type="http://schemas.openxmlformats.org/officeDocument/2006/relationships/slide" Target="slides/slide334.xml"/><Relationship Id="rId341" Type="http://schemas.openxmlformats.org/officeDocument/2006/relationships/slide" Target="slides/slide333.xml"/><Relationship Id="rId340" Type="http://schemas.openxmlformats.org/officeDocument/2006/relationships/slide" Target="slides/slide332.xml"/><Relationship Id="rId34" Type="http://schemas.openxmlformats.org/officeDocument/2006/relationships/slide" Target="slides/slide27.xml"/><Relationship Id="rId339" Type="http://schemas.openxmlformats.org/officeDocument/2006/relationships/slide" Target="slides/slide331.xml"/><Relationship Id="rId338" Type="http://schemas.openxmlformats.org/officeDocument/2006/relationships/slide" Target="slides/slide330.xml"/><Relationship Id="rId337" Type="http://schemas.openxmlformats.org/officeDocument/2006/relationships/slide" Target="slides/slide329.xml"/><Relationship Id="rId336" Type="http://schemas.openxmlformats.org/officeDocument/2006/relationships/slide" Target="slides/slide328.xml"/><Relationship Id="rId335" Type="http://schemas.openxmlformats.org/officeDocument/2006/relationships/slide" Target="slides/slide327.xml"/><Relationship Id="rId334" Type="http://schemas.openxmlformats.org/officeDocument/2006/relationships/slide" Target="slides/slide326.xml"/><Relationship Id="rId333" Type="http://schemas.openxmlformats.org/officeDocument/2006/relationships/slide" Target="slides/slide325.xml"/><Relationship Id="rId332" Type="http://schemas.openxmlformats.org/officeDocument/2006/relationships/slide" Target="slides/slide324.xml"/><Relationship Id="rId331" Type="http://schemas.openxmlformats.org/officeDocument/2006/relationships/slide" Target="slides/slide323.xml"/><Relationship Id="rId330" Type="http://schemas.openxmlformats.org/officeDocument/2006/relationships/slide" Target="slides/slide322.xml"/><Relationship Id="rId33" Type="http://schemas.openxmlformats.org/officeDocument/2006/relationships/slide" Target="slides/slide26.xml"/><Relationship Id="rId329" Type="http://schemas.openxmlformats.org/officeDocument/2006/relationships/slide" Target="slides/slide321.xml"/><Relationship Id="rId328" Type="http://schemas.openxmlformats.org/officeDocument/2006/relationships/slide" Target="slides/slide320.xml"/><Relationship Id="rId327" Type="http://schemas.openxmlformats.org/officeDocument/2006/relationships/slide" Target="slides/slide319.xml"/><Relationship Id="rId326" Type="http://schemas.openxmlformats.org/officeDocument/2006/relationships/slide" Target="slides/slide318.xml"/><Relationship Id="rId325" Type="http://schemas.openxmlformats.org/officeDocument/2006/relationships/slide" Target="slides/slide317.xml"/><Relationship Id="rId324" Type="http://schemas.openxmlformats.org/officeDocument/2006/relationships/slide" Target="slides/slide316.xml"/><Relationship Id="rId323" Type="http://schemas.openxmlformats.org/officeDocument/2006/relationships/slide" Target="slides/slide315.xml"/><Relationship Id="rId322" Type="http://schemas.openxmlformats.org/officeDocument/2006/relationships/slide" Target="slides/slide314.xml"/><Relationship Id="rId321" Type="http://schemas.openxmlformats.org/officeDocument/2006/relationships/slide" Target="slides/slide313.xml"/><Relationship Id="rId320" Type="http://schemas.openxmlformats.org/officeDocument/2006/relationships/slide" Target="slides/slide312.xml"/><Relationship Id="rId32" Type="http://schemas.openxmlformats.org/officeDocument/2006/relationships/slide" Target="slides/slide25.xml"/><Relationship Id="rId319" Type="http://schemas.openxmlformats.org/officeDocument/2006/relationships/slide" Target="slides/slide311.xml"/><Relationship Id="rId318" Type="http://schemas.openxmlformats.org/officeDocument/2006/relationships/slide" Target="slides/slide310.xml"/><Relationship Id="rId317" Type="http://schemas.openxmlformats.org/officeDocument/2006/relationships/slide" Target="slides/slide309.xml"/><Relationship Id="rId316" Type="http://schemas.openxmlformats.org/officeDocument/2006/relationships/slide" Target="slides/slide308.xml"/><Relationship Id="rId315" Type="http://schemas.openxmlformats.org/officeDocument/2006/relationships/slide" Target="slides/slide307.xml"/><Relationship Id="rId314" Type="http://schemas.openxmlformats.org/officeDocument/2006/relationships/slide" Target="slides/slide306.xml"/><Relationship Id="rId313" Type="http://schemas.openxmlformats.org/officeDocument/2006/relationships/slide" Target="slides/slide305.xml"/><Relationship Id="rId312" Type="http://schemas.openxmlformats.org/officeDocument/2006/relationships/slide" Target="slides/slide304.xml"/><Relationship Id="rId311" Type="http://schemas.openxmlformats.org/officeDocument/2006/relationships/slide" Target="slides/slide303.xml"/><Relationship Id="rId310" Type="http://schemas.openxmlformats.org/officeDocument/2006/relationships/slide" Target="slides/slide302.xml"/><Relationship Id="rId31" Type="http://schemas.openxmlformats.org/officeDocument/2006/relationships/slide" Target="slides/slide24.xml"/><Relationship Id="rId309" Type="http://schemas.openxmlformats.org/officeDocument/2006/relationships/slide" Target="slides/slide301.xml"/><Relationship Id="rId308" Type="http://schemas.openxmlformats.org/officeDocument/2006/relationships/slide" Target="slides/slide300.xml"/><Relationship Id="rId307" Type="http://schemas.openxmlformats.org/officeDocument/2006/relationships/slide" Target="slides/slide299.xml"/><Relationship Id="rId306" Type="http://schemas.openxmlformats.org/officeDocument/2006/relationships/slide" Target="slides/slide298.xml"/><Relationship Id="rId305" Type="http://schemas.openxmlformats.org/officeDocument/2006/relationships/slide" Target="slides/slide297.xml"/><Relationship Id="rId304" Type="http://schemas.openxmlformats.org/officeDocument/2006/relationships/slide" Target="slides/slide296.xml"/><Relationship Id="rId303" Type="http://schemas.openxmlformats.org/officeDocument/2006/relationships/slide" Target="slides/slide295.xml"/><Relationship Id="rId302" Type="http://schemas.openxmlformats.org/officeDocument/2006/relationships/slide" Target="slides/slide294.xml"/><Relationship Id="rId301" Type="http://schemas.openxmlformats.org/officeDocument/2006/relationships/slide" Target="slides/slide293.xml"/><Relationship Id="rId300" Type="http://schemas.openxmlformats.org/officeDocument/2006/relationships/slide" Target="slides/slide292.xml"/><Relationship Id="rId30" Type="http://schemas.openxmlformats.org/officeDocument/2006/relationships/slide" Target="slides/slide23.xml"/><Relationship Id="rId3" Type="http://schemas.openxmlformats.org/officeDocument/2006/relationships/slideMaster" Target="slideMasters/slideMaster2.xml"/><Relationship Id="rId299" Type="http://schemas.openxmlformats.org/officeDocument/2006/relationships/slide" Target="slides/slide291.xml"/><Relationship Id="rId298" Type="http://schemas.openxmlformats.org/officeDocument/2006/relationships/slide" Target="slides/slide290.xml"/><Relationship Id="rId297" Type="http://schemas.openxmlformats.org/officeDocument/2006/relationships/slide" Target="slides/slide289.xml"/><Relationship Id="rId296" Type="http://schemas.openxmlformats.org/officeDocument/2006/relationships/slide" Target="slides/slide288.xml"/><Relationship Id="rId295" Type="http://schemas.openxmlformats.org/officeDocument/2006/relationships/slide" Target="slides/slide287.xml"/><Relationship Id="rId294" Type="http://schemas.openxmlformats.org/officeDocument/2006/relationships/slide" Target="slides/slide286.xml"/><Relationship Id="rId293" Type="http://schemas.openxmlformats.org/officeDocument/2006/relationships/slide" Target="slides/slide285.xml"/><Relationship Id="rId292" Type="http://schemas.openxmlformats.org/officeDocument/2006/relationships/slide" Target="slides/slide284.xml"/><Relationship Id="rId291" Type="http://schemas.openxmlformats.org/officeDocument/2006/relationships/slide" Target="slides/slide283.xml"/><Relationship Id="rId290" Type="http://schemas.openxmlformats.org/officeDocument/2006/relationships/slide" Target="slides/slide282.xml"/><Relationship Id="rId29" Type="http://schemas.openxmlformats.org/officeDocument/2006/relationships/slide" Target="slides/slide22.xml"/><Relationship Id="rId289" Type="http://schemas.openxmlformats.org/officeDocument/2006/relationships/slide" Target="slides/slide281.xml"/><Relationship Id="rId288" Type="http://schemas.openxmlformats.org/officeDocument/2006/relationships/slide" Target="slides/slide280.xml"/><Relationship Id="rId287" Type="http://schemas.openxmlformats.org/officeDocument/2006/relationships/slide" Target="slides/slide279.xml"/><Relationship Id="rId286" Type="http://schemas.openxmlformats.org/officeDocument/2006/relationships/slide" Target="slides/slide278.xml"/><Relationship Id="rId285" Type="http://schemas.openxmlformats.org/officeDocument/2006/relationships/slide" Target="slides/slide277.xml"/><Relationship Id="rId284" Type="http://schemas.openxmlformats.org/officeDocument/2006/relationships/slide" Target="slides/slide276.xml"/><Relationship Id="rId283" Type="http://schemas.openxmlformats.org/officeDocument/2006/relationships/slide" Target="slides/slide275.xml"/><Relationship Id="rId282" Type="http://schemas.openxmlformats.org/officeDocument/2006/relationships/slide" Target="slides/slide274.xml"/><Relationship Id="rId281" Type="http://schemas.openxmlformats.org/officeDocument/2006/relationships/slide" Target="slides/slide273.xml"/><Relationship Id="rId280" Type="http://schemas.openxmlformats.org/officeDocument/2006/relationships/slide" Target="slides/slide272.xml"/><Relationship Id="rId28" Type="http://schemas.openxmlformats.org/officeDocument/2006/relationships/slide" Target="slides/slide21.xml"/><Relationship Id="rId279" Type="http://schemas.openxmlformats.org/officeDocument/2006/relationships/slide" Target="slides/slide271.xml"/><Relationship Id="rId278" Type="http://schemas.openxmlformats.org/officeDocument/2006/relationships/slide" Target="slides/slide270.xml"/><Relationship Id="rId277" Type="http://schemas.openxmlformats.org/officeDocument/2006/relationships/slide" Target="slides/slide269.xml"/><Relationship Id="rId276" Type="http://schemas.openxmlformats.org/officeDocument/2006/relationships/slide" Target="slides/slide268.xml"/><Relationship Id="rId275" Type="http://schemas.openxmlformats.org/officeDocument/2006/relationships/slide" Target="slides/slide267.xml"/><Relationship Id="rId274" Type="http://schemas.openxmlformats.org/officeDocument/2006/relationships/slide" Target="slides/slide266.xml"/><Relationship Id="rId273" Type="http://schemas.openxmlformats.org/officeDocument/2006/relationships/slide" Target="slides/slide265.xml"/><Relationship Id="rId272" Type="http://schemas.openxmlformats.org/officeDocument/2006/relationships/slide" Target="slides/slide264.xml"/><Relationship Id="rId271" Type="http://schemas.openxmlformats.org/officeDocument/2006/relationships/slide" Target="slides/slide263.xml"/><Relationship Id="rId270" Type="http://schemas.openxmlformats.org/officeDocument/2006/relationships/slide" Target="slides/slide262.xml"/><Relationship Id="rId27" Type="http://schemas.openxmlformats.org/officeDocument/2006/relationships/slide" Target="slides/slide20.xml"/><Relationship Id="rId269" Type="http://schemas.openxmlformats.org/officeDocument/2006/relationships/slide" Target="slides/slide261.xml"/><Relationship Id="rId268" Type="http://schemas.openxmlformats.org/officeDocument/2006/relationships/slide" Target="slides/slide260.xml"/><Relationship Id="rId267" Type="http://schemas.openxmlformats.org/officeDocument/2006/relationships/slide" Target="slides/slide259.xml"/><Relationship Id="rId266" Type="http://schemas.openxmlformats.org/officeDocument/2006/relationships/slide" Target="slides/slide258.xml"/><Relationship Id="rId265" Type="http://schemas.openxmlformats.org/officeDocument/2006/relationships/slide" Target="slides/slide257.xml"/><Relationship Id="rId264" Type="http://schemas.openxmlformats.org/officeDocument/2006/relationships/slide" Target="slides/slide256.xml"/><Relationship Id="rId263" Type="http://schemas.openxmlformats.org/officeDocument/2006/relationships/slide" Target="slides/slide255.xml"/><Relationship Id="rId262" Type="http://schemas.openxmlformats.org/officeDocument/2006/relationships/slide" Target="slides/slide254.xml"/><Relationship Id="rId261" Type="http://schemas.openxmlformats.org/officeDocument/2006/relationships/slide" Target="slides/slide253.xml"/><Relationship Id="rId260" Type="http://schemas.openxmlformats.org/officeDocument/2006/relationships/slide" Target="slides/slide252.xml"/><Relationship Id="rId26" Type="http://schemas.openxmlformats.org/officeDocument/2006/relationships/slide" Target="slides/slide19.xml"/><Relationship Id="rId259" Type="http://schemas.openxmlformats.org/officeDocument/2006/relationships/slide" Target="slides/slide251.xml"/><Relationship Id="rId258" Type="http://schemas.openxmlformats.org/officeDocument/2006/relationships/slide" Target="slides/slide250.xml"/><Relationship Id="rId257" Type="http://schemas.openxmlformats.org/officeDocument/2006/relationships/slide" Target="slides/slide249.xml"/><Relationship Id="rId256" Type="http://schemas.openxmlformats.org/officeDocument/2006/relationships/slide" Target="slides/slide248.xml"/><Relationship Id="rId255" Type="http://schemas.openxmlformats.org/officeDocument/2006/relationships/slide" Target="slides/slide247.xml"/><Relationship Id="rId254" Type="http://schemas.openxmlformats.org/officeDocument/2006/relationships/slide" Target="slides/slide246.xml"/><Relationship Id="rId253" Type="http://schemas.openxmlformats.org/officeDocument/2006/relationships/slide" Target="slides/slide245.xml"/><Relationship Id="rId252" Type="http://schemas.openxmlformats.org/officeDocument/2006/relationships/slide" Target="slides/slide244.xml"/><Relationship Id="rId251" Type="http://schemas.openxmlformats.org/officeDocument/2006/relationships/slide" Target="slides/slide243.xml"/><Relationship Id="rId250" Type="http://schemas.openxmlformats.org/officeDocument/2006/relationships/slide" Target="slides/slide242.xml"/><Relationship Id="rId25" Type="http://schemas.openxmlformats.org/officeDocument/2006/relationships/slide" Target="slides/slide18.xml"/><Relationship Id="rId249" Type="http://schemas.openxmlformats.org/officeDocument/2006/relationships/slide" Target="slides/slide241.xml"/><Relationship Id="rId248" Type="http://schemas.openxmlformats.org/officeDocument/2006/relationships/slide" Target="slides/slide240.xml"/><Relationship Id="rId247" Type="http://schemas.openxmlformats.org/officeDocument/2006/relationships/slide" Target="slides/slide239.xml"/><Relationship Id="rId246" Type="http://schemas.openxmlformats.org/officeDocument/2006/relationships/slide" Target="slides/slide238.xml"/><Relationship Id="rId245" Type="http://schemas.openxmlformats.org/officeDocument/2006/relationships/slide" Target="slides/slide237.xml"/><Relationship Id="rId244" Type="http://schemas.openxmlformats.org/officeDocument/2006/relationships/slide" Target="slides/slide236.xml"/><Relationship Id="rId243" Type="http://schemas.openxmlformats.org/officeDocument/2006/relationships/slide" Target="slides/slide235.xml"/><Relationship Id="rId242" Type="http://schemas.openxmlformats.org/officeDocument/2006/relationships/slide" Target="slides/slide234.xml"/><Relationship Id="rId241" Type="http://schemas.openxmlformats.org/officeDocument/2006/relationships/slide" Target="slides/slide233.xml"/><Relationship Id="rId240" Type="http://schemas.openxmlformats.org/officeDocument/2006/relationships/slide" Target="slides/slide232.xml"/><Relationship Id="rId24" Type="http://schemas.openxmlformats.org/officeDocument/2006/relationships/slide" Target="slides/slide17.xml"/><Relationship Id="rId239" Type="http://schemas.openxmlformats.org/officeDocument/2006/relationships/slide" Target="slides/slide231.xml"/><Relationship Id="rId238" Type="http://schemas.openxmlformats.org/officeDocument/2006/relationships/slide" Target="slides/slide230.xml"/><Relationship Id="rId237" Type="http://schemas.openxmlformats.org/officeDocument/2006/relationships/slide" Target="slides/slide229.xml"/><Relationship Id="rId236" Type="http://schemas.openxmlformats.org/officeDocument/2006/relationships/slide" Target="slides/slide228.xml"/><Relationship Id="rId235" Type="http://schemas.openxmlformats.org/officeDocument/2006/relationships/slide" Target="slides/slide227.xml"/><Relationship Id="rId234" Type="http://schemas.openxmlformats.org/officeDocument/2006/relationships/slide" Target="slides/slide226.xml"/><Relationship Id="rId233" Type="http://schemas.openxmlformats.org/officeDocument/2006/relationships/slide" Target="slides/slide225.xml"/><Relationship Id="rId232" Type="http://schemas.openxmlformats.org/officeDocument/2006/relationships/slide" Target="slides/slide224.xml"/><Relationship Id="rId231" Type="http://schemas.openxmlformats.org/officeDocument/2006/relationships/slide" Target="slides/slide223.xml"/><Relationship Id="rId230" Type="http://schemas.openxmlformats.org/officeDocument/2006/relationships/slide" Target="slides/slide222.xml"/><Relationship Id="rId23" Type="http://schemas.openxmlformats.org/officeDocument/2006/relationships/slide" Target="slides/slide16.xml"/><Relationship Id="rId229" Type="http://schemas.openxmlformats.org/officeDocument/2006/relationships/slide" Target="slides/slide221.xml"/><Relationship Id="rId228" Type="http://schemas.openxmlformats.org/officeDocument/2006/relationships/slide" Target="slides/slide220.xml"/><Relationship Id="rId227" Type="http://schemas.openxmlformats.org/officeDocument/2006/relationships/slide" Target="slides/slide219.xml"/><Relationship Id="rId226" Type="http://schemas.openxmlformats.org/officeDocument/2006/relationships/slide" Target="slides/slide218.xml"/><Relationship Id="rId225" Type="http://schemas.openxmlformats.org/officeDocument/2006/relationships/slide" Target="slides/slide217.xml"/><Relationship Id="rId224" Type="http://schemas.openxmlformats.org/officeDocument/2006/relationships/slide" Target="slides/slide216.xml"/><Relationship Id="rId223" Type="http://schemas.openxmlformats.org/officeDocument/2006/relationships/slide" Target="slides/slide215.xml"/><Relationship Id="rId222" Type="http://schemas.openxmlformats.org/officeDocument/2006/relationships/slide" Target="slides/slide214.xml"/><Relationship Id="rId221" Type="http://schemas.openxmlformats.org/officeDocument/2006/relationships/slide" Target="slides/slide213.xml"/><Relationship Id="rId220" Type="http://schemas.openxmlformats.org/officeDocument/2006/relationships/slide" Target="slides/slide212.xml"/><Relationship Id="rId22" Type="http://schemas.openxmlformats.org/officeDocument/2006/relationships/slide" Target="slides/slide15.xml"/><Relationship Id="rId219" Type="http://schemas.openxmlformats.org/officeDocument/2006/relationships/slide" Target="slides/slide211.xml"/><Relationship Id="rId218" Type="http://schemas.openxmlformats.org/officeDocument/2006/relationships/slide" Target="slides/slide210.xml"/><Relationship Id="rId217" Type="http://schemas.openxmlformats.org/officeDocument/2006/relationships/slide" Target="slides/slide209.xml"/><Relationship Id="rId216" Type="http://schemas.openxmlformats.org/officeDocument/2006/relationships/slide" Target="slides/slide208.xml"/><Relationship Id="rId215" Type="http://schemas.openxmlformats.org/officeDocument/2006/relationships/slide" Target="slides/slide207.xml"/><Relationship Id="rId214" Type="http://schemas.openxmlformats.org/officeDocument/2006/relationships/slide" Target="slides/slide206.xml"/><Relationship Id="rId213" Type="http://schemas.openxmlformats.org/officeDocument/2006/relationships/slide" Target="slides/slide205.xml"/><Relationship Id="rId212" Type="http://schemas.openxmlformats.org/officeDocument/2006/relationships/slide" Target="slides/slide204.xml"/><Relationship Id="rId211" Type="http://schemas.openxmlformats.org/officeDocument/2006/relationships/slide" Target="slides/slide203.xml"/><Relationship Id="rId210" Type="http://schemas.openxmlformats.org/officeDocument/2006/relationships/slide" Target="slides/slide202.xml"/><Relationship Id="rId21" Type="http://schemas.openxmlformats.org/officeDocument/2006/relationships/slide" Target="slides/slide14.xml"/><Relationship Id="rId209" Type="http://schemas.openxmlformats.org/officeDocument/2006/relationships/slide" Target="slides/slide201.xml"/><Relationship Id="rId208" Type="http://schemas.openxmlformats.org/officeDocument/2006/relationships/slide" Target="slides/slide200.xml"/><Relationship Id="rId207" Type="http://schemas.openxmlformats.org/officeDocument/2006/relationships/slide" Target="slides/slide199.xml"/><Relationship Id="rId206" Type="http://schemas.openxmlformats.org/officeDocument/2006/relationships/slide" Target="slides/slide198.xml"/><Relationship Id="rId205" Type="http://schemas.openxmlformats.org/officeDocument/2006/relationships/slide" Target="slides/slide197.xml"/><Relationship Id="rId204" Type="http://schemas.openxmlformats.org/officeDocument/2006/relationships/slide" Target="slides/slide196.xml"/><Relationship Id="rId203" Type="http://schemas.openxmlformats.org/officeDocument/2006/relationships/slide" Target="slides/slide195.xml"/><Relationship Id="rId202" Type="http://schemas.openxmlformats.org/officeDocument/2006/relationships/slide" Target="slides/slide194.xml"/><Relationship Id="rId201" Type="http://schemas.openxmlformats.org/officeDocument/2006/relationships/slide" Target="slides/slide193.xml"/><Relationship Id="rId200" Type="http://schemas.openxmlformats.org/officeDocument/2006/relationships/slide" Target="slides/slide192.xml"/><Relationship Id="rId20" Type="http://schemas.openxmlformats.org/officeDocument/2006/relationships/slide" Target="slides/slide13.xml"/><Relationship Id="rId2" Type="http://schemas.openxmlformats.org/officeDocument/2006/relationships/theme" Target="theme/theme1.xml"/><Relationship Id="rId199" Type="http://schemas.openxmlformats.org/officeDocument/2006/relationships/slide" Target="slides/slide191.xml"/><Relationship Id="rId198" Type="http://schemas.openxmlformats.org/officeDocument/2006/relationships/slide" Target="slides/slide190.xml"/><Relationship Id="rId197" Type="http://schemas.openxmlformats.org/officeDocument/2006/relationships/slide" Target="slides/slide189.xml"/><Relationship Id="rId196" Type="http://schemas.openxmlformats.org/officeDocument/2006/relationships/slide" Target="slides/slide188.xml"/><Relationship Id="rId195" Type="http://schemas.openxmlformats.org/officeDocument/2006/relationships/slide" Target="slides/slide187.xml"/><Relationship Id="rId194" Type="http://schemas.openxmlformats.org/officeDocument/2006/relationships/slide" Target="slides/slide186.xml"/><Relationship Id="rId193" Type="http://schemas.openxmlformats.org/officeDocument/2006/relationships/slide" Target="slides/slide185.xml"/><Relationship Id="rId192" Type="http://schemas.openxmlformats.org/officeDocument/2006/relationships/slide" Target="slides/slide184.xml"/><Relationship Id="rId191" Type="http://schemas.openxmlformats.org/officeDocument/2006/relationships/slide" Target="slides/slide183.xml"/><Relationship Id="rId190" Type="http://schemas.openxmlformats.org/officeDocument/2006/relationships/slide" Target="slides/slide182.xml"/><Relationship Id="rId19" Type="http://schemas.openxmlformats.org/officeDocument/2006/relationships/slide" Target="slides/slide12.xml"/><Relationship Id="rId189" Type="http://schemas.openxmlformats.org/officeDocument/2006/relationships/slide" Target="slides/slide181.xml"/><Relationship Id="rId188" Type="http://schemas.openxmlformats.org/officeDocument/2006/relationships/slide" Target="slides/slide180.xml"/><Relationship Id="rId187" Type="http://schemas.openxmlformats.org/officeDocument/2006/relationships/slide" Target="slides/slide179.xml"/><Relationship Id="rId186" Type="http://schemas.openxmlformats.org/officeDocument/2006/relationships/slide" Target="slides/slide178.xml"/><Relationship Id="rId185" Type="http://schemas.openxmlformats.org/officeDocument/2006/relationships/slide" Target="slides/slide177.xml"/><Relationship Id="rId184" Type="http://schemas.openxmlformats.org/officeDocument/2006/relationships/slide" Target="slides/slide176.xml"/><Relationship Id="rId183" Type="http://schemas.openxmlformats.org/officeDocument/2006/relationships/slide" Target="slides/slide175.xml"/><Relationship Id="rId182" Type="http://schemas.openxmlformats.org/officeDocument/2006/relationships/notesMaster" Target="notesMasters/notesMaster1.xml"/><Relationship Id="rId181" Type="http://schemas.openxmlformats.org/officeDocument/2006/relationships/slide" Target="slides/slide174.xml"/><Relationship Id="rId180" Type="http://schemas.openxmlformats.org/officeDocument/2006/relationships/slide" Target="slides/slide173.xml"/><Relationship Id="rId18" Type="http://schemas.openxmlformats.org/officeDocument/2006/relationships/slide" Target="slides/slide11.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176" Type="http://schemas.openxmlformats.org/officeDocument/2006/relationships/slide" Target="slides/slide169.xml"/><Relationship Id="rId175" Type="http://schemas.openxmlformats.org/officeDocument/2006/relationships/slide" Target="slides/slide168.xml"/><Relationship Id="rId174" Type="http://schemas.openxmlformats.org/officeDocument/2006/relationships/slide" Target="slides/slide167.xml"/><Relationship Id="rId173" Type="http://schemas.openxmlformats.org/officeDocument/2006/relationships/slide" Target="slides/slide166.xml"/><Relationship Id="rId172" Type="http://schemas.openxmlformats.org/officeDocument/2006/relationships/slide" Target="slides/slide165.xml"/><Relationship Id="rId171" Type="http://schemas.openxmlformats.org/officeDocument/2006/relationships/slide" Target="slides/slide164.xml"/><Relationship Id="rId170" Type="http://schemas.openxmlformats.org/officeDocument/2006/relationships/slide" Target="slides/slide163.xml"/><Relationship Id="rId17" Type="http://schemas.openxmlformats.org/officeDocument/2006/relationships/slide" Target="slides/slide10.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165" Type="http://schemas.openxmlformats.org/officeDocument/2006/relationships/slide" Target="slides/slide158.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1" Type="http://schemas.openxmlformats.org/officeDocument/2006/relationships/slide" Target="slides/slide154.xml"/><Relationship Id="rId160" Type="http://schemas.openxmlformats.org/officeDocument/2006/relationships/slide" Target="slides/slide153.xml"/><Relationship Id="rId16" Type="http://schemas.openxmlformats.org/officeDocument/2006/relationships/slide" Target="slides/slide9.xml"/><Relationship Id="rId159" Type="http://schemas.openxmlformats.org/officeDocument/2006/relationships/slide" Target="slides/slide152.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54" Type="http://schemas.openxmlformats.org/officeDocument/2006/relationships/slide" Target="slides/slide147.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0" Type="http://schemas.openxmlformats.org/officeDocument/2006/relationships/slide" Target="slides/slide143.xml"/><Relationship Id="rId15" Type="http://schemas.openxmlformats.org/officeDocument/2006/relationships/slide" Target="slides/slide8.xml"/><Relationship Id="rId149" Type="http://schemas.openxmlformats.org/officeDocument/2006/relationships/slide" Target="slides/slide142.xml"/><Relationship Id="rId148" Type="http://schemas.openxmlformats.org/officeDocument/2006/relationships/slide" Target="slides/slide141.xml"/><Relationship Id="rId147" Type="http://schemas.openxmlformats.org/officeDocument/2006/relationships/slide" Target="slides/slide140.xml"/><Relationship Id="rId146" Type="http://schemas.openxmlformats.org/officeDocument/2006/relationships/slide" Target="slides/slide139.xml"/><Relationship Id="rId145" Type="http://schemas.openxmlformats.org/officeDocument/2006/relationships/slide" Target="slides/slide138.xml"/><Relationship Id="rId144" Type="http://schemas.openxmlformats.org/officeDocument/2006/relationships/slide" Target="slides/slide137.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14" Type="http://schemas.openxmlformats.org/officeDocument/2006/relationships/slide" Target="slides/slide7.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 Type="http://schemas.openxmlformats.org/officeDocument/2006/relationships/slide" Target="slides/slide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121" Type="http://schemas.openxmlformats.org/officeDocument/2006/relationships/slide" Target="slides/slide114.xml"/><Relationship Id="rId120" Type="http://schemas.openxmlformats.org/officeDocument/2006/relationships/slide" Target="slides/slide113.xml"/><Relationship Id="rId12" Type="http://schemas.openxmlformats.org/officeDocument/2006/relationships/slide" Target="slides/slide5.xml"/><Relationship Id="rId119" Type="http://schemas.openxmlformats.org/officeDocument/2006/relationships/slide" Target="slides/slide112.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110" Type="http://schemas.openxmlformats.org/officeDocument/2006/relationships/slide" Target="slides/slide103.xml"/><Relationship Id="rId11" Type="http://schemas.openxmlformats.org/officeDocument/2006/relationships/slide" Target="slides/slide4.xml"/><Relationship Id="rId109" Type="http://schemas.openxmlformats.org/officeDocument/2006/relationships/slide" Target="slides/slide102.xml"/><Relationship Id="rId108" Type="http://schemas.openxmlformats.org/officeDocument/2006/relationships/slide" Target="slides/slide101.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kumimoji="1" sz="1200">
                <a:effectLst>
                  <a:outerShdw blurRad="38100" dist="38100" dir="2700000" algn="tl">
                    <a:srgbClr val="000000">
                      <a:alpha val="43137"/>
                    </a:srgbClr>
                  </a:outerShdw>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kumimoji="1" sz="1200">
                <a:effectLst>
                  <a:outerShdw blurRad="38100" dist="38100" dir="2700000" algn="tl">
                    <a:srgbClr val="000000">
                      <a:alpha val="43137"/>
                    </a:srgbClr>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BD724A3-D0CF-4134-97DA-3C8C562A3859}" type="datetimeFigureOut">
              <a:rPr kumimoji="1" lang="zh-CN" altLang="en-US" sz="12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kumimoji="1" sz="1200">
                <a:effectLst>
                  <a:outerShdw blurRad="38100" dist="38100" dir="2700000" algn="tl">
                    <a:srgbClr val="000000">
                      <a:alpha val="43137"/>
                    </a:srgbClr>
                  </a:outerShdw>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fontAlgn="base" hangingPunct="1">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3" name="幻灯片图像占位符 1"/>
          <p:cNvSpPr>
            <a:spLocks noGrp="1" noRot="1" noChangeAspect="1" noTextEdit="1"/>
          </p:cNvSpPr>
          <p:nvPr>
            <p:ph type="sldImg"/>
          </p:nvPr>
        </p:nvSpPr>
        <p:spPr>
          <a:ln>
            <a:solidFill>
              <a:srgbClr val="000000"/>
            </a:solidFill>
            <a:miter/>
          </a:ln>
        </p:spPr>
      </p:sp>
      <p:sp>
        <p:nvSpPr>
          <p:cNvPr id="202754" name="备注占位符 2"/>
          <p:cNvSpPr>
            <a:spLocks noGrp="1"/>
          </p:cNvSpPr>
          <p:nvPr>
            <p:ph type="body"/>
          </p:nvPr>
        </p:nvSpPr>
        <p:spPr>
          <a:noFill/>
          <a:ln>
            <a:noFill/>
          </a:ln>
        </p:spPr>
        <p:txBody>
          <a:bodyPr wrap="square" lIns="91440" tIns="45720" rIns="91440" bIns="45720" anchor="t"/>
          <a:p>
            <a:pPr lvl="0" eaLnBrk="1" hangingPunct="1">
              <a:spcBef>
                <a:spcPct val="0"/>
              </a:spcBef>
            </a:pPr>
            <a:endParaRPr lang="zh-CN" altLang="en-US" dirty="0"/>
          </a:p>
        </p:txBody>
      </p:sp>
      <p:sp>
        <p:nvSpPr>
          <p:cNvPr id="4" name="灯片编号占位符 3"/>
          <p:cNvSpPr txBox="1">
            <a:spLocks noGrp="1"/>
          </p:cNvSpPr>
          <p:nvPr>
            <p:ph type="sldNum" sz="quarter"/>
          </p:nvPr>
        </p:nvSpPr>
        <p:spPr>
          <a:noFill/>
        </p:spPr>
        <p:txBody>
          <a:bodyPr wrap="square" lIns="91440" tIns="45720" rIns="91440" bIns="45720" numCol="1" anchor="b" anchorCtr="0" compatLnSpc="1"/>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bg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1" dirty="0">
              <a:solidFill>
                <a:schemeClr val="bg1"/>
              </a:solidFill>
              <a:effectLst>
                <a:outerShdw blurRad="38100" dist="38100" dir="2700000">
                  <a:srgbClr val="C0C0C0"/>
                </a:outerShdw>
              </a:effectLst>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1" name="幻灯片图像占位符 1"/>
          <p:cNvSpPr>
            <a:spLocks noGrp="1" noRot="1" noChangeAspect="1" noTextEdit="1"/>
          </p:cNvSpPr>
          <p:nvPr>
            <p:ph type="sldImg"/>
          </p:nvPr>
        </p:nvSpPr>
        <p:spPr>
          <a:ln>
            <a:solidFill>
              <a:srgbClr val="000000"/>
            </a:solidFill>
            <a:miter/>
          </a:ln>
        </p:spPr>
      </p:sp>
      <p:sp>
        <p:nvSpPr>
          <p:cNvPr id="204802" name="备注占位符 2"/>
          <p:cNvSpPr>
            <a:spLocks noGrp="1"/>
          </p:cNvSpPr>
          <p:nvPr>
            <p:ph type="body"/>
          </p:nvPr>
        </p:nvSpPr>
        <p:spPr>
          <a:noFill/>
          <a:ln>
            <a:noFill/>
          </a:ln>
        </p:spPr>
        <p:txBody>
          <a:bodyPr wrap="square" lIns="91440" tIns="45720" rIns="91440" bIns="45720" anchor="t"/>
          <a:p>
            <a:pPr lvl="0" eaLnBrk="1" hangingPunct="1">
              <a:spcBef>
                <a:spcPct val="0"/>
              </a:spcBef>
            </a:pPr>
            <a:endParaRPr lang="zh-CN" altLang="en-US" dirty="0"/>
          </a:p>
        </p:txBody>
      </p:sp>
      <p:sp>
        <p:nvSpPr>
          <p:cNvPr id="4" name="灯片编号占位符 3"/>
          <p:cNvSpPr txBox="1">
            <a:spLocks noGrp="1"/>
          </p:cNvSpPr>
          <p:nvPr>
            <p:ph type="sldNum" sz="quarter"/>
          </p:nvPr>
        </p:nvSpPr>
        <p:spPr>
          <a:noFill/>
        </p:spPr>
        <p:txBody>
          <a:bodyPr wrap="square" lIns="91440" tIns="45720" rIns="91440" bIns="45720" numCol="1" anchor="b" anchorCtr="0" compatLnSpc="1"/>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bg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1" dirty="0">
              <a:solidFill>
                <a:schemeClr val="bg1"/>
              </a:solidFill>
              <a:effectLst>
                <a:outerShdw blurRad="38100" dist="38100" dir="2700000">
                  <a:srgbClr val="C0C0C0"/>
                </a:outerShdw>
              </a:effectLst>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5" name="幻灯片图像占位符 1"/>
          <p:cNvSpPr/>
          <p:nvPr>
            <p:ph type="sldImg"/>
          </p:nvPr>
        </p:nvSpPr>
        <p:spPr>
          <a:ln>
            <a:solidFill>
              <a:srgbClr val="000000"/>
            </a:solidFill>
          </a:ln>
        </p:spPr>
      </p:sp>
      <p:sp>
        <p:nvSpPr>
          <p:cNvPr id="251906" name="文本占位符 2"/>
          <p:cNvSpPr/>
          <p:nvPr>
            <p:ph type="body"/>
          </p:nvPr>
        </p:nvSpPr>
        <p:spPr>
          <a:noFill/>
          <a:ln>
            <a:noFill/>
          </a:ln>
        </p:spPr>
        <p:txBody>
          <a:bodyPr lIns="91440" tIns="45720" rIns="91440" bIns="45720" anchor="t"/>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3333FF"/>
            </a:gs>
            <a:gs pos="100000">
              <a:schemeClr val="accent2"/>
            </a:gs>
          </a:gsLst>
          <a:lin ang="0" scaled="1"/>
          <a:tileRect/>
        </a:gradFill>
        <a:effectLst/>
      </p:bgPr>
    </p:bg>
    <p:spTree>
      <p:nvGrpSpPr>
        <p:cNvPr id="1" name=""/>
        <p:cNvGrpSpPr/>
        <p:nvPr/>
      </p:nvGrpSpPr>
      <p:grpSpPr>
        <a:xfrm>
          <a:off x="0" y="0"/>
          <a:ext cx="0" cy="0"/>
          <a:chOff x="0" y="0"/>
          <a:chExt cx="0" cy="0"/>
        </a:xfrm>
      </p:grpSpPr>
      <p:sp>
        <p:nvSpPr>
          <p:cNvPr id="7"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819400" y="609600"/>
            <a:ext cx="6096000" cy="11430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2819400" y="1981200"/>
            <a:ext cx="6096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8" name="页脚占位符 3"/>
          <p:cNvSpPr>
            <a:spLocks noGrp="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0"/>
          </p:nvPr>
        </p:nvSpPr>
        <p:spPr>
          <a:xfrm>
            <a:off x="685800" y="6248400"/>
            <a:ext cx="1905000" cy="457200"/>
          </a:xfrm>
          <a:prstGeom prst="rect">
            <a:avLst/>
          </a:prstGeom>
          <a:noFill/>
          <a:ln>
            <a:noFill/>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a:xfrm>
            <a:off x="6553200" y="6248400"/>
            <a:ext cx="1905000" cy="457200"/>
          </a:xfrm>
          <a:prstGeom prst="rect">
            <a:avLst/>
          </a:prstGeom>
          <a:noFill/>
          <a:ln>
            <a:noFill/>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Line 2"/>
          <p:cNvSpPr>
            <a:spLocks noChangeShapeType="1"/>
          </p:cNvSpPr>
          <p:nvPr/>
        </p:nvSpPr>
        <p:spPr bwMode="auto">
          <a:xfrm>
            <a:off x="0" y="1708150"/>
            <a:ext cx="9147175" cy="0"/>
          </a:xfrm>
          <a:prstGeom prst="line">
            <a:avLst/>
          </a:prstGeom>
          <a:noFill/>
          <a:ln w="12700" cap="sq">
            <a:solidFill>
              <a:schemeClr val="bg2"/>
            </a:solidFill>
            <a:round/>
            <a:headEnd type="none" w="sm" len="sm"/>
            <a:tailEnd type="none" w="sm" len="sm"/>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Arc 3"/>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2743200" y="427038"/>
            <a:ext cx="6399213" cy="1524000"/>
          </a:xfrm>
        </p:spPr>
        <p:txBody>
          <a:bodyPr anchor="b"/>
          <a:lstStyle>
            <a:lvl1pPr>
              <a:lnSpc>
                <a:spcPct val="80000"/>
              </a:lnSpc>
              <a:defRPr sz="5400"/>
            </a:lvl1pPr>
          </a:lstStyle>
          <a:p>
            <a:pPr lvl="0" fontAlgn="base"/>
            <a:r>
              <a:rPr lang="zh-CN" altLang="en-US" strike="noStrike" noProof="0"/>
              <a:t>单击此处编辑母版标题样式</a:t>
            </a:r>
            <a:endParaRPr lang="zh-CN" altLang="en-US" strike="noStrike" noProof="0"/>
          </a:p>
        </p:txBody>
      </p:sp>
      <p:sp>
        <p:nvSpPr>
          <p:cNvPr id="4101" name="Rectangle 5"/>
          <p:cNvSpPr>
            <a:spLocks noGrp="1" noChangeArrowheads="1"/>
          </p:cNvSpPr>
          <p:nvPr>
            <p:ph type="subTitle" sz="quarter" idx="1"/>
          </p:nvPr>
        </p:nvSpPr>
        <p:spPr>
          <a:xfrm>
            <a:off x="4191000" y="1828800"/>
            <a:ext cx="4572000" cy="1752600"/>
          </a:xfrm>
        </p:spPr>
        <p:txBody>
          <a:bodyPr/>
          <a:lstStyle>
            <a:lvl1pPr marL="0" indent="0">
              <a:buFont typeface="Wingdings" panose="05000000000000000000" pitchFamily="2" charset="2"/>
              <a:buNone/>
              <a:defRPr sz="2400">
                <a:ea typeface="宋体" panose="02010600030101010101" pitchFamily="2" charset="-122"/>
              </a:defRPr>
            </a:lvl1pPr>
          </a:lstStyle>
          <a:p>
            <a:pPr lvl="0" fontAlgn="base"/>
            <a:r>
              <a:rPr lang="zh-CN" altLang="en-US" strike="noStrike" noProof="0"/>
              <a:t>单击此处编辑母版副标题样式</a:t>
            </a:r>
            <a:endParaRPr lang="zh-CN" altLang="en-US" strike="noStrike" noProof="0"/>
          </a:p>
        </p:txBody>
      </p:sp>
      <p:sp>
        <p:nvSpPr>
          <p:cNvPr id="9" name="Rectangle 7"/>
          <p:cNvSpPr>
            <a:spLocks noGrp="1" noChangeArrowheads="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页脚占位符 3"/>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7" name="页脚占位符 3"/>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819400" y="1981200"/>
            <a:ext cx="2971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943600" y="1981200"/>
            <a:ext cx="2971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页脚占位符 4"/>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solidFill>
          <a:schemeClr val="bg1"/>
        </a:solidFill>
        <a:effectLst/>
      </p:bgPr>
    </p:bg>
    <p:spTree>
      <p:nvGrpSpPr>
        <p:cNvPr id="1" name=""/>
        <p:cNvGrpSpPr/>
        <p:nvPr/>
      </p:nvGrpSpPr>
      <p:grpSpPr>
        <a:xfrm>
          <a:off x="0" y="0"/>
          <a:ext cx="0" cy="0"/>
          <a:chOff x="0" y="0"/>
          <a:chExt cx="0" cy="0"/>
        </a:xfrm>
      </p:grpSpPr>
      <p:sp>
        <p:nvSpPr>
          <p:cNvPr id="7"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8" name="页脚占位符 6"/>
          <p:cNvSpPr>
            <a:spLocks noGrp="1"/>
          </p:cNvSpPr>
          <p:nvPr>
            <p:ph type="ftr" sz="quarter" idx="1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showMasterSp="0">
  <p:cSld name="仅标题">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7" name="页脚占位符 2"/>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页脚占位符 1"/>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7" name="页脚占位符 4"/>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2075" tIns="46037" rIns="92075" bIns="46037"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7" name="页脚占位符 4"/>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页脚占位符 3"/>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竖排标题 1"/>
          <p:cNvSpPr>
            <a:spLocks noGrp="1"/>
          </p:cNvSpPr>
          <p:nvPr>
            <p:ph type="title" orient="vert"/>
          </p:nvPr>
        </p:nvSpPr>
        <p:spPr>
          <a:xfrm>
            <a:off x="7391400" y="609600"/>
            <a:ext cx="15240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2819400" y="609600"/>
            <a:ext cx="44196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页脚占位符 3"/>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showMasterSp="0">
  <p:cSld name="标题和表格">
    <p:bg>
      <p:bgPr>
        <a:solidFill>
          <a:schemeClr val="bg1"/>
        </a:solidFill>
        <a:effectLst/>
      </p:bgPr>
    </p:bg>
    <p:spTree>
      <p:nvGrpSpPr>
        <p:cNvPr id="1" name=""/>
        <p:cNvGrpSpPr/>
        <p:nvPr/>
      </p:nvGrpSpPr>
      <p:grpSpPr>
        <a:xfrm>
          <a:off x="0" y="0"/>
          <a:ext cx="0" cy="0"/>
          <a:chOff x="0" y="0"/>
          <a:chExt cx="0" cy="0"/>
        </a:xfrm>
      </p:grpSpPr>
      <p:sp>
        <p:nvSpPr>
          <p:cNvPr id="6"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819400" y="609600"/>
            <a:ext cx="6096000" cy="11430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2819400" y="1981200"/>
            <a:ext cx="6096000" cy="4114800"/>
          </a:xfrm>
        </p:spPr>
        <p:txBody>
          <a:bodyPr vert="horz" wrap="square" lIns="92075" tIns="46037" rIns="92075" bIns="46037"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2800" b="0" i="0" u="none" strike="noStrike" kern="0" cap="none" spc="0" normalizeH="0" baseline="0" noProof="0">
              <a:ln>
                <a:noFill/>
              </a:ln>
              <a:solidFill>
                <a:schemeClr val="tx1"/>
              </a:solidFill>
              <a:effectLst/>
              <a:uLnTx/>
              <a:uFillTx/>
              <a:latin typeface="+mn-lt"/>
              <a:ea typeface="+mn-ea"/>
              <a:cs typeface="+mn-cs"/>
            </a:endParaRPr>
          </a:p>
        </p:txBody>
      </p:sp>
      <p:sp>
        <p:nvSpPr>
          <p:cNvPr id="7" name="页脚占位符 3"/>
          <p:cNvSpPr>
            <a:spLocks noGrp="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3333FF"/>
            </a:gs>
            <a:gs pos="100000">
              <a:schemeClr val="accent2"/>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819400" y="609600"/>
            <a:ext cx="6096000" cy="11430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2819400" y="1981200"/>
            <a:ext cx="6096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7" name="页脚占位符 3"/>
          <p:cNvSpPr>
            <a:spLocks noGrp="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日期占位符 3"/>
          <p:cNvSpPr>
            <a:spLocks noGrp="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4"/>
          <p:cNvSpPr>
            <a:spLocks noGrp="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
            <a:pPr algn="r" fontAlgn="base">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3333FF"/>
            </a:gs>
            <a:gs pos="100000">
              <a:schemeClr val="accent2"/>
            </a:gs>
          </a:gsLst>
          <a:lin ang="0" scaled="1"/>
          <a:tileRect/>
        </a:gradFill>
        <a:effectLst/>
      </p:bgPr>
    </p:bg>
    <p:spTree>
      <p:nvGrpSpPr>
        <p:cNvPr id="1" name=""/>
        <p:cNvGrpSpPr/>
        <p:nvPr/>
      </p:nvGrpSpPr>
      <p:grpSpPr>
        <a:xfrm>
          <a:off x="0" y="0"/>
          <a:ext cx="0" cy="0"/>
          <a:chOff x="0" y="0"/>
          <a:chExt cx="0" cy="0"/>
        </a:xfrm>
      </p:grpSpPr>
      <p:sp>
        <p:nvSpPr>
          <p:cNvPr id="7"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819400" y="609600"/>
            <a:ext cx="6096000" cy="11430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2819400" y="1981200"/>
            <a:ext cx="6096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8" name="页脚占位符 3"/>
          <p:cNvSpPr>
            <a:spLocks noGrp="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0"/>
          </p:nvPr>
        </p:nvSpPr>
        <p:spPr>
          <a:xfrm>
            <a:off x="685800" y="6248400"/>
            <a:ext cx="1905000" cy="457200"/>
          </a:xfrm>
          <a:prstGeom prst="rect">
            <a:avLst/>
          </a:prstGeom>
          <a:noFill/>
          <a:ln>
            <a:noFill/>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a:xfrm>
            <a:off x="6553200" y="6248400"/>
            <a:ext cx="1905000" cy="457200"/>
          </a:xfrm>
          <a:prstGeom prst="rect">
            <a:avLst/>
          </a:prstGeom>
          <a:noFill/>
          <a:ln>
            <a:noFill/>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3333FF"/>
            </a:gs>
            <a:gs pos="100000">
              <a:schemeClr val="accent2"/>
            </a:gs>
          </a:gsLst>
          <a:lin ang="0" scaled="1"/>
          <a:tileRect/>
        </a:gradFill>
        <a:effectLst/>
      </p:bgPr>
    </p:bg>
    <p:spTree>
      <p:nvGrpSpPr>
        <p:cNvPr id="1" name=""/>
        <p:cNvGrpSpPr/>
        <p:nvPr/>
      </p:nvGrpSpPr>
      <p:grpSpPr>
        <a:xfrm>
          <a:off x="0" y="0"/>
          <a:ext cx="0" cy="0"/>
          <a:chOff x="0" y="0"/>
          <a:chExt cx="0" cy="0"/>
        </a:xfrm>
      </p:grpSpPr>
      <p:sp>
        <p:nvSpPr>
          <p:cNvPr id="7"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819400" y="609600"/>
            <a:ext cx="6096000" cy="1143000"/>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2819400" y="1981200"/>
            <a:ext cx="6096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8" name="页脚占位符 3"/>
          <p:cNvSpPr>
            <a:spLocks noGrp="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kumimoji="1">
                <a:effectLst>
                  <a:outerShdw blurRad="38100" dist="38100" dir="2700000" algn="tl">
                    <a:srgbClr val="000000">
                      <a:alpha val="43137"/>
                    </a:srgbClr>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0"/>
          </p:nvPr>
        </p:nvSpPr>
        <p:spPr>
          <a:xfrm>
            <a:off x="685800" y="6248400"/>
            <a:ext cx="1905000" cy="457200"/>
          </a:xfrm>
          <a:prstGeom prst="rect">
            <a:avLst/>
          </a:prstGeom>
          <a:noFill/>
          <a:ln>
            <a:noFill/>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a:xfrm>
            <a:off x="6553200" y="6248400"/>
            <a:ext cx="1905000" cy="457200"/>
          </a:xfrm>
          <a:prstGeom prst="rect">
            <a:avLst/>
          </a:prstGeom>
          <a:noFill/>
          <a:ln>
            <a:noFill/>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3" Type="http://schemas.openxmlformats.org/officeDocument/2006/relationships/theme" Target="../theme/theme2.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3" Type="http://schemas.openxmlformats.org/officeDocument/2006/relationships/theme" Target="../theme/theme3.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7.xml"/><Relationship Id="rId8" Type="http://schemas.openxmlformats.org/officeDocument/2006/relationships/slideLayout" Target="../slideLayouts/slideLayout46.xml"/><Relationship Id="rId7" Type="http://schemas.openxmlformats.org/officeDocument/2006/relationships/slideLayout" Target="../slideLayouts/slideLayout45.xml"/><Relationship Id="rId6" Type="http://schemas.openxmlformats.org/officeDocument/2006/relationships/slideLayout" Target="../slideLayouts/slideLayout44.xml"/><Relationship Id="rId5" Type="http://schemas.openxmlformats.org/officeDocument/2006/relationships/slideLayout" Target="../slideLayouts/slideLayout43.xml"/><Relationship Id="rId4" Type="http://schemas.openxmlformats.org/officeDocument/2006/relationships/slideLayout" Target="../slideLayouts/slideLayout42.xml"/><Relationship Id="rId3" Type="http://schemas.openxmlformats.org/officeDocument/2006/relationships/slideLayout" Target="../slideLayouts/slideLayout41.xml"/><Relationship Id="rId2" Type="http://schemas.openxmlformats.org/officeDocument/2006/relationships/slideLayout" Target="../slideLayouts/slideLayout40.xml"/><Relationship Id="rId14" Type="http://schemas.openxmlformats.org/officeDocument/2006/relationships/theme" Target="../theme/theme4.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 Type="http://schemas.openxmlformats.org/officeDocument/2006/relationships/slideLayout" Target="../slideLayouts/slideLayout55.xml"/><Relationship Id="rId3" Type="http://schemas.openxmlformats.org/officeDocument/2006/relationships/slideLayout" Target="../slideLayouts/slideLayout54.xml"/><Relationship Id="rId2" Type="http://schemas.openxmlformats.org/officeDocument/2006/relationships/slideLayout" Target="../slideLayouts/slideLayout53.xml"/><Relationship Id="rId15" Type="http://schemas.openxmlformats.org/officeDocument/2006/relationships/theme" Target="../theme/theme5.xml"/><Relationship Id="rId14" Type="http://schemas.openxmlformats.org/officeDocument/2006/relationships/slideLayout" Target="../slideLayouts/slideLayout65.xml"/><Relationship Id="rId13" Type="http://schemas.openxmlformats.org/officeDocument/2006/relationships/slideLayout" Target="../slideLayouts/slideLayout64.xml"/><Relationship Id="rId12" Type="http://schemas.openxmlformats.org/officeDocument/2006/relationships/slideLayout" Target="../slideLayouts/slideLayout63.xml"/><Relationship Id="rId11" Type="http://schemas.openxmlformats.org/officeDocument/2006/relationships/slideLayout" Target="../slideLayouts/slideLayout62.xml"/><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5" Type="http://schemas.openxmlformats.org/officeDocument/2006/relationships/theme" Target="../theme/theme6.xml"/><Relationship Id="rId14" Type="http://schemas.openxmlformats.org/officeDocument/2006/relationships/slideLayout" Target="../slideLayouts/slideLayout79.xml"/><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chemeClr val="accent2"/>
            </a:gs>
          </a:gsLst>
          <a:lin ang="0" scaled="1"/>
          <a:tileRect/>
        </a:grad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40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defRPr>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Arc 2"/>
          <p:cNvSpPr/>
          <p:nvPr/>
        </p:nvSpPr>
        <p:spPr bwMode="auto">
          <a:xfrm>
            <a:off x="0" y="842963"/>
            <a:ext cx="2897188" cy="6015038"/>
          </a:xfrm>
          <a:custGeom>
            <a:avLst/>
            <a:gdLst>
              <a:gd name="T0" fmla="*/ 0 w 21600"/>
              <a:gd name="T1" fmla="*/ 0 h 21600"/>
              <a:gd name="T2" fmla="*/ 2897188 w 21600"/>
              <a:gd name="T3" fmla="*/ 6015037 h 21600"/>
              <a:gd name="T4" fmla="*/ 0 w 21600"/>
              <a:gd name="T5" fmla="*/ 60150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gradFill rotWithShape="0">
            <a:gsLst>
              <a:gs pos="0">
                <a:schemeClr val="bg1"/>
              </a:gs>
              <a:gs pos="100000">
                <a:schemeClr val="accent2"/>
              </a:gs>
            </a:gsLst>
            <a:lin ang="5400000" scaled="1"/>
          </a:gradFill>
          <a:ln>
            <a:noFill/>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p:cNvSpPr>
          <p:nvPr>
            <p:ph type="title"/>
          </p:nvPr>
        </p:nvSpPr>
        <p:spPr>
          <a:xfrm>
            <a:off x="2819400" y="609600"/>
            <a:ext cx="6096000" cy="1143000"/>
          </a:xfrm>
          <a:prstGeom prst="rect">
            <a:avLst/>
          </a:prstGeom>
          <a:noFill/>
          <a:ln w="9525">
            <a:noFill/>
          </a:ln>
        </p:spPr>
        <p:txBody>
          <a:bodyPr lIns="92075" tIns="46037" rIns="92075" bIns="46037" anchor="ctr"/>
          <a:p>
            <a:pPr lvl="0"/>
            <a:r>
              <a:rPr lang="zh-CN" altLang="en-US" dirty="0"/>
              <a:t>单击此处编辑母版标题样式</a:t>
            </a:r>
            <a:endParaRPr lang="zh-CN" altLang="en-US" dirty="0"/>
          </a:p>
        </p:txBody>
      </p:sp>
      <p:sp>
        <p:nvSpPr>
          <p:cNvPr id="2052" name="Rectangle 4"/>
          <p:cNvSpPr>
            <a:spLocks noGrp="1"/>
          </p:cNvSpPr>
          <p:nvPr>
            <p:ph type="body"/>
          </p:nvPr>
        </p:nvSpPr>
        <p:spPr>
          <a:xfrm>
            <a:off x="2819400" y="1981200"/>
            <a:ext cx="6096000" cy="4114800"/>
          </a:xfrm>
          <a:prstGeom prst="rect">
            <a:avLst/>
          </a:prstGeom>
          <a:noFill/>
          <a:ln w="9525">
            <a:noFill/>
          </a:ln>
        </p:spPr>
        <p:txBody>
          <a:bodyPr lIns="92075" tIns="46037" rIns="92075" bIns="46037" anchor="t"/>
          <a:p>
            <a:pPr lvl="0"/>
            <a:r>
              <a:rPr lang="zh-CN" altLang="en-US" dirty="0"/>
              <a:t>单击此处编辑母版文本样式</a:t>
            </a:r>
            <a:endParaRPr lang="zh-CN" altLang="en-US" dirty="0"/>
          </a:p>
          <a:p>
            <a:pPr lvl="1" indent="-285750"/>
            <a:r>
              <a:rPr lang="zh-CN" altLang="en-US" dirty="0"/>
              <a:t>第二层</a:t>
            </a:r>
            <a:endParaRPr lang="zh-CN" altLang="en-US" dirty="0"/>
          </a:p>
          <a:p>
            <a:pPr lvl="2" indent="-228600"/>
            <a:r>
              <a:rPr lang="zh-CN" altLang="en-US" dirty="0"/>
              <a:t>第三层</a:t>
            </a:r>
            <a:endParaRPr lang="zh-CN" altLang="en-US" dirty="0"/>
          </a:p>
          <a:p>
            <a:pPr lvl="3" indent="-228600"/>
            <a:r>
              <a:rPr lang="zh-CN" altLang="en-US" dirty="0"/>
              <a:t>第四层</a:t>
            </a:r>
            <a:endParaRPr lang="zh-CN" altLang="en-US" dirty="0"/>
          </a:p>
          <a:p>
            <a:pPr lvl="4" indent="-228600"/>
            <a:r>
              <a:rPr lang="zh-CN" altLang="en-US" dirty="0"/>
              <a:t>第五层</a:t>
            </a:r>
            <a:endParaRPr lang="zh-CN" altLang="en-US" dirty="0"/>
          </a:p>
        </p:txBody>
      </p:sp>
      <p:sp>
        <p:nvSpPr>
          <p:cNvPr id="3078" name="Rectangle 6"/>
          <p:cNvSpPr>
            <a:spLocks noGrp="1" noChangeArrowheads="1"/>
          </p:cNvSpPr>
          <p:nvPr>
            <p:ph type="ftr" sz="quarter" idx="3"/>
          </p:nvPr>
        </p:nvSpPr>
        <p:spPr bwMode="auto">
          <a:xfrm>
            <a:off x="3581400" y="6248400"/>
            <a:ext cx="2895600" cy="457200"/>
          </a:xfrm>
          <a:prstGeom prst="rect">
            <a:avLst/>
          </a:prstGeom>
          <a:noFill/>
          <a:ln>
            <a:noFill/>
          </a:ln>
        </p:spPr>
        <p:txBody>
          <a:bodyPr vert="horz" wrap="square" lIns="92075" tIns="46037" rIns="92075" bIns="46037" numCol="1" anchor="ctr" anchorCtr="0" compatLnSpc="1"/>
          <a:lstStyle>
            <a:lvl1pPr algn="ctr" eaLnBrk="1" hangingPunct="1">
              <a:defRPr kumimoji="0" sz="1400">
                <a:solidFill>
                  <a:srgbClr val="FFFFFF"/>
                </a:solidFill>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rtl="0" eaLnBrk="0" fontAlgn="base" hangingPunct="0">
        <a:lnSpc>
          <a:spcPct val="70000"/>
        </a:lnSpc>
        <a:spcBef>
          <a:spcPct val="0"/>
        </a:spcBef>
        <a:spcAft>
          <a:spcPct val="0"/>
        </a:spcAft>
        <a:defRPr sz="4800">
          <a:solidFill>
            <a:schemeClr val="tx2"/>
          </a:solidFill>
          <a:latin typeface="+mj-lt"/>
          <a:ea typeface="+mj-ea"/>
          <a:cs typeface="+mj-cs"/>
        </a:defRPr>
      </a:lvl1pPr>
      <a:lvl2pPr algn="l" rtl="0" eaLnBrk="0" fontAlgn="base" hangingPunct="0">
        <a:lnSpc>
          <a:spcPct val="70000"/>
        </a:lnSpc>
        <a:spcBef>
          <a:spcPct val="0"/>
        </a:spcBef>
        <a:spcAft>
          <a:spcPct val="0"/>
        </a:spcAft>
        <a:defRPr sz="4800">
          <a:solidFill>
            <a:schemeClr val="tx2"/>
          </a:solidFill>
          <a:latin typeface="Arial Narrow" panose="020B0606020202030204" pitchFamily="34" charset="0"/>
        </a:defRPr>
      </a:lvl2pPr>
      <a:lvl3pPr algn="l" rtl="0" eaLnBrk="0" fontAlgn="base" hangingPunct="0">
        <a:lnSpc>
          <a:spcPct val="70000"/>
        </a:lnSpc>
        <a:spcBef>
          <a:spcPct val="0"/>
        </a:spcBef>
        <a:spcAft>
          <a:spcPct val="0"/>
        </a:spcAft>
        <a:defRPr sz="4800">
          <a:solidFill>
            <a:schemeClr val="tx2"/>
          </a:solidFill>
          <a:latin typeface="Arial Narrow" panose="020B0606020202030204" pitchFamily="34" charset="0"/>
        </a:defRPr>
      </a:lvl3pPr>
      <a:lvl4pPr algn="l" rtl="0" eaLnBrk="0" fontAlgn="base" hangingPunct="0">
        <a:lnSpc>
          <a:spcPct val="70000"/>
        </a:lnSpc>
        <a:spcBef>
          <a:spcPct val="0"/>
        </a:spcBef>
        <a:spcAft>
          <a:spcPct val="0"/>
        </a:spcAft>
        <a:defRPr sz="4800">
          <a:solidFill>
            <a:schemeClr val="tx2"/>
          </a:solidFill>
          <a:latin typeface="Arial Narrow" panose="020B0606020202030204" pitchFamily="34" charset="0"/>
        </a:defRPr>
      </a:lvl4pPr>
      <a:lvl5pPr algn="l" rtl="0" eaLnBrk="0" fontAlgn="base" hangingPunct="0">
        <a:lnSpc>
          <a:spcPct val="70000"/>
        </a:lnSpc>
        <a:spcBef>
          <a:spcPct val="0"/>
        </a:spcBef>
        <a:spcAft>
          <a:spcPct val="0"/>
        </a:spcAft>
        <a:defRPr sz="4800">
          <a:solidFill>
            <a:schemeClr val="tx2"/>
          </a:solidFill>
          <a:latin typeface="Arial Narrow" panose="020B0606020202030204" pitchFamily="34" charset="0"/>
        </a:defRPr>
      </a:lvl5pPr>
      <a:lvl6pPr marL="457200" algn="l" rtl="0" fontAlgn="base">
        <a:lnSpc>
          <a:spcPct val="70000"/>
        </a:lnSpc>
        <a:spcBef>
          <a:spcPct val="0"/>
        </a:spcBef>
        <a:spcAft>
          <a:spcPct val="0"/>
        </a:spcAft>
        <a:defRPr sz="4800">
          <a:solidFill>
            <a:schemeClr val="tx2"/>
          </a:solidFill>
          <a:latin typeface="Arial Narrow" panose="020B0606020202030204" pitchFamily="34" charset="0"/>
        </a:defRPr>
      </a:lvl6pPr>
      <a:lvl7pPr marL="914400" algn="l" rtl="0" fontAlgn="base">
        <a:lnSpc>
          <a:spcPct val="70000"/>
        </a:lnSpc>
        <a:spcBef>
          <a:spcPct val="0"/>
        </a:spcBef>
        <a:spcAft>
          <a:spcPct val="0"/>
        </a:spcAft>
        <a:defRPr sz="4800">
          <a:solidFill>
            <a:schemeClr val="tx2"/>
          </a:solidFill>
          <a:latin typeface="Arial Narrow" panose="020B0606020202030204" pitchFamily="34" charset="0"/>
        </a:defRPr>
      </a:lvl7pPr>
      <a:lvl8pPr marL="1371600" algn="l" rtl="0" fontAlgn="base">
        <a:lnSpc>
          <a:spcPct val="70000"/>
        </a:lnSpc>
        <a:spcBef>
          <a:spcPct val="0"/>
        </a:spcBef>
        <a:spcAft>
          <a:spcPct val="0"/>
        </a:spcAft>
        <a:defRPr sz="4800">
          <a:solidFill>
            <a:schemeClr val="tx2"/>
          </a:solidFill>
          <a:latin typeface="Arial Narrow" panose="020B0606020202030204" pitchFamily="34" charset="0"/>
        </a:defRPr>
      </a:lvl8pPr>
      <a:lvl9pPr marL="1828800" algn="l" rtl="0" fontAlgn="base">
        <a:lnSpc>
          <a:spcPct val="70000"/>
        </a:lnSpc>
        <a:spcBef>
          <a:spcPct val="0"/>
        </a:spcBef>
        <a:spcAft>
          <a:spcPct val="0"/>
        </a:spcAft>
        <a:defRPr sz="4800">
          <a:solidFill>
            <a:schemeClr val="tx2"/>
          </a:solidFill>
          <a:latin typeface="Arial Narrow" panose="020B0606020202030204" pitchFamily="34" charset="0"/>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5000"/>
        <a:buFont typeface="Wingdings" panose="05000000000000000000" pitchFamily="2" charset="2"/>
        <a:buChar char="u"/>
        <a:defRPr sz="26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2"/>
        </a:buClr>
        <a:buSzPct val="100000"/>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lr>
          <a:schemeClr val="hlink"/>
        </a:buClr>
        <a:buSzPct val="100000"/>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lr>
          <a:schemeClr val="hlink"/>
        </a:buClr>
        <a:buSzPct val="100000"/>
        <a:buChar char="–"/>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lr>
          <a:schemeClr val="hlink"/>
        </a:buClr>
        <a:buSzPct val="100000"/>
        <a:buChar char="–"/>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lr>
          <a:schemeClr val="hlink"/>
        </a:buClr>
        <a:buSzPct val="100000"/>
        <a:buChar char="–"/>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lr>
          <a:schemeClr val="hlink"/>
        </a:buClr>
        <a:buSzPct val="100000"/>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chemeClr val="accent2"/>
            </a:gs>
          </a:gsLst>
          <a:lin ang="0" scaled="1"/>
          <a:tileRect/>
        </a:gradFill>
        <a:effectLst/>
      </p:bgPr>
    </p:bg>
    <p:spTree>
      <p:nvGrpSpPr>
        <p:cNvPr id="1" name=""/>
        <p:cNvGrpSpPr/>
        <p:nvPr/>
      </p:nvGrpSpPr>
      <p:grpSpPr/>
      <p:sp>
        <p:nvSpPr>
          <p:cNvPr id="3074"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3075" name="Rectangle 3"/>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400">
                <a:solidFill>
                  <a:srgbClr val="000000"/>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rgbClr val="000000"/>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rgbClr val="000000"/>
                </a:solidFill>
              </a:defRPr>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chemeClr val="accent2"/>
            </a:gs>
          </a:gsLst>
          <a:lin ang="0" scaled="1"/>
          <a:tileRect/>
        </a:gradFill>
        <a:effectLst/>
      </p:bgPr>
    </p:bg>
    <p:spTree>
      <p:nvGrpSpPr>
        <p:cNvPr id="1" name=""/>
        <p:cNvGrpSpPr/>
        <p:nvPr/>
      </p:nvGrpSpPr>
      <p:grpSpPr/>
      <p:sp>
        <p:nvSpPr>
          <p:cNvPr id="4098"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4099" name="Rectangle 3"/>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40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defRPr>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chemeClr val="accent2"/>
            </a:gs>
          </a:gsLst>
          <a:lin ang="0" scaled="1"/>
          <a:tileRect/>
        </a:gradFill>
        <a:effectLst/>
      </p:bgPr>
    </p:bg>
    <p:spTree>
      <p:nvGrpSpPr>
        <p:cNvPr id="1" name=""/>
        <p:cNvGrpSpPr/>
        <p:nvPr/>
      </p:nvGrpSpPr>
      <p:grpSpPr/>
      <p:sp>
        <p:nvSpPr>
          <p:cNvPr id="5122"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5123" name="Rectangle 3"/>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40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defRPr>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333FF"/>
            </a:gs>
            <a:gs pos="100000">
              <a:schemeClr val="accent2"/>
            </a:gs>
          </a:gsLst>
          <a:lin ang="0" scaled="1"/>
          <a:tileRect/>
        </a:gradFill>
        <a:effectLst/>
      </p:bgPr>
    </p:bg>
    <p:spTree>
      <p:nvGrpSpPr>
        <p:cNvPr id="1" name=""/>
        <p:cNvGrpSpPr/>
        <p:nvPr/>
      </p:nvGrpSpPr>
      <p:grpSpPr/>
      <p:sp>
        <p:nvSpPr>
          <p:cNvPr id="6146"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6147" name="Rectangle 3"/>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lgn="l" eaLnBrk="1" hangingPunct="1">
              <a:defRPr kumimoji="1" sz="140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a:solidFill>
                  <a:schemeClr val="tx1"/>
                </a:solidFill>
              </a:defRPr>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oleObject" Target="../embeddings/oleObject4.bin"/><Relationship Id="rId4" Type="http://schemas.openxmlformats.org/officeDocument/2006/relationships/image" Target="../media/image12.png"/><Relationship Id="rId3" Type="http://schemas.openxmlformats.org/officeDocument/2006/relationships/oleObject" Target="../embeddings/oleObject3.bin"/><Relationship Id="rId2" Type="http://schemas.openxmlformats.org/officeDocument/2006/relationships/image" Target="../media/image11.png"/><Relationship Id="rId1" Type="http://schemas.openxmlformats.org/officeDocument/2006/relationships/oleObject" Target="../embeddings/oleObject2.bin"/></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3.png"/></Relationships>
</file>

<file path=ppt/slides/_rels/slide266.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3.png"/></Relationships>
</file>

<file path=ppt/slides/_rels/slide267.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3.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ags" Target="../tags/tag1.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8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28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4.xml"/></Relationships>
</file>

<file path=ppt/slides/_rels/slide29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6.xml"/><Relationship Id="rId1" Type="http://schemas.openxmlformats.org/officeDocument/2006/relationships/tags" Target="../tags/tag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6.xml"/><Relationship Id="rId1" Type="http://schemas.openxmlformats.org/officeDocument/2006/relationships/image" Target="../media/image14.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7.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5.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9.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6.png"/></Relationships>
</file>

<file path=ppt/slides/_rels/slide310.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7.png"/></Relationships>
</file>

<file path=ppt/slides/_rels/slide311.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5.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6.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18.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33.xml"/><Relationship Id="rId3" Type="http://schemas.openxmlformats.org/officeDocument/2006/relationships/image" Target="../media/image2.png"/><Relationship Id="rId2" Type="http://schemas.openxmlformats.org/officeDocument/2006/relationships/oleObject" Target="../embeddings/oleObject5.bin"/><Relationship Id="rId1" Type="http://schemas.openxmlformats.org/officeDocument/2006/relationships/image" Target="../media/image1.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ctrTitle"/>
          </p:nvPr>
        </p:nvSpPr>
        <p:spPr>
          <a:xfrm>
            <a:off x="685800" y="1981200"/>
            <a:ext cx="7772400" cy="1143000"/>
          </a:xfrm>
        </p:spPr>
        <p:txBody>
          <a:bodyPr vert="horz" wrap="square" lIns="91440" tIns="45720" rIns="91440" bIns="45720" anchor="ctr"/>
          <a:p>
            <a:pPr eaLnBrk="1" hangingPunct="1">
              <a:buClrTx/>
              <a:buSzTx/>
              <a:buFontTx/>
            </a:pPr>
            <a:r>
              <a:rPr lang="zh-CN" altLang="en-US" sz="7200" dirty="0">
                <a:solidFill>
                  <a:srgbClr val="FF9900"/>
                </a:solidFill>
                <a:ea typeface="华文行楷" panose="02010800040101010101" pitchFamily="2" charset="-122"/>
              </a:rPr>
              <a:t>面向对象程序设计</a:t>
            </a:r>
            <a:endParaRPr lang="zh-CN" altLang="en-US" sz="7200" dirty="0">
              <a:solidFill>
                <a:srgbClr val="FF9900"/>
              </a:solidFill>
              <a:ea typeface="华文行楷" panose="02010800040101010101" pitchFamily="2" charset="-122"/>
            </a:endParaRPr>
          </a:p>
        </p:txBody>
      </p:sp>
      <p:sp>
        <p:nvSpPr>
          <p:cNvPr id="24578" name="Rectangle 3"/>
          <p:cNvSpPr>
            <a:spLocks noGrp="1"/>
          </p:cNvSpPr>
          <p:nvPr>
            <p:ph type="subTitle" idx="1"/>
          </p:nvPr>
        </p:nvSpPr>
        <p:spPr>
          <a:xfrm>
            <a:off x="1524000" y="3886200"/>
            <a:ext cx="6477000" cy="762000"/>
          </a:xfrm>
        </p:spPr>
        <p:txBody>
          <a:bodyPr vert="horz" wrap="square" lIns="91440" tIns="45720" rIns="91440" bIns="45720" anchor="t"/>
          <a:p>
            <a:pPr eaLnBrk="1" hangingPunct="1">
              <a:buClrTx/>
              <a:buSzTx/>
              <a:buFontTx/>
            </a:pPr>
            <a:r>
              <a:rPr lang="zh-CN" altLang="en-US" b="1" dirty="0">
                <a:solidFill>
                  <a:srgbClr val="FFFF00"/>
                </a:solidFill>
                <a:latin typeface="+mn-lt"/>
                <a:ea typeface="+mn-ea"/>
                <a:cs typeface="+mn-cs"/>
              </a:rPr>
              <a:t>吉林大学软件学院</a:t>
            </a:r>
            <a:endParaRPr lang="zh-CN" altLang="en-US" b="1" dirty="0">
              <a:solidFill>
                <a:srgbClr val="FFFF00"/>
              </a:solidFill>
              <a:latin typeface="+mn-lt"/>
              <a:ea typeface="+mn-ea"/>
              <a:cs typeface="+mn-cs"/>
            </a:endParaRPr>
          </a:p>
        </p:txBody>
      </p:sp>
      <p:grpSp>
        <p:nvGrpSpPr>
          <p:cNvPr id="24579" name="Group 5"/>
          <p:cNvGrpSpPr/>
          <p:nvPr/>
        </p:nvGrpSpPr>
        <p:grpSpPr>
          <a:xfrm>
            <a:off x="152400" y="87313"/>
            <a:ext cx="8597900" cy="831850"/>
            <a:chOff x="165" y="55"/>
            <a:chExt cx="5347" cy="524"/>
          </a:xfrm>
        </p:grpSpPr>
        <p:grpSp>
          <p:nvGrpSpPr>
            <p:cNvPr id="24580" name="Group 6"/>
            <p:cNvGrpSpPr/>
            <p:nvPr/>
          </p:nvGrpSpPr>
          <p:grpSpPr>
            <a:xfrm>
              <a:off x="664" y="104"/>
              <a:ext cx="4848" cy="432"/>
              <a:chOff x="664" y="104"/>
              <a:chExt cx="4848" cy="432"/>
            </a:xfrm>
          </p:grpSpPr>
          <p:sp>
            <p:nvSpPr>
              <p:cNvPr id="2" name="Freeform 7"/>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Lst>
                <a:ahLst/>
                <a:cxnLst>
                  <a:cxn ang="0">
                    <a:pos x="T0" y="T1"/>
                  </a:cxn>
                  <a:cxn ang="0">
                    <a:pos x="T2" y="T3"/>
                  </a:cxn>
                  <a:cxn ang="0">
                    <a:pos x="T4" y="T5"/>
                  </a:cxn>
                  <a:cxn ang="0">
                    <a:pos x="T6" y="T7"/>
                  </a:cxn>
                  <a:cxn ang="0">
                    <a:pos x="T8" y="T9"/>
                  </a:cxn>
                  <a:cxn ang="0">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24582" name="Group 8"/>
              <p:cNvGrpSpPr/>
              <p:nvPr/>
            </p:nvGrpSpPr>
            <p:grpSpPr>
              <a:xfrm>
                <a:off x="1195" y="104"/>
                <a:ext cx="3827" cy="429"/>
                <a:chOff x="1021" y="240"/>
                <a:chExt cx="3827" cy="429"/>
              </a:xfrm>
            </p:grpSpPr>
            <p:grpSp>
              <p:nvGrpSpPr>
                <p:cNvPr id="24583" name="Group 9"/>
                <p:cNvGrpSpPr/>
                <p:nvPr/>
              </p:nvGrpSpPr>
              <p:grpSpPr>
                <a:xfrm>
                  <a:off x="1021" y="241"/>
                  <a:ext cx="2208" cy="427"/>
                  <a:chOff x="1021" y="241"/>
                  <a:chExt cx="2208" cy="427"/>
                </a:xfrm>
              </p:grpSpPr>
              <p:sp>
                <p:nvSpPr>
                  <p:cNvPr id="3" name="Freeform 10"/>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Lst>
                    <a:ahLst/>
                    <a:cxnLst>
                      <a:cxn ang="0">
                        <a:pos x="T0" y="T1"/>
                      </a:cxn>
                      <a:cxn ang="0">
                        <a:pos x="T2" y="T3"/>
                      </a:cxn>
                      <a:cxn ang="0">
                        <a:pos x="T4" y="T5"/>
                      </a:cxn>
                      <a:cxn ang="0">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Freeform 11"/>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Lst>
                    <a:ahLst/>
                    <a:cxnLst>
                      <a:cxn ang="0">
                        <a:pos x="T0" y="T1"/>
                      </a:cxn>
                      <a:cxn ang="0">
                        <a:pos x="T2" y="T3"/>
                      </a:cxn>
                      <a:cxn ang="0">
                        <a:pos x="T4" y="T5"/>
                      </a:cxn>
                      <a:cxn ang="0">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0" name="Freeform 12"/>
                  <p:cNvSpPr/>
                  <p:nvPr/>
                </p:nvSpPr>
                <p:spPr bwMode="ltGray">
                  <a:xfrm>
                    <a:off x="2120" y="616"/>
                    <a:ext cx="39"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Lst>
                    <a:ahLst/>
                    <a:cxnLst>
                      <a:cxn ang="0">
                        <a:pos x="T0" y="T1"/>
                      </a:cxn>
                      <a:cxn ang="0">
                        <a:pos x="T2" y="T3"/>
                      </a:cxn>
                      <a:cxn ang="0">
                        <a:pos x="T4" y="T5"/>
                      </a:cxn>
                      <a:cxn ang="0">
                        <a:pos x="T6" y="T7"/>
                      </a:cxn>
                      <a:cxn ang="0">
                        <a:pos x="T8" y="T9"/>
                      </a:cxn>
                      <a:cxn ang="0">
                        <a:pos x="T10" y="T11"/>
                      </a:cxn>
                      <a:cxn ang="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1" name="Freeform 13"/>
                  <p:cNvSpPr/>
                  <p:nvPr/>
                </p:nvSpPr>
                <p:spPr bwMode="ltGray">
                  <a:xfrm>
                    <a:off x="1967" y="629"/>
                    <a:ext cx="39" cy="5"/>
                  </a:xfrm>
                  <a:custGeom>
                    <a:avLst/>
                    <a:gdLst>
                      <a:gd name="T0" fmla="*/ 15 w 25"/>
                      <a:gd name="T1" fmla="*/ 16 h 16"/>
                      <a:gd name="T2" fmla="*/ 3 w 25"/>
                      <a:gd name="T3" fmla="*/ 8 h 16"/>
                      <a:gd name="T4" fmla="*/ 15 w 25"/>
                      <a:gd name="T5" fmla="*/ 0 h 16"/>
                      <a:gd name="T6" fmla="*/ 15 w 25"/>
                      <a:gd name="T7" fmla="*/ 16 h 16"/>
                    </a:gdLst>
                    <a:ahLst/>
                    <a:cxnLst>
                      <a:cxn ang="0">
                        <a:pos x="T0" y="T1"/>
                      </a:cxn>
                      <a:cxn ang="0">
                        <a:pos x="T2" y="T3"/>
                      </a:cxn>
                      <a:cxn ang="0">
                        <a:pos x="T4" y="T5"/>
                      </a:cxn>
                      <a:cxn ang="0">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2" name="Freeform 14"/>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3" name="Freeform 15"/>
                  <p:cNvSpPr/>
                  <p:nvPr/>
                </p:nvSpPr>
                <p:spPr bwMode="ltGray">
                  <a:xfrm>
                    <a:off x="1890" y="634"/>
                    <a:ext cx="3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4" name="Freeform 16"/>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5" name="Freeform 17"/>
                  <p:cNvSpPr/>
                  <p:nvPr/>
                </p:nvSpPr>
                <p:spPr bwMode="ltGray">
                  <a:xfrm>
                    <a:off x="1827" y="541"/>
                    <a:ext cx="39"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6" name="Freeform 18"/>
                  <p:cNvSpPr/>
                  <p:nvPr/>
                </p:nvSpPr>
                <p:spPr bwMode="ltGray">
                  <a:xfrm>
                    <a:off x="189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7" name="Freeform 19"/>
                  <p:cNvSpPr/>
                  <p:nvPr/>
                </p:nvSpPr>
                <p:spPr bwMode="ltGray">
                  <a:xfrm>
                    <a:off x="1890" y="588"/>
                    <a:ext cx="39"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8" name="Freeform 20"/>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29" name="Freeform 21"/>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Lst>
                    <a:ahLst/>
                    <a:cxnLst>
                      <a:cxn ang="0">
                        <a:pos x="T0" y="T1"/>
                      </a:cxn>
                      <a:cxn ang="0">
                        <a:pos x="T2" y="T3"/>
                      </a:cxn>
                      <a:cxn ang="0">
                        <a:pos x="T4" y="T5"/>
                      </a:cxn>
                      <a:cxn ang="0">
                        <a:pos x="T6" y="T7"/>
                      </a:cxn>
                      <a:cxn ang="0">
                        <a:pos x="T8" y="T9"/>
                      </a:cxn>
                      <a:cxn ang="0">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0" name="Freeform 22"/>
                  <p:cNvSpPr/>
                  <p:nvPr/>
                </p:nvSpPr>
                <p:spPr bwMode="ltGray">
                  <a:xfrm>
                    <a:off x="1967" y="585"/>
                    <a:ext cx="39"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1" name="Freeform 23"/>
                  <p:cNvSpPr/>
                  <p:nvPr/>
                </p:nvSpPr>
                <p:spPr bwMode="ltGray">
                  <a:xfrm>
                    <a:off x="1976" y="593"/>
                    <a:ext cx="116"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2" name="Freeform 24"/>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3" name="Freeform 25"/>
                  <p:cNvSpPr/>
                  <p:nvPr/>
                </p:nvSpPr>
                <p:spPr bwMode="ltGray">
                  <a:xfrm>
                    <a:off x="2152" y="544"/>
                    <a:ext cx="8" cy="6"/>
                  </a:xfrm>
                  <a:custGeom>
                    <a:avLst/>
                    <a:gdLst>
                      <a:gd name="T0" fmla="*/ 3 w 17"/>
                      <a:gd name="T1" fmla="*/ 4 h 18"/>
                      <a:gd name="T2" fmla="*/ 3 w 17"/>
                      <a:gd name="T3" fmla="*/ 14 h 18"/>
                      <a:gd name="T4" fmla="*/ 3 w 17"/>
                      <a:gd name="T5" fmla="*/ 4 h 18"/>
                    </a:gdLst>
                    <a:ahLst/>
                    <a:cxnLst>
                      <a:cxn ang="0">
                        <a:pos x="T0" y="T1"/>
                      </a:cxn>
                      <a:cxn ang="0">
                        <a:pos x="T2" y="T3"/>
                      </a:cxn>
                      <a:cxn ang="0">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4" name="Freeform 26"/>
                  <p:cNvSpPr/>
                  <p:nvPr/>
                </p:nvSpPr>
                <p:spPr bwMode="ltGray">
                  <a:xfrm>
                    <a:off x="2194" y="584"/>
                    <a:ext cx="39" cy="8"/>
                  </a:xfrm>
                  <a:custGeom>
                    <a:avLst/>
                    <a:gdLst>
                      <a:gd name="T0" fmla="*/ 8 w 26"/>
                      <a:gd name="T1" fmla="*/ 14 h 22"/>
                      <a:gd name="T2" fmla="*/ 14 w 26"/>
                      <a:gd name="T3" fmla="*/ 0 h 22"/>
                      <a:gd name="T4" fmla="*/ 14 w 26"/>
                      <a:gd name="T5" fmla="*/ 22 h 22"/>
                      <a:gd name="T6" fmla="*/ 8 w 26"/>
                      <a:gd name="T7" fmla="*/ 14 h 22"/>
                    </a:gdLst>
                    <a:ahLst/>
                    <a:cxnLst>
                      <a:cxn ang="0">
                        <a:pos x="T0" y="T1"/>
                      </a:cxn>
                      <a:cxn ang="0">
                        <a:pos x="T2" y="T3"/>
                      </a:cxn>
                      <a:cxn ang="0">
                        <a:pos x="T4" y="T5"/>
                      </a:cxn>
                      <a:cxn ang="0">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5" name="Freeform 27"/>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6" name="Freeform 28"/>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7" name="Freeform 29"/>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8" name="Freeform 30"/>
                  <p:cNvSpPr/>
                  <p:nvPr/>
                </p:nvSpPr>
                <p:spPr bwMode="ltGray">
                  <a:xfrm>
                    <a:off x="1899" y="466"/>
                    <a:ext cx="39"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39" name="Freeform 31"/>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0" name="Freeform 32"/>
                  <p:cNvSpPr/>
                  <p:nvPr/>
                </p:nvSpPr>
                <p:spPr bwMode="ltGray">
                  <a:xfrm>
                    <a:off x="1881" y="512"/>
                    <a:ext cx="3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Lst>
                    <a:ahLst/>
                    <a:cxnLst>
                      <a:cxn ang="0">
                        <a:pos x="T0" y="T1"/>
                      </a:cxn>
                      <a:cxn ang="0">
                        <a:pos x="T2" y="T3"/>
                      </a:cxn>
                      <a:cxn ang="0">
                        <a:pos x="T4" y="T5"/>
                      </a:cxn>
                      <a:cxn ang="0">
                        <a:pos x="T6" y="T7"/>
                      </a:cxn>
                      <a:cxn ang="0">
                        <a:pos x="T8" y="T9"/>
                      </a:cxn>
                      <a:cxn ang="0">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1" name="Freeform 33"/>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2" name="Freeform 34"/>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3" name="Freeform 35"/>
                  <p:cNvSpPr/>
                  <p:nvPr/>
                </p:nvSpPr>
                <p:spPr bwMode="ltGray">
                  <a:xfrm>
                    <a:off x="2405" y="445"/>
                    <a:ext cx="15" cy="16"/>
                  </a:xfrm>
                  <a:custGeom>
                    <a:avLst/>
                    <a:gdLst>
                      <a:gd name="T0" fmla="*/ 6 w 36"/>
                      <a:gd name="T1" fmla="*/ 28 h 48"/>
                      <a:gd name="T2" fmla="*/ 10 w 36"/>
                      <a:gd name="T3" fmla="*/ 48 h 48"/>
                      <a:gd name="T4" fmla="*/ 6 w 36"/>
                      <a:gd name="T5" fmla="*/ 28 h 48"/>
                    </a:gdLst>
                    <a:ahLst/>
                    <a:cxnLst>
                      <a:cxn ang="0">
                        <a:pos x="T0" y="T1"/>
                      </a:cxn>
                      <a:cxn ang="0">
                        <a:pos x="T2" y="T3"/>
                      </a:cxn>
                      <a:cxn ang="0">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4" name="Freeform 36"/>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Lst>
                    <a:ahLst/>
                    <a:cxnLst>
                      <a:cxn ang="0">
                        <a:pos x="T0" y="T1"/>
                      </a:cxn>
                      <a:cxn ang="0">
                        <a:pos x="T2" y="T3"/>
                      </a:cxn>
                      <a:cxn ang="0">
                        <a:pos x="T4" y="T5"/>
                      </a:cxn>
                      <a:cxn ang="0">
                        <a:pos x="T6" y="T7"/>
                      </a:cxn>
                      <a:cxn ang="0">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5" name="Freeform 37"/>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6" name="Freeform 38"/>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7" name="Freeform 39"/>
                  <p:cNvSpPr/>
                  <p:nvPr/>
                </p:nvSpPr>
                <p:spPr bwMode="ltGray">
                  <a:xfrm>
                    <a:off x="2924" y="441"/>
                    <a:ext cx="24" cy="14"/>
                  </a:xfrm>
                  <a:custGeom>
                    <a:avLst/>
                    <a:gdLst>
                      <a:gd name="T0" fmla="*/ 17 w 57"/>
                      <a:gd name="T1" fmla="*/ 25 h 42"/>
                      <a:gd name="T2" fmla="*/ 37 w 57"/>
                      <a:gd name="T3" fmla="*/ 13 h 42"/>
                      <a:gd name="T4" fmla="*/ 17 w 57"/>
                      <a:gd name="T5" fmla="*/ 25 h 42"/>
                    </a:gdLst>
                    <a:ahLst/>
                    <a:cxnLst>
                      <a:cxn ang="0">
                        <a:pos x="T0" y="T1"/>
                      </a:cxn>
                      <a:cxn ang="0">
                        <a:pos x="T2" y="T3"/>
                      </a:cxn>
                      <a:cxn ang="0">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8" name="Freeform 40"/>
                  <p:cNvSpPr/>
                  <p:nvPr/>
                </p:nvSpPr>
                <p:spPr bwMode="ltGray">
                  <a:xfrm>
                    <a:off x="2908" y="398"/>
                    <a:ext cx="16" cy="18"/>
                  </a:xfrm>
                  <a:custGeom>
                    <a:avLst/>
                    <a:gdLst>
                      <a:gd name="T0" fmla="*/ 19 w 39"/>
                      <a:gd name="T1" fmla="*/ 32 h 52"/>
                      <a:gd name="T2" fmla="*/ 19 w 39"/>
                      <a:gd name="T3" fmla="*/ 0 h 52"/>
                      <a:gd name="T4" fmla="*/ 19 w 39"/>
                      <a:gd name="T5" fmla="*/ 32 h 52"/>
                    </a:gdLst>
                    <a:ahLst/>
                    <a:cxnLst>
                      <a:cxn ang="0">
                        <a:pos x="T0" y="T1"/>
                      </a:cxn>
                      <a:cxn ang="0">
                        <a:pos x="T2" y="T3"/>
                      </a:cxn>
                      <a:cxn ang="0">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49" name="Freeform 41"/>
                  <p:cNvSpPr/>
                  <p:nvPr/>
                </p:nvSpPr>
                <p:spPr bwMode="ltGray">
                  <a:xfrm>
                    <a:off x="3035" y="452"/>
                    <a:ext cx="3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Lst>
                    <a:ahLst/>
                    <a:cxnLst>
                      <a:cxn ang="0">
                        <a:pos x="T0" y="T1"/>
                      </a:cxn>
                      <a:cxn ang="0">
                        <a:pos x="T2" y="T3"/>
                      </a:cxn>
                      <a:cxn ang="0">
                        <a:pos x="T4" y="T5"/>
                      </a:cxn>
                      <a:cxn ang="0">
                        <a:pos x="T6" y="T7"/>
                      </a:cxn>
                      <a:cxn ang="0">
                        <a:pos x="T8" y="T9"/>
                      </a:cxn>
                      <a:cxn ang="0">
                        <a:pos x="T10" y="T11"/>
                      </a:cxn>
                      <a:cxn ang="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0" name="Freeform 42"/>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1" name="Freeform 43"/>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Lst>
                    <a:ahLst/>
                    <a:cxnLst>
                      <a:cxn ang="0">
                        <a:pos x="T0" y="T1"/>
                      </a:cxn>
                      <a:cxn ang="0">
                        <a:pos x="T2" y="T3"/>
                      </a:cxn>
                      <a:cxn ang="0">
                        <a:pos x="T4" y="T5"/>
                      </a:cxn>
                      <a:cxn ang="0">
                        <a:pos x="T6" y="T7"/>
                      </a:cxn>
                      <a:cxn ang="0">
                        <a:pos x="T8" y="T9"/>
                      </a:cxn>
                      <a:cxn ang="0">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2" name="Freeform 44"/>
                  <p:cNvSpPr/>
                  <p:nvPr/>
                </p:nvSpPr>
                <p:spPr bwMode="ltGray">
                  <a:xfrm>
                    <a:off x="2096" y="275"/>
                    <a:ext cx="18" cy="10"/>
                  </a:xfrm>
                  <a:custGeom>
                    <a:avLst/>
                    <a:gdLst>
                      <a:gd name="T0" fmla="*/ 0 w 41"/>
                      <a:gd name="T1" fmla="*/ 25 h 29"/>
                      <a:gd name="T2" fmla="*/ 12 w 41"/>
                      <a:gd name="T3" fmla="*/ 29 h 29"/>
                      <a:gd name="T4" fmla="*/ 0 w 41"/>
                      <a:gd name="T5" fmla="*/ 25 h 29"/>
                    </a:gdLst>
                    <a:ahLst/>
                    <a:cxnLst>
                      <a:cxn ang="0">
                        <a:pos x="T0" y="T1"/>
                      </a:cxn>
                      <a:cxn ang="0">
                        <a:pos x="T2" y="T3"/>
                      </a:cxn>
                      <a:cxn ang="0">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3" name="Freeform 45"/>
                  <p:cNvSpPr/>
                  <p:nvPr/>
                </p:nvSpPr>
                <p:spPr bwMode="ltGray">
                  <a:xfrm>
                    <a:off x="1606" y="246"/>
                    <a:ext cx="42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4" name="Freeform 46"/>
                  <p:cNvSpPr/>
                  <p:nvPr/>
                </p:nvSpPr>
                <p:spPr bwMode="ltGray">
                  <a:xfrm>
                    <a:off x="2043" y="241"/>
                    <a:ext cx="39"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5" name="Freeform 47"/>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6" name="Freeform 48"/>
                  <p:cNvSpPr/>
                  <p:nvPr/>
                </p:nvSpPr>
                <p:spPr bwMode="ltGray">
                  <a:xfrm>
                    <a:off x="1967"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7" name="Freeform 49"/>
                  <p:cNvSpPr/>
                  <p:nvPr/>
                </p:nvSpPr>
                <p:spPr bwMode="ltGray">
                  <a:xfrm>
                    <a:off x="2021" y="340"/>
                    <a:ext cx="6" cy="4"/>
                  </a:xfrm>
                  <a:custGeom>
                    <a:avLst/>
                    <a:gdLst>
                      <a:gd name="T0" fmla="*/ 0 w 13"/>
                      <a:gd name="T1" fmla="*/ 9 h 13"/>
                      <a:gd name="T2" fmla="*/ 4 w 13"/>
                      <a:gd name="T3" fmla="*/ 13 h 13"/>
                      <a:gd name="T4" fmla="*/ 0 w 13"/>
                      <a:gd name="T5" fmla="*/ 9 h 13"/>
                    </a:gdLst>
                    <a:ahLst/>
                    <a:cxnLst>
                      <a:cxn ang="0">
                        <a:pos x="T0" y="T1"/>
                      </a:cxn>
                      <a:cxn ang="0">
                        <a:pos x="T2" y="T3"/>
                      </a:cxn>
                      <a:cxn ang="0">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8" name="Freeform 50"/>
                  <p:cNvSpPr/>
                  <p:nvPr/>
                </p:nvSpPr>
                <p:spPr bwMode="ltGray">
                  <a:xfrm>
                    <a:off x="1573" y="389"/>
                    <a:ext cx="349"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59" name="Freeform 51"/>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Lst>
                    <a:ahLst/>
                    <a:cxnLst>
                      <a:cxn ang="0">
                        <a:pos x="T0" y="T1"/>
                      </a:cxn>
                      <a:cxn ang="0">
                        <a:pos x="T2" y="T3"/>
                      </a:cxn>
                      <a:cxn ang="0">
                        <a:pos x="T4" y="T5"/>
                      </a:cxn>
                      <a:cxn ang="0">
                        <a:pos x="T6" y="T7"/>
                      </a:cxn>
                      <a:cxn ang="0">
                        <a:pos x="T8" y="T9"/>
                      </a:cxn>
                      <a:cxn ang="0">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0" name="Freeform 52"/>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1" name="Freeform 53"/>
                  <p:cNvSpPr/>
                  <p:nvPr/>
                </p:nvSpPr>
                <p:spPr bwMode="ltGray">
                  <a:xfrm>
                    <a:off x="1951" y="409"/>
                    <a:ext cx="9" cy="10"/>
                  </a:xfrm>
                  <a:custGeom>
                    <a:avLst/>
                    <a:gdLst>
                      <a:gd name="T0" fmla="*/ 7 w 20"/>
                      <a:gd name="T1" fmla="*/ 16 h 30"/>
                      <a:gd name="T2" fmla="*/ 5 w 20"/>
                      <a:gd name="T3" fmla="*/ 30 h 30"/>
                      <a:gd name="T4" fmla="*/ 7 w 20"/>
                      <a:gd name="T5" fmla="*/ 16 h 30"/>
                    </a:gdLst>
                    <a:ahLst/>
                    <a:cxnLst>
                      <a:cxn ang="0">
                        <a:pos x="T0" y="T1"/>
                      </a:cxn>
                      <a:cxn ang="0">
                        <a:pos x="T2" y="T3"/>
                      </a:cxn>
                      <a:cxn ang="0">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2" name="Freeform 54"/>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3" name="Freeform 55"/>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4" name="Freeform 56"/>
                  <p:cNvSpPr/>
                  <p:nvPr/>
                </p:nvSpPr>
                <p:spPr bwMode="ltGray">
                  <a:xfrm>
                    <a:off x="1476" y="611"/>
                    <a:ext cx="7" cy="12"/>
                  </a:xfrm>
                  <a:custGeom>
                    <a:avLst/>
                    <a:gdLst>
                      <a:gd name="T0" fmla="*/ 7 w 19"/>
                      <a:gd name="T1" fmla="*/ 25 h 37"/>
                      <a:gd name="T2" fmla="*/ 19 w 19"/>
                      <a:gd name="T3" fmla="*/ 21 h 37"/>
                      <a:gd name="T4" fmla="*/ 7 w 19"/>
                      <a:gd name="T5" fmla="*/ 25 h 37"/>
                    </a:gdLst>
                    <a:ahLst/>
                    <a:cxnLst>
                      <a:cxn ang="0">
                        <a:pos x="T0" y="T1"/>
                      </a:cxn>
                      <a:cxn ang="0">
                        <a:pos x="T2" y="T3"/>
                      </a:cxn>
                      <a:cxn ang="0">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5" name="Freeform 57"/>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Lst>
                    <a:ahLst/>
                    <a:cxnLst>
                      <a:cxn ang="0">
                        <a:pos x="T0" y="T1"/>
                      </a:cxn>
                      <a:cxn ang="0">
                        <a:pos x="T2" y="T3"/>
                      </a:cxn>
                      <a:cxn ang="0">
                        <a:pos x="T4" y="T5"/>
                      </a:cxn>
                      <a:cxn ang="0">
                        <a:pos x="T6" y="T7"/>
                      </a:cxn>
                      <a:cxn ang="0">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Freeform 58"/>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Lst>
                    <a:ahLst/>
                    <a:cxnLst>
                      <a:cxn ang="0">
                        <a:pos x="T0" y="T1"/>
                      </a:cxn>
                      <a:cxn ang="0">
                        <a:pos x="T2" y="T3"/>
                      </a:cxn>
                      <a:cxn ang="0">
                        <a:pos x="T4" y="T5"/>
                      </a:cxn>
                      <a:cxn ang="0">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Freeform 59"/>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8" name="Freeform 60"/>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69" name="Freeform 61"/>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Lst>
                    <a:ahLst/>
                    <a:cxnLst>
                      <a:cxn ang="0">
                        <a:pos x="T0" y="T1"/>
                      </a:cxn>
                      <a:cxn ang="0">
                        <a:pos x="T2" y="T3"/>
                      </a:cxn>
                      <a:cxn ang="0">
                        <a:pos x="T4" y="T5"/>
                      </a:cxn>
                      <a:cxn ang="0">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0" name="Freeform 62"/>
                  <p:cNvSpPr/>
                  <p:nvPr/>
                </p:nvSpPr>
                <p:spPr bwMode="ltGray">
                  <a:xfrm>
                    <a:off x="1270" y="296"/>
                    <a:ext cx="39" cy="11"/>
                  </a:xfrm>
                  <a:custGeom>
                    <a:avLst/>
                    <a:gdLst>
                      <a:gd name="T0" fmla="*/ 6 w 44"/>
                      <a:gd name="T1" fmla="*/ 32 h 32"/>
                      <a:gd name="T2" fmla="*/ 22 w 44"/>
                      <a:gd name="T3" fmla="*/ 0 h 32"/>
                      <a:gd name="T4" fmla="*/ 38 w 44"/>
                      <a:gd name="T5" fmla="*/ 4 h 32"/>
                      <a:gd name="T6" fmla="*/ 6 w 44"/>
                      <a:gd name="T7" fmla="*/ 32 h 32"/>
                    </a:gdLst>
                    <a:ahLst/>
                    <a:cxnLst>
                      <a:cxn ang="0">
                        <a:pos x="T0" y="T1"/>
                      </a:cxn>
                      <a:cxn ang="0">
                        <a:pos x="T2" y="T3"/>
                      </a:cxn>
                      <a:cxn ang="0">
                        <a:pos x="T4" y="T5"/>
                      </a:cxn>
                      <a:cxn ang="0">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1" name="Freeform 63"/>
                  <p:cNvSpPr/>
                  <p:nvPr/>
                </p:nvSpPr>
                <p:spPr bwMode="ltGray">
                  <a:xfrm>
                    <a:off x="1340" y="337"/>
                    <a:ext cx="39" cy="6"/>
                  </a:xfrm>
                  <a:custGeom>
                    <a:avLst/>
                    <a:gdLst>
                      <a:gd name="T0" fmla="*/ 37 w 76"/>
                      <a:gd name="T1" fmla="*/ 18 h 18"/>
                      <a:gd name="T2" fmla="*/ 25 w 76"/>
                      <a:gd name="T3" fmla="*/ 2 h 18"/>
                      <a:gd name="T4" fmla="*/ 37 w 76"/>
                      <a:gd name="T5" fmla="*/ 18 h 18"/>
                    </a:gdLst>
                    <a:ahLst/>
                    <a:cxnLst>
                      <a:cxn ang="0">
                        <a:pos x="T0" y="T1"/>
                      </a:cxn>
                      <a:cxn ang="0">
                        <a:pos x="T2" y="T3"/>
                      </a:cxn>
                      <a:cxn ang="0">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2" name="Freeform 64"/>
                  <p:cNvSpPr/>
                  <p:nvPr/>
                </p:nvSpPr>
                <p:spPr bwMode="ltGray">
                  <a:xfrm>
                    <a:off x="1395" y="336"/>
                    <a:ext cx="18" cy="15"/>
                  </a:xfrm>
                  <a:custGeom>
                    <a:avLst/>
                    <a:gdLst>
                      <a:gd name="T0" fmla="*/ 0 w 42"/>
                      <a:gd name="T1" fmla="*/ 21 h 44"/>
                      <a:gd name="T2" fmla="*/ 12 w 42"/>
                      <a:gd name="T3" fmla="*/ 9 h 44"/>
                      <a:gd name="T4" fmla="*/ 0 w 42"/>
                      <a:gd name="T5" fmla="*/ 21 h 44"/>
                    </a:gdLst>
                    <a:ahLst/>
                    <a:cxnLst>
                      <a:cxn ang="0">
                        <a:pos x="T0" y="T1"/>
                      </a:cxn>
                      <a:cxn ang="0">
                        <a:pos x="T2" y="T3"/>
                      </a:cxn>
                      <a:cxn ang="0">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3" name="Freeform 65"/>
                  <p:cNvSpPr/>
                  <p:nvPr/>
                </p:nvSpPr>
                <p:spPr bwMode="ltGray">
                  <a:xfrm>
                    <a:off x="1248" y="295"/>
                    <a:ext cx="14" cy="10"/>
                  </a:xfrm>
                  <a:custGeom>
                    <a:avLst/>
                    <a:gdLst>
                      <a:gd name="T0" fmla="*/ 7 w 31"/>
                      <a:gd name="T1" fmla="*/ 22 h 30"/>
                      <a:gd name="T2" fmla="*/ 31 w 31"/>
                      <a:gd name="T3" fmla="*/ 10 h 30"/>
                      <a:gd name="T4" fmla="*/ 7 w 31"/>
                      <a:gd name="T5" fmla="*/ 22 h 30"/>
                    </a:gdLst>
                    <a:ahLst/>
                    <a:cxnLst>
                      <a:cxn ang="0">
                        <a:pos x="T0" y="T1"/>
                      </a:cxn>
                      <a:cxn ang="0">
                        <a:pos x="T2" y="T3"/>
                      </a:cxn>
                      <a:cxn ang="0">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24640" name="Group 66"/>
                <p:cNvGrpSpPr/>
                <p:nvPr/>
              </p:nvGrpSpPr>
              <p:grpSpPr>
                <a:xfrm>
                  <a:off x="3709" y="240"/>
                  <a:ext cx="1139" cy="429"/>
                  <a:chOff x="3709" y="240"/>
                  <a:chExt cx="1139" cy="429"/>
                </a:xfrm>
              </p:grpSpPr>
              <p:sp>
                <p:nvSpPr>
                  <p:cNvPr id="17475" name="Freeform 67"/>
                  <p:cNvSpPr/>
                  <p:nvPr/>
                </p:nvSpPr>
                <p:spPr bwMode="ltGray">
                  <a:xfrm>
                    <a:off x="4808" y="616"/>
                    <a:ext cx="39"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Lst>
                    <a:ahLst/>
                    <a:cxnLst>
                      <a:cxn ang="0">
                        <a:pos x="T0" y="T1"/>
                      </a:cxn>
                      <a:cxn ang="0">
                        <a:pos x="T2" y="T3"/>
                      </a:cxn>
                      <a:cxn ang="0">
                        <a:pos x="T4" y="T5"/>
                      </a:cxn>
                      <a:cxn ang="0">
                        <a:pos x="T6" y="T7"/>
                      </a:cxn>
                      <a:cxn ang="0">
                        <a:pos x="T8" y="T9"/>
                      </a:cxn>
                      <a:cxn ang="0">
                        <a:pos x="T10" y="T11"/>
                      </a:cxn>
                      <a:cxn ang="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6" name="Freeform 68"/>
                  <p:cNvSpPr/>
                  <p:nvPr/>
                </p:nvSpPr>
                <p:spPr bwMode="ltGray">
                  <a:xfrm>
                    <a:off x="4655" y="629"/>
                    <a:ext cx="39" cy="5"/>
                  </a:xfrm>
                  <a:custGeom>
                    <a:avLst/>
                    <a:gdLst>
                      <a:gd name="T0" fmla="*/ 15 w 25"/>
                      <a:gd name="T1" fmla="*/ 16 h 16"/>
                      <a:gd name="T2" fmla="*/ 3 w 25"/>
                      <a:gd name="T3" fmla="*/ 8 h 16"/>
                      <a:gd name="T4" fmla="*/ 15 w 25"/>
                      <a:gd name="T5" fmla="*/ 0 h 16"/>
                      <a:gd name="T6" fmla="*/ 15 w 25"/>
                      <a:gd name="T7" fmla="*/ 16 h 16"/>
                    </a:gdLst>
                    <a:ahLst/>
                    <a:cxnLst>
                      <a:cxn ang="0">
                        <a:pos x="T0" y="T1"/>
                      </a:cxn>
                      <a:cxn ang="0">
                        <a:pos x="T2" y="T3"/>
                      </a:cxn>
                      <a:cxn ang="0">
                        <a:pos x="T4" y="T5"/>
                      </a:cxn>
                      <a:cxn ang="0">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7" name="Freeform 69"/>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8" name="Freeform 70"/>
                  <p:cNvSpPr/>
                  <p:nvPr/>
                </p:nvSpPr>
                <p:spPr bwMode="ltGray">
                  <a:xfrm>
                    <a:off x="4580" y="634"/>
                    <a:ext cx="3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79" name="Freeform 71"/>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0" name="Freeform 72"/>
                  <p:cNvSpPr/>
                  <p:nvPr/>
                </p:nvSpPr>
                <p:spPr bwMode="ltGray">
                  <a:xfrm>
                    <a:off x="4524" y="541"/>
                    <a:ext cx="39"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1" name="Freeform 73"/>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2" name="Freeform 74"/>
                  <p:cNvSpPr/>
                  <p:nvPr/>
                </p:nvSpPr>
                <p:spPr bwMode="ltGray">
                  <a:xfrm>
                    <a:off x="4578" y="588"/>
                    <a:ext cx="39"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3" name="Freeform 75"/>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4" name="Freeform 76"/>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Lst>
                    <a:ahLst/>
                    <a:cxnLst>
                      <a:cxn ang="0">
                        <a:pos x="T0" y="T1"/>
                      </a:cxn>
                      <a:cxn ang="0">
                        <a:pos x="T2" y="T3"/>
                      </a:cxn>
                      <a:cxn ang="0">
                        <a:pos x="T4" y="T5"/>
                      </a:cxn>
                      <a:cxn ang="0">
                        <a:pos x="T6" y="T7"/>
                      </a:cxn>
                      <a:cxn ang="0">
                        <a:pos x="T8" y="T9"/>
                      </a:cxn>
                      <a:cxn ang="0">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5" name="Freeform 77"/>
                  <p:cNvSpPr/>
                  <p:nvPr/>
                </p:nvSpPr>
                <p:spPr bwMode="ltGray">
                  <a:xfrm>
                    <a:off x="4657" y="585"/>
                    <a:ext cx="39"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6" name="Freeform 78"/>
                  <p:cNvSpPr/>
                  <p:nvPr/>
                </p:nvSpPr>
                <p:spPr bwMode="ltGray">
                  <a:xfrm>
                    <a:off x="4679" y="593"/>
                    <a:ext cx="116"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7" name="Freeform 79"/>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8" name="Freeform 80"/>
                  <p:cNvSpPr/>
                  <p:nvPr/>
                </p:nvSpPr>
                <p:spPr bwMode="ltGray">
                  <a:xfrm>
                    <a:off x="4840" y="544"/>
                    <a:ext cx="8" cy="6"/>
                  </a:xfrm>
                  <a:custGeom>
                    <a:avLst/>
                    <a:gdLst>
                      <a:gd name="T0" fmla="*/ 3 w 17"/>
                      <a:gd name="T1" fmla="*/ 4 h 18"/>
                      <a:gd name="T2" fmla="*/ 3 w 17"/>
                      <a:gd name="T3" fmla="*/ 14 h 18"/>
                      <a:gd name="T4" fmla="*/ 3 w 17"/>
                      <a:gd name="T5" fmla="*/ 4 h 18"/>
                    </a:gdLst>
                    <a:ahLst/>
                    <a:cxnLst>
                      <a:cxn ang="0">
                        <a:pos x="T0" y="T1"/>
                      </a:cxn>
                      <a:cxn ang="0">
                        <a:pos x="T2" y="T3"/>
                      </a:cxn>
                      <a:cxn ang="0">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89" name="Freeform 81"/>
                  <p:cNvSpPr/>
                  <p:nvPr/>
                </p:nvSpPr>
                <p:spPr bwMode="ltGray">
                  <a:xfrm>
                    <a:off x="4757" y="494"/>
                    <a:ext cx="8" cy="5"/>
                  </a:xfrm>
                  <a:custGeom>
                    <a:avLst/>
                    <a:gdLst>
                      <a:gd name="T0" fmla="*/ 7 w 20"/>
                      <a:gd name="T1" fmla="*/ 12 h 15"/>
                      <a:gd name="T2" fmla="*/ 17 w 20"/>
                      <a:gd name="T3" fmla="*/ 2 h 15"/>
                      <a:gd name="T4" fmla="*/ 9 w 20"/>
                      <a:gd name="T5" fmla="*/ 12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0" name="Freeform 82"/>
                  <p:cNvSpPr/>
                  <p:nvPr/>
                </p:nvSpPr>
                <p:spPr bwMode="ltGray">
                  <a:xfrm>
                    <a:off x="4679" y="536"/>
                    <a:ext cx="8" cy="5"/>
                  </a:xfrm>
                  <a:custGeom>
                    <a:avLst/>
                    <a:gdLst>
                      <a:gd name="T0" fmla="*/ 7 w 20"/>
                      <a:gd name="T1" fmla="*/ 12 h 15"/>
                      <a:gd name="T2" fmla="*/ 15 w 20"/>
                      <a:gd name="T3" fmla="*/ 2 h 15"/>
                      <a:gd name="T4" fmla="*/ 15 w 20"/>
                      <a:gd name="T5" fmla="*/ 14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1" name="Freeform 83"/>
                  <p:cNvSpPr/>
                  <p:nvPr/>
                </p:nvSpPr>
                <p:spPr bwMode="ltGray">
                  <a:xfrm>
                    <a:off x="4602"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2" name="Freeform 84"/>
                  <p:cNvSpPr/>
                  <p:nvPr/>
                </p:nvSpPr>
                <p:spPr bwMode="ltGray">
                  <a:xfrm>
                    <a:off x="4602" y="466"/>
                    <a:ext cx="39"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3" name="Freeform 85"/>
                  <p:cNvSpPr/>
                  <p:nvPr/>
                </p:nvSpPr>
                <p:spPr bwMode="ltGray">
                  <a:xfrm>
                    <a:off x="4602"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4" name="Freeform 86"/>
                  <p:cNvSpPr/>
                  <p:nvPr/>
                </p:nvSpPr>
                <p:spPr bwMode="ltGray">
                  <a:xfrm>
                    <a:off x="4569" y="512"/>
                    <a:ext cx="3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Lst>
                    <a:ahLst/>
                    <a:cxnLst>
                      <a:cxn ang="0">
                        <a:pos x="T0" y="T1"/>
                      </a:cxn>
                      <a:cxn ang="0">
                        <a:pos x="T2" y="T3"/>
                      </a:cxn>
                      <a:cxn ang="0">
                        <a:pos x="T4" y="T5"/>
                      </a:cxn>
                      <a:cxn ang="0">
                        <a:pos x="T6" y="T7"/>
                      </a:cxn>
                      <a:cxn ang="0">
                        <a:pos x="T8" y="T9"/>
                      </a:cxn>
                      <a:cxn ang="0">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5" name="Freeform 87"/>
                  <p:cNvSpPr/>
                  <p:nvPr/>
                </p:nvSpPr>
                <p:spPr bwMode="ltGray">
                  <a:xfrm>
                    <a:off x="4784" y="275"/>
                    <a:ext cx="18" cy="10"/>
                  </a:xfrm>
                  <a:custGeom>
                    <a:avLst/>
                    <a:gdLst>
                      <a:gd name="T0" fmla="*/ 0 w 41"/>
                      <a:gd name="T1" fmla="*/ 25 h 29"/>
                      <a:gd name="T2" fmla="*/ 12 w 41"/>
                      <a:gd name="T3" fmla="*/ 29 h 29"/>
                      <a:gd name="T4" fmla="*/ 0 w 41"/>
                      <a:gd name="T5" fmla="*/ 25 h 29"/>
                    </a:gdLst>
                    <a:ahLst/>
                    <a:cxnLst>
                      <a:cxn ang="0">
                        <a:pos x="T0" y="T1"/>
                      </a:cxn>
                      <a:cxn ang="0">
                        <a:pos x="T2" y="T3"/>
                      </a:cxn>
                      <a:cxn ang="0">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6" name="Freeform 88"/>
                  <p:cNvSpPr/>
                  <p:nvPr/>
                </p:nvSpPr>
                <p:spPr bwMode="ltGray">
                  <a:xfrm>
                    <a:off x="4293" y="246"/>
                    <a:ext cx="426"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7" name="Freeform 89"/>
                  <p:cNvSpPr/>
                  <p:nvPr/>
                </p:nvSpPr>
                <p:spPr bwMode="ltGray">
                  <a:xfrm>
                    <a:off x="4731" y="240"/>
                    <a:ext cx="39"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8" name="Freeform 90"/>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499" name="Freeform 91"/>
                  <p:cNvSpPr/>
                  <p:nvPr/>
                </p:nvSpPr>
                <p:spPr bwMode="ltGray">
                  <a:xfrm>
                    <a:off x="4656" y="319"/>
                    <a:ext cx="116"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0" name="Freeform 92"/>
                  <p:cNvSpPr/>
                  <p:nvPr/>
                </p:nvSpPr>
                <p:spPr bwMode="ltGray">
                  <a:xfrm>
                    <a:off x="4709" y="340"/>
                    <a:ext cx="6" cy="4"/>
                  </a:xfrm>
                  <a:custGeom>
                    <a:avLst/>
                    <a:gdLst>
                      <a:gd name="T0" fmla="*/ 0 w 13"/>
                      <a:gd name="T1" fmla="*/ 9 h 13"/>
                      <a:gd name="T2" fmla="*/ 4 w 13"/>
                      <a:gd name="T3" fmla="*/ 13 h 13"/>
                      <a:gd name="T4" fmla="*/ 0 w 13"/>
                      <a:gd name="T5" fmla="*/ 9 h 13"/>
                    </a:gdLst>
                    <a:ahLst/>
                    <a:cxnLst>
                      <a:cxn ang="0">
                        <a:pos x="T0" y="T1"/>
                      </a:cxn>
                      <a:cxn ang="0">
                        <a:pos x="T2" y="T3"/>
                      </a:cxn>
                      <a:cxn ang="0">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1" name="Freeform 93"/>
                  <p:cNvSpPr/>
                  <p:nvPr/>
                </p:nvSpPr>
                <p:spPr bwMode="ltGray">
                  <a:xfrm>
                    <a:off x="4261" y="389"/>
                    <a:ext cx="349"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2" name="Freeform 94"/>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Lst>
                    <a:ahLst/>
                    <a:cxnLst>
                      <a:cxn ang="0">
                        <a:pos x="T0" y="T1"/>
                      </a:cxn>
                      <a:cxn ang="0">
                        <a:pos x="T2" y="T3"/>
                      </a:cxn>
                      <a:cxn ang="0">
                        <a:pos x="T4" y="T5"/>
                      </a:cxn>
                      <a:cxn ang="0">
                        <a:pos x="T6" y="T7"/>
                      </a:cxn>
                      <a:cxn ang="0">
                        <a:pos x="T8" y="T9"/>
                      </a:cxn>
                      <a:cxn ang="0">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3" name="Freeform 95"/>
                  <p:cNvSpPr/>
                  <p:nvPr/>
                </p:nvSpPr>
                <p:spPr bwMode="ltGray">
                  <a:xfrm>
                    <a:off x="4602"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4" name="Freeform 96"/>
                  <p:cNvSpPr/>
                  <p:nvPr/>
                </p:nvSpPr>
                <p:spPr bwMode="ltGray">
                  <a:xfrm>
                    <a:off x="4639" y="409"/>
                    <a:ext cx="9" cy="10"/>
                  </a:xfrm>
                  <a:custGeom>
                    <a:avLst/>
                    <a:gdLst>
                      <a:gd name="T0" fmla="*/ 7 w 20"/>
                      <a:gd name="T1" fmla="*/ 16 h 30"/>
                      <a:gd name="T2" fmla="*/ 5 w 20"/>
                      <a:gd name="T3" fmla="*/ 30 h 30"/>
                      <a:gd name="T4" fmla="*/ 7 w 20"/>
                      <a:gd name="T5" fmla="*/ 16 h 30"/>
                    </a:gdLst>
                    <a:ahLst/>
                    <a:cxnLst>
                      <a:cxn ang="0">
                        <a:pos x="T0" y="T1"/>
                      </a:cxn>
                      <a:cxn ang="0">
                        <a:pos x="T2" y="T3"/>
                      </a:cxn>
                      <a:cxn ang="0">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5" name="Freeform 97"/>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6" name="Freeform 98"/>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7" name="Freeform 99"/>
                  <p:cNvSpPr/>
                  <p:nvPr/>
                </p:nvSpPr>
                <p:spPr bwMode="ltGray">
                  <a:xfrm>
                    <a:off x="4164" y="611"/>
                    <a:ext cx="7" cy="12"/>
                  </a:xfrm>
                  <a:custGeom>
                    <a:avLst/>
                    <a:gdLst>
                      <a:gd name="T0" fmla="*/ 7 w 19"/>
                      <a:gd name="T1" fmla="*/ 25 h 37"/>
                      <a:gd name="T2" fmla="*/ 19 w 19"/>
                      <a:gd name="T3" fmla="*/ 21 h 37"/>
                      <a:gd name="T4" fmla="*/ 7 w 19"/>
                      <a:gd name="T5" fmla="*/ 25 h 37"/>
                    </a:gdLst>
                    <a:ahLst/>
                    <a:cxnLst>
                      <a:cxn ang="0">
                        <a:pos x="T0" y="T1"/>
                      </a:cxn>
                      <a:cxn ang="0">
                        <a:pos x="T2" y="T3"/>
                      </a:cxn>
                      <a:cxn ang="0">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8" name="Freeform 100"/>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Lst>
                    <a:ahLst/>
                    <a:cxnLst>
                      <a:cxn ang="0">
                        <a:pos x="T0" y="T1"/>
                      </a:cxn>
                      <a:cxn ang="0">
                        <a:pos x="T2" y="T3"/>
                      </a:cxn>
                      <a:cxn ang="0">
                        <a:pos x="T4" y="T5"/>
                      </a:cxn>
                      <a:cxn ang="0">
                        <a:pos x="T6" y="T7"/>
                      </a:cxn>
                      <a:cxn ang="0">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09" name="Freeform 101"/>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Lst>
                    <a:ahLst/>
                    <a:cxnLst>
                      <a:cxn ang="0">
                        <a:pos x="T0" y="T1"/>
                      </a:cxn>
                      <a:cxn ang="0">
                        <a:pos x="T2" y="T3"/>
                      </a:cxn>
                      <a:cxn ang="0">
                        <a:pos x="T4" y="T5"/>
                      </a:cxn>
                      <a:cxn ang="0">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0" name="Freeform 102"/>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1" name="Freeform 103"/>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2" name="Freeform 104"/>
                  <p:cNvSpPr/>
                  <p:nvPr/>
                </p:nvSpPr>
                <p:spPr bwMode="ltGray">
                  <a:xfrm>
                    <a:off x="3982" y="282"/>
                    <a:ext cx="13" cy="10"/>
                  </a:xfrm>
                  <a:custGeom>
                    <a:avLst/>
                    <a:gdLst>
                      <a:gd name="T0" fmla="*/ 3 w 31"/>
                      <a:gd name="T1" fmla="*/ 28 h 30"/>
                      <a:gd name="T2" fmla="*/ 31 w 31"/>
                      <a:gd name="T3" fmla="*/ 0 h 30"/>
                      <a:gd name="T4" fmla="*/ 19 w 31"/>
                      <a:gd name="T5" fmla="*/ 24 h 30"/>
                      <a:gd name="T6" fmla="*/ 3 w 31"/>
                      <a:gd name="T7" fmla="*/ 28 h 30"/>
                    </a:gdLst>
                    <a:ahLst/>
                    <a:cxnLst>
                      <a:cxn ang="0">
                        <a:pos x="T0" y="T1"/>
                      </a:cxn>
                      <a:cxn ang="0">
                        <a:pos x="T2" y="T3"/>
                      </a:cxn>
                      <a:cxn ang="0">
                        <a:pos x="T4" y="T5"/>
                      </a:cxn>
                      <a:cxn ang="0">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3" name="Freeform 105"/>
                  <p:cNvSpPr/>
                  <p:nvPr/>
                </p:nvSpPr>
                <p:spPr bwMode="ltGray">
                  <a:xfrm>
                    <a:off x="3966" y="296"/>
                    <a:ext cx="39" cy="11"/>
                  </a:xfrm>
                  <a:custGeom>
                    <a:avLst/>
                    <a:gdLst>
                      <a:gd name="T0" fmla="*/ 6 w 44"/>
                      <a:gd name="T1" fmla="*/ 32 h 32"/>
                      <a:gd name="T2" fmla="*/ 22 w 44"/>
                      <a:gd name="T3" fmla="*/ 0 h 32"/>
                      <a:gd name="T4" fmla="*/ 38 w 44"/>
                      <a:gd name="T5" fmla="*/ 4 h 32"/>
                      <a:gd name="T6" fmla="*/ 6 w 44"/>
                      <a:gd name="T7" fmla="*/ 32 h 32"/>
                    </a:gdLst>
                    <a:ahLst/>
                    <a:cxnLst>
                      <a:cxn ang="0">
                        <a:pos x="T0" y="T1"/>
                      </a:cxn>
                      <a:cxn ang="0">
                        <a:pos x="T2" y="T3"/>
                      </a:cxn>
                      <a:cxn ang="0">
                        <a:pos x="T4" y="T5"/>
                      </a:cxn>
                      <a:cxn ang="0">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4" name="Freeform 106"/>
                  <p:cNvSpPr/>
                  <p:nvPr/>
                </p:nvSpPr>
                <p:spPr bwMode="ltGray">
                  <a:xfrm>
                    <a:off x="4028" y="337"/>
                    <a:ext cx="39" cy="6"/>
                  </a:xfrm>
                  <a:custGeom>
                    <a:avLst/>
                    <a:gdLst>
                      <a:gd name="T0" fmla="*/ 37 w 76"/>
                      <a:gd name="T1" fmla="*/ 18 h 18"/>
                      <a:gd name="T2" fmla="*/ 25 w 76"/>
                      <a:gd name="T3" fmla="*/ 2 h 18"/>
                      <a:gd name="T4" fmla="*/ 37 w 76"/>
                      <a:gd name="T5" fmla="*/ 18 h 18"/>
                    </a:gdLst>
                    <a:ahLst/>
                    <a:cxnLst>
                      <a:cxn ang="0">
                        <a:pos x="T0" y="T1"/>
                      </a:cxn>
                      <a:cxn ang="0">
                        <a:pos x="T2" y="T3"/>
                      </a:cxn>
                      <a:cxn ang="0">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5" name="Freeform 107"/>
                  <p:cNvSpPr/>
                  <p:nvPr/>
                </p:nvSpPr>
                <p:spPr bwMode="ltGray">
                  <a:xfrm>
                    <a:off x="4083" y="336"/>
                    <a:ext cx="18" cy="15"/>
                  </a:xfrm>
                  <a:custGeom>
                    <a:avLst/>
                    <a:gdLst>
                      <a:gd name="T0" fmla="*/ 0 w 42"/>
                      <a:gd name="T1" fmla="*/ 21 h 44"/>
                      <a:gd name="T2" fmla="*/ 12 w 42"/>
                      <a:gd name="T3" fmla="*/ 9 h 44"/>
                      <a:gd name="T4" fmla="*/ 0 w 42"/>
                      <a:gd name="T5" fmla="*/ 21 h 44"/>
                    </a:gdLst>
                    <a:ahLst/>
                    <a:cxnLst>
                      <a:cxn ang="0">
                        <a:pos x="T0" y="T1"/>
                      </a:cxn>
                      <a:cxn ang="0">
                        <a:pos x="T2" y="T3"/>
                      </a:cxn>
                      <a:cxn ang="0">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6" name="Freeform 108"/>
                  <p:cNvSpPr/>
                  <p:nvPr/>
                </p:nvSpPr>
                <p:spPr bwMode="ltGray">
                  <a:xfrm>
                    <a:off x="3936" y="295"/>
                    <a:ext cx="14" cy="10"/>
                  </a:xfrm>
                  <a:custGeom>
                    <a:avLst/>
                    <a:gdLst>
                      <a:gd name="T0" fmla="*/ 7 w 31"/>
                      <a:gd name="T1" fmla="*/ 22 h 30"/>
                      <a:gd name="T2" fmla="*/ 31 w 31"/>
                      <a:gd name="T3" fmla="*/ 10 h 30"/>
                      <a:gd name="T4" fmla="*/ 7 w 31"/>
                      <a:gd name="T5" fmla="*/ 22 h 30"/>
                    </a:gdLst>
                    <a:ahLst/>
                    <a:cxnLst>
                      <a:cxn ang="0">
                        <a:pos x="T0" y="T1"/>
                      </a:cxn>
                      <a:cxn ang="0">
                        <a:pos x="T2" y="T3"/>
                      </a:cxn>
                      <a:cxn ang="0">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nvGrpSpPr>
              <p:cNvPr id="24683" name="Group 109"/>
              <p:cNvGrpSpPr/>
              <p:nvPr/>
            </p:nvGrpSpPr>
            <p:grpSpPr>
              <a:xfrm>
                <a:off x="798" y="111"/>
                <a:ext cx="4702" cy="418"/>
                <a:chOff x="798" y="255"/>
                <a:chExt cx="4702" cy="418"/>
              </a:xfrm>
            </p:grpSpPr>
            <p:sp>
              <p:nvSpPr>
                <p:cNvPr id="17518" name="Line 110"/>
                <p:cNvSpPr>
                  <a:spLocks noChangeShapeType="1"/>
                </p:cNvSpPr>
                <p:nvPr/>
              </p:nvSpPr>
              <p:spPr bwMode="white">
                <a:xfrm>
                  <a:off x="798" y="476"/>
                  <a:ext cx="4702" cy="0"/>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19" name="Line 111"/>
                <p:cNvSpPr>
                  <a:spLocks noChangeShapeType="1"/>
                </p:cNvSpPr>
                <p:nvPr/>
              </p:nvSpPr>
              <p:spPr bwMode="white">
                <a:xfrm>
                  <a:off x="102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0" name="Line 112"/>
                <p:cNvSpPr>
                  <a:spLocks noChangeShapeType="1"/>
                </p:cNvSpPr>
                <p:nvPr/>
              </p:nvSpPr>
              <p:spPr bwMode="white">
                <a:xfrm>
                  <a:off x="125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1" name="Line 113"/>
                <p:cNvSpPr>
                  <a:spLocks noChangeShapeType="1"/>
                </p:cNvSpPr>
                <p:nvPr/>
              </p:nvSpPr>
              <p:spPr bwMode="white">
                <a:xfrm>
                  <a:off x="148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2" name="Line 114"/>
                <p:cNvSpPr>
                  <a:spLocks noChangeShapeType="1"/>
                </p:cNvSpPr>
                <p:nvPr/>
              </p:nvSpPr>
              <p:spPr bwMode="white">
                <a:xfrm>
                  <a:off x="171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3" name="Line 115"/>
                <p:cNvSpPr>
                  <a:spLocks noChangeShapeType="1"/>
                </p:cNvSpPr>
                <p:nvPr/>
              </p:nvSpPr>
              <p:spPr bwMode="white">
                <a:xfrm>
                  <a:off x="193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4" name="Line 116"/>
                <p:cNvSpPr>
                  <a:spLocks noChangeShapeType="1"/>
                </p:cNvSpPr>
                <p:nvPr/>
              </p:nvSpPr>
              <p:spPr bwMode="white">
                <a:xfrm>
                  <a:off x="216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5" name="Line 117"/>
                <p:cNvSpPr>
                  <a:spLocks noChangeShapeType="1"/>
                </p:cNvSpPr>
                <p:nvPr/>
              </p:nvSpPr>
              <p:spPr bwMode="white">
                <a:xfrm>
                  <a:off x="239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6" name="Line 118"/>
                <p:cNvSpPr>
                  <a:spLocks noChangeShapeType="1"/>
                </p:cNvSpPr>
                <p:nvPr/>
              </p:nvSpPr>
              <p:spPr bwMode="white">
                <a:xfrm>
                  <a:off x="262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7" name="Line 119"/>
                <p:cNvSpPr>
                  <a:spLocks noChangeShapeType="1"/>
                </p:cNvSpPr>
                <p:nvPr/>
              </p:nvSpPr>
              <p:spPr bwMode="white">
                <a:xfrm>
                  <a:off x="285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8" name="Line 120"/>
                <p:cNvSpPr>
                  <a:spLocks noChangeShapeType="1"/>
                </p:cNvSpPr>
                <p:nvPr/>
              </p:nvSpPr>
              <p:spPr bwMode="white">
                <a:xfrm>
                  <a:off x="307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29" name="Line 121"/>
                <p:cNvSpPr>
                  <a:spLocks noChangeShapeType="1"/>
                </p:cNvSpPr>
                <p:nvPr/>
              </p:nvSpPr>
              <p:spPr bwMode="white">
                <a:xfrm>
                  <a:off x="330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0" name="Line 122"/>
                <p:cNvSpPr>
                  <a:spLocks noChangeShapeType="1"/>
                </p:cNvSpPr>
                <p:nvPr/>
              </p:nvSpPr>
              <p:spPr bwMode="white">
                <a:xfrm>
                  <a:off x="353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1" name="Line 123"/>
                <p:cNvSpPr>
                  <a:spLocks noChangeShapeType="1"/>
                </p:cNvSpPr>
                <p:nvPr/>
              </p:nvSpPr>
              <p:spPr bwMode="white">
                <a:xfrm>
                  <a:off x="376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2" name="Line 124"/>
                <p:cNvSpPr>
                  <a:spLocks noChangeShapeType="1"/>
                </p:cNvSpPr>
                <p:nvPr/>
              </p:nvSpPr>
              <p:spPr bwMode="white">
                <a:xfrm>
                  <a:off x="399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3" name="Line 125"/>
                <p:cNvSpPr>
                  <a:spLocks noChangeShapeType="1"/>
                </p:cNvSpPr>
                <p:nvPr/>
              </p:nvSpPr>
              <p:spPr bwMode="white">
                <a:xfrm>
                  <a:off x="421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4" name="Line 126"/>
                <p:cNvSpPr>
                  <a:spLocks noChangeShapeType="1"/>
                </p:cNvSpPr>
                <p:nvPr/>
              </p:nvSpPr>
              <p:spPr bwMode="white">
                <a:xfrm>
                  <a:off x="444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5" name="Line 127"/>
                <p:cNvSpPr>
                  <a:spLocks noChangeShapeType="1"/>
                </p:cNvSpPr>
                <p:nvPr/>
              </p:nvSpPr>
              <p:spPr bwMode="white">
                <a:xfrm>
                  <a:off x="467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6" name="Line 128"/>
                <p:cNvSpPr>
                  <a:spLocks noChangeShapeType="1"/>
                </p:cNvSpPr>
                <p:nvPr/>
              </p:nvSpPr>
              <p:spPr bwMode="white">
                <a:xfrm>
                  <a:off x="490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7" name="Line 129"/>
                <p:cNvSpPr>
                  <a:spLocks noChangeShapeType="1"/>
                </p:cNvSpPr>
                <p:nvPr/>
              </p:nvSpPr>
              <p:spPr bwMode="white">
                <a:xfrm>
                  <a:off x="513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38" name="Line 130"/>
                <p:cNvSpPr>
                  <a:spLocks noChangeShapeType="1"/>
                </p:cNvSpPr>
                <p:nvPr/>
              </p:nvSpPr>
              <p:spPr bwMode="white">
                <a:xfrm>
                  <a:off x="535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24705" name="Group 131"/>
              <p:cNvGrpSpPr/>
              <p:nvPr/>
            </p:nvGrpSpPr>
            <p:grpSpPr>
              <a:xfrm>
                <a:off x="1208" y="109"/>
                <a:ext cx="3694" cy="423"/>
                <a:chOff x="1034" y="245"/>
                <a:chExt cx="3694" cy="423"/>
              </a:xfrm>
            </p:grpSpPr>
            <p:sp>
              <p:nvSpPr>
                <p:cNvPr id="17540" name="Line 132"/>
                <p:cNvSpPr>
                  <a:spLocks noChangeShapeType="1"/>
                </p:cNvSpPr>
                <p:nvPr/>
              </p:nvSpPr>
              <p:spPr bwMode="ltGray">
                <a:xfrm>
                  <a:off x="2665" y="246"/>
                  <a:ext cx="0" cy="14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1" name="Line 133"/>
                <p:cNvSpPr>
                  <a:spLocks noChangeShapeType="1"/>
                </p:cNvSpPr>
                <p:nvPr/>
              </p:nvSpPr>
              <p:spPr bwMode="ltGray">
                <a:xfrm>
                  <a:off x="2798" y="468"/>
                  <a:ext cx="7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2" name="Line 134"/>
                <p:cNvSpPr>
                  <a:spLocks noChangeShapeType="1"/>
                </p:cNvSpPr>
                <p:nvPr/>
              </p:nvSpPr>
              <p:spPr bwMode="ltGray">
                <a:xfrm>
                  <a:off x="2897" y="486"/>
                  <a:ext cx="0" cy="28"/>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3" name="Line 135"/>
                <p:cNvSpPr>
                  <a:spLocks noChangeShapeType="1"/>
                </p:cNvSpPr>
                <p:nvPr/>
              </p:nvSpPr>
              <p:spPr bwMode="ltGray">
                <a:xfrm>
                  <a:off x="3130" y="586"/>
                  <a:ext cx="0" cy="79"/>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4" name="Line 136"/>
                <p:cNvSpPr>
                  <a:spLocks noChangeShapeType="1"/>
                </p:cNvSpPr>
                <p:nvPr/>
              </p:nvSpPr>
              <p:spPr bwMode="ltGray">
                <a:xfrm>
                  <a:off x="3816" y="358"/>
                  <a:ext cx="0" cy="18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5" name="Line 137"/>
                <p:cNvSpPr>
                  <a:spLocks noChangeShapeType="1"/>
                </p:cNvSpPr>
                <p:nvPr/>
              </p:nvSpPr>
              <p:spPr bwMode="ltGray">
                <a:xfrm>
                  <a:off x="3722" y="468"/>
                  <a:ext cx="34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6" name="Line 138"/>
                <p:cNvSpPr>
                  <a:spLocks noChangeShapeType="1"/>
                </p:cNvSpPr>
                <p:nvPr/>
              </p:nvSpPr>
              <p:spPr bwMode="ltGray">
                <a:xfrm>
                  <a:off x="4044" y="372"/>
                  <a:ext cx="0" cy="294"/>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7" name="Line 139"/>
                <p:cNvSpPr>
                  <a:spLocks noChangeShapeType="1"/>
                </p:cNvSpPr>
                <p:nvPr/>
              </p:nvSpPr>
              <p:spPr bwMode="ltGray">
                <a:xfrm flipV="1">
                  <a:off x="4046" y="248"/>
                  <a:ext cx="0" cy="5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8" name="Line 140"/>
                <p:cNvSpPr>
                  <a:spLocks noChangeShapeType="1"/>
                </p:cNvSpPr>
                <p:nvPr/>
              </p:nvSpPr>
              <p:spPr bwMode="ltGray">
                <a:xfrm flipV="1">
                  <a:off x="4272" y="246"/>
                  <a:ext cx="0" cy="18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49" name="Line 141"/>
                <p:cNvSpPr>
                  <a:spLocks noChangeShapeType="1"/>
                </p:cNvSpPr>
                <p:nvPr/>
              </p:nvSpPr>
              <p:spPr bwMode="ltGray">
                <a:xfrm flipH="1">
                  <a:off x="4422" y="468"/>
                  <a:ext cx="7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0" name="Line 142"/>
                <p:cNvSpPr>
                  <a:spLocks noChangeShapeType="1"/>
                </p:cNvSpPr>
                <p:nvPr/>
              </p:nvSpPr>
              <p:spPr bwMode="ltGray">
                <a:xfrm flipH="1">
                  <a:off x="4290" y="468"/>
                  <a:ext cx="62"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1" name="Line 143"/>
                <p:cNvSpPr>
                  <a:spLocks noChangeShapeType="1"/>
                </p:cNvSpPr>
                <p:nvPr/>
              </p:nvSpPr>
              <p:spPr bwMode="ltGray">
                <a:xfrm flipV="1">
                  <a:off x="4500" y="246"/>
                  <a:ext cx="0" cy="27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2" name="Line 144"/>
                <p:cNvSpPr>
                  <a:spLocks noChangeShapeType="1"/>
                </p:cNvSpPr>
                <p:nvPr/>
              </p:nvSpPr>
              <p:spPr bwMode="ltGray">
                <a:xfrm>
                  <a:off x="4728" y="606"/>
                  <a:ext cx="0" cy="34"/>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3" name="Line 145"/>
                <p:cNvSpPr>
                  <a:spLocks noChangeShapeType="1"/>
                </p:cNvSpPr>
                <p:nvPr/>
              </p:nvSpPr>
              <p:spPr bwMode="ltGray">
                <a:xfrm>
                  <a:off x="1967" y="250"/>
                  <a:ext cx="0" cy="6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4" name="Line 146"/>
                <p:cNvSpPr>
                  <a:spLocks noChangeShapeType="1"/>
                </p:cNvSpPr>
                <p:nvPr/>
              </p:nvSpPr>
              <p:spPr bwMode="ltGray">
                <a:xfrm>
                  <a:off x="1735" y="247"/>
                  <a:ext cx="0" cy="337"/>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5" name="Line 147"/>
                <p:cNvSpPr>
                  <a:spLocks noChangeShapeType="1"/>
                </p:cNvSpPr>
                <p:nvPr/>
              </p:nvSpPr>
              <p:spPr bwMode="ltGray">
                <a:xfrm flipH="1">
                  <a:off x="1735" y="468"/>
                  <a:ext cx="6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6" name="Line 148"/>
                <p:cNvSpPr>
                  <a:spLocks noChangeShapeType="1"/>
                </p:cNvSpPr>
                <p:nvPr/>
              </p:nvSpPr>
              <p:spPr bwMode="ltGray">
                <a:xfrm>
                  <a:off x="1580" y="468"/>
                  <a:ext cx="6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7" name="Line 149"/>
                <p:cNvSpPr>
                  <a:spLocks noChangeShapeType="1"/>
                </p:cNvSpPr>
                <p:nvPr/>
              </p:nvSpPr>
              <p:spPr bwMode="ltGray">
                <a:xfrm flipH="1">
                  <a:off x="1404" y="468"/>
                  <a:ext cx="82"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8" name="Line 150"/>
                <p:cNvSpPr>
                  <a:spLocks noChangeShapeType="1"/>
                </p:cNvSpPr>
                <p:nvPr/>
              </p:nvSpPr>
              <p:spPr bwMode="ltGray">
                <a:xfrm>
                  <a:off x="1034" y="468"/>
                  <a:ext cx="349"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59" name="Line 151"/>
                <p:cNvSpPr>
                  <a:spLocks noChangeShapeType="1"/>
                </p:cNvSpPr>
                <p:nvPr/>
              </p:nvSpPr>
              <p:spPr bwMode="ltGray">
                <a:xfrm>
                  <a:off x="1306" y="370"/>
                  <a:ext cx="0" cy="298"/>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60" name="Line 152"/>
                <p:cNvSpPr>
                  <a:spLocks noChangeShapeType="1"/>
                </p:cNvSpPr>
                <p:nvPr/>
              </p:nvSpPr>
              <p:spPr bwMode="ltGray">
                <a:xfrm>
                  <a:off x="1080" y="388"/>
                  <a:ext cx="0" cy="156"/>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61" name="Line 153"/>
                <p:cNvSpPr>
                  <a:spLocks noChangeShapeType="1"/>
                </p:cNvSpPr>
                <p:nvPr/>
              </p:nvSpPr>
              <p:spPr bwMode="ltGray">
                <a:xfrm flipH="1" flipV="1">
                  <a:off x="1308" y="245"/>
                  <a:ext cx="0" cy="27"/>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62" name="Line 154"/>
                <p:cNvSpPr>
                  <a:spLocks noChangeShapeType="1"/>
                </p:cNvSpPr>
                <p:nvPr/>
              </p:nvSpPr>
              <p:spPr bwMode="ltGray">
                <a:xfrm>
                  <a:off x="1536" y="316"/>
                  <a:ext cx="0" cy="96"/>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63" name="Line 155"/>
                <p:cNvSpPr>
                  <a:spLocks noChangeShapeType="1"/>
                </p:cNvSpPr>
                <p:nvPr/>
              </p:nvSpPr>
              <p:spPr bwMode="ltGray">
                <a:xfrm flipV="1">
                  <a:off x="1536" y="247"/>
                  <a:ext cx="0" cy="2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564" name="Line 156"/>
                <p:cNvSpPr>
                  <a:spLocks noChangeShapeType="1"/>
                </p:cNvSpPr>
                <p:nvPr/>
              </p:nvSpPr>
              <p:spPr bwMode="ltGray">
                <a:xfrm>
                  <a:off x="4095" y="467"/>
                  <a:ext cx="8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pic>
          <p:nvPicPr>
            <p:cNvPr id="24731" name="Picture 157" descr="earth"/>
            <p:cNvPicPr>
              <a:picLocks noChangeAspect="1"/>
            </p:cNvPicPr>
            <p:nvPr/>
          </p:nvPicPr>
          <p:blipFill>
            <a:blip r:embed="rId1">
              <a:clrChange>
                <a:clrFrom>
                  <a:srgbClr val="000000"/>
                </a:clrFrom>
                <a:clrTo>
                  <a:srgbClr val="000000">
                    <a:alpha val="0"/>
                  </a:srgbClr>
                </a:clrTo>
              </a:clrChange>
            </a:blip>
            <a:stretch>
              <a:fillRect/>
            </a:stretch>
          </p:blipFill>
          <p:spPr>
            <a:xfrm>
              <a:off x="165" y="55"/>
              <a:ext cx="562" cy="524"/>
            </a:xfrm>
            <a:prstGeom prst="rect">
              <a:avLst/>
            </a:prstGeom>
            <a:noFill/>
            <a:ln w="9525">
              <a:noFill/>
            </a:ln>
          </p:spPr>
        </p:pic>
      </p:grpSp>
      <p:graphicFrame>
        <p:nvGraphicFramePr>
          <p:cNvPr id="24732" name="Object 158"/>
          <p:cNvGraphicFramePr>
            <a:graphicFrameLocks noChangeAspect="1"/>
          </p:cNvGraphicFramePr>
          <p:nvPr/>
        </p:nvGraphicFramePr>
        <p:xfrm>
          <a:off x="3200400" y="152400"/>
          <a:ext cx="2514600" cy="685800"/>
        </p:xfrm>
        <a:graphic>
          <a:graphicData uri="http://schemas.openxmlformats.org/presentationml/2006/ole">
            <mc:AlternateContent xmlns:mc="http://schemas.openxmlformats.org/markup-compatibility/2006">
              <mc:Choice xmlns:v="urn:schemas-microsoft-com:vml" Requires="v">
                <p:oleObj spid="_x0000_s3076" name="" r:id="rId2" imgW="1409700" imgH="381000" progId="Paint.Picture">
                  <p:embed/>
                </p:oleObj>
              </mc:Choice>
              <mc:Fallback>
                <p:oleObj name="" r:id="rId2" imgW="1409700" imgH="381000" progId="Paint.Picture">
                  <p:embed/>
                  <p:pic>
                    <p:nvPicPr>
                      <p:cNvPr id="0" name="图片 3075"/>
                      <p:cNvPicPr/>
                      <p:nvPr/>
                    </p:nvPicPr>
                    <p:blipFill>
                      <a:blip r:embed="rId3">
                        <a:clrChange>
                          <a:clrFrom>
                            <a:srgbClr val="FFFFFF"/>
                          </a:clrFrom>
                          <a:clrTo>
                            <a:srgbClr val="FFFFFF">
                              <a:alpha val="0"/>
                            </a:srgbClr>
                          </a:clrTo>
                        </a:clrChange>
                      </a:blip>
                      <a:stretch>
                        <a:fillRect/>
                      </a:stretch>
                    </p:blipFill>
                    <p:spPr>
                      <a:xfrm>
                        <a:off x="3200400" y="152400"/>
                        <a:ext cx="2514600" cy="685800"/>
                      </a:xfrm>
                      <a:prstGeom prst="rect">
                        <a:avLst/>
                      </a:prstGeom>
                      <a:noFill/>
                      <a:ln w="38100">
                        <a:noFill/>
                        <a:miter/>
                      </a:ln>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xfrm>
            <a:off x="0" y="44450"/>
            <a:ext cx="9144000" cy="1143000"/>
          </a:xfrm>
        </p:spPr>
        <p:txBody>
          <a:bodyPr vert="horz" wrap="square" lIns="91440" tIns="45720" rIns="91440" bIns="45720" anchor="ctr"/>
          <a:p>
            <a:pPr eaLnBrk="1" hangingPunct="1"/>
            <a:r>
              <a:rPr lang="zh-CN" altLang="en-US" dirty="0">
                <a:solidFill>
                  <a:srgbClr val="FFFF00"/>
                </a:solidFill>
                <a:ea typeface="华文行楷" panose="02010800040101010101" pitchFamily="2" charset="-122"/>
              </a:rPr>
              <a:t>课程的一些情况</a:t>
            </a:r>
            <a:endParaRPr lang="zh-CN" altLang="en-US" dirty="0">
              <a:solidFill>
                <a:srgbClr val="FFFF00"/>
              </a:solidFill>
              <a:ea typeface="华文行楷" panose="02010800040101010101" pitchFamily="2" charset="-122"/>
            </a:endParaRPr>
          </a:p>
        </p:txBody>
      </p:sp>
      <p:sp>
        <p:nvSpPr>
          <p:cNvPr id="25602" name="Rectangle 3"/>
          <p:cNvSpPr>
            <a:spLocks noGrp="1"/>
          </p:cNvSpPr>
          <p:nvPr>
            <p:ph idx="1"/>
          </p:nvPr>
        </p:nvSpPr>
        <p:spPr>
          <a:xfrm>
            <a:off x="685800" y="1268413"/>
            <a:ext cx="7772400" cy="4114800"/>
          </a:xfrm>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596997" name="Rectangle 5"/>
          <p:cNvSpPr>
            <a:spLocks noChangeArrowheads="1"/>
          </p:cNvSpPr>
          <p:nvPr/>
        </p:nvSpPr>
        <p:spPr bwMode="auto">
          <a:xfrm>
            <a:off x="1600200" y="1535113"/>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教师邮箱：</a:t>
            </a:r>
            <a:r>
              <a:rPr kumimoji="0" lang="en-US" altLang="zh-CN" sz="32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wangam@jlu.edu.cn</a:t>
            </a:r>
            <a:r>
              <a:rPr kumimoji="0" lang="en-US" altLang="zh-CN" sz="32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en-US" altLang="zh-CN" sz="32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96999" name="Rectangle 7"/>
          <p:cNvSpPr>
            <a:spLocks noChangeArrowheads="1"/>
          </p:cNvSpPr>
          <p:nvPr/>
        </p:nvSpPr>
        <p:spPr bwMode="auto">
          <a:xfrm>
            <a:off x="1600200" y="3022600"/>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参考书：钱能，清华大学出版社，第</a:t>
            </a:r>
            <a:r>
              <a:rPr kumimoji="0" lang="en-US" altLang="zh-CN" sz="32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2/3</a:t>
            </a:r>
            <a:r>
              <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版</a:t>
            </a:r>
            <a:endPar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597002" name="Rectangle 10"/>
          <p:cNvSpPr>
            <a:spLocks noChangeArrowheads="1"/>
          </p:cNvSpPr>
          <p:nvPr/>
        </p:nvSpPr>
        <p:spPr bwMode="auto">
          <a:xfrm>
            <a:off x="1601788" y="4437063"/>
            <a:ext cx="6858000" cy="838200"/>
          </a:xfrm>
          <a:prstGeom prst="rect">
            <a:avLst/>
          </a:prstGeom>
          <a:solidFill>
            <a:srgbClr val="6666FF"/>
          </a:soli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课堂纪律</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96997"/>
                                        </p:tgtEl>
                                        <p:attrNameLst>
                                          <p:attrName>style.visibility</p:attrName>
                                        </p:attrNameLst>
                                      </p:cBhvr>
                                      <p:to>
                                        <p:strVal val="visible"/>
                                      </p:to>
                                    </p:set>
                                    <p:animEffect transition="in" filter="slide(fromLeft)">
                                      <p:cBhvr>
                                        <p:cTn id="7" dur="500"/>
                                        <p:tgtEl>
                                          <p:spTgt spid="59699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96999"/>
                                        </p:tgtEl>
                                        <p:attrNameLst>
                                          <p:attrName>style.visibility</p:attrName>
                                        </p:attrNameLst>
                                      </p:cBhvr>
                                      <p:to>
                                        <p:strVal val="visible"/>
                                      </p:to>
                                    </p:set>
                                    <p:animEffect transition="in" filter="slide(fromLeft)">
                                      <p:cBhvr>
                                        <p:cTn id="12" dur="500"/>
                                        <p:tgtEl>
                                          <p:spTgt spid="59699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97002"/>
                                        </p:tgtEl>
                                        <p:attrNameLst>
                                          <p:attrName>style.visibility</p:attrName>
                                        </p:attrNameLst>
                                      </p:cBhvr>
                                      <p:to>
                                        <p:strVal val="visible"/>
                                      </p:to>
                                    </p:set>
                                    <p:animEffect transition="in" filter="slide(fromLeft)">
                                      <p:cBhvr>
                                        <p:cTn id="17" dur="500"/>
                                        <p:tgtEl>
                                          <p:spTgt spid="597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7" grpId="0" animBg="1"/>
      <p:bldP spid="596999" grpId="0" animBg="1"/>
      <p:bldP spid="59700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0" y="533400"/>
            <a:ext cx="9144000" cy="1143000"/>
          </a:xfrm>
        </p:spPr>
        <p:txBody>
          <a:bodyPr vert="horz" wrap="square" lIns="91440" tIns="45720" rIns="91440" bIns="45720" anchor="ctr"/>
          <a:p>
            <a:pPr eaLnBrk="1" hangingPunct="1"/>
            <a:r>
              <a:rPr lang="en-US" altLang="zh-CN" b="1" dirty="0">
                <a:solidFill>
                  <a:srgbClr val="FFFF00"/>
                </a:solidFill>
                <a:ea typeface="华文行楷" panose="02010800040101010101" pitchFamily="2" charset="-122"/>
              </a:rPr>
              <a:t> </a:t>
            </a:r>
            <a:r>
              <a:rPr lang="zh-CN" altLang="en-US" b="1" dirty="0">
                <a:solidFill>
                  <a:srgbClr val="FFFF00"/>
                </a:solidFill>
                <a:ea typeface="华文行楷" panose="02010800040101010101" pitchFamily="2" charset="-122"/>
              </a:rPr>
              <a:t>几个问题</a:t>
            </a:r>
            <a:endParaRPr lang="zh-CN" altLang="en-US" dirty="0">
              <a:solidFill>
                <a:srgbClr val="FFFF00"/>
              </a:solidFill>
              <a:ea typeface="华文行楷" panose="02010800040101010101" pitchFamily="2" charset="-122"/>
            </a:endParaRPr>
          </a:p>
        </p:txBody>
      </p:sp>
      <p:sp>
        <p:nvSpPr>
          <p:cNvPr id="26626" name="Rectangle 3"/>
          <p:cNvSpPr>
            <a:spLocks noGrp="1"/>
          </p:cNvSpPr>
          <p:nvPr>
            <p:ph idx="1"/>
          </p:nvPr>
        </p:nvSpPr>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122884" name="Text Box 4"/>
          <p:cNvSpPr txBox="1">
            <a:spLocks noChangeArrowheads="1"/>
          </p:cNvSpPr>
          <p:nvPr/>
        </p:nvSpPr>
        <p:spPr bwMode="auto">
          <a:xfrm>
            <a:off x="990600" y="2209800"/>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122885" name="Rectangle 5"/>
          <p:cNvSpPr>
            <a:spLocks noChangeArrowheads="1"/>
          </p:cNvSpPr>
          <p:nvPr/>
        </p:nvSpPr>
        <p:spPr bwMode="auto">
          <a:xfrm>
            <a:off x="1600200" y="2286000"/>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、专业就业前景如何？</a:t>
            </a:r>
            <a:r>
              <a:rPr kumimoji="0" lang="zh-CN" altLang="en-US" sz="2400" b="1" i="0" u="none" strike="noStrike" kern="1200" cap="none" spc="0" normalizeH="0" baseline="0" noProof="0" dirty="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22886" name="Rectangle 6"/>
          <p:cNvSpPr>
            <a:spLocks noChangeArrowheads="1"/>
          </p:cNvSpPr>
          <p:nvPr/>
        </p:nvSpPr>
        <p:spPr bwMode="auto">
          <a:xfrm>
            <a:off x="1600200" y="3176588"/>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．不热爱这个专业怎么办？教育</a:t>
            </a: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技能</a:t>
            </a: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方法论</a:t>
            </a:r>
            <a:r>
              <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22887" name="Rectangle 7"/>
          <p:cNvSpPr>
            <a:spLocks noChangeArrowheads="1"/>
          </p:cNvSpPr>
          <p:nvPr/>
        </p:nvSpPr>
        <p:spPr bwMode="auto">
          <a:xfrm>
            <a:off x="1600200" y="4090988"/>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．怎样学好</a:t>
            </a:r>
            <a:r>
              <a:rPr kumimoji="0" lang="en-US" altLang="zh-CN"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OOP</a:t>
            </a: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？理论</a:t>
            </a:r>
            <a:r>
              <a:rPr kumimoji="0" lang="en-US" altLang="zh-CN"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+DIY</a:t>
            </a:r>
            <a:endPar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122888" name="Rectangle 8"/>
          <p:cNvSpPr>
            <a:spLocks noChangeArrowheads="1"/>
          </p:cNvSpPr>
          <p:nvPr/>
        </p:nvSpPr>
        <p:spPr bwMode="auto">
          <a:xfrm>
            <a:off x="1600200" y="5029200"/>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．知识与文化  树立愿景</a:t>
            </a:r>
            <a:r>
              <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2884"/>
                                        </p:tgtEl>
                                        <p:attrNameLst>
                                          <p:attrName>style.visibility</p:attrName>
                                        </p:attrNameLst>
                                      </p:cBhvr>
                                      <p:to>
                                        <p:strVal val="visible"/>
                                      </p:to>
                                    </p:set>
                                    <p:anim calcmode="lin" valueType="num">
                                      <p:cBhvr additive="base">
                                        <p:cTn id="7" dur="500" fill="hold"/>
                                        <p:tgtEl>
                                          <p:spTgt spid="122884"/>
                                        </p:tgtEl>
                                        <p:attrNameLst>
                                          <p:attrName>ppt_x</p:attrName>
                                        </p:attrNameLst>
                                      </p:cBhvr>
                                      <p:tavLst>
                                        <p:tav tm="0">
                                          <p:val>
                                            <p:strVal val="0-#ppt_w/2"/>
                                          </p:val>
                                        </p:tav>
                                        <p:tav tm="100000">
                                          <p:val>
                                            <p:strVal val="#ppt_x"/>
                                          </p:val>
                                        </p:tav>
                                      </p:tavLst>
                                    </p:anim>
                                    <p:anim calcmode="lin" valueType="num">
                                      <p:cBhvr additive="base">
                                        <p:cTn id="8" dur="500" fill="hold"/>
                                        <p:tgtEl>
                                          <p:spTgt spid="12288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122885"/>
                                        </p:tgtEl>
                                        <p:attrNameLst>
                                          <p:attrName>style.visibility</p:attrName>
                                        </p:attrNameLst>
                                      </p:cBhvr>
                                      <p:to>
                                        <p:strVal val="visible"/>
                                      </p:to>
                                    </p:set>
                                    <p:animEffect transition="in" filter="slide(fromLeft)">
                                      <p:cBhvr>
                                        <p:cTn id="12" dur="500"/>
                                        <p:tgtEl>
                                          <p:spTgt spid="12288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22886"/>
                                        </p:tgtEl>
                                        <p:attrNameLst>
                                          <p:attrName>style.visibility</p:attrName>
                                        </p:attrNameLst>
                                      </p:cBhvr>
                                      <p:to>
                                        <p:strVal val="visible"/>
                                      </p:to>
                                    </p:set>
                                    <p:animEffect transition="in" filter="slide(fromLeft)">
                                      <p:cBhvr>
                                        <p:cTn id="17" dur="500"/>
                                        <p:tgtEl>
                                          <p:spTgt spid="12288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122887"/>
                                        </p:tgtEl>
                                        <p:attrNameLst>
                                          <p:attrName>style.visibility</p:attrName>
                                        </p:attrNameLst>
                                      </p:cBhvr>
                                      <p:to>
                                        <p:strVal val="visible"/>
                                      </p:to>
                                    </p:set>
                                    <p:animEffect transition="in" filter="slide(fromLeft)">
                                      <p:cBhvr>
                                        <p:cTn id="22" dur="500"/>
                                        <p:tgtEl>
                                          <p:spTgt spid="12288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122888"/>
                                        </p:tgtEl>
                                        <p:attrNameLst>
                                          <p:attrName>style.visibility</p:attrName>
                                        </p:attrNameLst>
                                      </p:cBhvr>
                                      <p:to>
                                        <p:strVal val="visible"/>
                                      </p:to>
                                    </p:set>
                                    <p:animEffect transition="in" filter="slide(fromLeft)">
                                      <p:cBhvr>
                                        <p:cTn id="27" dur="500"/>
                                        <p:tgtEl>
                                          <p:spTgt spid="122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nimBg="1"/>
      <p:bldP spid="122885" grpId="0" animBg="1"/>
      <p:bldP spid="122886" grpId="0" animBg="1"/>
      <p:bldP spid="122887" grpId="0" animBg="1"/>
      <p:bldP spid="12288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0" y="44450"/>
            <a:ext cx="9144000" cy="1143000"/>
          </a:xfrm>
        </p:spPr>
        <p:txBody>
          <a:bodyPr vert="horz" wrap="square" lIns="91440" tIns="45720" rIns="91440" bIns="45720" anchor="ctr"/>
          <a:p>
            <a:pPr eaLnBrk="1" hangingPunct="1"/>
            <a:r>
              <a:rPr lang="zh-CN" altLang="en-US" dirty="0">
                <a:solidFill>
                  <a:srgbClr val="FFFF00"/>
                </a:solidFill>
                <a:ea typeface="华文行楷" panose="02010800040101010101" pitchFamily="2" charset="-122"/>
              </a:rPr>
              <a:t>课程的地位</a:t>
            </a:r>
            <a:endParaRPr lang="zh-CN" altLang="en-US" dirty="0">
              <a:solidFill>
                <a:srgbClr val="FFFF00"/>
              </a:solidFill>
              <a:ea typeface="华文行楷" panose="02010800040101010101" pitchFamily="2" charset="-122"/>
            </a:endParaRPr>
          </a:p>
        </p:txBody>
      </p:sp>
      <p:sp>
        <p:nvSpPr>
          <p:cNvPr id="27650" name="Rectangle 3"/>
          <p:cNvSpPr>
            <a:spLocks noGrp="1"/>
          </p:cNvSpPr>
          <p:nvPr>
            <p:ph idx="1"/>
          </p:nvPr>
        </p:nvSpPr>
        <p:spPr>
          <a:xfrm>
            <a:off x="685800" y="1268413"/>
            <a:ext cx="7772400" cy="4114800"/>
          </a:xfrm>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355332" name="Text Box 4"/>
          <p:cNvSpPr txBox="1">
            <a:spLocks noChangeArrowheads="1"/>
          </p:cNvSpPr>
          <p:nvPr/>
        </p:nvSpPr>
        <p:spPr bwMode="auto">
          <a:xfrm>
            <a:off x="990600" y="1023938"/>
            <a:ext cx="533400" cy="52133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55333" name="Rectangle 5"/>
          <p:cNvSpPr>
            <a:spLocks noChangeArrowheads="1"/>
          </p:cNvSpPr>
          <p:nvPr/>
        </p:nvSpPr>
        <p:spPr bwMode="auto">
          <a:xfrm>
            <a:off x="1600200" y="925513"/>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过程语言的弱点导致面向对象设计方法的出现</a:t>
            </a:r>
            <a:r>
              <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5334" name="Rectangle 6"/>
          <p:cNvSpPr>
            <a:spLocks noChangeArrowheads="1"/>
          </p:cNvSpPr>
          <p:nvPr/>
        </p:nvSpPr>
        <p:spPr bwMode="auto">
          <a:xfrm>
            <a:off x="1600200" y="1816100"/>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面向对象是设计思想   其最大特点是复用</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5335" name="Rectangle 7"/>
          <p:cNvSpPr>
            <a:spLocks noChangeArrowheads="1"/>
          </p:cNvSpPr>
          <p:nvPr/>
        </p:nvSpPr>
        <p:spPr bwMode="auto">
          <a:xfrm>
            <a:off x="1600200" y="2730500"/>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一方面产生了支持语言，另一方面向软件工程倾斜</a:t>
            </a:r>
            <a:endPar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55336" name="Rectangle 8"/>
          <p:cNvSpPr>
            <a:spLocks noChangeArrowheads="1"/>
          </p:cNvSpPr>
          <p:nvPr/>
        </p:nvSpPr>
        <p:spPr bwMode="auto">
          <a:xfrm>
            <a:off x="1600200" y="3668713"/>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课程的重点是面向对象</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5337" name="Rectangle 9"/>
          <p:cNvSpPr>
            <a:spLocks noChangeArrowheads="1"/>
          </p:cNvSpPr>
          <p:nvPr/>
        </p:nvSpPr>
        <p:spPr bwMode="auto">
          <a:xfrm>
            <a:off x="1601788" y="4581525"/>
            <a:ext cx="6858000" cy="838200"/>
          </a:xfrm>
          <a:prstGeom prst="rect">
            <a:avLst/>
          </a:prstGeom>
          <a:gradFill rotWithShape="0">
            <a:gsLst>
              <a:gs pos="0">
                <a:srgbClr val="FFFF00">
                  <a:gamma/>
                  <a:shade val="46275"/>
                  <a:invGamma/>
                </a:srgbClr>
              </a:gs>
              <a:gs pos="100000">
                <a:srgbClr val="FFFF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面向对象、面向组件、面向方面、面向服务</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5338" name="Rectangle 10"/>
          <p:cNvSpPr>
            <a:spLocks noChangeArrowheads="1"/>
          </p:cNvSpPr>
          <p:nvPr/>
        </p:nvSpPr>
        <p:spPr bwMode="auto">
          <a:xfrm>
            <a:off x="1601788" y="5470525"/>
            <a:ext cx="6858000" cy="838200"/>
          </a:xfrm>
          <a:prstGeom prst="rect">
            <a:avLst/>
          </a:prstGeom>
          <a:solidFill>
            <a:srgbClr val="6666FF"/>
          </a:soli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和其它课程的关系</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0-#ppt_w/2"/>
                                          </p:val>
                                        </p:tav>
                                        <p:tav tm="100000">
                                          <p:val>
                                            <p:strVal val="#ppt_x"/>
                                          </p:val>
                                        </p:tav>
                                      </p:tavLst>
                                    </p:anim>
                                    <p:anim calcmode="lin" valueType="num">
                                      <p:cBhvr additive="base">
                                        <p:cTn id="8" dur="500" fill="hold"/>
                                        <p:tgtEl>
                                          <p:spTgt spid="35533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55333"/>
                                        </p:tgtEl>
                                        <p:attrNameLst>
                                          <p:attrName>style.visibility</p:attrName>
                                        </p:attrNameLst>
                                      </p:cBhvr>
                                      <p:to>
                                        <p:strVal val="visible"/>
                                      </p:to>
                                    </p:set>
                                    <p:animEffect transition="in" filter="slide(fromLeft)">
                                      <p:cBhvr>
                                        <p:cTn id="12" dur="500"/>
                                        <p:tgtEl>
                                          <p:spTgt spid="35533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55334"/>
                                        </p:tgtEl>
                                        <p:attrNameLst>
                                          <p:attrName>style.visibility</p:attrName>
                                        </p:attrNameLst>
                                      </p:cBhvr>
                                      <p:to>
                                        <p:strVal val="visible"/>
                                      </p:to>
                                    </p:set>
                                    <p:animEffect transition="in" filter="slide(fromLeft)">
                                      <p:cBhvr>
                                        <p:cTn id="17" dur="500"/>
                                        <p:tgtEl>
                                          <p:spTgt spid="35533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355335"/>
                                        </p:tgtEl>
                                        <p:attrNameLst>
                                          <p:attrName>style.visibility</p:attrName>
                                        </p:attrNameLst>
                                      </p:cBhvr>
                                      <p:to>
                                        <p:strVal val="visible"/>
                                      </p:to>
                                    </p:set>
                                    <p:animEffect transition="in" filter="slide(fromLeft)">
                                      <p:cBhvr>
                                        <p:cTn id="22" dur="500"/>
                                        <p:tgtEl>
                                          <p:spTgt spid="35533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55336"/>
                                        </p:tgtEl>
                                        <p:attrNameLst>
                                          <p:attrName>style.visibility</p:attrName>
                                        </p:attrNameLst>
                                      </p:cBhvr>
                                      <p:to>
                                        <p:strVal val="visible"/>
                                      </p:to>
                                    </p:set>
                                    <p:animEffect transition="in" filter="slide(fromLeft)">
                                      <p:cBhvr>
                                        <p:cTn id="27" dur="500"/>
                                        <p:tgtEl>
                                          <p:spTgt spid="35533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55337"/>
                                        </p:tgtEl>
                                        <p:attrNameLst>
                                          <p:attrName>style.visibility</p:attrName>
                                        </p:attrNameLst>
                                      </p:cBhvr>
                                      <p:to>
                                        <p:strVal val="visible"/>
                                      </p:to>
                                    </p:set>
                                    <p:animEffect transition="in" filter="slide(fromLeft)">
                                      <p:cBhvr>
                                        <p:cTn id="32" dur="500"/>
                                        <p:tgtEl>
                                          <p:spTgt spid="35533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55338"/>
                                        </p:tgtEl>
                                        <p:attrNameLst>
                                          <p:attrName>style.visibility</p:attrName>
                                        </p:attrNameLst>
                                      </p:cBhvr>
                                      <p:to>
                                        <p:strVal val="visible"/>
                                      </p:to>
                                    </p:set>
                                    <p:animEffect transition="in" filter="slide(fromLeft)">
                                      <p:cBhvr>
                                        <p:cTn id="37" dur="500"/>
                                        <p:tgtEl>
                                          <p:spTgt spid="355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animBg="1"/>
      <p:bldP spid="355333" grpId="0" animBg="1"/>
      <p:bldP spid="355334" grpId="0" animBg="1"/>
      <p:bldP spid="355335" grpId="0" animBg="1"/>
      <p:bldP spid="355336" grpId="0" animBg="1"/>
      <p:bldP spid="355337" grpId="0" animBg="1"/>
      <p:bldP spid="3553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0" y="533400"/>
            <a:ext cx="9144000" cy="1143000"/>
          </a:xfrm>
        </p:spPr>
        <p:txBody>
          <a:bodyPr vert="horz" wrap="square" lIns="91440" tIns="45720" rIns="91440" bIns="45720" anchor="ctr"/>
          <a:p>
            <a:pPr eaLnBrk="1" hangingPunct="1"/>
            <a:r>
              <a:rPr lang="en-US" altLang="zh-CN" b="1" dirty="0">
                <a:solidFill>
                  <a:srgbClr val="FFFF00"/>
                </a:solidFill>
                <a:ea typeface="华文行楷" panose="02010800040101010101" pitchFamily="2" charset="-122"/>
              </a:rPr>
              <a:t> C</a:t>
            </a:r>
            <a:r>
              <a:rPr lang="zh-CN" altLang="en-US" b="1" dirty="0">
                <a:solidFill>
                  <a:srgbClr val="FFFF00"/>
                </a:solidFill>
                <a:ea typeface="华文行楷" panose="02010800040101010101" pitchFamily="2" charset="-122"/>
              </a:rPr>
              <a:t>的特点</a:t>
            </a:r>
            <a:endParaRPr lang="zh-CN" altLang="en-US" dirty="0">
              <a:solidFill>
                <a:srgbClr val="FFFF00"/>
              </a:solidFill>
              <a:ea typeface="华文行楷" panose="02010800040101010101" pitchFamily="2" charset="-122"/>
            </a:endParaRPr>
          </a:p>
        </p:txBody>
      </p:sp>
      <p:sp>
        <p:nvSpPr>
          <p:cNvPr id="28674" name="Rectangle 3"/>
          <p:cNvSpPr>
            <a:spLocks noGrp="1"/>
          </p:cNvSpPr>
          <p:nvPr>
            <p:ph idx="1"/>
          </p:nvPr>
        </p:nvSpPr>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122884" name="Text Box 4"/>
          <p:cNvSpPr txBox="1">
            <a:spLocks noChangeArrowheads="1"/>
          </p:cNvSpPr>
          <p:nvPr/>
        </p:nvSpPr>
        <p:spPr bwMode="auto">
          <a:xfrm>
            <a:off x="990600" y="2209800"/>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122885" name="Rectangle 5"/>
          <p:cNvSpPr>
            <a:spLocks noChangeArrowheads="1"/>
          </p:cNvSpPr>
          <p:nvPr/>
        </p:nvSpPr>
        <p:spPr bwMode="auto">
          <a:xfrm>
            <a:off x="1600200" y="2286000"/>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、既是高级语言又是低级语言</a:t>
            </a:r>
            <a:r>
              <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22886" name="Rectangle 6"/>
          <p:cNvSpPr>
            <a:spLocks noChangeArrowheads="1"/>
          </p:cNvSpPr>
          <p:nvPr/>
        </p:nvSpPr>
        <p:spPr bwMode="auto">
          <a:xfrm>
            <a:off x="1600200" y="3176588"/>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．丰富的、几乎无限制的构造数据类型</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22887" name="Rectangle 7"/>
          <p:cNvSpPr>
            <a:spLocks noChangeArrowheads="1"/>
          </p:cNvSpPr>
          <p:nvPr/>
        </p:nvSpPr>
        <p:spPr bwMode="auto">
          <a:xfrm>
            <a:off x="1600200" y="4090988"/>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．语法不循规蹈矩</a:t>
            </a:r>
            <a:endPar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122888" name="Rectangle 8"/>
          <p:cNvSpPr>
            <a:spLocks noChangeArrowheads="1"/>
          </p:cNvSpPr>
          <p:nvPr/>
        </p:nvSpPr>
        <p:spPr bwMode="auto">
          <a:xfrm>
            <a:off x="1600200" y="5029200"/>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．函数作为程序单位实现了程序结构化</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2884"/>
                                        </p:tgtEl>
                                        <p:attrNameLst>
                                          <p:attrName>style.visibility</p:attrName>
                                        </p:attrNameLst>
                                      </p:cBhvr>
                                      <p:to>
                                        <p:strVal val="visible"/>
                                      </p:to>
                                    </p:set>
                                    <p:anim calcmode="lin" valueType="num">
                                      <p:cBhvr additive="base">
                                        <p:cTn id="7" dur="500" fill="hold"/>
                                        <p:tgtEl>
                                          <p:spTgt spid="122884"/>
                                        </p:tgtEl>
                                        <p:attrNameLst>
                                          <p:attrName>ppt_x</p:attrName>
                                        </p:attrNameLst>
                                      </p:cBhvr>
                                      <p:tavLst>
                                        <p:tav tm="0">
                                          <p:val>
                                            <p:strVal val="0-#ppt_w/2"/>
                                          </p:val>
                                        </p:tav>
                                        <p:tav tm="100000">
                                          <p:val>
                                            <p:strVal val="#ppt_x"/>
                                          </p:val>
                                        </p:tav>
                                      </p:tavLst>
                                    </p:anim>
                                    <p:anim calcmode="lin" valueType="num">
                                      <p:cBhvr additive="base">
                                        <p:cTn id="8" dur="500" fill="hold"/>
                                        <p:tgtEl>
                                          <p:spTgt spid="12288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122885"/>
                                        </p:tgtEl>
                                        <p:attrNameLst>
                                          <p:attrName>style.visibility</p:attrName>
                                        </p:attrNameLst>
                                      </p:cBhvr>
                                      <p:to>
                                        <p:strVal val="visible"/>
                                      </p:to>
                                    </p:set>
                                    <p:animEffect transition="in" filter="slide(fromLeft)">
                                      <p:cBhvr>
                                        <p:cTn id="12" dur="500"/>
                                        <p:tgtEl>
                                          <p:spTgt spid="12288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22886"/>
                                        </p:tgtEl>
                                        <p:attrNameLst>
                                          <p:attrName>style.visibility</p:attrName>
                                        </p:attrNameLst>
                                      </p:cBhvr>
                                      <p:to>
                                        <p:strVal val="visible"/>
                                      </p:to>
                                    </p:set>
                                    <p:animEffect transition="in" filter="slide(fromLeft)">
                                      <p:cBhvr>
                                        <p:cTn id="17" dur="500"/>
                                        <p:tgtEl>
                                          <p:spTgt spid="12288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122887"/>
                                        </p:tgtEl>
                                        <p:attrNameLst>
                                          <p:attrName>style.visibility</p:attrName>
                                        </p:attrNameLst>
                                      </p:cBhvr>
                                      <p:to>
                                        <p:strVal val="visible"/>
                                      </p:to>
                                    </p:set>
                                    <p:animEffect transition="in" filter="slide(fromLeft)">
                                      <p:cBhvr>
                                        <p:cTn id="22" dur="500"/>
                                        <p:tgtEl>
                                          <p:spTgt spid="12288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122888"/>
                                        </p:tgtEl>
                                        <p:attrNameLst>
                                          <p:attrName>style.visibility</p:attrName>
                                        </p:attrNameLst>
                                      </p:cBhvr>
                                      <p:to>
                                        <p:strVal val="visible"/>
                                      </p:to>
                                    </p:set>
                                    <p:animEffect transition="in" filter="slide(fromLeft)">
                                      <p:cBhvr>
                                        <p:cTn id="27" dur="500"/>
                                        <p:tgtEl>
                                          <p:spTgt spid="122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nimBg="1"/>
      <p:bldP spid="122885" grpId="0" animBg="1"/>
      <p:bldP spid="122886" grpId="0" animBg="1"/>
      <p:bldP spid="122887" grpId="0" animBg="1"/>
      <p:bldP spid="12288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0" y="533400"/>
            <a:ext cx="9144000" cy="1143000"/>
          </a:xfrm>
        </p:spPr>
        <p:txBody>
          <a:bodyPr vert="horz" wrap="square" lIns="91440" tIns="45720" rIns="91440" bIns="45720" anchor="ctr"/>
          <a:p>
            <a:pPr eaLnBrk="1" hangingPunct="1"/>
            <a:r>
              <a:rPr lang="en-US" altLang="zh-CN" b="1" dirty="0">
                <a:solidFill>
                  <a:srgbClr val="FFFF00"/>
                </a:solidFill>
                <a:ea typeface="华文行楷" panose="02010800040101010101" pitchFamily="2" charset="-122"/>
              </a:rPr>
              <a:t> C++</a:t>
            </a:r>
            <a:r>
              <a:rPr lang="zh-CN" altLang="en-US" b="1" dirty="0">
                <a:solidFill>
                  <a:srgbClr val="FFFF00"/>
                </a:solidFill>
                <a:ea typeface="华文行楷" panose="02010800040101010101" pitchFamily="2" charset="-122"/>
              </a:rPr>
              <a:t>的特点</a:t>
            </a:r>
            <a:endParaRPr lang="zh-CN" altLang="en-US" dirty="0">
              <a:solidFill>
                <a:srgbClr val="FFFF00"/>
              </a:solidFill>
              <a:ea typeface="华文行楷" panose="02010800040101010101" pitchFamily="2" charset="-122"/>
            </a:endParaRPr>
          </a:p>
        </p:txBody>
      </p:sp>
      <p:sp>
        <p:nvSpPr>
          <p:cNvPr id="29698" name="Rectangle 3"/>
          <p:cNvSpPr>
            <a:spLocks noGrp="1"/>
          </p:cNvSpPr>
          <p:nvPr>
            <p:ph idx="1"/>
          </p:nvPr>
        </p:nvSpPr>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496644" name="Text Box 4"/>
          <p:cNvSpPr txBox="1">
            <a:spLocks noChangeArrowheads="1"/>
          </p:cNvSpPr>
          <p:nvPr/>
        </p:nvSpPr>
        <p:spPr bwMode="auto">
          <a:xfrm>
            <a:off x="990600" y="2209800"/>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496645" name="Rectangle 5"/>
          <p:cNvSpPr>
            <a:spLocks noChangeArrowheads="1"/>
          </p:cNvSpPr>
          <p:nvPr/>
        </p:nvSpPr>
        <p:spPr bwMode="auto">
          <a:xfrm>
            <a:off x="1600200" y="2286000"/>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、为了适应面向对象而丰富了新的数据类型</a:t>
            </a:r>
            <a:r>
              <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96646" name="Rectangle 6"/>
          <p:cNvSpPr>
            <a:spLocks noChangeArrowheads="1"/>
          </p:cNvSpPr>
          <p:nvPr/>
        </p:nvSpPr>
        <p:spPr bwMode="auto">
          <a:xfrm>
            <a:off x="1600200" y="3176588"/>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．为了服务面向对象而增加了新的语法</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96647" name="Rectangle 7"/>
          <p:cNvSpPr>
            <a:spLocks noChangeArrowheads="1"/>
          </p:cNvSpPr>
          <p:nvPr/>
        </p:nvSpPr>
        <p:spPr bwMode="auto">
          <a:xfrm>
            <a:off x="1600200" y="4090988"/>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．和</a:t>
            </a:r>
            <a:r>
              <a:rPr kumimoji="0" lang="en-US" altLang="zh-CN"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C# JAVA</a:t>
            </a: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比较不够纯  </a:t>
            </a:r>
            <a:r>
              <a:rPr kumimoji="0" lang="en-US" altLang="zh-CN"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Python</a:t>
            </a: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的开放</a:t>
            </a:r>
            <a:endPar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496648" name="Rectangle 8"/>
          <p:cNvSpPr>
            <a:spLocks noChangeArrowheads="1"/>
          </p:cNvSpPr>
          <p:nvPr/>
        </p:nvSpPr>
        <p:spPr bwMode="auto">
          <a:xfrm>
            <a:off x="1600200" y="5029200"/>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．面向过程和面向对象将长期并存</a:t>
            </a:r>
            <a:r>
              <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6644"/>
                                        </p:tgtEl>
                                        <p:attrNameLst>
                                          <p:attrName>style.visibility</p:attrName>
                                        </p:attrNameLst>
                                      </p:cBhvr>
                                      <p:to>
                                        <p:strVal val="visible"/>
                                      </p:to>
                                    </p:set>
                                    <p:anim calcmode="lin" valueType="num">
                                      <p:cBhvr additive="base">
                                        <p:cTn id="7" dur="500" fill="hold"/>
                                        <p:tgtEl>
                                          <p:spTgt spid="496644"/>
                                        </p:tgtEl>
                                        <p:attrNameLst>
                                          <p:attrName>ppt_x</p:attrName>
                                        </p:attrNameLst>
                                      </p:cBhvr>
                                      <p:tavLst>
                                        <p:tav tm="0">
                                          <p:val>
                                            <p:strVal val="0-#ppt_w/2"/>
                                          </p:val>
                                        </p:tav>
                                        <p:tav tm="100000">
                                          <p:val>
                                            <p:strVal val="#ppt_x"/>
                                          </p:val>
                                        </p:tav>
                                      </p:tavLst>
                                    </p:anim>
                                    <p:anim calcmode="lin" valueType="num">
                                      <p:cBhvr additive="base">
                                        <p:cTn id="8" dur="500" fill="hold"/>
                                        <p:tgtEl>
                                          <p:spTgt spid="49664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496645"/>
                                        </p:tgtEl>
                                        <p:attrNameLst>
                                          <p:attrName>style.visibility</p:attrName>
                                        </p:attrNameLst>
                                      </p:cBhvr>
                                      <p:to>
                                        <p:strVal val="visible"/>
                                      </p:to>
                                    </p:set>
                                    <p:animEffect transition="in" filter="slide(fromLeft)">
                                      <p:cBhvr>
                                        <p:cTn id="12" dur="500"/>
                                        <p:tgtEl>
                                          <p:spTgt spid="49664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96646"/>
                                        </p:tgtEl>
                                        <p:attrNameLst>
                                          <p:attrName>style.visibility</p:attrName>
                                        </p:attrNameLst>
                                      </p:cBhvr>
                                      <p:to>
                                        <p:strVal val="visible"/>
                                      </p:to>
                                    </p:set>
                                    <p:animEffect transition="in" filter="slide(fromLeft)">
                                      <p:cBhvr>
                                        <p:cTn id="17" dur="500"/>
                                        <p:tgtEl>
                                          <p:spTgt spid="49664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496647"/>
                                        </p:tgtEl>
                                        <p:attrNameLst>
                                          <p:attrName>style.visibility</p:attrName>
                                        </p:attrNameLst>
                                      </p:cBhvr>
                                      <p:to>
                                        <p:strVal val="visible"/>
                                      </p:to>
                                    </p:set>
                                    <p:animEffect transition="in" filter="slide(fromLeft)">
                                      <p:cBhvr>
                                        <p:cTn id="22" dur="500"/>
                                        <p:tgtEl>
                                          <p:spTgt spid="49664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496648"/>
                                        </p:tgtEl>
                                        <p:attrNameLst>
                                          <p:attrName>style.visibility</p:attrName>
                                        </p:attrNameLst>
                                      </p:cBhvr>
                                      <p:to>
                                        <p:strVal val="visible"/>
                                      </p:to>
                                    </p:set>
                                    <p:animEffect transition="in" filter="slide(fromLeft)">
                                      <p:cBhvr>
                                        <p:cTn id="27" dur="500"/>
                                        <p:tgtEl>
                                          <p:spTgt spid="496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4" grpId="0" animBg="1"/>
      <p:bldP spid="496645" grpId="0" animBg="1"/>
      <p:bldP spid="496646" grpId="0" animBg="1"/>
      <p:bldP spid="496647" grpId="0" animBg="1"/>
      <p:bldP spid="4966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0" y="533400"/>
            <a:ext cx="9144000" cy="1143000"/>
          </a:xfrm>
        </p:spPr>
        <p:txBody>
          <a:bodyPr vert="horz" wrap="square" lIns="91440" tIns="45720" rIns="91440" bIns="45720" anchor="ctr"/>
          <a:p>
            <a:pPr eaLnBrk="1" hangingPunct="1"/>
            <a:r>
              <a:rPr lang="zh-CN" altLang="en-US" dirty="0">
                <a:solidFill>
                  <a:srgbClr val="FFFF00"/>
                </a:solidFill>
                <a:ea typeface="华文行楷" panose="02010800040101010101" pitchFamily="2" charset="-122"/>
              </a:rPr>
              <a:t>课程的内容</a:t>
            </a:r>
            <a:endParaRPr lang="zh-CN" altLang="en-US" dirty="0">
              <a:solidFill>
                <a:srgbClr val="FFFF00"/>
              </a:solidFill>
              <a:ea typeface="华文行楷" panose="02010800040101010101" pitchFamily="2" charset="-122"/>
            </a:endParaRPr>
          </a:p>
        </p:txBody>
      </p:sp>
      <p:sp>
        <p:nvSpPr>
          <p:cNvPr id="30722" name="Rectangle 3"/>
          <p:cNvSpPr>
            <a:spLocks noGrp="1"/>
          </p:cNvSpPr>
          <p:nvPr>
            <p:ph idx="1"/>
          </p:nvPr>
        </p:nvSpPr>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356356" name="Text Box 4"/>
          <p:cNvSpPr txBox="1">
            <a:spLocks noChangeArrowheads="1"/>
          </p:cNvSpPr>
          <p:nvPr/>
        </p:nvSpPr>
        <p:spPr bwMode="auto">
          <a:xfrm>
            <a:off x="990600" y="2209800"/>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56357" name="Rectangle 5"/>
          <p:cNvSpPr>
            <a:spLocks noChangeArrowheads="1"/>
          </p:cNvSpPr>
          <p:nvPr/>
        </p:nvSpPr>
        <p:spPr bwMode="auto">
          <a:xfrm>
            <a:off x="1600200" y="2286000"/>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基本</a:t>
            </a:r>
            <a:r>
              <a:rPr kumimoji="0" lang="en-US" altLang="zh-CN"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C</a:t>
            </a: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语言的简单回顾</a:t>
            </a:r>
            <a:r>
              <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6358" name="Rectangle 6"/>
          <p:cNvSpPr>
            <a:spLocks noChangeArrowheads="1"/>
          </p:cNvSpPr>
          <p:nvPr/>
        </p:nvSpPr>
        <p:spPr bwMode="auto">
          <a:xfrm>
            <a:off x="1600200" y="3176588"/>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类及其相应知识，面向对象概念（不讲</a:t>
            </a: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C++11</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56359" name="Rectangle 7"/>
          <p:cNvSpPr>
            <a:spLocks noChangeArrowheads="1"/>
          </p:cNvSpPr>
          <p:nvPr/>
        </p:nvSpPr>
        <p:spPr bwMode="auto">
          <a:xfrm>
            <a:off x="1600200" y="4090988"/>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抽象继承组合，面向对象思维</a:t>
            </a:r>
            <a:endParaRPr kumimoji="0" lang="zh-CN" altLang="en-US" sz="24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8" name="Rectangle 8"/>
          <p:cNvSpPr>
            <a:spLocks noChangeArrowheads="1"/>
          </p:cNvSpPr>
          <p:nvPr/>
        </p:nvSpPr>
        <p:spPr bwMode="auto">
          <a:xfrm>
            <a:off x="1600200" y="5029200"/>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综合例子</a:t>
            </a:r>
            <a:r>
              <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56356"/>
                                        </p:tgtEl>
                                        <p:attrNameLst>
                                          <p:attrName>style.visibility</p:attrName>
                                        </p:attrNameLst>
                                      </p:cBhvr>
                                      <p:to>
                                        <p:strVal val="visible"/>
                                      </p:to>
                                    </p:set>
                                    <p:anim calcmode="lin" valueType="num">
                                      <p:cBhvr additive="base">
                                        <p:cTn id="7" dur="500" fill="hold"/>
                                        <p:tgtEl>
                                          <p:spTgt spid="356356"/>
                                        </p:tgtEl>
                                        <p:attrNameLst>
                                          <p:attrName>ppt_x</p:attrName>
                                        </p:attrNameLst>
                                      </p:cBhvr>
                                      <p:tavLst>
                                        <p:tav tm="0">
                                          <p:val>
                                            <p:strVal val="0-#ppt_w/2"/>
                                          </p:val>
                                        </p:tav>
                                        <p:tav tm="100000">
                                          <p:val>
                                            <p:strVal val="#ppt_x"/>
                                          </p:val>
                                        </p:tav>
                                      </p:tavLst>
                                    </p:anim>
                                    <p:anim calcmode="lin" valueType="num">
                                      <p:cBhvr additive="base">
                                        <p:cTn id="8" dur="500" fill="hold"/>
                                        <p:tgtEl>
                                          <p:spTgt spid="35635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56357"/>
                                        </p:tgtEl>
                                        <p:attrNameLst>
                                          <p:attrName>style.visibility</p:attrName>
                                        </p:attrNameLst>
                                      </p:cBhvr>
                                      <p:to>
                                        <p:strVal val="visible"/>
                                      </p:to>
                                    </p:set>
                                    <p:animEffect transition="in" filter="slide(fromLeft)">
                                      <p:cBhvr>
                                        <p:cTn id="12" dur="500"/>
                                        <p:tgtEl>
                                          <p:spTgt spid="35635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56358"/>
                                        </p:tgtEl>
                                        <p:attrNameLst>
                                          <p:attrName>style.visibility</p:attrName>
                                        </p:attrNameLst>
                                      </p:cBhvr>
                                      <p:to>
                                        <p:strVal val="visible"/>
                                      </p:to>
                                    </p:set>
                                    <p:animEffect transition="in" filter="slide(fromLeft)">
                                      <p:cBhvr>
                                        <p:cTn id="17" dur="500"/>
                                        <p:tgtEl>
                                          <p:spTgt spid="35635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356359"/>
                                        </p:tgtEl>
                                        <p:attrNameLst>
                                          <p:attrName>style.visibility</p:attrName>
                                        </p:attrNameLst>
                                      </p:cBhvr>
                                      <p:to>
                                        <p:strVal val="visible"/>
                                      </p:to>
                                    </p:set>
                                    <p:animEffect transition="in" filter="slide(fromLeft)">
                                      <p:cBhvr>
                                        <p:cTn id="22" dur="500"/>
                                        <p:tgtEl>
                                          <p:spTgt spid="35635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lide(from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6" grpId="0" animBg="1"/>
      <p:bldP spid="356357" grpId="0" animBg="1"/>
      <p:bldP spid="356358" grpId="0" animBg="1"/>
      <p:bldP spid="356359"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xfrm>
            <a:off x="0" y="533400"/>
            <a:ext cx="9144000" cy="1143000"/>
          </a:xfrm>
        </p:spPr>
        <p:txBody>
          <a:bodyPr vert="horz" wrap="square" lIns="91440" tIns="45720" rIns="91440" bIns="45720" anchor="ctr"/>
          <a:p>
            <a:pPr eaLnBrk="1" hangingPunct="1"/>
            <a:r>
              <a:rPr lang="zh-CN" altLang="en-US" dirty="0">
                <a:solidFill>
                  <a:srgbClr val="FFFF00"/>
                </a:solidFill>
                <a:ea typeface="华文行楷" panose="02010800040101010101" pitchFamily="2" charset="-122"/>
              </a:rPr>
              <a:t>课程的学习</a:t>
            </a:r>
            <a:endParaRPr lang="zh-CN" altLang="en-US" dirty="0">
              <a:solidFill>
                <a:srgbClr val="FFFF00"/>
              </a:solidFill>
              <a:ea typeface="华文行楷" panose="02010800040101010101" pitchFamily="2" charset="-122"/>
            </a:endParaRPr>
          </a:p>
        </p:txBody>
      </p:sp>
      <p:sp>
        <p:nvSpPr>
          <p:cNvPr id="31746" name="Rectangle 3"/>
          <p:cNvSpPr>
            <a:spLocks noGrp="1"/>
          </p:cNvSpPr>
          <p:nvPr>
            <p:ph idx="1"/>
          </p:nvPr>
        </p:nvSpPr>
        <p:spPr/>
        <p:txBody>
          <a:bodyPr vert="horz" wrap="square" lIns="91440" tIns="45720" rIns="91440" bIns="45720" anchor="t"/>
          <a:p>
            <a:pPr eaLnBrk="1" hangingPunct="1">
              <a:buNone/>
            </a:pPr>
            <a:r>
              <a:rPr lang="en-US" altLang="zh-CN" dirty="0"/>
              <a:t> </a:t>
            </a:r>
            <a:endParaRPr lang="en-US" altLang="zh-CN" dirty="0"/>
          </a:p>
          <a:p>
            <a:pPr eaLnBrk="1" hangingPunct="1"/>
            <a:endParaRPr lang="en-US" altLang="zh-CN" dirty="0"/>
          </a:p>
        </p:txBody>
      </p:sp>
      <p:sp>
        <p:nvSpPr>
          <p:cNvPr id="724996" name="Text Box 4"/>
          <p:cNvSpPr txBox="1">
            <a:spLocks noChangeArrowheads="1"/>
          </p:cNvSpPr>
          <p:nvPr/>
        </p:nvSpPr>
        <p:spPr bwMode="auto">
          <a:xfrm>
            <a:off x="990600" y="2209800"/>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724997" name="Rectangle 5"/>
          <p:cNvSpPr>
            <a:spLocks noChangeArrowheads="1"/>
          </p:cNvSpPr>
          <p:nvPr/>
        </p:nvSpPr>
        <p:spPr bwMode="auto">
          <a:xfrm>
            <a:off x="1600200" y="2286000"/>
            <a:ext cx="6858000" cy="81438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考核方式</a:t>
            </a:r>
            <a:r>
              <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24998" name="Rectangle 6"/>
          <p:cNvSpPr>
            <a:spLocks noChangeArrowheads="1"/>
          </p:cNvSpPr>
          <p:nvPr/>
        </p:nvSpPr>
        <p:spPr bwMode="auto">
          <a:xfrm>
            <a:off x="1600200" y="3176588"/>
            <a:ext cx="6858000" cy="838200"/>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听课</a:t>
            </a: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参考书</a:t>
            </a:r>
            <a:r>
              <a:rPr kumimoji="0" lang="en-US" altLang="zh-CN"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+PPT+</a:t>
            </a: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复习题</a:t>
            </a:r>
            <a:r>
              <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dirty="0">
              <a:ln>
                <a:noFill/>
              </a:ln>
              <a:solidFill>
                <a:srgbClr val="CCCC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24999" name="Rectangle 7"/>
          <p:cNvSpPr>
            <a:spLocks noChangeArrowheads="1"/>
          </p:cNvSpPr>
          <p:nvPr/>
        </p:nvSpPr>
        <p:spPr bwMode="auto">
          <a:xfrm>
            <a:off x="1600200" y="4090988"/>
            <a:ext cx="6858000" cy="838200"/>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软件思想的载体</a:t>
            </a:r>
            <a:endParaRPr kumimoji="0" lang="zh-CN" altLang="en-US" sz="24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725000" name="Rectangle 8"/>
          <p:cNvSpPr>
            <a:spLocks noChangeArrowheads="1"/>
          </p:cNvSpPr>
          <p:nvPr/>
        </p:nvSpPr>
        <p:spPr bwMode="auto">
          <a:xfrm>
            <a:off x="1600200" y="5029200"/>
            <a:ext cx="6858000" cy="838200"/>
          </a:xfrm>
          <a:prstGeom prst="rect">
            <a:avLst/>
          </a:prstGeom>
          <a:gradFill rotWithShape="0">
            <a:gsLst>
              <a:gs pos="0">
                <a:srgbClr val="FF9900">
                  <a:gamma/>
                  <a:shade val="46275"/>
                  <a:invGamma/>
                </a:srgbClr>
              </a:gs>
              <a:gs pos="100000">
                <a:srgbClr val="FF9900"/>
              </a:gs>
            </a:gsLst>
            <a:lin ang="5400000" scaled="1"/>
          </a:gradFill>
          <a:ln w="12700">
            <a:solidFill>
              <a:schemeClr val="hlink"/>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执行力</a:t>
            </a:r>
            <a:endParaRPr kumimoji="0" lang="zh-CN" altLang="en-US" sz="2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24996"/>
                                        </p:tgtEl>
                                        <p:attrNameLst>
                                          <p:attrName>style.visibility</p:attrName>
                                        </p:attrNameLst>
                                      </p:cBhvr>
                                      <p:to>
                                        <p:strVal val="visible"/>
                                      </p:to>
                                    </p:set>
                                    <p:anim calcmode="lin" valueType="num">
                                      <p:cBhvr additive="base">
                                        <p:cTn id="7" dur="500" fill="hold"/>
                                        <p:tgtEl>
                                          <p:spTgt spid="724996"/>
                                        </p:tgtEl>
                                        <p:attrNameLst>
                                          <p:attrName>ppt_x</p:attrName>
                                        </p:attrNameLst>
                                      </p:cBhvr>
                                      <p:tavLst>
                                        <p:tav tm="0">
                                          <p:val>
                                            <p:strVal val="0-#ppt_w/2"/>
                                          </p:val>
                                        </p:tav>
                                        <p:tav tm="100000">
                                          <p:val>
                                            <p:strVal val="#ppt_x"/>
                                          </p:val>
                                        </p:tav>
                                      </p:tavLst>
                                    </p:anim>
                                    <p:anim calcmode="lin" valueType="num">
                                      <p:cBhvr additive="base">
                                        <p:cTn id="8" dur="500" fill="hold"/>
                                        <p:tgtEl>
                                          <p:spTgt spid="72499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724997"/>
                                        </p:tgtEl>
                                        <p:attrNameLst>
                                          <p:attrName>style.visibility</p:attrName>
                                        </p:attrNameLst>
                                      </p:cBhvr>
                                      <p:to>
                                        <p:strVal val="visible"/>
                                      </p:to>
                                    </p:set>
                                    <p:animEffect transition="in" filter="slide(fromLeft)">
                                      <p:cBhvr>
                                        <p:cTn id="12" dur="500"/>
                                        <p:tgtEl>
                                          <p:spTgt spid="72499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24998"/>
                                        </p:tgtEl>
                                        <p:attrNameLst>
                                          <p:attrName>style.visibility</p:attrName>
                                        </p:attrNameLst>
                                      </p:cBhvr>
                                      <p:to>
                                        <p:strVal val="visible"/>
                                      </p:to>
                                    </p:set>
                                    <p:animEffect transition="in" filter="slide(fromLeft)">
                                      <p:cBhvr>
                                        <p:cTn id="17" dur="500"/>
                                        <p:tgtEl>
                                          <p:spTgt spid="72499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24999"/>
                                        </p:tgtEl>
                                        <p:attrNameLst>
                                          <p:attrName>style.visibility</p:attrName>
                                        </p:attrNameLst>
                                      </p:cBhvr>
                                      <p:to>
                                        <p:strVal val="visible"/>
                                      </p:to>
                                    </p:set>
                                    <p:animEffect transition="in" filter="slide(fromLeft)">
                                      <p:cBhvr>
                                        <p:cTn id="22" dur="500"/>
                                        <p:tgtEl>
                                          <p:spTgt spid="72499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25000"/>
                                        </p:tgtEl>
                                        <p:attrNameLst>
                                          <p:attrName>style.visibility</p:attrName>
                                        </p:attrNameLst>
                                      </p:cBhvr>
                                      <p:to>
                                        <p:strVal val="visible"/>
                                      </p:to>
                                    </p:set>
                                    <p:animEffect transition="in" filter="slide(fromLeft)">
                                      <p:cBhvr>
                                        <p:cTn id="27" dur="500"/>
                                        <p:tgtEl>
                                          <p:spTgt spid="725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996" grpId="0" animBg="1"/>
      <p:bldP spid="724997" grpId="0" animBg="1"/>
      <p:bldP spid="724998" grpId="0" animBg="1"/>
      <p:bldP spid="724999" grpId="0" animBg="1"/>
      <p:bldP spid="72500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53603" name="Text Box 3"/>
          <p:cNvSpPr txBox="1">
            <a:spLocks noChangeArrowheads="1"/>
          </p:cNvSpPr>
          <p:nvPr/>
        </p:nvSpPr>
        <p:spPr bwMode="auto">
          <a:xfrm>
            <a:off x="395288" y="1412875"/>
            <a:ext cx="558800" cy="4848225"/>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153604" name="Rectangle 4"/>
          <p:cNvSpPr>
            <a:spLocks noChangeArrowheads="1"/>
          </p:cNvSpPr>
          <p:nvPr/>
        </p:nvSpPr>
        <p:spPr bwMode="auto">
          <a:xfrm>
            <a:off x="1133475" y="1412875"/>
            <a:ext cx="7686675" cy="4797425"/>
          </a:xfrm>
          <a:prstGeom prst="rect">
            <a:avLst/>
          </a:prstGeom>
          <a:solidFill>
            <a:schemeClr val="accent2"/>
          </a:solidFill>
          <a:ln>
            <a:noFill/>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1</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int a[6]</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p,i;</a:t>
            </a:r>
            <a:endPar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p=a;</a:t>
            </a:r>
            <a:endPar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for(i=0;i&lt;6;i++)</a:t>
            </a:r>
            <a:endPar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printf(“%d”,____);</a:t>
            </a:r>
            <a:endPar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a[i]  *p++  *(a+i)  p[i]  *(p+i) *a++</a:t>
            </a:r>
            <a:endPar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2</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的作用；</a:t>
            </a: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和*的比较；越界访问</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3</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1</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的问题</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3603"/>
                                        </p:tgtEl>
                                        <p:attrNameLst>
                                          <p:attrName>style.visibility</p:attrName>
                                        </p:attrNameLst>
                                      </p:cBhvr>
                                      <p:to>
                                        <p:strVal val="visible"/>
                                      </p:to>
                                    </p:set>
                                    <p:anim calcmode="lin" valueType="num">
                                      <p:cBhvr additive="base">
                                        <p:cTn id="7" dur="500" fill="hold"/>
                                        <p:tgtEl>
                                          <p:spTgt spid="153603"/>
                                        </p:tgtEl>
                                        <p:attrNameLst>
                                          <p:attrName>ppt_x</p:attrName>
                                        </p:attrNameLst>
                                      </p:cBhvr>
                                      <p:tavLst>
                                        <p:tav tm="0">
                                          <p:val>
                                            <p:strVal val="0-#ppt_w/2"/>
                                          </p:val>
                                        </p:tav>
                                        <p:tav tm="100000">
                                          <p:val>
                                            <p:strVal val="#ppt_x"/>
                                          </p:val>
                                        </p:tav>
                                      </p:tavLst>
                                    </p:anim>
                                    <p:anim calcmode="lin" valueType="num">
                                      <p:cBhvr additive="base">
                                        <p:cTn id="8" dur="500" fill="hold"/>
                                        <p:tgtEl>
                                          <p:spTgt spid="1536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153604"/>
                                        </p:tgtEl>
                                        <p:attrNameLst>
                                          <p:attrName>style.visibility</p:attrName>
                                        </p:attrNameLst>
                                      </p:cBhvr>
                                      <p:to>
                                        <p:strVal val="visible"/>
                                      </p:to>
                                    </p:set>
                                    <p:animEffect transition="in" filter="slide(fromTop)">
                                      <p:cBhvr>
                                        <p:cTn id="13" dur="500"/>
                                        <p:tgtEl>
                                          <p:spTgt spid="15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animBg="1"/>
      <p:bldP spid="1536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7" name="Rectangle 3"/>
          <p:cNvSpPr>
            <a:spLocks noGrp="1" noChangeArrowheads="1"/>
          </p:cNvSpPr>
          <p:nvPr>
            <p:ph idx="1"/>
          </p:nvPr>
        </p:nvSpPr>
        <p:spPr>
          <a:xfrm>
            <a:off x="395288" y="1196975"/>
            <a:ext cx="8458200" cy="48958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bg1"/>
                </a:solidFill>
                <a:effectLst/>
                <a:uLnTx/>
                <a:uFillTx/>
                <a:latin typeface="+mn-lt"/>
                <a:ea typeface="+mn-ea"/>
                <a:cs typeface="+mn-cs"/>
              </a:rPr>
              <a:t>数组名做参数</a:t>
            </a:r>
            <a:endParaRPr kumimoji="1" lang="zh-CN" altLang="en-US"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zh-CN" altLang="en-US"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Main()                           void read(</a:t>
            </a:r>
            <a:r>
              <a:rPr kumimoji="1" lang="en-US" altLang="zh-CN" sz="2800" b="0" i="0" u="sng"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zh-CN" sz="2800" b="0" i="0" u="sng"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a[10]</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 </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int</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 a[10],</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                     {</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int</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 I;</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   read(a);                            for(</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=0;i&lt;10;i++)</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   for(</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=0;i&lt;10;i++)                </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scanf</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a:ln>
                  <a:noFill/>
                </a:ln>
                <a:solidFill>
                  <a:schemeClr val="bg1"/>
                </a:solidFill>
                <a:effectLst/>
                <a:uLnTx/>
                <a:uFillTx/>
                <a:latin typeface="Arial" panose="020B0604020202020204"/>
                <a:ea typeface="+mn-ea"/>
                <a:cs typeface="+mn-cs"/>
              </a:rPr>
              <a:t>“</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d</a:t>
            </a:r>
            <a:r>
              <a:rPr kumimoji="1" lang="en-US" altLang="zh-CN" sz="2800" b="0" i="0" u="none" strike="noStrike" kern="0" cap="none" spc="0" normalizeH="0" baseline="0" noProof="0" dirty="0" err="1">
                <a:ln>
                  <a:noFill/>
                </a:ln>
                <a:solidFill>
                  <a:schemeClr val="bg1"/>
                </a:solidFill>
                <a:effectLst/>
                <a:uLnTx/>
                <a:uFillTx/>
                <a:latin typeface="Arial" panose="020B0604020202020204"/>
                <a:ea typeface="+mn-ea"/>
                <a:cs typeface="+mn-cs"/>
              </a:rPr>
              <a:t>”</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a:t>
            </a:r>
            <a:r>
              <a:rPr kumimoji="1" lang="en-US" altLang="zh-CN" sz="2800" b="0" i="0" u="sng" strike="noStrike" kern="0" cap="none" spc="0" normalizeH="0" baseline="0" noProof="0" dirty="0" err="1">
                <a:ln>
                  <a:noFill/>
                </a:ln>
                <a:solidFill>
                  <a:schemeClr val="bg1"/>
                </a:solidFill>
                <a:effectLst/>
                <a:uLnTx/>
                <a:uFillTx/>
                <a:latin typeface="+mn-lt"/>
                <a:ea typeface="+mn-ea"/>
                <a:cs typeface="+mn-cs"/>
              </a:rPr>
              <a:t>&amp;a</a:t>
            </a:r>
            <a:r>
              <a:rPr kumimoji="1" lang="en-US" altLang="zh-CN" sz="2800" b="0" i="0" u="sng" strike="noStrike" kern="0" cap="none" spc="0" normalizeH="0" baseline="0" noProof="0" dirty="0">
                <a:ln>
                  <a:noFill/>
                </a:ln>
                <a:solidFill>
                  <a:schemeClr val="bg1"/>
                </a:solidFill>
                <a:effectLst/>
                <a:uLnTx/>
                <a:uFillTx/>
                <a:latin typeface="+mn-lt"/>
                <a:ea typeface="+mn-ea"/>
                <a:cs typeface="+mn-cs"/>
              </a:rPr>
              <a:t>[</a:t>
            </a:r>
            <a:r>
              <a:rPr kumimoji="1" lang="en-US" altLang="zh-CN" sz="2800" b="0" i="0" u="sng" strike="noStrike" kern="0" cap="none" spc="0" normalizeH="0" baseline="0" noProof="0" dirty="0" err="1">
                <a:ln>
                  <a:noFill/>
                </a:ln>
                <a:solidFill>
                  <a:schemeClr val="bg1"/>
                </a:solidFill>
                <a:effectLst/>
                <a:uLnTx/>
                <a:uFillTx/>
                <a:latin typeface="+mn-lt"/>
                <a:ea typeface="+mn-ea"/>
                <a:cs typeface="+mn-cs"/>
              </a:rPr>
              <a:t>i</a:t>
            </a:r>
            <a:r>
              <a:rPr kumimoji="1" lang="en-US" altLang="zh-CN" sz="2800" b="0" i="0" u="sng"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      </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printf</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a:ln>
                  <a:noFill/>
                </a:ln>
                <a:solidFill>
                  <a:schemeClr val="bg1"/>
                </a:solidFill>
                <a:effectLst/>
                <a:uLnTx/>
                <a:uFillTx/>
                <a:latin typeface="Arial" panose="020B0604020202020204"/>
                <a:ea typeface="+mn-ea"/>
                <a:cs typeface="+mn-cs"/>
              </a:rPr>
              <a:t>“</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d</a:t>
            </a:r>
            <a:r>
              <a:rPr kumimoji="1" lang="en-US" altLang="zh-CN" sz="2800" b="0" i="0" u="none" strike="noStrike" kern="0" cap="none" spc="0" normalizeH="0" baseline="0" noProof="0" dirty="0" err="1">
                <a:ln>
                  <a:noFill/>
                </a:ln>
                <a:solidFill>
                  <a:schemeClr val="bg1"/>
                </a:solidFill>
                <a:effectLst/>
                <a:uLnTx/>
                <a:uFillTx/>
                <a:latin typeface="Arial" panose="020B0604020202020204"/>
                <a:ea typeface="+mn-ea"/>
                <a:cs typeface="+mn-cs"/>
              </a:rPr>
              <a:t>”</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,a</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r>
              <a:rPr kumimoji="1" lang="en-US" altLang="zh-CN" sz="2800" b="0" i="0" u="none" strike="noStrike" kern="0" cap="none" spc="0" normalizeH="0" baseline="0" noProof="0" dirty="0" err="1">
                <a:ln>
                  <a:noFill/>
                </a:ln>
                <a:solidFill>
                  <a:schemeClr val="bg1"/>
                </a:solidFill>
                <a:effectLst/>
                <a:uLnTx/>
                <a:uFillTx/>
                <a:latin typeface="+mn-lt"/>
                <a:ea typeface="+mn-ea"/>
                <a:cs typeface="+mn-cs"/>
              </a:rPr>
              <a:t>i</a:t>
            </a:r>
            <a:r>
              <a:rPr kumimoji="1" lang="en-US" altLang="zh-CN" sz="2800" b="0" i="0" u="none" strike="noStrike" kern="0" cap="none" spc="0" normalizeH="0" baseline="0" noProof="0" dirty="0">
                <a:ln>
                  <a:noFill/>
                </a:ln>
                <a:solidFill>
                  <a:schemeClr val="bg1"/>
                </a:solidFill>
                <a:effectLst/>
                <a:uLnTx/>
                <a:uFillTx/>
                <a:latin typeface="+mn-lt"/>
                <a:ea typeface="+mn-ea"/>
                <a:cs typeface="+mn-cs"/>
              </a:rPr>
              <a:t>]);       }</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bg1"/>
                </a:solidFill>
                <a:effectLst/>
                <a:uLnTx/>
                <a:uFillTx/>
                <a:latin typeface="+mn-lt"/>
                <a:ea typeface="+mn-ea"/>
                <a:cs typeface="+mn-cs"/>
              </a:rPr>
              <a:t>}</a:t>
            </a: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zh-CN"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bg1"/>
                </a:solidFill>
                <a:effectLst/>
                <a:uLnTx/>
                <a:uFillTx/>
                <a:latin typeface="+mn-lt"/>
                <a:ea typeface="+mn-ea"/>
                <a:cs typeface="+mn-cs"/>
              </a:rPr>
              <a:t>参数可以是数组也可以是指针</a:t>
            </a:r>
            <a:endParaRPr kumimoji="1" lang="zh-CN" altLang="en-US" sz="28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bg1"/>
                </a:solidFill>
                <a:effectLst/>
                <a:uLnTx/>
                <a:uFillTx/>
                <a:latin typeface="+mn-lt"/>
                <a:ea typeface="+mn-ea"/>
                <a:cs typeface="+mn-cs"/>
              </a:rPr>
              <a:t>没有新空间开辟</a:t>
            </a:r>
            <a:endParaRPr kumimoji="1" lang="zh-CN" altLang="en-US" sz="2800" b="0" i="0" u="none" strike="noStrike" kern="0" cap="none" spc="0" normalizeH="0" baseline="0" noProof="0" dirty="0">
              <a:ln>
                <a:noFill/>
              </a:ln>
              <a:solidFill>
                <a:schemeClr val="bg1"/>
              </a:solidFill>
              <a:effectLst/>
              <a:uLnTx/>
              <a:uFillTx/>
              <a:latin typeface="+mn-lt"/>
              <a:ea typeface="+mn-ea"/>
              <a:cs typeface="+mn-cs"/>
            </a:endParaRPr>
          </a:p>
        </p:txBody>
      </p:sp>
      <p:sp>
        <p:nvSpPr>
          <p:cNvPr id="33794" name="Rectangle 4"/>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idx="1"/>
          </p:nvPr>
        </p:nvSpPr>
        <p:spPr>
          <a:xfrm>
            <a:off x="182563" y="766445"/>
            <a:ext cx="8961437" cy="5472113"/>
          </a:xfrm>
        </p:spPr>
        <p:txBody>
          <a:bodyPr vert="horz" wrap="square" lIns="91440" tIns="45720" rIns="91440" bIns="45720" anchor="t"/>
          <a:p>
            <a:pPr eaLnBrk="1" hangingPunct="1">
              <a:lnSpc>
                <a:spcPct val="80000"/>
              </a:lnSpc>
              <a:buNone/>
            </a:pPr>
            <a:r>
              <a:rPr lang="zh-CN" altLang="en-US" sz="2800" b="1" dirty="0">
                <a:solidFill>
                  <a:schemeClr val="bg1"/>
                </a:solidFill>
              </a:rPr>
              <a:t>二维数组</a:t>
            </a:r>
            <a:endParaRPr lang="zh-CN" altLang="en-US" sz="2800" b="1" dirty="0">
              <a:solidFill>
                <a:schemeClr val="bg1"/>
              </a:solidFill>
            </a:endParaRPr>
          </a:p>
          <a:p>
            <a:pPr eaLnBrk="1" hangingPunct="1">
              <a:lnSpc>
                <a:spcPct val="80000"/>
              </a:lnSpc>
              <a:buNone/>
            </a:pPr>
            <a:r>
              <a:rPr lang="en-US" altLang="zh-CN" sz="2800" b="1" dirty="0">
                <a:solidFill>
                  <a:schemeClr val="bg1"/>
                </a:solidFill>
              </a:rPr>
              <a:t>int a[3][4]</a:t>
            </a:r>
            <a:r>
              <a:rPr lang="zh-CN" altLang="en-US" sz="2800" b="1" dirty="0">
                <a:solidFill>
                  <a:schemeClr val="bg1"/>
                </a:solidFill>
              </a:rPr>
              <a:t>，*</a:t>
            </a:r>
            <a:r>
              <a:rPr lang="en-US" altLang="zh-CN" sz="2800" b="1" dirty="0">
                <a:solidFill>
                  <a:schemeClr val="bg1"/>
                </a:solidFill>
              </a:rPr>
              <a:t>p;</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p=a;   ?</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  a+1  a+2</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a[0]  a[0]+1..a[0]+3</a:t>
            </a:r>
            <a:r>
              <a:rPr lang="en-US" altLang="zh-CN" sz="2800" b="1" dirty="0">
                <a:solidFill>
                  <a:schemeClr val="bg1"/>
                </a:solidFill>
                <a:latin typeface="Arial" panose="020B0604020202020204" pitchFamily="34" charset="0"/>
              </a:rPr>
              <a:t>…</a:t>
            </a:r>
            <a:r>
              <a:rPr lang="en-US" altLang="zh-CN" sz="2800" b="1" dirty="0">
                <a:solidFill>
                  <a:schemeClr val="bg1"/>
                </a:solidFill>
              </a:rPr>
              <a:t> a[2]  a[2]+1.. a[2]+3</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a[0][0] a[0][1]..a[0][3]</a:t>
            </a:r>
            <a:r>
              <a:rPr lang="en-US" altLang="zh-CN" sz="2800" b="1" dirty="0">
                <a:solidFill>
                  <a:schemeClr val="bg1"/>
                </a:solidFill>
                <a:latin typeface="Arial" panose="020B0604020202020204" pitchFamily="34" charset="0"/>
              </a:rPr>
              <a:t>…</a:t>
            </a:r>
            <a:r>
              <a:rPr lang="en-US" altLang="zh-CN" sz="2800" b="1" dirty="0">
                <a:solidFill>
                  <a:schemeClr val="bg1"/>
                </a:solidFill>
              </a:rPr>
              <a:t>a[2][0] a[2][1]..a[2][3]</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*(a[0]) *(a[0]+1)..*(a[0]+3)</a:t>
            </a:r>
            <a:r>
              <a:rPr lang="en-US" altLang="zh-CN" sz="2800" b="1" dirty="0">
                <a:solidFill>
                  <a:schemeClr val="bg1"/>
                </a:solidFill>
                <a:latin typeface="Arial" panose="020B0604020202020204" pitchFamily="34" charset="0"/>
              </a:rPr>
              <a:t>…</a:t>
            </a:r>
            <a:r>
              <a:rPr lang="en-US" altLang="zh-CN" sz="2800" b="1" dirty="0">
                <a:solidFill>
                  <a:schemeClr val="bg1"/>
                </a:solidFill>
              </a:rPr>
              <a:t>*(a[2]) *a[2]+1)..*(a[2]+3)</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  *(*a+1)..*(*a+3)</a:t>
            </a:r>
            <a:r>
              <a:rPr lang="en-US" altLang="zh-CN" sz="2800" b="1" dirty="0">
                <a:solidFill>
                  <a:schemeClr val="bg1"/>
                </a:solidFill>
                <a:latin typeface="Arial" panose="020B0604020202020204" pitchFamily="34" charset="0"/>
              </a:rPr>
              <a:t>…</a:t>
            </a:r>
            <a:r>
              <a:rPr lang="en-US" altLang="zh-CN" sz="2800" b="1" dirty="0">
                <a:solidFill>
                  <a:schemeClr val="bg1"/>
                </a:solidFill>
              </a:rPr>
              <a:t>*(*(a+2)) *(*(a+2)+1) *(*(a+2)+3)</a:t>
            </a:r>
            <a:endParaRPr lang="en-US" altLang="zh-CN" sz="2800" b="1" dirty="0">
              <a:solidFill>
                <a:schemeClr val="bg1"/>
              </a:solidFill>
            </a:endParaRPr>
          </a:p>
          <a:p>
            <a:pPr eaLnBrk="1" hangingPunct="1">
              <a:lnSpc>
                <a:spcPct val="80000"/>
              </a:lnSpc>
              <a:buNone/>
            </a:pPr>
            <a:r>
              <a:rPr lang="zh-CN" altLang="en-US" sz="2800" b="1" dirty="0">
                <a:solidFill>
                  <a:schemeClr val="bg1"/>
                </a:solidFill>
              </a:rPr>
              <a:t>指针的层次   数组指针   指针数组    指向指针的指针</a:t>
            </a:r>
            <a:endParaRPr lang="zh-CN" altLang="en-US" sz="2800" b="1" dirty="0">
              <a:solidFill>
                <a:schemeClr val="bg1"/>
              </a:solidFill>
            </a:endParaRPr>
          </a:p>
        </p:txBody>
      </p:sp>
      <p:sp>
        <p:nvSpPr>
          <p:cNvPr id="34818" name="Rectangle 3"/>
          <p:cNvSpPr/>
          <p:nvPr/>
        </p:nvSpPr>
        <p:spPr>
          <a:xfrm>
            <a:off x="-252412" y="-99377"/>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3"/>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 name="圆角矩形 4"/>
          <p:cNvSpPr/>
          <p:nvPr/>
        </p:nvSpPr>
        <p:spPr bwMode="auto">
          <a:xfrm>
            <a:off x="1476375" y="17732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圆角矩形 5"/>
          <p:cNvSpPr/>
          <p:nvPr/>
        </p:nvSpPr>
        <p:spPr bwMode="auto">
          <a:xfrm>
            <a:off x="2195513" y="17732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圆角矩形 6"/>
          <p:cNvSpPr/>
          <p:nvPr/>
        </p:nvSpPr>
        <p:spPr bwMode="auto">
          <a:xfrm>
            <a:off x="2916238" y="17732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圆角矩形 7"/>
          <p:cNvSpPr/>
          <p:nvPr/>
        </p:nvSpPr>
        <p:spPr bwMode="auto">
          <a:xfrm>
            <a:off x="3635375" y="17732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圆角矩形 8"/>
          <p:cNvSpPr/>
          <p:nvPr/>
        </p:nvSpPr>
        <p:spPr bwMode="auto">
          <a:xfrm>
            <a:off x="4356100" y="17732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 name="圆角矩形 9"/>
          <p:cNvSpPr/>
          <p:nvPr/>
        </p:nvSpPr>
        <p:spPr bwMode="auto">
          <a:xfrm>
            <a:off x="5076825" y="17732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 name="圆角矩形 10"/>
          <p:cNvSpPr/>
          <p:nvPr/>
        </p:nvSpPr>
        <p:spPr bwMode="auto">
          <a:xfrm>
            <a:off x="5795963" y="17732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 name="圆角矩形 11"/>
          <p:cNvSpPr/>
          <p:nvPr/>
        </p:nvSpPr>
        <p:spPr bwMode="auto">
          <a:xfrm>
            <a:off x="6516688" y="17732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 name="圆角矩形 12"/>
          <p:cNvSpPr/>
          <p:nvPr/>
        </p:nvSpPr>
        <p:spPr bwMode="auto">
          <a:xfrm>
            <a:off x="7235825" y="17732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 name="圆角矩形 13"/>
          <p:cNvSpPr/>
          <p:nvPr/>
        </p:nvSpPr>
        <p:spPr bwMode="auto">
          <a:xfrm>
            <a:off x="1476375" y="2349500"/>
            <a:ext cx="503238"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 name="圆角矩形 14"/>
          <p:cNvSpPr/>
          <p:nvPr/>
        </p:nvSpPr>
        <p:spPr bwMode="auto">
          <a:xfrm>
            <a:off x="2195513" y="2349500"/>
            <a:ext cx="504825"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6" name="圆角矩形 15"/>
          <p:cNvSpPr/>
          <p:nvPr/>
        </p:nvSpPr>
        <p:spPr bwMode="auto">
          <a:xfrm>
            <a:off x="2916238" y="2349500"/>
            <a:ext cx="503238"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7" name="圆角矩形 16"/>
          <p:cNvSpPr/>
          <p:nvPr/>
        </p:nvSpPr>
        <p:spPr bwMode="auto">
          <a:xfrm>
            <a:off x="3635375" y="2349500"/>
            <a:ext cx="504825"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8" name="圆角矩形 17"/>
          <p:cNvSpPr/>
          <p:nvPr/>
        </p:nvSpPr>
        <p:spPr bwMode="auto">
          <a:xfrm>
            <a:off x="4356100" y="2349500"/>
            <a:ext cx="503238"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9" name="圆角矩形 18"/>
          <p:cNvSpPr/>
          <p:nvPr/>
        </p:nvSpPr>
        <p:spPr bwMode="auto">
          <a:xfrm>
            <a:off x="5076825" y="2349500"/>
            <a:ext cx="503238"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0" name="圆角矩形 19"/>
          <p:cNvSpPr/>
          <p:nvPr/>
        </p:nvSpPr>
        <p:spPr bwMode="auto">
          <a:xfrm>
            <a:off x="5795963" y="2349500"/>
            <a:ext cx="504825"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1" name="圆角矩形 20"/>
          <p:cNvSpPr/>
          <p:nvPr/>
        </p:nvSpPr>
        <p:spPr bwMode="auto">
          <a:xfrm>
            <a:off x="6516688" y="2349500"/>
            <a:ext cx="503238"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2" name="圆角矩形 21"/>
          <p:cNvSpPr/>
          <p:nvPr/>
        </p:nvSpPr>
        <p:spPr bwMode="auto">
          <a:xfrm>
            <a:off x="7235825" y="2349500"/>
            <a:ext cx="504825" cy="358775"/>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3" name="圆角矩形 22"/>
          <p:cNvSpPr/>
          <p:nvPr/>
        </p:nvSpPr>
        <p:spPr bwMode="auto">
          <a:xfrm>
            <a:off x="1476375" y="292417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 name="圆角矩形 23"/>
          <p:cNvSpPr/>
          <p:nvPr/>
        </p:nvSpPr>
        <p:spPr bwMode="auto">
          <a:xfrm>
            <a:off x="2195513" y="29241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5" name="圆角矩形 24"/>
          <p:cNvSpPr/>
          <p:nvPr/>
        </p:nvSpPr>
        <p:spPr bwMode="auto">
          <a:xfrm>
            <a:off x="2916238" y="292417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6" name="圆角矩形 25"/>
          <p:cNvSpPr/>
          <p:nvPr/>
        </p:nvSpPr>
        <p:spPr bwMode="auto">
          <a:xfrm>
            <a:off x="3635375" y="29241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7" name="圆角矩形 26"/>
          <p:cNvSpPr/>
          <p:nvPr/>
        </p:nvSpPr>
        <p:spPr bwMode="auto">
          <a:xfrm>
            <a:off x="4356100" y="292417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8" name="圆角矩形 27"/>
          <p:cNvSpPr/>
          <p:nvPr/>
        </p:nvSpPr>
        <p:spPr bwMode="auto">
          <a:xfrm>
            <a:off x="5076825" y="292417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 name="圆角矩形 28"/>
          <p:cNvSpPr/>
          <p:nvPr/>
        </p:nvSpPr>
        <p:spPr bwMode="auto">
          <a:xfrm>
            <a:off x="5795963" y="29241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 name="圆角矩形 29"/>
          <p:cNvSpPr/>
          <p:nvPr/>
        </p:nvSpPr>
        <p:spPr bwMode="auto">
          <a:xfrm>
            <a:off x="6516688" y="292417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1" name="圆角矩形 30"/>
          <p:cNvSpPr/>
          <p:nvPr/>
        </p:nvSpPr>
        <p:spPr bwMode="auto">
          <a:xfrm>
            <a:off x="7235825" y="29241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 name="圆角矩形 31"/>
          <p:cNvSpPr/>
          <p:nvPr/>
        </p:nvSpPr>
        <p:spPr bwMode="auto">
          <a:xfrm>
            <a:off x="1476375" y="35004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3" name="圆角矩形 32"/>
          <p:cNvSpPr/>
          <p:nvPr/>
        </p:nvSpPr>
        <p:spPr bwMode="auto">
          <a:xfrm>
            <a:off x="2195513" y="35004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4" name="圆角矩形 33"/>
          <p:cNvSpPr/>
          <p:nvPr/>
        </p:nvSpPr>
        <p:spPr bwMode="auto">
          <a:xfrm>
            <a:off x="2916238" y="35004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5" name="圆角矩形 34"/>
          <p:cNvSpPr/>
          <p:nvPr/>
        </p:nvSpPr>
        <p:spPr bwMode="auto">
          <a:xfrm>
            <a:off x="3635375" y="35004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 name="圆角矩形 35"/>
          <p:cNvSpPr/>
          <p:nvPr/>
        </p:nvSpPr>
        <p:spPr bwMode="auto">
          <a:xfrm>
            <a:off x="4356100" y="35004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7" name="圆角矩形 36"/>
          <p:cNvSpPr/>
          <p:nvPr/>
        </p:nvSpPr>
        <p:spPr bwMode="auto">
          <a:xfrm>
            <a:off x="5076825" y="35004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8" name="圆角矩形 37"/>
          <p:cNvSpPr/>
          <p:nvPr/>
        </p:nvSpPr>
        <p:spPr bwMode="auto">
          <a:xfrm>
            <a:off x="5795963" y="35004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9" name="圆角矩形 38"/>
          <p:cNvSpPr/>
          <p:nvPr/>
        </p:nvSpPr>
        <p:spPr bwMode="auto">
          <a:xfrm>
            <a:off x="6516688" y="350043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0" name="圆角矩形 39"/>
          <p:cNvSpPr/>
          <p:nvPr/>
        </p:nvSpPr>
        <p:spPr bwMode="auto">
          <a:xfrm>
            <a:off x="7235825" y="350043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 name="圆角矩形 40"/>
          <p:cNvSpPr/>
          <p:nvPr/>
        </p:nvSpPr>
        <p:spPr bwMode="auto">
          <a:xfrm>
            <a:off x="1476375" y="4076700"/>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2" name="圆角矩形 41"/>
          <p:cNvSpPr/>
          <p:nvPr/>
        </p:nvSpPr>
        <p:spPr bwMode="auto">
          <a:xfrm>
            <a:off x="2195513" y="407670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 name="圆角矩形 42"/>
          <p:cNvSpPr/>
          <p:nvPr/>
        </p:nvSpPr>
        <p:spPr bwMode="auto">
          <a:xfrm>
            <a:off x="2916238" y="4076700"/>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 name="圆角矩形 43"/>
          <p:cNvSpPr/>
          <p:nvPr/>
        </p:nvSpPr>
        <p:spPr bwMode="auto">
          <a:xfrm>
            <a:off x="3635375" y="407670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5" name="圆角矩形 44"/>
          <p:cNvSpPr/>
          <p:nvPr/>
        </p:nvSpPr>
        <p:spPr bwMode="auto">
          <a:xfrm>
            <a:off x="4356100" y="4076700"/>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6" name="圆角矩形 45"/>
          <p:cNvSpPr/>
          <p:nvPr/>
        </p:nvSpPr>
        <p:spPr bwMode="auto">
          <a:xfrm>
            <a:off x="5076825" y="4076700"/>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7" name="圆角矩形 46"/>
          <p:cNvSpPr/>
          <p:nvPr/>
        </p:nvSpPr>
        <p:spPr bwMode="auto">
          <a:xfrm>
            <a:off x="5795963" y="407670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8" name="圆角矩形 47"/>
          <p:cNvSpPr/>
          <p:nvPr/>
        </p:nvSpPr>
        <p:spPr bwMode="auto">
          <a:xfrm>
            <a:off x="6516688" y="4076700"/>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9" name="圆角矩形 48"/>
          <p:cNvSpPr/>
          <p:nvPr/>
        </p:nvSpPr>
        <p:spPr bwMode="auto">
          <a:xfrm>
            <a:off x="7235825" y="407670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0" name="圆角矩形 49"/>
          <p:cNvSpPr/>
          <p:nvPr/>
        </p:nvSpPr>
        <p:spPr bwMode="auto">
          <a:xfrm>
            <a:off x="1476375" y="465296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1" name="圆角矩形 50"/>
          <p:cNvSpPr/>
          <p:nvPr/>
        </p:nvSpPr>
        <p:spPr bwMode="auto">
          <a:xfrm>
            <a:off x="2195513" y="4652963"/>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2" name="圆角矩形 51"/>
          <p:cNvSpPr/>
          <p:nvPr/>
        </p:nvSpPr>
        <p:spPr bwMode="auto">
          <a:xfrm>
            <a:off x="2916238" y="465296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3" name="圆角矩形 52"/>
          <p:cNvSpPr/>
          <p:nvPr/>
        </p:nvSpPr>
        <p:spPr bwMode="auto">
          <a:xfrm>
            <a:off x="3635375" y="4652963"/>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4" name="圆角矩形 53"/>
          <p:cNvSpPr/>
          <p:nvPr/>
        </p:nvSpPr>
        <p:spPr bwMode="auto">
          <a:xfrm>
            <a:off x="4356100" y="465296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5" name="圆角矩形 54"/>
          <p:cNvSpPr/>
          <p:nvPr/>
        </p:nvSpPr>
        <p:spPr bwMode="auto">
          <a:xfrm>
            <a:off x="5076825" y="465296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6" name="圆角矩形 55"/>
          <p:cNvSpPr/>
          <p:nvPr/>
        </p:nvSpPr>
        <p:spPr bwMode="auto">
          <a:xfrm>
            <a:off x="5795963" y="4652963"/>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 name="圆角矩形 56"/>
          <p:cNvSpPr/>
          <p:nvPr/>
        </p:nvSpPr>
        <p:spPr bwMode="auto">
          <a:xfrm>
            <a:off x="6516688" y="465296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 name="圆角矩形 57"/>
          <p:cNvSpPr/>
          <p:nvPr/>
        </p:nvSpPr>
        <p:spPr bwMode="auto">
          <a:xfrm>
            <a:off x="7235825" y="4652963"/>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 name="圆角矩形 58"/>
          <p:cNvSpPr/>
          <p:nvPr/>
        </p:nvSpPr>
        <p:spPr bwMode="auto">
          <a:xfrm>
            <a:off x="1476375" y="522922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 name="圆角矩形 59"/>
          <p:cNvSpPr/>
          <p:nvPr/>
        </p:nvSpPr>
        <p:spPr bwMode="auto">
          <a:xfrm>
            <a:off x="2195513" y="522922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1" name="圆角矩形 60"/>
          <p:cNvSpPr/>
          <p:nvPr/>
        </p:nvSpPr>
        <p:spPr bwMode="auto">
          <a:xfrm>
            <a:off x="2916238" y="522922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2" name="圆角矩形 61"/>
          <p:cNvSpPr/>
          <p:nvPr/>
        </p:nvSpPr>
        <p:spPr bwMode="auto">
          <a:xfrm>
            <a:off x="3635375" y="522922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3" name="圆角矩形 62"/>
          <p:cNvSpPr/>
          <p:nvPr/>
        </p:nvSpPr>
        <p:spPr bwMode="auto">
          <a:xfrm>
            <a:off x="4356100" y="522922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4" name="圆角矩形 63"/>
          <p:cNvSpPr/>
          <p:nvPr/>
        </p:nvSpPr>
        <p:spPr bwMode="auto">
          <a:xfrm>
            <a:off x="5076825" y="522922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5" name="圆角矩形 64"/>
          <p:cNvSpPr/>
          <p:nvPr/>
        </p:nvSpPr>
        <p:spPr bwMode="auto">
          <a:xfrm>
            <a:off x="5795963" y="522922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6" name="圆角矩形 65"/>
          <p:cNvSpPr/>
          <p:nvPr/>
        </p:nvSpPr>
        <p:spPr bwMode="auto">
          <a:xfrm>
            <a:off x="6516688" y="5229225"/>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 name="圆角矩形 66"/>
          <p:cNvSpPr/>
          <p:nvPr/>
        </p:nvSpPr>
        <p:spPr bwMode="auto">
          <a:xfrm>
            <a:off x="7235825" y="522922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8" name="圆角矩形 67"/>
          <p:cNvSpPr/>
          <p:nvPr/>
        </p:nvSpPr>
        <p:spPr bwMode="auto">
          <a:xfrm>
            <a:off x="1476375" y="580548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9" name="圆角矩形 68"/>
          <p:cNvSpPr/>
          <p:nvPr/>
        </p:nvSpPr>
        <p:spPr bwMode="auto">
          <a:xfrm>
            <a:off x="2195513" y="580548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0" name="圆角矩形 69"/>
          <p:cNvSpPr/>
          <p:nvPr/>
        </p:nvSpPr>
        <p:spPr bwMode="auto">
          <a:xfrm>
            <a:off x="2916238" y="580548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1" name="圆角矩形 70"/>
          <p:cNvSpPr/>
          <p:nvPr/>
        </p:nvSpPr>
        <p:spPr bwMode="auto">
          <a:xfrm>
            <a:off x="3635375" y="580548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2" name="圆角矩形 71"/>
          <p:cNvSpPr/>
          <p:nvPr/>
        </p:nvSpPr>
        <p:spPr bwMode="auto">
          <a:xfrm>
            <a:off x="4356100" y="580548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3" name="圆角矩形 72"/>
          <p:cNvSpPr/>
          <p:nvPr/>
        </p:nvSpPr>
        <p:spPr bwMode="auto">
          <a:xfrm>
            <a:off x="5076825" y="580548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4" name="圆角矩形 73"/>
          <p:cNvSpPr/>
          <p:nvPr/>
        </p:nvSpPr>
        <p:spPr bwMode="auto">
          <a:xfrm>
            <a:off x="5795963" y="580548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5" name="圆角矩形 74"/>
          <p:cNvSpPr/>
          <p:nvPr/>
        </p:nvSpPr>
        <p:spPr bwMode="auto">
          <a:xfrm>
            <a:off x="6516688" y="5805488"/>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6" name="圆角矩形 75"/>
          <p:cNvSpPr/>
          <p:nvPr/>
        </p:nvSpPr>
        <p:spPr bwMode="auto">
          <a:xfrm>
            <a:off x="7235825" y="5805488"/>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idx="1"/>
          </p:nvPr>
        </p:nvSpPr>
        <p:spPr>
          <a:xfrm>
            <a:off x="182563" y="1196975"/>
            <a:ext cx="8961437" cy="5472113"/>
          </a:xfrm>
        </p:spPr>
        <p:txBody>
          <a:bodyPr vert="horz" wrap="square" lIns="91440" tIns="45720" rIns="91440" bIns="45720" anchor="t"/>
          <a:p>
            <a:pPr eaLnBrk="1" hangingPunct="1">
              <a:buNone/>
            </a:pPr>
            <a:r>
              <a:rPr lang="zh-CN" altLang="en-US" b="1" dirty="0">
                <a:solidFill>
                  <a:schemeClr val="bg1"/>
                </a:solidFill>
              </a:rPr>
              <a:t>函数指针和指针函数</a:t>
            </a:r>
            <a:endParaRPr lang="zh-CN" altLang="en-US" b="1" dirty="0">
              <a:solidFill>
                <a:schemeClr val="bg1"/>
              </a:solidFill>
            </a:endParaRPr>
          </a:p>
          <a:p>
            <a:pPr eaLnBrk="1" hangingPunct="1">
              <a:buNone/>
            </a:pPr>
            <a:endParaRPr lang="zh-CN" altLang="en-US" b="1" dirty="0">
              <a:solidFill>
                <a:schemeClr val="bg1"/>
              </a:solidFill>
            </a:endParaRPr>
          </a:p>
          <a:p>
            <a:pPr eaLnBrk="1" hangingPunct="1">
              <a:buNone/>
            </a:pPr>
            <a:r>
              <a:rPr lang="en-US" altLang="zh-CN" b="1" dirty="0">
                <a:solidFill>
                  <a:schemeClr val="bg1"/>
                </a:solidFill>
              </a:rPr>
              <a:t>Char (*p)();       char *p();  </a:t>
            </a:r>
            <a:endParaRPr lang="en-US" altLang="zh-CN" b="1" dirty="0">
              <a:solidFill>
                <a:schemeClr val="bg1"/>
              </a:solidFill>
            </a:endParaRPr>
          </a:p>
          <a:p>
            <a:pPr eaLnBrk="1" hangingPunct="1">
              <a:buNone/>
            </a:pPr>
            <a:r>
              <a:rPr lang="zh-CN" altLang="en-US" b="1" dirty="0">
                <a:solidFill>
                  <a:schemeClr val="bg1"/>
                </a:solidFill>
              </a:rPr>
              <a:t>指针函数用来申请空间或者查找数据；</a:t>
            </a:r>
            <a:endParaRPr lang="zh-CN" altLang="en-US" b="1" dirty="0">
              <a:solidFill>
                <a:schemeClr val="bg1"/>
              </a:solidFill>
            </a:endParaRPr>
          </a:p>
          <a:p>
            <a:pPr eaLnBrk="1" hangingPunct="1">
              <a:buNone/>
            </a:pPr>
            <a:r>
              <a:rPr lang="zh-CN" altLang="en-US" b="1" dirty="0">
                <a:solidFill>
                  <a:schemeClr val="bg1"/>
                </a:solidFill>
              </a:rPr>
              <a:t>函数指针用来动态指定参与运算的函数</a:t>
            </a:r>
            <a:endParaRPr lang="en-US" altLang="zh-CN" b="1" dirty="0">
              <a:solidFill>
                <a:schemeClr val="bg1"/>
              </a:solidFill>
            </a:endParaRPr>
          </a:p>
          <a:p>
            <a:pPr eaLnBrk="1" hangingPunct="1">
              <a:buNone/>
            </a:pPr>
            <a:r>
              <a:rPr lang="en-US" altLang="zh-CN" b="1" dirty="0">
                <a:solidFill>
                  <a:schemeClr val="bg1"/>
                </a:solidFill>
              </a:rPr>
              <a:t>int (*ff(int))(int*, int);     </a:t>
            </a:r>
            <a:r>
              <a:rPr lang="zh-CN" altLang="en-US" b="1" dirty="0">
                <a:solidFill>
                  <a:schemeClr val="bg1"/>
                </a:solidFill>
              </a:rPr>
              <a:t>？</a:t>
            </a:r>
            <a:endParaRPr lang="zh-CN" altLang="en-US" b="1" dirty="0">
              <a:solidFill>
                <a:schemeClr val="bg1"/>
              </a:solidFill>
            </a:endParaRPr>
          </a:p>
        </p:txBody>
      </p:sp>
      <p:sp>
        <p:nvSpPr>
          <p:cNvPr id="36866" name="Rectangle 3"/>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idx="1"/>
          </p:nvPr>
        </p:nvSpPr>
        <p:spPr>
          <a:xfrm>
            <a:off x="182563" y="1196975"/>
            <a:ext cx="4605337" cy="5472113"/>
          </a:xfrm>
        </p:spPr>
        <p:txBody>
          <a:bodyPr vert="horz" wrap="square" lIns="91440" tIns="45720" rIns="91440" bIns="45720" anchor="t"/>
          <a:p>
            <a:pPr eaLnBrk="1" hangingPunct="1">
              <a:buNone/>
            </a:pPr>
            <a:r>
              <a:rPr lang="zh-CN" altLang="en-US" b="1" dirty="0">
                <a:solidFill>
                  <a:schemeClr val="bg1"/>
                </a:solidFill>
              </a:rPr>
              <a:t>练习题</a:t>
            </a:r>
            <a:endParaRPr lang="zh-CN" altLang="en-US" b="1" dirty="0">
              <a:solidFill>
                <a:schemeClr val="bg1"/>
              </a:solidFill>
            </a:endParaRPr>
          </a:p>
          <a:p>
            <a:pPr eaLnBrk="1" hangingPunct="1">
              <a:buNone/>
            </a:pPr>
            <a:r>
              <a:rPr lang="en-US" altLang="zh-CN" b="1" dirty="0">
                <a:solidFill>
                  <a:schemeClr val="bg1"/>
                </a:solidFill>
              </a:rPr>
              <a:t>char  a[]=</a:t>
            </a:r>
            <a:r>
              <a:rPr lang="en-US" altLang="zh-CN" b="1" dirty="0">
                <a:solidFill>
                  <a:schemeClr val="bg1"/>
                </a:solidFill>
                <a:latin typeface="Arial" panose="020B0604020202020204" pitchFamily="34" charset="0"/>
              </a:rPr>
              <a:t>“</a:t>
            </a:r>
            <a:r>
              <a:rPr lang="en-US" altLang="zh-CN" b="1" dirty="0">
                <a:solidFill>
                  <a:schemeClr val="bg1"/>
                </a:solidFill>
              </a:rPr>
              <a:t>abcdefghij</a:t>
            </a:r>
            <a:r>
              <a:rPr lang="en-US" altLang="zh-CN" b="1" dirty="0">
                <a:solidFill>
                  <a:schemeClr val="bg1"/>
                </a:solidFill>
                <a:latin typeface="Arial" panose="020B0604020202020204" pitchFamily="34" charset="0"/>
              </a:rPr>
              <a:t>”</a:t>
            </a: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char *q=a;</a:t>
            </a:r>
            <a:endParaRPr lang="en-US" altLang="zh-CN" b="1" dirty="0">
              <a:solidFill>
                <a:schemeClr val="bg1"/>
              </a:solidFill>
            </a:endParaRPr>
          </a:p>
          <a:p>
            <a:pPr eaLnBrk="1" hangingPunct="1">
              <a:buNone/>
            </a:pPr>
            <a:r>
              <a:rPr lang="en-US" altLang="zh-CN" b="1" dirty="0">
                <a:solidFill>
                  <a:schemeClr val="bg1"/>
                </a:solidFill>
              </a:rPr>
              <a:t>int *p=(int *)a;</a:t>
            </a:r>
            <a:endParaRPr lang="en-US" altLang="zh-CN" b="1" dirty="0">
              <a:solidFill>
                <a:schemeClr val="bg1"/>
              </a:solidFill>
            </a:endParaRPr>
          </a:p>
          <a:p>
            <a:pPr eaLnBrk="1" hangingPunct="1">
              <a:buNone/>
            </a:pPr>
            <a:r>
              <a:rPr lang="en-US" altLang="zh-CN" b="1" dirty="0">
                <a:solidFill>
                  <a:schemeClr val="bg1"/>
                </a:solidFill>
              </a:rPr>
              <a:t>while(*q)</a:t>
            </a:r>
            <a:endParaRPr lang="en-US" altLang="zh-CN" b="1" dirty="0">
              <a:solidFill>
                <a:schemeClr val="bg1"/>
              </a:solidFill>
            </a:endParaRPr>
          </a:p>
          <a:p>
            <a:pPr eaLnBrk="1" hangingPunct="1">
              <a:buNone/>
            </a:pPr>
            <a:r>
              <a:rPr lang="en-US" altLang="zh-CN" b="1" dirty="0">
                <a:solidFill>
                  <a:schemeClr val="bg1"/>
                </a:solidFill>
              </a:rPr>
              <a:t>   *q++=*q+1;</a:t>
            </a:r>
            <a:endParaRPr lang="en-US" altLang="zh-CN" b="1" dirty="0">
              <a:solidFill>
                <a:schemeClr val="bg1"/>
              </a:solidFill>
            </a:endParaRPr>
          </a:p>
          <a:p>
            <a:pPr eaLnBrk="1" hangingPunct="1">
              <a:buNone/>
            </a:pPr>
            <a:r>
              <a:rPr lang="en-US" altLang="zh-CN" b="1" dirty="0">
                <a:solidFill>
                  <a:schemeClr val="bg1"/>
                </a:solidFill>
              </a:rPr>
              <a:t>p+=3;</a:t>
            </a:r>
            <a:endParaRPr lang="en-US" altLang="zh-CN" b="1" dirty="0">
              <a:solidFill>
                <a:schemeClr val="bg1"/>
              </a:solidFill>
            </a:endParaRPr>
          </a:p>
          <a:p>
            <a:pPr eaLnBrk="1" hangingPunct="1">
              <a:buNone/>
            </a:pPr>
            <a:r>
              <a:rPr lang="en-US" altLang="zh-CN" b="1" dirty="0">
                <a:solidFill>
                  <a:schemeClr val="bg1"/>
                </a:solidFill>
              </a:rPr>
              <a:t>printf(</a:t>
            </a:r>
            <a:r>
              <a:rPr lang="en-US" altLang="zh-CN" b="1" dirty="0">
                <a:solidFill>
                  <a:schemeClr val="bg1"/>
                </a:solidFill>
                <a:latin typeface="Arial" panose="020B0604020202020204" pitchFamily="34" charset="0"/>
              </a:rPr>
              <a:t>“</a:t>
            </a:r>
            <a:r>
              <a:rPr lang="en-US" altLang="zh-CN" b="1" dirty="0">
                <a:solidFill>
                  <a:schemeClr val="bg1"/>
                </a:solidFill>
              </a:rPr>
              <a:t>%s</a:t>
            </a:r>
            <a:r>
              <a:rPr lang="en-US" altLang="zh-CN" b="1" dirty="0">
                <a:solidFill>
                  <a:schemeClr val="bg1"/>
                </a:solidFill>
                <a:latin typeface="Arial" panose="020B0604020202020204" pitchFamily="34" charset="0"/>
              </a:rPr>
              <a:t>”</a:t>
            </a:r>
            <a:r>
              <a:rPr lang="en-US" altLang="zh-CN" b="1" dirty="0">
                <a:solidFill>
                  <a:schemeClr val="bg1"/>
                </a:solidFill>
              </a:rPr>
              <a:t>,p);</a:t>
            </a:r>
            <a:endParaRPr lang="en-US" altLang="zh-CN" b="1" dirty="0">
              <a:solidFill>
                <a:schemeClr val="bg1"/>
              </a:solidFill>
            </a:endParaRPr>
          </a:p>
        </p:txBody>
      </p:sp>
      <p:sp>
        <p:nvSpPr>
          <p:cNvPr id="37890" name="Rectangle 3"/>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graphicFrame>
        <p:nvGraphicFramePr>
          <p:cNvPr id="4" name="表格 3"/>
          <p:cNvGraphicFramePr>
            <a:graphicFrameLocks noGrp="1"/>
          </p:cNvGraphicFramePr>
          <p:nvPr/>
        </p:nvGraphicFramePr>
        <p:xfrm>
          <a:off x="6659563" y="1268413"/>
          <a:ext cx="432048" cy="4079875"/>
        </p:xfrm>
        <a:graphic>
          <a:graphicData uri="http://schemas.openxmlformats.org/drawingml/2006/table">
            <a:tbl>
              <a:tblPr firstRow="1" bandRow="1">
                <a:tableStyleId>{5C22544A-7EE6-4342-B048-85BDC9FD1C3A}</a:tableStyleId>
              </a:tblPr>
              <a:tblGrid>
                <a:gridCol w="432048"/>
              </a:tblGrid>
              <a:tr h="370840">
                <a:tc>
                  <a:txBody>
                    <a:bodyPr/>
                    <a:lstStyle/>
                    <a:p>
                      <a:r>
                        <a:rPr lang="en-US" altLang="zh-CN" dirty="0" smtClean="0"/>
                        <a:t>a</a:t>
                      </a:r>
                      <a:endParaRPr lang="zh-CN" altLang="en-US" dirty="0"/>
                    </a:p>
                  </a:txBody>
                  <a:tcPr>
                    <a:noFill/>
                  </a:tcPr>
                </a:tc>
              </a:tr>
              <a:tr h="370840">
                <a:tc>
                  <a:txBody>
                    <a:bodyPr/>
                    <a:lstStyle/>
                    <a:p>
                      <a:r>
                        <a:rPr lang="en-US" altLang="zh-CN" dirty="0" smtClean="0">
                          <a:solidFill>
                            <a:schemeClr val="bg1"/>
                          </a:solidFill>
                        </a:rPr>
                        <a:t>b</a:t>
                      </a:r>
                      <a:endParaRPr lang="zh-CN" altLang="en-US" dirty="0">
                        <a:solidFill>
                          <a:schemeClr val="bg1"/>
                        </a:solidFill>
                      </a:endParaRPr>
                    </a:p>
                  </a:txBody>
                  <a:tcPr>
                    <a:noFill/>
                  </a:tcPr>
                </a:tc>
              </a:tr>
              <a:tr h="370840">
                <a:tc>
                  <a:txBody>
                    <a:bodyPr/>
                    <a:lstStyle/>
                    <a:p>
                      <a:r>
                        <a:rPr lang="en-US" altLang="zh-CN" dirty="0" smtClean="0">
                          <a:solidFill>
                            <a:schemeClr val="bg1"/>
                          </a:solidFill>
                        </a:rPr>
                        <a:t>c</a:t>
                      </a:r>
                      <a:endParaRPr lang="zh-CN" altLang="en-US" dirty="0">
                        <a:solidFill>
                          <a:schemeClr val="bg1"/>
                        </a:solidFill>
                      </a:endParaRPr>
                    </a:p>
                  </a:txBody>
                  <a:tcPr>
                    <a:noFill/>
                  </a:tcPr>
                </a:tc>
              </a:tr>
              <a:tr h="370840">
                <a:tc>
                  <a:txBody>
                    <a:bodyPr/>
                    <a:lstStyle/>
                    <a:p>
                      <a:r>
                        <a:rPr lang="en-US" altLang="zh-CN" dirty="0" smtClean="0">
                          <a:solidFill>
                            <a:schemeClr val="bg1"/>
                          </a:solidFill>
                        </a:rPr>
                        <a:t>d</a:t>
                      </a:r>
                      <a:endParaRPr lang="zh-CN" altLang="en-US" dirty="0">
                        <a:solidFill>
                          <a:schemeClr val="bg1"/>
                        </a:solidFill>
                      </a:endParaRPr>
                    </a:p>
                  </a:txBody>
                  <a:tcPr>
                    <a:noFill/>
                  </a:tcPr>
                </a:tc>
              </a:tr>
              <a:tr h="370840">
                <a:tc>
                  <a:txBody>
                    <a:bodyPr/>
                    <a:lstStyle/>
                    <a:p>
                      <a:r>
                        <a:rPr lang="en-US" altLang="zh-CN" dirty="0" smtClean="0">
                          <a:solidFill>
                            <a:schemeClr val="bg1"/>
                          </a:solidFill>
                        </a:rPr>
                        <a:t>e</a:t>
                      </a:r>
                      <a:endParaRPr lang="zh-CN" altLang="en-US" dirty="0">
                        <a:solidFill>
                          <a:schemeClr val="bg1"/>
                        </a:solidFill>
                      </a:endParaRPr>
                    </a:p>
                  </a:txBody>
                  <a:tcPr>
                    <a:noFill/>
                  </a:tcPr>
                </a:tc>
              </a:tr>
              <a:tr h="370840">
                <a:tc>
                  <a:txBody>
                    <a:bodyPr/>
                    <a:lstStyle/>
                    <a:p>
                      <a:r>
                        <a:rPr lang="en-US" altLang="zh-CN" dirty="0" smtClean="0">
                          <a:solidFill>
                            <a:schemeClr val="bg1"/>
                          </a:solidFill>
                        </a:rPr>
                        <a:t>f</a:t>
                      </a:r>
                      <a:endParaRPr lang="zh-CN" altLang="en-US" dirty="0">
                        <a:solidFill>
                          <a:schemeClr val="bg1"/>
                        </a:solidFill>
                      </a:endParaRPr>
                    </a:p>
                  </a:txBody>
                  <a:tcPr>
                    <a:noFill/>
                  </a:tcPr>
                </a:tc>
              </a:tr>
              <a:tr h="370840">
                <a:tc>
                  <a:txBody>
                    <a:bodyPr/>
                    <a:lstStyle/>
                    <a:p>
                      <a:r>
                        <a:rPr lang="en-US" altLang="zh-CN" dirty="0" smtClean="0">
                          <a:solidFill>
                            <a:schemeClr val="bg1"/>
                          </a:solidFill>
                        </a:rPr>
                        <a:t>g</a:t>
                      </a:r>
                      <a:endParaRPr lang="zh-CN" altLang="en-US" dirty="0">
                        <a:solidFill>
                          <a:schemeClr val="bg1"/>
                        </a:solidFill>
                      </a:endParaRPr>
                    </a:p>
                  </a:txBody>
                  <a:tcPr>
                    <a:noFill/>
                  </a:tcPr>
                </a:tc>
              </a:tr>
              <a:tr h="370840">
                <a:tc>
                  <a:txBody>
                    <a:bodyPr/>
                    <a:lstStyle/>
                    <a:p>
                      <a:r>
                        <a:rPr lang="en-US" altLang="zh-CN" dirty="0" smtClean="0">
                          <a:solidFill>
                            <a:schemeClr val="bg1"/>
                          </a:solidFill>
                        </a:rPr>
                        <a:t>h</a:t>
                      </a:r>
                      <a:endParaRPr lang="zh-CN" altLang="en-US" dirty="0">
                        <a:solidFill>
                          <a:schemeClr val="bg1"/>
                        </a:solidFill>
                      </a:endParaRPr>
                    </a:p>
                  </a:txBody>
                  <a:tcPr>
                    <a:noFill/>
                  </a:tcPr>
                </a:tc>
              </a:tr>
              <a:tr h="370840">
                <a:tc>
                  <a:txBody>
                    <a:bodyPr/>
                    <a:lstStyle/>
                    <a:p>
                      <a:r>
                        <a:rPr lang="en-US" altLang="zh-CN" dirty="0" err="1" smtClean="0">
                          <a:solidFill>
                            <a:schemeClr val="bg1"/>
                          </a:solidFill>
                        </a:rPr>
                        <a:t>i</a:t>
                      </a:r>
                      <a:endParaRPr lang="zh-CN" altLang="en-US" dirty="0">
                        <a:solidFill>
                          <a:schemeClr val="bg1"/>
                        </a:solidFill>
                      </a:endParaRPr>
                    </a:p>
                  </a:txBody>
                  <a:tcPr>
                    <a:noFill/>
                  </a:tcPr>
                </a:tc>
              </a:tr>
              <a:tr h="370840">
                <a:tc>
                  <a:txBody>
                    <a:bodyPr/>
                    <a:lstStyle/>
                    <a:p>
                      <a:r>
                        <a:rPr lang="en-US" altLang="zh-CN" dirty="0" smtClean="0">
                          <a:solidFill>
                            <a:schemeClr val="bg1"/>
                          </a:solidFill>
                        </a:rPr>
                        <a:t>j</a:t>
                      </a:r>
                      <a:endParaRPr lang="zh-CN" altLang="en-US" dirty="0">
                        <a:solidFill>
                          <a:schemeClr val="bg1"/>
                        </a:solidFill>
                      </a:endParaRPr>
                    </a:p>
                  </a:txBody>
                  <a:tcPr>
                    <a:noFill/>
                  </a:tcPr>
                </a:tc>
              </a:tr>
              <a:tr h="370840">
                <a:tc>
                  <a:txBody>
                    <a:bodyPr/>
                    <a:lstStyle/>
                    <a:p>
                      <a:r>
                        <a:rPr lang="en-US" altLang="zh-CN" dirty="0" smtClean="0">
                          <a:solidFill>
                            <a:schemeClr val="bg1"/>
                          </a:solidFill>
                        </a:rPr>
                        <a:t>\0</a:t>
                      </a:r>
                      <a:endParaRPr lang="zh-CN" altLang="en-US" dirty="0">
                        <a:solidFill>
                          <a:schemeClr val="bg1"/>
                        </a:solidFill>
                      </a:endParaRPr>
                    </a:p>
                  </a:txBody>
                  <a:tcPr>
                    <a:noFill/>
                  </a:tcPr>
                </a:tc>
              </a:tr>
            </a:tbl>
          </a:graphicData>
        </a:graphic>
      </p:graphicFrame>
      <p:graphicFrame>
        <p:nvGraphicFramePr>
          <p:cNvPr id="5" name="表格 4"/>
          <p:cNvGraphicFramePr>
            <a:graphicFrameLocks noGrp="1"/>
          </p:cNvGraphicFramePr>
          <p:nvPr/>
        </p:nvGraphicFramePr>
        <p:xfrm>
          <a:off x="7524750" y="1268413"/>
          <a:ext cx="432048" cy="4079875"/>
        </p:xfrm>
        <a:graphic>
          <a:graphicData uri="http://schemas.openxmlformats.org/drawingml/2006/table">
            <a:tbl>
              <a:tblPr firstRow="1" bandRow="1">
                <a:tableStyleId>{5C22544A-7EE6-4342-B048-85BDC9FD1C3A}</a:tableStyleId>
              </a:tblPr>
              <a:tblGrid>
                <a:gridCol w="432048"/>
              </a:tblGrid>
              <a:tr h="370840">
                <a:tc>
                  <a:txBody>
                    <a:bodyPr/>
                    <a:lstStyle/>
                    <a:p>
                      <a:r>
                        <a:rPr lang="en-US" altLang="zh-CN" dirty="0" smtClean="0">
                          <a:solidFill>
                            <a:schemeClr val="bg1"/>
                          </a:solidFill>
                        </a:rPr>
                        <a:t>b</a:t>
                      </a:r>
                      <a:endParaRPr lang="zh-CN" altLang="en-US" dirty="0">
                        <a:solidFill>
                          <a:schemeClr val="bg1"/>
                        </a:solidFill>
                      </a:endParaRPr>
                    </a:p>
                  </a:txBody>
                  <a:tcPr>
                    <a:noFill/>
                  </a:tcPr>
                </a:tc>
              </a:tr>
              <a:tr h="370840">
                <a:tc>
                  <a:txBody>
                    <a:bodyPr/>
                    <a:lstStyle/>
                    <a:p>
                      <a:r>
                        <a:rPr lang="en-US" altLang="zh-CN" dirty="0" smtClean="0">
                          <a:solidFill>
                            <a:schemeClr val="bg1"/>
                          </a:solidFill>
                        </a:rPr>
                        <a:t>c</a:t>
                      </a:r>
                      <a:endParaRPr lang="zh-CN" altLang="en-US" dirty="0">
                        <a:solidFill>
                          <a:schemeClr val="bg1"/>
                        </a:solidFill>
                      </a:endParaRPr>
                    </a:p>
                  </a:txBody>
                  <a:tcPr>
                    <a:noFill/>
                  </a:tcPr>
                </a:tc>
              </a:tr>
              <a:tr h="370840">
                <a:tc>
                  <a:txBody>
                    <a:bodyPr/>
                    <a:lstStyle/>
                    <a:p>
                      <a:r>
                        <a:rPr lang="en-US" altLang="zh-CN" dirty="0" smtClean="0">
                          <a:solidFill>
                            <a:schemeClr val="bg1"/>
                          </a:solidFill>
                        </a:rPr>
                        <a:t>d</a:t>
                      </a:r>
                      <a:endParaRPr lang="zh-CN" altLang="en-US" dirty="0">
                        <a:solidFill>
                          <a:schemeClr val="bg1"/>
                        </a:solidFill>
                      </a:endParaRPr>
                    </a:p>
                  </a:txBody>
                  <a:tcPr>
                    <a:noFill/>
                  </a:tcPr>
                </a:tc>
              </a:tr>
              <a:tr h="370840">
                <a:tc>
                  <a:txBody>
                    <a:bodyPr/>
                    <a:lstStyle/>
                    <a:p>
                      <a:r>
                        <a:rPr lang="en-US" altLang="zh-CN" dirty="0" smtClean="0">
                          <a:solidFill>
                            <a:schemeClr val="bg1"/>
                          </a:solidFill>
                        </a:rPr>
                        <a:t>e</a:t>
                      </a:r>
                      <a:endParaRPr lang="zh-CN" altLang="en-US" dirty="0">
                        <a:solidFill>
                          <a:schemeClr val="bg1"/>
                        </a:solidFill>
                      </a:endParaRPr>
                    </a:p>
                  </a:txBody>
                  <a:tcPr>
                    <a:noFill/>
                  </a:tcPr>
                </a:tc>
              </a:tr>
              <a:tr h="370840">
                <a:tc>
                  <a:txBody>
                    <a:bodyPr/>
                    <a:lstStyle/>
                    <a:p>
                      <a:r>
                        <a:rPr lang="en-US" altLang="zh-CN" dirty="0" smtClean="0">
                          <a:solidFill>
                            <a:schemeClr val="bg1"/>
                          </a:solidFill>
                        </a:rPr>
                        <a:t>f</a:t>
                      </a:r>
                      <a:endParaRPr lang="zh-CN" altLang="en-US" dirty="0">
                        <a:solidFill>
                          <a:schemeClr val="bg1"/>
                        </a:solidFill>
                      </a:endParaRPr>
                    </a:p>
                  </a:txBody>
                  <a:tcPr>
                    <a:noFill/>
                  </a:tcPr>
                </a:tc>
              </a:tr>
              <a:tr h="370840">
                <a:tc>
                  <a:txBody>
                    <a:bodyPr/>
                    <a:lstStyle/>
                    <a:p>
                      <a:r>
                        <a:rPr lang="en-US" altLang="zh-CN" dirty="0" smtClean="0">
                          <a:solidFill>
                            <a:schemeClr val="bg1"/>
                          </a:solidFill>
                        </a:rPr>
                        <a:t>g</a:t>
                      </a:r>
                      <a:endParaRPr lang="zh-CN" altLang="en-US" dirty="0">
                        <a:solidFill>
                          <a:schemeClr val="bg1"/>
                        </a:solidFill>
                      </a:endParaRPr>
                    </a:p>
                  </a:txBody>
                  <a:tcPr>
                    <a:noFill/>
                  </a:tcPr>
                </a:tc>
              </a:tr>
              <a:tr h="370840">
                <a:tc>
                  <a:txBody>
                    <a:bodyPr/>
                    <a:lstStyle/>
                    <a:p>
                      <a:r>
                        <a:rPr lang="en-US" altLang="zh-CN" dirty="0" smtClean="0">
                          <a:solidFill>
                            <a:schemeClr val="bg1"/>
                          </a:solidFill>
                        </a:rPr>
                        <a:t>h</a:t>
                      </a:r>
                      <a:endParaRPr lang="zh-CN" altLang="en-US" dirty="0">
                        <a:solidFill>
                          <a:schemeClr val="bg1"/>
                        </a:solidFill>
                      </a:endParaRPr>
                    </a:p>
                  </a:txBody>
                  <a:tcPr>
                    <a:noFill/>
                  </a:tcPr>
                </a:tc>
              </a:tr>
              <a:tr h="370840">
                <a:tc>
                  <a:txBody>
                    <a:bodyPr/>
                    <a:lstStyle/>
                    <a:p>
                      <a:r>
                        <a:rPr lang="en-US" altLang="zh-CN" dirty="0" err="1" smtClean="0">
                          <a:solidFill>
                            <a:schemeClr val="bg1"/>
                          </a:solidFill>
                        </a:rPr>
                        <a:t>i</a:t>
                      </a:r>
                      <a:endParaRPr lang="zh-CN" altLang="en-US" dirty="0">
                        <a:solidFill>
                          <a:schemeClr val="bg1"/>
                        </a:solidFill>
                      </a:endParaRPr>
                    </a:p>
                  </a:txBody>
                  <a:tcPr>
                    <a:noFill/>
                  </a:tcPr>
                </a:tc>
              </a:tr>
              <a:tr h="370840">
                <a:tc>
                  <a:txBody>
                    <a:bodyPr/>
                    <a:lstStyle/>
                    <a:p>
                      <a:r>
                        <a:rPr lang="en-US" altLang="zh-CN" dirty="0" smtClean="0">
                          <a:solidFill>
                            <a:schemeClr val="bg1"/>
                          </a:solidFill>
                        </a:rPr>
                        <a:t>j</a:t>
                      </a:r>
                      <a:endParaRPr lang="zh-CN" altLang="en-US" dirty="0">
                        <a:solidFill>
                          <a:schemeClr val="bg1"/>
                        </a:solidFill>
                      </a:endParaRPr>
                    </a:p>
                  </a:txBody>
                  <a:tcPr>
                    <a:noFill/>
                  </a:tcPr>
                </a:tc>
              </a:tr>
              <a:tr h="370840">
                <a:tc>
                  <a:txBody>
                    <a:bodyPr/>
                    <a:lstStyle/>
                    <a:p>
                      <a:r>
                        <a:rPr lang="en-US" altLang="zh-CN" dirty="0" smtClean="0">
                          <a:solidFill>
                            <a:schemeClr val="bg1"/>
                          </a:solidFill>
                        </a:rPr>
                        <a:t>k</a:t>
                      </a:r>
                      <a:endParaRPr lang="zh-CN" altLang="en-US" dirty="0">
                        <a:solidFill>
                          <a:schemeClr val="bg1"/>
                        </a:solidFill>
                      </a:endParaRPr>
                    </a:p>
                  </a:txBody>
                  <a:tcPr>
                    <a:noFill/>
                  </a:tcPr>
                </a:tc>
              </a:tr>
              <a:tr h="370840">
                <a:tc>
                  <a:txBody>
                    <a:bodyPr/>
                    <a:lstStyle/>
                    <a:p>
                      <a:r>
                        <a:rPr lang="en-US" altLang="zh-CN" dirty="0" smtClean="0">
                          <a:solidFill>
                            <a:schemeClr val="bg1"/>
                          </a:solidFill>
                        </a:rPr>
                        <a:t>\0</a:t>
                      </a:r>
                      <a:endParaRPr lang="zh-CN" altLang="en-US" dirty="0">
                        <a:solidFill>
                          <a:schemeClr val="bg1"/>
                        </a:solidFill>
                      </a:endParaRPr>
                    </a:p>
                  </a:txBody>
                  <a:tcP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idx="1"/>
          </p:nvPr>
        </p:nvSpPr>
        <p:spPr>
          <a:xfrm>
            <a:off x="182563" y="1196975"/>
            <a:ext cx="8961437" cy="5472113"/>
          </a:xfrm>
        </p:spPr>
        <p:txBody>
          <a:bodyPr vert="horz" wrap="square" lIns="91440" tIns="45720" rIns="91440" bIns="45720" anchor="t"/>
          <a:p>
            <a:pPr eaLnBrk="1" hangingPunct="1">
              <a:lnSpc>
                <a:spcPct val="80000"/>
              </a:lnSpc>
              <a:buNone/>
            </a:pPr>
            <a:r>
              <a:rPr lang="zh-CN" altLang="en-US" sz="2000" b="1" dirty="0">
                <a:solidFill>
                  <a:schemeClr val="bg1"/>
                </a:solidFill>
              </a:rPr>
              <a:t>动态空间</a:t>
            </a:r>
            <a:endParaRPr lang="zh-CN" altLang="en-US" sz="2000" b="1" dirty="0">
              <a:solidFill>
                <a:schemeClr val="bg1"/>
              </a:solidFill>
            </a:endParaRPr>
          </a:p>
          <a:p>
            <a:pPr eaLnBrk="1" hangingPunct="1">
              <a:lnSpc>
                <a:spcPct val="80000"/>
              </a:lnSpc>
              <a:buNone/>
            </a:pPr>
            <a:r>
              <a:rPr lang="zh-CN" altLang="en-US" sz="2000" b="1" dirty="0">
                <a:solidFill>
                  <a:schemeClr val="bg1"/>
                </a:solidFill>
              </a:rPr>
              <a:t>     数组只能固定分配空间，不允许动态；   介绍动态</a:t>
            </a:r>
            <a:r>
              <a:rPr lang="en-US" altLang="zh-CN" sz="2000" b="1" dirty="0">
                <a:solidFill>
                  <a:schemeClr val="bg1"/>
                </a:solidFill>
              </a:rPr>
              <a:t>\</a:t>
            </a:r>
            <a:r>
              <a:rPr lang="zh-CN" altLang="en-US" sz="2000" b="1" dirty="0">
                <a:solidFill>
                  <a:schemeClr val="bg1"/>
                </a:solidFill>
              </a:rPr>
              <a:t>静态</a:t>
            </a:r>
            <a:r>
              <a:rPr lang="en-US" altLang="zh-CN" sz="2000" b="1" dirty="0">
                <a:solidFill>
                  <a:schemeClr val="bg1"/>
                </a:solidFill>
              </a:rPr>
              <a:t>\</a:t>
            </a:r>
            <a:r>
              <a:rPr lang="zh-CN" altLang="en-US" sz="2000" b="1" dirty="0">
                <a:solidFill>
                  <a:schemeClr val="bg1"/>
                </a:solidFill>
              </a:rPr>
              <a:t>代码和堆区</a:t>
            </a:r>
            <a:endParaRPr lang="zh-CN" altLang="en-US" sz="2000" b="1" dirty="0">
              <a:solidFill>
                <a:schemeClr val="bg1"/>
              </a:solidFill>
            </a:endParaRPr>
          </a:p>
          <a:p>
            <a:pPr eaLnBrk="1" hangingPunct="1">
              <a:lnSpc>
                <a:spcPct val="80000"/>
              </a:lnSpc>
              <a:buNone/>
            </a:pPr>
            <a:r>
              <a:rPr lang="zh-CN" altLang="en-US" sz="2000" b="1" dirty="0">
                <a:solidFill>
                  <a:schemeClr val="bg1"/>
                </a:solidFill>
              </a:rPr>
              <a:t>     </a:t>
            </a:r>
            <a:r>
              <a:rPr lang="en-US" altLang="zh-CN" sz="2000" b="1" dirty="0">
                <a:solidFill>
                  <a:schemeClr val="bg1"/>
                </a:solidFill>
              </a:rPr>
              <a:t>void *malloc(unsigned long size)</a:t>
            </a:r>
            <a:endParaRPr lang="en-US" altLang="zh-CN" sz="2000" b="1" dirty="0">
              <a:solidFill>
                <a:schemeClr val="bg1"/>
              </a:solidFill>
            </a:endParaRPr>
          </a:p>
          <a:p>
            <a:pPr eaLnBrk="1" hangingPunct="1">
              <a:lnSpc>
                <a:spcPct val="80000"/>
              </a:lnSpc>
              <a:buNone/>
            </a:pPr>
            <a:endParaRPr lang="en-US" altLang="zh-CN" sz="2000" b="1" dirty="0">
              <a:solidFill>
                <a:schemeClr val="bg1"/>
              </a:solidFill>
            </a:endParaRPr>
          </a:p>
          <a:p>
            <a:pPr eaLnBrk="1" hangingPunct="1">
              <a:lnSpc>
                <a:spcPct val="80000"/>
              </a:lnSpc>
              <a:buNone/>
            </a:pPr>
            <a:r>
              <a:rPr lang="en-US" altLang="zh-CN" sz="2400" b="1" dirty="0">
                <a:solidFill>
                  <a:schemeClr val="bg1"/>
                </a:solidFill>
              </a:rPr>
              <a:t>#include </a:t>
            </a:r>
            <a:r>
              <a:rPr lang="en-US" altLang="zh-CN" sz="2400" b="1" dirty="0">
                <a:solidFill>
                  <a:schemeClr val="bg1"/>
                </a:solidFill>
                <a:latin typeface="Arial" panose="020B0604020202020204" pitchFamily="34" charset="0"/>
              </a:rPr>
              <a:t>“</a:t>
            </a:r>
            <a:r>
              <a:rPr lang="en-US" altLang="zh-CN" sz="2400" b="1" dirty="0">
                <a:solidFill>
                  <a:schemeClr val="bg1"/>
                </a:solidFill>
              </a:rPr>
              <a:t>stdafx.h</a:t>
            </a:r>
            <a:r>
              <a:rPr lang="en-US" altLang="zh-CN" sz="2400" b="1" dirty="0">
                <a:solidFill>
                  <a:schemeClr val="bg1"/>
                </a:solidFill>
                <a:latin typeface="Arial" panose="020B0604020202020204" pitchFamily="34" charset="0"/>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#include </a:t>
            </a:r>
            <a:r>
              <a:rPr lang="en-US" altLang="zh-CN" sz="2400" b="1" dirty="0">
                <a:solidFill>
                  <a:schemeClr val="bg1"/>
                </a:solidFill>
                <a:latin typeface="Arial" panose="020B0604020202020204" pitchFamily="34" charset="0"/>
              </a:rPr>
              <a:t>“</a:t>
            </a:r>
            <a:r>
              <a:rPr lang="en-US" altLang="zh-CN" sz="2400" b="1" dirty="0">
                <a:solidFill>
                  <a:schemeClr val="bg1"/>
                </a:solidFill>
              </a:rPr>
              <a:t>stdio.h</a:t>
            </a:r>
            <a:r>
              <a:rPr lang="en-US" altLang="zh-CN" sz="2400" b="1" dirty="0">
                <a:solidFill>
                  <a:schemeClr val="bg1"/>
                </a:solidFill>
                <a:latin typeface="Arial" panose="020B0604020202020204" pitchFamily="34" charset="0"/>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#include </a:t>
            </a:r>
            <a:r>
              <a:rPr lang="en-US" altLang="zh-CN" sz="2400" b="1" dirty="0">
                <a:solidFill>
                  <a:schemeClr val="bg1"/>
                </a:solidFill>
                <a:latin typeface="Arial" panose="020B0604020202020204" pitchFamily="34" charset="0"/>
              </a:rPr>
              <a:t>“</a:t>
            </a:r>
            <a:r>
              <a:rPr lang="en-US" altLang="zh-CN" sz="2400" b="1" dirty="0">
                <a:solidFill>
                  <a:schemeClr val="bg1"/>
                </a:solidFill>
              </a:rPr>
              <a:t>malloc.h</a:t>
            </a:r>
            <a:r>
              <a:rPr lang="en-US" altLang="zh-CN" sz="2400" b="1" dirty="0">
                <a:solidFill>
                  <a:schemeClr val="bg1"/>
                </a:solidFill>
                <a:latin typeface="Arial" panose="020B0604020202020204" pitchFamily="34" charset="0"/>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*p,i;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cin&gt;&gt;i;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p=(int *)malloc(i*sizeof(int));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for(i=0;i&lt;10;i++)  scanf(</a:t>
            </a:r>
            <a:r>
              <a:rPr lang="en-US" altLang="zh-CN" sz="2400" b="1" dirty="0">
                <a:solidFill>
                  <a:schemeClr val="bg1"/>
                </a:solidFill>
                <a:latin typeface="Arial" panose="020B0604020202020204" pitchFamily="34" charset="0"/>
              </a:rPr>
              <a:t>“</a:t>
            </a:r>
            <a:r>
              <a:rPr lang="en-US" altLang="zh-CN" sz="2400" b="1" dirty="0">
                <a:solidFill>
                  <a:schemeClr val="bg1"/>
                </a:solidFill>
              </a:rPr>
              <a:t>%d</a:t>
            </a:r>
            <a:r>
              <a:rPr lang="en-US" altLang="zh-CN" sz="2400" b="1" dirty="0">
                <a:solidFill>
                  <a:schemeClr val="bg1"/>
                </a:solidFill>
                <a:latin typeface="Arial" panose="020B0604020202020204" pitchFamily="34" charset="0"/>
              </a:rPr>
              <a:t>”</a:t>
            </a:r>
            <a:r>
              <a:rPr lang="en-US" altLang="zh-CN" sz="2400" b="1" dirty="0">
                <a:solidFill>
                  <a:schemeClr val="bg1"/>
                </a:solidFill>
              </a:rPr>
              <a:t>,p++);</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p-=10;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for(i=0;i&lt;10;i++)  printf(</a:t>
            </a:r>
            <a:r>
              <a:rPr lang="en-US" altLang="zh-CN" sz="2400" b="1" dirty="0">
                <a:solidFill>
                  <a:schemeClr val="bg1"/>
                </a:solidFill>
                <a:latin typeface="Arial" panose="020B0604020202020204" pitchFamily="34" charset="0"/>
              </a:rPr>
              <a:t>“</a:t>
            </a:r>
            <a:r>
              <a:rPr lang="en-US" altLang="zh-CN" sz="2400" b="1" dirty="0">
                <a:solidFill>
                  <a:schemeClr val="bg1"/>
                </a:solidFill>
              </a:rPr>
              <a:t>%d</a:t>
            </a:r>
            <a:r>
              <a:rPr lang="en-US" altLang="zh-CN" sz="2400" b="1" dirty="0">
                <a:solidFill>
                  <a:schemeClr val="bg1"/>
                </a:solidFill>
                <a:latin typeface="Arial" panose="020B0604020202020204" pitchFamily="34" charset="0"/>
              </a:rPr>
              <a:t>”</a:t>
            </a:r>
            <a:r>
              <a:rPr lang="en-US" altLang="zh-CN" sz="2400" b="1" dirty="0">
                <a:solidFill>
                  <a:schemeClr val="bg1"/>
                </a:solidFill>
              </a:rPr>
              <a:t>,p[i]);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free(p);                               //</a:t>
            </a:r>
            <a:r>
              <a:rPr lang="zh-CN" altLang="en-US" sz="2400" b="1" dirty="0">
                <a:solidFill>
                  <a:schemeClr val="bg1"/>
                </a:solidFill>
              </a:rPr>
              <a:t>只能释放</a:t>
            </a:r>
            <a:r>
              <a:rPr lang="en-US" altLang="zh-CN" sz="2400" b="1" dirty="0">
                <a:solidFill>
                  <a:schemeClr val="bg1"/>
                </a:solidFill>
              </a:rPr>
              <a:t>malloc</a:t>
            </a:r>
            <a:r>
              <a:rPr lang="zh-CN" altLang="en-US" sz="2400" b="1" dirty="0">
                <a:solidFill>
                  <a:schemeClr val="bg1"/>
                </a:solidFill>
              </a:rPr>
              <a:t>申请的空间</a:t>
            </a:r>
            <a:endParaRPr lang="zh-CN" altLang="en-US"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p:txBody>
      </p:sp>
      <p:sp>
        <p:nvSpPr>
          <p:cNvPr id="38914" name="Rectangle 3"/>
          <p:cNvSpPr/>
          <p:nvPr/>
        </p:nvSpPr>
        <p:spPr>
          <a:xfrm>
            <a:off x="-252412" y="115888"/>
            <a:ext cx="5400675"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graphicFrame>
        <p:nvGraphicFramePr>
          <p:cNvPr id="4" name="表格 3"/>
          <p:cNvGraphicFramePr>
            <a:graphicFrameLocks noGrp="1"/>
          </p:cNvGraphicFramePr>
          <p:nvPr/>
        </p:nvGraphicFramePr>
        <p:xfrm>
          <a:off x="8316913" y="2517775"/>
          <a:ext cx="432048" cy="3708400"/>
        </p:xfrm>
        <a:graphic>
          <a:graphicData uri="http://schemas.openxmlformats.org/drawingml/2006/table">
            <a:tbl>
              <a:tblPr firstRow="1" bandRow="1">
                <a:tableStyleId>{5C22544A-7EE6-4342-B048-85BDC9FD1C3A}</a:tableStyleId>
              </a:tblPr>
              <a:tblGrid>
                <a:gridCol w="432048"/>
              </a:tblGrid>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r h="370840">
                <a:tc>
                  <a:txBody>
                    <a:bodyPr/>
                    <a:lstStyle/>
                    <a:p>
                      <a:endParaRPr lang="zh-CN" altLang="en-US" dirty="0">
                        <a:solidFill>
                          <a:schemeClr val="bg1"/>
                        </a:solidFill>
                      </a:endParaRPr>
                    </a:p>
                  </a:txBody>
                  <a:tcPr>
                    <a:noFill/>
                  </a:tcPr>
                </a:tc>
              </a:tr>
            </a:tbl>
          </a:graphicData>
        </a:graphic>
      </p:graphicFrame>
      <p:graphicFrame>
        <p:nvGraphicFramePr>
          <p:cNvPr id="5" name="表格 4"/>
          <p:cNvGraphicFramePr>
            <a:graphicFrameLocks noGrp="1"/>
          </p:cNvGraphicFramePr>
          <p:nvPr/>
        </p:nvGraphicFramePr>
        <p:xfrm>
          <a:off x="6767513" y="0"/>
          <a:ext cx="2376488" cy="1483360"/>
        </p:xfrm>
        <a:graphic>
          <a:graphicData uri="http://schemas.openxmlformats.org/drawingml/2006/table">
            <a:tbl>
              <a:tblPr firstRow="1" bandRow="1">
                <a:tableStyleId>{5C22544A-7EE6-4342-B048-85BDC9FD1C3A}</a:tableStyleId>
              </a:tblPr>
              <a:tblGrid>
                <a:gridCol w="1080120"/>
                <a:gridCol w="1296144"/>
              </a:tblGrid>
              <a:tr h="370840">
                <a:tc gridSpan="2">
                  <a:txBody>
                    <a:bodyPr/>
                    <a:lstStyle/>
                    <a:p>
                      <a:pPr algn="ctr"/>
                      <a:r>
                        <a:rPr lang="zh-CN" altLang="en-US" dirty="0" smtClean="0">
                          <a:solidFill>
                            <a:schemeClr val="bg1"/>
                          </a:solidFill>
                        </a:rPr>
                        <a:t>代码区</a:t>
                      </a:r>
                      <a:endParaRPr lang="zh-CN" altLang="en-US" dirty="0">
                        <a:solidFill>
                          <a:schemeClr val="bg1"/>
                        </a:solidFill>
                      </a:endParaRPr>
                    </a:p>
                  </a:txBody>
                  <a:tcPr>
                    <a:noFill/>
                  </a:tcPr>
                </a:tc>
                <a:tc hMerge="1">
                  <a:tcPr>
                    <a:noFill/>
                  </a:tcPr>
                </a:tc>
              </a:tr>
              <a:tr h="370840">
                <a:tc rowSpan="3">
                  <a:txBody>
                    <a:bodyPr/>
                    <a:lstStyle/>
                    <a:p>
                      <a:pPr algn="ctr"/>
                      <a:endParaRPr lang="en-US" altLang="zh-CN" dirty="0" smtClean="0">
                        <a:solidFill>
                          <a:schemeClr val="bg1"/>
                        </a:solidFill>
                      </a:endParaRPr>
                    </a:p>
                    <a:p>
                      <a:pPr algn="ctr"/>
                      <a:r>
                        <a:rPr lang="zh-CN" altLang="en-US" dirty="0" smtClean="0">
                          <a:solidFill>
                            <a:schemeClr val="bg1"/>
                          </a:solidFill>
                        </a:rPr>
                        <a:t>数据区</a:t>
                      </a:r>
                      <a:endParaRPr lang="zh-CN" altLang="en-US" dirty="0">
                        <a:solidFill>
                          <a:schemeClr val="bg1"/>
                        </a:solidFill>
                      </a:endParaRPr>
                    </a:p>
                  </a:txBody>
                  <a:tcPr>
                    <a:noFill/>
                  </a:tcPr>
                </a:tc>
                <a:tc>
                  <a:txBody>
                    <a:bodyPr/>
                    <a:lstStyle/>
                    <a:p>
                      <a:pPr algn="ctr"/>
                      <a:r>
                        <a:rPr lang="zh-CN" altLang="en-US" dirty="0" smtClean="0">
                          <a:solidFill>
                            <a:schemeClr val="bg1"/>
                          </a:solidFill>
                        </a:rPr>
                        <a:t>动态区</a:t>
                      </a:r>
                      <a:endParaRPr lang="zh-CN" altLang="en-US" dirty="0">
                        <a:solidFill>
                          <a:schemeClr val="bg1"/>
                        </a:solidFill>
                      </a:endParaRPr>
                    </a:p>
                  </a:txBody>
                  <a:tcPr>
                    <a:noFill/>
                  </a:tcPr>
                </a:tc>
              </a:tr>
              <a:tr h="370840">
                <a:tc vMerge="1">
                  <a:tcPr>
                    <a:noFill/>
                  </a:tcPr>
                </a:tc>
                <a:tc>
                  <a:txBody>
                    <a:bodyPr/>
                    <a:lstStyle/>
                    <a:p>
                      <a:pPr algn="ctr"/>
                      <a:r>
                        <a:rPr lang="zh-CN" altLang="en-US" dirty="0" smtClean="0">
                          <a:solidFill>
                            <a:schemeClr val="bg1"/>
                          </a:solidFill>
                        </a:rPr>
                        <a:t>静态区</a:t>
                      </a:r>
                      <a:endParaRPr lang="zh-CN" altLang="en-US" dirty="0">
                        <a:solidFill>
                          <a:schemeClr val="bg1"/>
                        </a:solidFill>
                      </a:endParaRPr>
                    </a:p>
                  </a:txBody>
                  <a:tcPr>
                    <a:noFill/>
                  </a:tcPr>
                </a:tc>
              </a:tr>
              <a:tr h="370840">
                <a:tc vMerge="1">
                  <a:tcPr>
                    <a:noFill/>
                  </a:tcPr>
                </a:tc>
                <a:tc>
                  <a:txBody>
                    <a:bodyPr/>
                    <a:lstStyle/>
                    <a:p>
                      <a:pPr algn="ctr"/>
                      <a:r>
                        <a:rPr lang="zh-CN" altLang="en-US" dirty="0" smtClean="0">
                          <a:solidFill>
                            <a:schemeClr val="bg1"/>
                          </a:solidFill>
                        </a:rPr>
                        <a:t>堆区</a:t>
                      </a:r>
                      <a:endParaRPr lang="zh-CN" altLang="en-US" dirty="0">
                        <a:solidFill>
                          <a:schemeClr val="bg1"/>
                        </a:solidFill>
                      </a:endParaRPr>
                    </a:p>
                  </a:txBody>
                  <a:tcP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idx="1"/>
          </p:nvPr>
        </p:nvSpPr>
        <p:spPr>
          <a:xfrm>
            <a:off x="182563" y="1196975"/>
            <a:ext cx="8961437" cy="5472113"/>
          </a:xfrm>
        </p:spPr>
        <p:txBody>
          <a:bodyPr vert="horz" wrap="square" lIns="91440" tIns="45720" rIns="91440" bIns="45720" anchor="t"/>
          <a:p>
            <a:pPr eaLnBrk="1" hangingPunct="1">
              <a:lnSpc>
                <a:spcPct val="90000"/>
              </a:lnSpc>
              <a:buNone/>
            </a:pPr>
            <a:r>
              <a:rPr lang="zh-CN" altLang="en-US" sz="2400" b="1" dirty="0">
                <a:solidFill>
                  <a:schemeClr val="bg1"/>
                </a:solidFill>
              </a:rPr>
              <a:t>动态空间（</a:t>
            </a:r>
            <a:r>
              <a:rPr lang="en-US" altLang="zh-CN" sz="2400" b="1" dirty="0">
                <a:solidFill>
                  <a:schemeClr val="bg1"/>
                </a:solidFill>
              </a:rPr>
              <a:t>new</a:t>
            </a:r>
            <a:r>
              <a:rPr lang="zh-CN" altLang="en-US" sz="2400" b="1" dirty="0">
                <a:solidFill>
                  <a:schemeClr val="bg1"/>
                </a:solidFill>
              </a:rPr>
              <a:t>与</a:t>
            </a:r>
            <a:r>
              <a:rPr lang="en-US" altLang="zh-CN" sz="2400" b="1" dirty="0">
                <a:solidFill>
                  <a:schemeClr val="bg1"/>
                </a:solidFill>
              </a:rPr>
              <a:t>delete</a:t>
            </a:r>
            <a:r>
              <a:rPr lang="zh-CN" altLang="en-US" sz="2400" b="1" dirty="0">
                <a:solidFill>
                  <a:schemeClr val="bg1"/>
                </a:solidFill>
              </a:rPr>
              <a:t>）                        与</a:t>
            </a:r>
            <a:r>
              <a:rPr lang="en-US" altLang="zh-CN" sz="2400" b="1" dirty="0">
                <a:solidFill>
                  <a:schemeClr val="bg1"/>
                </a:solidFill>
              </a:rPr>
              <a:t>malloc</a:t>
            </a:r>
            <a:r>
              <a:rPr lang="zh-CN" altLang="en-US" sz="2400" b="1" dirty="0">
                <a:solidFill>
                  <a:schemeClr val="bg1"/>
                </a:solidFill>
              </a:rPr>
              <a:t>的区别</a:t>
            </a:r>
            <a:endParaRPr lang="en-US" altLang="zh-CN" sz="2400" b="1" dirty="0">
              <a:solidFill>
                <a:schemeClr val="bg1"/>
              </a:solidFill>
            </a:endParaRPr>
          </a:p>
          <a:p>
            <a:pPr eaLnBrk="1" hangingPunct="1">
              <a:lnSpc>
                <a:spcPct val="90000"/>
              </a:lnSpc>
              <a:buNone/>
            </a:pPr>
            <a:endParaRPr lang="en-US" altLang="zh-CN" sz="2400" b="1" dirty="0">
              <a:solidFill>
                <a:schemeClr val="bg1"/>
              </a:solidFill>
            </a:endParaRPr>
          </a:p>
          <a:p>
            <a:pPr eaLnBrk="1" hangingPunct="1">
              <a:lnSpc>
                <a:spcPct val="90000"/>
              </a:lnSpc>
              <a:buNone/>
            </a:pPr>
            <a:r>
              <a:rPr lang="en-US" altLang="zh-CN" sz="2400" b="1" dirty="0">
                <a:solidFill>
                  <a:schemeClr val="bg1"/>
                </a:solidFill>
              </a:rPr>
              <a:t>#include </a:t>
            </a:r>
            <a:r>
              <a:rPr lang="en-US" altLang="zh-CN" sz="2400" b="1" dirty="0">
                <a:solidFill>
                  <a:schemeClr val="bg1"/>
                </a:solidFill>
                <a:latin typeface="Arial" panose="020B0604020202020204" pitchFamily="34" charset="0"/>
              </a:rPr>
              <a:t>“</a:t>
            </a:r>
            <a:r>
              <a:rPr lang="en-US" altLang="zh-CN" sz="2400" b="1" dirty="0">
                <a:solidFill>
                  <a:schemeClr val="bg1"/>
                </a:solidFill>
              </a:rPr>
              <a:t>stdafx.h</a:t>
            </a:r>
            <a:r>
              <a:rPr lang="en-US" altLang="zh-CN" sz="2400" b="1" dirty="0">
                <a:solidFill>
                  <a:schemeClr val="bg1"/>
                </a:solidFill>
                <a:latin typeface="Arial" panose="020B0604020202020204" pitchFamily="34" charset="0"/>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#include </a:t>
            </a:r>
            <a:r>
              <a:rPr lang="en-US" altLang="zh-CN" sz="2400" b="1" dirty="0">
                <a:solidFill>
                  <a:schemeClr val="bg1"/>
                </a:solidFill>
                <a:latin typeface="Arial" panose="020B0604020202020204" pitchFamily="34" charset="0"/>
              </a:rPr>
              <a:t>“</a:t>
            </a:r>
            <a:r>
              <a:rPr lang="en-US" altLang="zh-CN" sz="2400" b="1" dirty="0">
                <a:solidFill>
                  <a:schemeClr val="bg1"/>
                </a:solidFill>
              </a:rPr>
              <a:t>stdio.h</a:t>
            </a:r>
            <a:r>
              <a:rPr lang="en-US" altLang="zh-CN" sz="2400" b="1" dirty="0">
                <a:solidFill>
                  <a:schemeClr val="bg1"/>
                </a:solidFill>
                <a:latin typeface="Arial" panose="020B0604020202020204" pitchFamily="34" charset="0"/>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int *p,i;</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cin&gt;&gt;i;</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p=new int[i];;</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for(i=0;i&lt;10;i++)  scanf(</a:t>
            </a:r>
            <a:r>
              <a:rPr lang="en-US" altLang="zh-CN" sz="2400" b="1" dirty="0">
                <a:solidFill>
                  <a:schemeClr val="bg1"/>
                </a:solidFill>
                <a:latin typeface="Arial" panose="020B0604020202020204" pitchFamily="34" charset="0"/>
              </a:rPr>
              <a:t>“</a:t>
            </a:r>
            <a:r>
              <a:rPr lang="en-US" altLang="zh-CN" sz="2400" b="1" dirty="0">
                <a:solidFill>
                  <a:schemeClr val="bg1"/>
                </a:solidFill>
              </a:rPr>
              <a:t>%d</a:t>
            </a:r>
            <a:r>
              <a:rPr lang="en-US" altLang="zh-CN" sz="2400" b="1" dirty="0">
                <a:solidFill>
                  <a:schemeClr val="bg1"/>
                </a:solidFill>
                <a:latin typeface="Arial" panose="020B0604020202020204" pitchFamily="34" charset="0"/>
              </a:rPr>
              <a:t>”</a:t>
            </a:r>
            <a:r>
              <a:rPr lang="en-US" altLang="zh-CN" sz="2400" b="1" dirty="0">
                <a:solidFill>
                  <a:schemeClr val="bg1"/>
                </a:solidFill>
              </a:rPr>
              <a:t>,p++);</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p-=10;</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for(i=0;i&lt;10;i++)  printf(</a:t>
            </a:r>
            <a:r>
              <a:rPr lang="en-US" altLang="zh-CN" sz="2400" b="1" dirty="0">
                <a:solidFill>
                  <a:schemeClr val="bg1"/>
                </a:solidFill>
                <a:latin typeface="Arial" panose="020B0604020202020204" pitchFamily="34" charset="0"/>
              </a:rPr>
              <a:t>“</a:t>
            </a:r>
            <a:r>
              <a:rPr lang="en-US" altLang="zh-CN" sz="2400" b="1" dirty="0">
                <a:solidFill>
                  <a:schemeClr val="bg1"/>
                </a:solidFill>
              </a:rPr>
              <a:t>%d</a:t>
            </a:r>
            <a:r>
              <a:rPr lang="en-US" altLang="zh-CN" sz="2400" b="1" dirty="0">
                <a:solidFill>
                  <a:schemeClr val="bg1"/>
                </a:solidFill>
                <a:latin typeface="Arial" panose="020B0604020202020204" pitchFamily="34" charset="0"/>
              </a:rPr>
              <a:t>”</a:t>
            </a:r>
            <a:r>
              <a:rPr lang="en-US" altLang="zh-CN" sz="2400" b="1" dirty="0">
                <a:solidFill>
                  <a:schemeClr val="bg1"/>
                </a:solidFill>
              </a:rPr>
              <a:t>,p[i]);</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delete [] p;                                            //</a:t>
            </a:r>
            <a:r>
              <a:rPr lang="zh-CN" altLang="en-US" sz="2400" b="1" dirty="0">
                <a:solidFill>
                  <a:schemeClr val="bg1"/>
                </a:solidFill>
              </a:rPr>
              <a:t>释放多个申请的空间</a:t>
            </a:r>
            <a:endParaRPr lang="zh-CN" altLang="en-US"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endParaRPr lang="en-US" altLang="zh-CN" sz="2400" b="1" dirty="0">
              <a:solidFill>
                <a:schemeClr val="bg1"/>
              </a:solidFill>
            </a:endParaRPr>
          </a:p>
        </p:txBody>
      </p:sp>
      <p:sp>
        <p:nvSpPr>
          <p:cNvPr id="39938" name="Rectangle 3"/>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idx="1"/>
          </p:nvPr>
        </p:nvSpPr>
        <p:spPr>
          <a:xfrm>
            <a:off x="0" y="1196975"/>
            <a:ext cx="9144000" cy="5472113"/>
          </a:xfrm>
        </p:spPr>
        <p:txBody>
          <a:bodyPr vert="horz" wrap="square" lIns="91440" tIns="45720" rIns="91440" bIns="45720" anchor="t"/>
          <a:p>
            <a:pPr eaLnBrk="1" hangingPunct="1">
              <a:lnSpc>
                <a:spcPct val="80000"/>
              </a:lnSpc>
              <a:buNone/>
            </a:pPr>
            <a:r>
              <a:rPr lang="zh-CN" altLang="en-US" sz="2800" b="1" dirty="0">
                <a:solidFill>
                  <a:schemeClr val="bg1"/>
                </a:solidFill>
              </a:rPr>
              <a:t>空指针</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空函数； </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int a; void *p</a:t>
            </a:r>
            <a:r>
              <a:rPr lang="zh-CN" altLang="en-US" sz="2800" b="1" dirty="0">
                <a:solidFill>
                  <a:schemeClr val="bg1"/>
                </a:solidFill>
              </a:rPr>
              <a:t>＝</a:t>
            </a:r>
            <a:r>
              <a:rPr lang="en-US" altLang="zh-CN" sz="2800" b="1" dirty="0">
                <a:solidFill>
                  <a:schemeClr val="bg1"/>
                </a:solidFill>
              </a:rPr>
              <a:t>&amp;a;    char *q=(char *)p;</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强制转换与隐性转换；</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a=*p; p++;                        </a:t>
            </a:r>
            <a:r>
              <a:rPr lang="zh-CN" altLang="en-US" sz="2800" b="1" dirty="0">
                <a:solidFill>
                  <a:schemeClr val="bg1"/>
                </a:solidFill>
              </a:rPr>
              <a:t>错误</a:t>
            </a:r>
            <a:endParaRPr lang="zh-CN" altLang="en-US" sz="2800" b="1" dirty="0">
              <a:solidFill>
                <a:schemeClr val="bg1"/>
              </a:solidFill>
            </a:endParaRPr>
          </a:p>
          <a:p>
            <a:pPr eaLnBrk="1" hangingPunct="1">
              <a:lnSpc>
                <a:spcPct val="80000"/>
              </a:lnSpc>
              <a:buNone/>
            </a:pPr>
            <a:r>
              <a:rPr lang="zh-CN" altLang="en-US" sz="2800" b="1" dirty="0">
                <a:solidFill>
                  <a:schemeClr val="bg1"/>
                </a:solidFill>
              </a:rPr>
              <a:t>常量</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const  int i</a:t>
            </a:r>
            <a:r>
              <a:rPr lang="zh-CN" altLang="en-US" sz="2800" b="1" dirty="0">
                <a:solidFill>
                  <a:schemeClr val="bg1"/>
                </a:solidFill>
              </a:rPr>
              <a:t>＝</a:t>
            </a:r>
            <a:r>
              <a:rPr lang="en-US" altLang="zh-CN" sz="2800" b="1" dirty="0">
                <a:solidFill>
                  <a:schemeClr val="bg1"/>
                </a:solidFill>
              </a:rPr>
              <a:t>5; i++;</a:t>
            </a:r>
            <a:r>
              <a:rPr lang="zh-CN" altLang="en-US" sz="2800" b="1" dirty="0">
                <a:solidFill>
                  <a:schemeClr val="bg1"/>
                </a:solidFill>
              </a:rPr>
              <a:t>（错误）</a:t>
            </a:r>
            <a:r>
              <a:rPr lang="en-US" altLang="zh-CN" sz="2800" b="1" dirty="0">
                <a:solidFill>
                  <a:schemeClr val="bg1"/>
                </a:solidFill>
              </a:rPr>
              <a:t>; const  int i</a:t>
            </a:r>
            <a:r>
              <a:rPr lang="zh-CN" altLang="en-US" sz="2800" b="1" dirty="0">
                <a:solidFill>
                  <a:schemeClr val="bg1"/>
                </a:solidFill>
              </a:rPr>
              <a:t>；必须初始化；</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了解所有使用可以不分配空间；（也没有被指向）</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代码替换、代码移植；</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只读区域效率高；</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zh-CN" altLang="en-US" sz="2800" b="1" u="sng" dirty="0">
                <a:solidFill>
                  <a:schemeClr val="bg1"/>
                </a:solidFill>
              </a:rPr>
              <a:t>依靠编译纠错；</a:t>
            </a:r>
            <a:r>
              <a:rPr lang="zh-CN" altLang="en-US" sz="2800" b="1" dirty="0">
                <a:solidFill>
                  <a:schemeClr val="bg1"/>
                </a:solidFill>
              </a:rPr>
              <a:t> </a:t>
            </a:r>
            <a:endParaRPr lang="zh-CN" altLang="en-US" sz="2800" b="1" dirty="0">
              <a:solidFill>
                <a:schemeClr val="bg1"/>
              </a:solidFill>
            </a:endParaRPr>
          </a:p>
        </p:txBody>
      </p:sp>
      <p:sp>
        <p:nvSpPr>
          <p:cNvPr id="40962" name="Rectangle 3"/>
          <p:cNvSpPr/>
          <p:nvPr/>
        </p:nvSpPr>
        <p:spPr>
          <a:xfrm>
            <a:off x="-252412" y="115888"/>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3"/>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对象和左值</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41986" name="Rectangle 6"/>
          <p:cNvSpPr>
            <a:spLocks noGrp="1"/>
          </p:cNvSpPr>
          <p:nvPr>
            <p:ph idx="1"/>
          </p:nvPr>
        </p:nvSpPr>
        <p:spPr>
          <a:xfrm>
            <a:off x="685800" y="549275"/>
            <a:ext cx="8205788" cy="5410200"/>
          </a:xfrm>
        </p:spPr>
        <p:txBody>
          <a:bodyPr vert="horz" wrap="square" lIns="91440" tIns="45720" rIns="91440" bIns="45720" anchor="t"/>
          <a:p>
            <a:pPr eaLnBrk="1" hangingPunct="1"/>
            <a:endParaRPr lang="zh-CN" altLang="en-US" sz="3600" b="1" dirty="0">
              <a:solidFill>
                <a:schemeClr val="bg1"/>
              </a:solidFill>
            </a:endParaRPr>
          </a:p>
          <a:p>
            <a:pPr eaLnBrk="1" hangingPunct="1">
              <a:buNone/>
            </a:pPr>
            <a:r>
              <a:rPr lang="zh-CN" altLang="en-US" sz="3600" b="1" dirty="0">
                <a:solidFill>
                  <a:schemeClr val="bg1"/>
                </a:solidFill>
              </a:rPr>
              <a:t>对象（变量）：存储中一片连续的区域；</a:t>
            </a:r>
            <a:endParaRPr lang="zh-CN" altLang="en-US" sz="3600" b="1" dirty="0">
              <a:solidFill>
                <a:schemeClr val="bg1"/>
              </a:solidFill>
            </a:endParaRPr>
          </a:p>
          <a:p>
            <a:pPr eaLnBrk="1" hangingPunct="1">
              <a:buNone/>
            </a:pPr>
            <a:r>
              <a:rPr lang="zh-CN" altLang="en-US" sz="3600" b="1" dirty="0">
                <a:solidFill>
                  <a:schemeClr val="bg1"/>
                </a:solidFill>
              </a:rPr>
              <a:t>左值：引用某个对象的表达式</a:t>
            </a:r>
            <a:endParaRPr lang="zh-CN" altLang="en-US" sz="3600" b="1" dirty="0">
              <a:solidFill>
                <a:schemeClr val="bg1"/>
              </a:solidFill>
            </a:endParaRPr>
          </a:p>
          <a:p>
            <a:pPr eaLnBrk="1" hangingPunct="1">
              <a:buNone/>
            </a:pPr>
            <a:r>
              <a:rPr lang="zh-CN" altLang="en-US" sz="3600" b="1" dirty="0">
                <a:solidFill>
                  <a:schemeClr val="bg1"/>
                </a:solidFill>
              </a:rPr>
              <a:t>可充当左值：没有被声明为常量的左值。</a:t>
            </a:r>
            <a:endParaRPr lang="zh-CN" altLang="en-US" sz="3600" b="1" dirty="0">
              <a:solidFill>
                <a:schemeClr val="bg1"/>
              </a:solidFill>
            </a:endParaRPr>
          </a:p>
          <a:p>
            <a:pPr eaLnBrk="1" hangingPunct="1">
              <a:buNone/>
            </a:pPr>
            <a:r>
              <a:rPr lang="en-US" altLang="zh-CN" sz="3600" b="1" dirty="0">
                <a:solidFill>
                  <a:schemeClr val="bg1"/>
                </a:solidFill>
              </a:rPr>
              <a:t>b = 7;     a[10] = 7;    *(a+10) = 7;</a:t>
            </a:r>
            <a:endParaRPr lang="en-US" altLang="zh-CN" sz="3600" b="1" dirty="0">
              <a:solidFill>
                <a:schemeClr val="bg1"/>
              </a:solidFill>
            </a:endParaRPr>
          </a:p>
          <a:p>
            <a:pPr eaLnBrk="1" hangingPunct="1">
              <a:lnSpc>
                <a:spcPct val="90000"/>
              </a:lnSpc>
              <a:buNone/>
            </a:pPr>
            <a:endParaRPr lang="en-US" altLang="zh-CN" sz="3600" b="1" dirty="0">
              <a:solidFill>
                <a:schemeClr val="bg1"/>
              </a:solidFill>
            </a:endParaRPr>
          </a:p>
          <a:p>
            <a:pPr eaLnBrk="1" hangingPunct="1">
              <a:buNone/>
            </a:pPr>
            <a:endParaRPr lang="en-US" altLang="zh-CN" sz="3600" b="1"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idx="1"/>
          </p:nvPr>
        </p:nvSpPr>
        <p:spPr>
          <a:xfrm>
            <a:off x="182563" y="1196975"/>
            <a:ext cx="8961437" cy="5472113"/>
          </a:xfrm>
        </p:spPr>
        <p:txBody>
          <a:bodyPr vert="horz" wrap="square" lIns="91440" tIns="45720" rIns="91440" bIns="45720" anchor="t"/>
          <a:p>
            <a:pPr eaLnBrk="1" hangingPunct="1">
              <a:buNone/>
            </a:pPr>
            <a:r>
              <a:rPr lang="zh-CN" altLang="en-US" sz="2800" b="1" dirty="0">
                <a:solidFill>
                  <a:schemeClr val="bg1"/>
                </a:solidFill>
              </a:rPr>
              <a:t>指针常量</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int a;</a:t>
            </a:r>
            <a:endParaRPr lang="en-US" altLang="zh-CN" sz="2800" b="1" dirty="0">
              <a:solidFill>
                <a:schemeClr val="bg1"/>
              </a:solidFill>
            </a:endParaRPr>
          </a:p>
          <a:p>
            <a:pPr eaLnBrk="1" hangingPunct="1">
              <a:buNone/>
            </a:pPr>
            <a:r>
              <a:rPr lang="en-US" altLang="zh-CN" sz="2800" b="1" dirty="0">
                <a:solidFill>
                  <a:schemeClr val="bg1"/>
                </a:solidFill>
              </a:rPr>
              <a:t>     int * const p=&amp;a;     p</a:t>
            </a:r>
            <a:r>
              <a:rPr lang="zh-CN" altLang="en-US" sz="2800" b="1" dirty="0">
                <a:solidFill>
                  <a:schemeClr val="bg1"/>
                </a:solidFill>
              </a:rPr>
              <a:t>的值不可以被修改；必须初始化</a:t>
            </a:r>
            <a:endParaRPr lang="zh-CN" altLang="en-US" sz="2800" b="1" dirty="0">
              <a:solidFill>
                <a:schemeClr val="bg1"/>
              </a:solidFill>
            </a:endParaRPr>
          </a:p>
          <a:p>
            <a:pPr eaLnBrk="1" hangingPunct="1">
              <a:buNone/>
            </a:pPr>
            <a:r>
              <a:rPr lang="zh-CN" altLang="en-US" sz="2800" b="1" dirty="0">
                <a:solidFill>
                  <a:schemeClr val="bg1"/>
                </a:solidFill>
              </a:rPr>
              <a:t>                                       但是其指向的空间可以被修改    </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int b[6];</a:t>
            </a:r>
            <a:endParaRPr lang="en-US" altLang="zh-CN" sz="2800" b="1" dirty="0">
              <a:solidFill>
                <a:schemeClr val="bg1"/>
              </a:solidFill>
            </a:endParaRPr>
          </a:p>
          <a:p>
            <a:pPr eaLnBrk="1" hangingPunct="1">
              <a:buNone/>
            </a:pPr>
            <a:r>
              <a:rPr lang="en-US" altLang="zh-CN" sz="2800" b="1" dirty="0">
                <a:solidFill>
                  <a:schemeClr val="bg1"/>
                </a:solidFill>
              </a:rPr>
              <a:t>     p=b;                                          </a:t>
            </a:r>
            <a:r>
              <a:rPr lang="zh-CN" altLang="en-US" sz="2800" b="1" dirty="0">
                <a:solidFill>
                  <a:schemeClr val="bg1"/>
                </a:solidFill>
              </a:rPr>
              <a:t>错误</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p=6;                                        </a:t>
            </a:r>
            <a:r>
              <a:rPr lang="zh-CN" altLang="en-US" sz="2800" b="1" dirty="0">
                <a:solidFill>
                  <a:schemeClr val="bg1"/>
                </a:solidFill>
              </a:rPr>
              <a:t>正确</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p++</a:t>
            </a:r>
            <a:r>
              <a:rPr lang="zh-CN" altLang="en-US" sz="2800" b="1" dirty="0">
                <a:solidFill>
                  <a:schemeClr val="bg1"/>
                </a:solidFill>
              </a:rPr>
              <a:t>＝</a:t>
            </a:r>
            <a:r>
              <a:rPr lang="en-US" altLang="zh-CN" sz="2800" b="1" dirty="0">
                <a:solidFill>
                  <a:schemeClr val="bg1"/>
                </a:solidFill>
              </a:rPr>
              <a:t>7;                                  </a:t>
            </a:r>
            <a:r>
              <a:rPr lang="zh-CN" altLang="en-US" sz="2800" b="1" dirty="0">
                <a:solidFill>
                  <a:schemeClr val="bg1"/>
                </a:solidFill>
              </a:rPr>
              <a:t>错误</a:t>
            </a:r>
            <a:endParaRPr lang="en-US" altLang="zh-CN" sz="2800" b="1" dirty="0">
              <a:solidFill>
                <a:schemeClr val="bg1"/>
              </a:solidFill>
            </a:endParaRPr>
          </a:p>
          <a:p>
            <a:pPr eaLnBrk="1" hangingPunct="1">
              <a:buNone/>
            </a:pPr>
            <a:endParaRPr lang="en-US" altLang="zh-CN" sz="2800" b="1" dirty="0">
              <a:solidFill>
                <a:schemeClr val="bg1"/>
              </a:solidFill>
            </a:endParaRPr>
          </a:p>
          <a:p>
            <a:pPr eaLnBrk="1" hangingPunct="1">
              <a:buNone/>
            </a:pPr>
            <a:r>
              <a:rPr lang="en-US" altLang="zh-CN" sz="2800" b="1" dirty="0">
                <a:solidFill>
                  <a:schemeClr val="bg1"/>
                </a:solidFill>
              </a:rPr>
              <a:t>//b</a:t>
            </a:r>
            <a:r>
              <a:rPr lang="zh-CN" altLang="en-US" sz="2800" b="1" dirty="0">
                <a:solidFill>
                  <a:schemeClr val="bg1"/>
                </a:solidFill>
              </a:rPr>
              <a:t>即是指针常量</a:t>
            </a:r>
            <a:endParaRPr lang="zh-CN" altLang="en-US" sz="2800" b="1" dirty="0">
              <a:solidFill>
                <a:schemeClr val="bg1"/>
              </a:solidFill>
            </a:endParaRPr>
          </a:p>
        </p:txBody>
      </p:sp>
      <p:sp>
        <p:nvSpPr>
          <p:cNvPr id="43010" name="Rectangle 3"/>
          <p:cNvSpPr/>
          <p:nvPr/>
        </p:nvSpPr>
        <p:spPr>
          <a:xfrm>
            <a:off x="-252412" y="115888"/>
            <a:ext cx="5976937"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4" name="圆角矩形 3"/>
          <p:cNvSpPr/>
          <p:nvPr/>
        </p:nvSpPr>
        <p:spPr bwMode="auto">
          <a:xfrm>
            <a:off x="6156325" y="62071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圆角矩形 4"/>
          <p:cNvSpPr/>
          <p:nvPr/>
        </p:nvSpPr>
        <p:spPr bwMode="auto">
          <a:xfrm>
            <a:off x="7524750" y="620713"/>
            <a:ext cx="503238"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43013" name="直接箭头连接符 6"/>
          <p:cNvCxnSpPr>
            <a:stCxn id="4" idx="3"/>
            <a:endCxn id="5" idx="1"/>
          </p:cNvCxnSpPr>
          <p:nvPr/>
        </p:nvCxnSpPr>
        <p:spPr>
          <a:xfrm>
            <a:off x="6659563" y="800100"/>
            <a:ext cx="865187" cy="0"/>
          </a:xfrm>
          <a:prstGeom prst="straightConnector1">
            <a:avLst/>
          </a:prstGeom>
          <a:ln w="9525" cap="flat" cmpd="sng">
            <a:solidFill>
              <a:schemeClr val="bg1"/>
            </a:solidFill>
            <a:prstDash val="solid"/>
            <a:round/>
            <a:headEnd type="none" w="med" len="med"/>
            <a:tailEnd type="arrow"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idx="1"/>
          </p:nvPr>
        </p:nvSpPr>
        <p:spPr>
          <a:xfrm>
            <a:off x="182563" y="692150"/>
            <a:ext cx="8961437" cy="5976938"/>
          </a:xfrm>
        </p:spPr>
        <p:txBody>
          <a:bodyPr vert="horz" wrap="square" lIns="91440" tIns="45720" rIns="91440" bIns="45720" anchor="t"/>
          <a:p>
            <a:pPr eaLnBrk="1" hangingPunct="1">
              <a:lnSpc>
                <a:spcPct val="90000"/>
              </a:lnSpc>
              <a:buNone/>
            </a:pPr>
            <a:r>
              <a:rPr lang="zh-CN" altLang="en-US" b="1" dirty="0">
                <a:solidFill>
                  <a:schemeClr val="bg1"/>
                </a:solidFill>
              </a:rPr>
              <a:t>常量指针</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const int *p;   int const *p;     </a:t>
            </a:r>
            <a:r>
              <a:rPr lang="zh-CN" altLang="en-US" b="1" dirty="0">
                <a:solidFill>
                  <a:schemeClr val="bg1"/>
                </a:solidFill>
              </a:rPr>
              <a:t>均可； *</a:t>
            </a:r>
            <a:r>
              <a:rPr lang="en-US" altLang="zh-CN" b="1" dirty="0">
                <a:solidFill>
                  <a:schemeClr val="bg1"/>
                </a:solidFill>
              </a:rPr>
              <a:t>p</a:t>
            </a:r>
            <a:r>
              <a:rPr lang="zh-CN" altLang="en-US" b="1" dirty="0">
                <a:solidFill>
                  <a:schemeClr val="bg1"/>
                </a:solidFill>
              </a:rPr>
              <a:t>不能作为左值</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 int a</a:t>
            </a:r>
            <a:r>
              <a:rPr lang="zh-CN" altLang="en-US" b="1" dirty="0">
                <a:solidFill>
                  <a:schemeClr val="bg1"/>
                </a:solidFill>
              </a:rPr>
              <a:t>＝</a:t>
            </a:r>
            <a:r>
              <a:rPr lang="en-US" altLang="zh-CN" b="1" dirty="0">
                <a:solidFill>
                  <a:schemeClr val="bg1"/>
                </a:solidFill>
              </a:rPr>
              <a:t>5;   const int b</a:t>
            </a:r>
            <a:r>
              <a:rPr lang="zh-CN" altLang="en-US" b="1" dirty="0">
                <a:solidFill>
                  <a:schemeClr val="bg1"/>
                </a:solidFill>
              </a:rPr>
              <a:t>＝</a:t>
            </a:r>
            <a:r>
              <a:rPr lang="en-US" altLang="zh-CN" b="1" dirty="0">
                <a:solidFill>
                  <a:schemeClr val="bg1"/>
                </a:solidFill>
              </a:rPr>
              <a:t>6;      </a:t>
            </a:r>
            <a:endParaRPr lang="en-US" altLang="zh-CN" b="1" dirty="0">
              <a:solidFill>
                <a:schemeClr val="bg1"/>
              </a:solidFill>
            </a:endParaRPr>
          </a:p>
          <a:p>
            <a:pPr eaLnBrk="1" hangingPunct="1">
              <a:lnSpc>
                <a:spcPct val="90000"/>
              </a:lnSpc>
              <a:buNone/>
            </a:pPr>
            <a:r>
              <a:rPr lang="en-US" altLang="zh-CN" b="1" dirty="0">
                <a:solidFill>
                  <a:schemeClr val="bg1"/>
                </a:solidFill>
              </a:rPr>
              <a:t>      p</a:t>
            </a:r>
            <a:r>
              <a:rPr lang="zh-CN" altLang="en-US" b="1" dirty="0">
                <a:solidFill>
                  <a:schemeClr val="bg1"/>
                </a:solidFill>
              </a:rPr>
              <a:t>＝</a:t>
            </a:r>
            <a:r>
              <a:rPr lang="en-US" altLang="zh-CN" b="1" dirty="0">
                <a:solidFill>
                  <a:schemeClr val="bg1"/>
                </a:solidFill>
              </a:rPr>
              <a:t>&amp;b;                                  </a:t>
            </a:r>
            <a:r>
              <a:rPr lang="zh-CN" altLang="en-US" b="1" dirty="0">
                <a:solidFill>
                  <a:schemeClr val="bg1"/>
                </a:solidFill>
              </a:rPr>
              <a:t>正确</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p=6;                                       </a:t>
            </a:r>
            <a:r>
              <a:rPr lang="zh-CN" altLang="en-US" b="1" dirty="0">
                <a:solidFill>
                  <a:schemeClr val="bg1"/>
                </a:solidFill>
              </a:rPr>
              <a:t>错误</a:t>
            </a:r>
            <a:endParaRPr lang="en-US" altLang="zh-CN"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b=9;                                       </a:t>
            </a:r>
            <a:r>
              <a:rPr lang="zh-CN" altLang="en-US" b="1" dirty="0">
                <a:solidFill>
                  <a:schemeClr val="bg1"/>
                </a:solidFill>
              </a:rPr>
              <a:t>错误</a:t>
            </a:r>
            <a:endParaRPr lang="zh-CN" altLang="en-US" b="1" dirty="0">
              <a:solidFill>
                <a:schemeClr val="bg1"/>
              </a:solidFill>
            </a:endParaRPr>
          </a:p>
          <a:p>
            <a:pPr eaLnBrk="1" hangingPunct="1">
              <a:lnSpc>
                <a:spcPct val="90000"/>
              </a:lnSpc>
              <a:buNone/>
            </a:pPr>
            <a:r>
              <a:rPr lang="en-US" altLang="zh-CN" b="1" dirty="0">
                <a:solidFill>
                  <a:schemeClr val="bg1"/>
                </a:solidFill>
              </a:rPr>
              <a:t>      p</a:t>
            </a:r>
            <a:r>
              <a:rPr lang="zh-CN" altLang="en-US" b="1" dirty="0">
                <a:solidFill>
                  <a:schemeClr val="bg1"/>
                </a:solidFill>
              </a:rPr>
              <a:t>＝</a:t>
            </a:r>
            <a:r>
              <a:rPr lang="en-US" altLang="zh-CN" b="1" dirty="0">
                <a:solidFill>
                  <a:schemeClr val="bg1"/>
                </a:solidFill>
              </a:rPr>
              <a:t>&amp;a;                                  </a:t>
            </a:r>
            <a:r>
              <a:rPr lang="zh-CN" altLang="en-US" b="1" dirty="0">
                <a:solidFill>
                  <a:schemeClr val="bg1"/>
                </a:solidFill>
              </a:rPr>
              <a:t>正确</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p=8;                                      </a:t>
            </a:r>
            <a:r>
              <a:rPr lang="zh-CN" altLang="en-US" b="1" dirty="0">
                <a:solidFill>
                  <a:schemeClr val="bg1"/>
                </a:solidFill>
              </a:rPr>
              <a:t>错误</a:t>
            </a:r>
            <a:endParaRPr lang="en-US" altLang="zh-CN"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a</a:t>
            </a:r>
            <a:r>
              <a:rPr lang="zh-CN" altLang="en-US" b="1" dirty="0">
                <a:solidFill>
                  <a:schemeClr val="bg1"/>
                </a:solidFill>
              </a:rPr>
              <a:t>＝</a:t>
            </a:r>
            <a:r>
              <a:rPr lang="en-US" altLang="zh-CN" b="1" dirty="0">
                <a:solidFill>
                  <a:schemeClr val="bg1"/>
                </a:solidFill>
              </a:rPr>
              <a:t>9;                                      </a:t>
            </a:r>
            <a:r>
              <a:rPr lang="zh-CN" altLang="en-US" b="1" dirty="0">
                <a:solidFill>
                  <a:schemeClr val="bg1"/>
                </a:solidFill>
              </a:rPr>
              <a:t>正确</a:t>
            </a:r>
            <a:endParaRPr lang="zh-CN" altLang="en-US" b="1" dirty="0">
              <a:solidFill>
                <a:schemeClr val="bg1"/>
              </a:solidFill>
            </a:endParaRPr>
          </a:p>
          <a:p>
            <a:pPr eaLnBrk="1" hangingPunct="1">
              <a:lnSpc>
                <a:spcPct val="90000"/>
              </a:lnSpc>
              <a:buNone/>
            </a:pPr>
            <a:endParaRPr lang="zh-CN" altLang="en-US" b="1" dirty="0">
              <a:solidFill>
                <a:schemeClr val="bg1"/>
              </a:solidFill>
            </a:endParaRPr>
          </a:p>
        </p:txBody>
      </p:sp>
      <p:sp>
        <p:nvSpPr>
          <p:cNvPr id="44034" name="Rectangle 3"/>
          <p:cNvSpPr/>
          <p:nvPr/>
        </p:nvSpPr>
        <p:spPr>
          <a:xfrm>
            <a:off x="-252412" y="-242887"/>
            <a:ext cx="5545137"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4" name="圆角矩形 3"/>
          <p:cNvSpPr/>
          <p:nvPr/>
        </p:nvSpPr>
        <p:spPr bwMode="auto">
          <a:xfrm>
            <a:off x="6659563" y="26035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圆角矩形 4"/>
          <p:cNvSpPr/>
          <p:nvPr/>
        </p:nvSpPr>
        <p:spPr bwMode="auto">
          <a:xfrm>
            <a:off x="8027988" y="260350"/>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44037" name="直接箭头连接符 5"/>
          <p:cNvCxnSpPr>
            <a:stCxn id="4" idx="3"/>
            <a:endCxn id="5" idx="1"/>
          </p:cNvCxnSpPr>
          <p:nvPr/>
        </p:nvCxnSpPr>
        <p:spPr>
          <a:xfrm>
            <a:off x="7164388" y="441325"/>
            <a:ext cx="863600" cy="0"/>
          </a:xfrm>
          <a:prstGeom prst="straightConnector1">
            <a:avLst/>
          </a:prstGeom>
          <a:ln w="9525" cap="flat" cmpd="sng">
            <a:solidFill>
              <a:schemeClr val="bg1"/>
            </a:solidFill>
            <a:prstDash val="solid"/>
            <a:round/>
            <a:headEnd type="none" w="med" len="med"/>
            <a:tailEnd type="arrow"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idx="1"/>
          </p:nvPr>
        </p:nvSpPr>
        <p:spPr>
          <a:xfrm>
            <a:off x="182563" y="404813"/>
            <a:ext cx="8961437" cy="6453187"/>
          </a:xfrm>
        </p:spPr>
        <p:txBody>
          <a:bodyPr vert="horz" wrap="square" lIns="91440" tIns="45720" rIns="91440" bIns="45720" anchor="t"/>
          <a:p>
            <a:pPr eaLnBrk="1" hangingPunct="1">
              <a:lnSpc>
                <a:spcPct val="80000"/>
              </a:lnSpc>
              <a:buNone/>
            </a:pPr>
            <a:r>
              <a:rPr lang="zh-CN" altLang="en-US" sz="2800" b="1" dirty="0">
                <a:solidFill>
                  <a:schemeClr val="bg1"/>
                </a:solidFill>
              </a:rPr>
              <a:t>指向常量的指针常量</a:t>
            </a:r>
            <a:endParaRPr lang="en-US" altLang="zh-CN" sz="2800" b="1" dirty="0">
              <a:solidFill>
                <a:schemeClr val="bg1"/>
              </a:solidFill>
            </a:endParaRPr>
          </a:p>
          <a:p>
            <a:pPr eaLnBrk="1" hangingPunct="1">
              <a:lnSpc>
                <a:spcPct val="80000"/>
              </a:lnSpc>
              <a:buNone/>
            </a:pPr>
            <a:endParaRPr lang="zh-CN" altLang="en-US" sz="2800" b="1" dirty="0">
              <a:solidFill>
                <a:schemeClr val="bg1"/>
              </a:solidFill>
            </a:endParaRPr>
          </a:p>
          <a:p>
            <a:pPr eaLnBrk="1" hangingPunct="1">
              <a:lnSpc>
                <a:spcPct val="80000"/>
              </a:lnSpc>
              <a:buNone/>
            </a:pPr>
            <a:r>
              <a:rPr lang="zh-CN" altLang="en-US" sz="2800" b="1" dirty="0">
                <a:solidFill>
                  <a:schemeClr val="bg1"/>
                </a:solidFill>
              </a:rPr>
              <a:t>常量指针          变量√   常量√</a:t>
            </a:r>
            <a:endParaRPr lang="en-US" altLang="zh-CN" sz="2800" b="1" dirty="0">
              <a:solidFill>
                <a:schemeClr val="bg1"/>
              </a:solidFill>
            </a:endParaRPr>
          </a:p>
          <a:p>
            <a:pPr eaLnBrk="1" hangingPunct="1">
              <a:lnSpc>
                <a:spcPct val="80000"/>
              </a:lnSpc>
              <a:buNone/>
            </a:pPr>
            <a:r>
              <a:rPr lang="zh-CN" altLang="en-US" sz="2800" b="1" dirty="0">
                <a:solidFill>
                  <a:schemeClr val="bg1"/>
                </a:solidFill>
              </a:rPr>
              <a:t>指针常量          变量√   常量？  </a:t>
            </a:r>
            <a:endParaRPr lang="en-US" altLang="zh-CN" sz="2800" b="1" dirty="0">
              <a:solidFill>
                <a:schemeClr val="bg1"/>
              </a:solidFill>
            </a:endParaRPr>
          </a:p>
          <a:p>
            <a:pPr eaLnBrk="1" hangingPunct="1">
              <a:lnSpc>
                <a:spcPct val="80000"/>
              </a:lnSpc>
              <a:buNone/>
            </a:pPr>
            <a:r>
              <a:rPr lang="zh-CN" altLang="en-US" sz="2800" b="1" dirty="0">
                <a:solidFill>
                  <a:schemeClr val="bg1"/>
                </a:solidFill>
              </a:rPr>
              <a:t>普通指针          变量√   常量？   </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    </a:t>
            </a:r>
            <a:r>
              <a:rPr lang="en-US" altLang="zh-CN" sz="2800" b="1" dirty="0">
                <a:solidFill>
                  <a:schemeClr val="bg1"/>
                </a:solidFill>
              </a:rPr>
              <a:t>int b;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const int c=6;</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 f = &amp;b;                     </a:t>
            </a:r>
            <a:r>
              <a:rPr lang="zh-CN" altLang="en-US" sz="2800" b="1" dirty="0">
                <a:solidFill>
                  <a:schemeClr val="bg1"/>
                </a:solidFill>
              </a:rPr>
              <a:t>正确</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 = &amp;c</a:t>
            </a:r>
            <a:r>
              <a:rPr lang="zh-CN" altLang="en-US" sz="2800" b="1" dirty="0">
                <a:solidFill>
                  <a:schemeClr val="bg1"/>
                </a:solidFill>
              </a:rPr>
              <a:t>；                            定义错误    权限被外界扩大</a:t>
            </a:r>
            <a:endParaRPr lang="zh-CN" altLang="en-US"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任务：希望为它们设置指针常量</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t>
            </a:r>
            <a:r>
              <a:rPr lang="zh-CN" altLang="en-US" sz="2800" b="1" dirty="0">
                <a:solidFill>
                  <a:schemeClr val="bg1"/>
                </a:solidFill>
              </a:rPr>
              <a:t>* </a:t>
            </a:r>
            <a:r>
              <a:rPr lang="en-US" altLang="zh-CN" sz="2800" b="1" dirty="0">
                <a:solidFill>
                  <a:schemeClr val="bg1"/>
                </a:solidFill>
              </a:rPr>
              <a:t>const q = &amp;b</a:t>
            </a:r>
            <a:r>
              <a:rPr lang="zh-CN" altLang="en-US" sz="2800" b="1" dirty="0">
                <a:solidFill>
                  <a:schemeClr val="bg1"/>
                </a:solidFill>
              </a:rPr>
              <a:t>；        正确</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 </a:t>
            </a:r>
            <a:r>
              <a:rPr lang="en-US" altLang="zh-CN" sz="2800" b="1" dirty="0">
                <a:solidFill>
                  <a:schemeClr val="bg1"/>
                </a:solidFill>
              </a:rPr>
              <a:t>int * const p = &amp;c;           </a:t>
            </a:r>
            <a:r>
              <a:rPr lang="zh-CN" altLang="en-US" sz="2800" b="1" dirty="0">
                <a:solidFill>
                  <a:schemeClr val="bg1"/>
                </a:solidFill>
              </a:rPr>
              <a:t>定义错误    权限被外界扩大</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int const * k = &amp;c;           </a:t>
            </a:r>
            <a:r>
              <a:rPr lang="zh-CN" altLang="en-US" sz="2800" b="1" dirty="0">
                <a:solidFill>
                  <a:schemeClr val="bg1"/>
                </a:solidFill>
              </a:rPr>
              <a:t>正确           但是不是指针常量</a:t>
            </a:r>
            <a:endParaRPr lang="zh-CN" altLang="en-US" sz="2800" b="1" dirty="0">
              <a:solidFill>
                <a:schemeClr val="bg1"/>
              </a:solidFill>
            </a:endParaRPr>
          </a:p>
        </p:txBody>
      </p:sp>
      <p:sp>
        <p:nvSpPr>
          <p:cNvPr id="45058" name="Rectangle 3"/>
          <p:cNvSpPr/>
          <p:nvPr/>
        </p:nvSpPr>
        <p:spPr>
          <a:xfrm>
            <a:off x="-252412" y="-315912"/>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4" name="圆角矩形 3"/>
          <p:cNvSpPr/>
          <p:nvPr/>
        </p:nvSpPr>
        <p:spPr bwMode="auto">
          <a:xfrm>
            <a:off x="6659563" y="16287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圆角矩形 4"/>
          <p:cNvSpPr/>
          <p:nvPr/>
        </p:nvSpPr>
        <p:spPr bwMode="auto">
          <a:xfrm>
            <a:off x="8027988" y="1628775"/>
            <a:ext cx="504825" cy="360363"/>
          </a:xfrm>
          <a:prstGeom prst="round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45061" name="直接箭头连接符 5"/>
          <p:cNvCxnSpPr>
            <a:stCxn id="4" idx="3"/>
            <a:endCxn id="5" idx="1"/>
          </p:cNvCxnSpPr>
          <p:nvPr/>
        </p:nvCxnSpPr>
        <p:spPr>
          <a:xfrm>
            <a:off x="7164388" y="1808163"/>
            <a:ext cx="863600" cy="0"/>
          </a:xfrm>
          <a:prstGeom prst="straightConnector1">
            <a:avLst/>
          </a:prstGeom>
          <a:ln w="9525" cap="flat" cmpd="sng">
            <a:solidFill>
              <a:schemeClr val="bg1"/>
            </a:solidFill>
            <a:prstDash val="solid"/>
            <a:round/>
            <a:headEnd type="none" w="med" len="med"/>
            <a:tailEnd type="arrow"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idx="1"/>
          </p:nvPr>
        </p:nvSpPr>
        <p:spPr>
          <a:xfrm>
            <a:off x="182563" y="404813"/>
            <a:ext cx="8961437" cy="6453187"/>
          </a:xfrm>
        </p:spPr>
        <p:txBody>
          <a:bodyPr vert="horz" wrap="square" lIns="91440" tIns="45720" rIns="91440" bIns="45720" anchor="t"/>
          <a:p>
            <a:pPr eaLnBrk="1" hangingPunct="1">
              <a:lnSpc>
                <a:spcPct val="80000"/>
              </a:lnSpc>
              <a:buNone/>
            </a:pPr>
            <a:r>
              <a:rPr lang="zh-CN" altLang="en-US" sz="2800" b="1" dirty="0">
                <a:solidFill>
                  <a:schemeClr val="bg1"/>
                </a:solidFill>
              </a:rPr>
              <a:t>指向常量的指针常量</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int b;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const int c=6;</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const int *const p</a:t>
            </a:r>
            <a:r>
              <a:rPr lang="zh-CN" altLang="en-US" sz="2800" b="1" dirty="0">
                <a:solidFill>
                  <a:schemeClr val="bg1"/>
                </a:solidFill>
              </a:rPr>
              <a:t>＝</a:t>
            </a:r>
            <a:r>
              <a:rPr lang="en-US" altLang="zh-CN" sz="2800" b="1" dirty="0">
                <a:solidFill>
                  <a:schemeClr val="bg1"/>
                </a:solidFill>
              </a:rPr>
              <a:t>&amp;c</a:t>
            </a:r>
            <a:r>
              <a:rPr lang="zh-CN" altLang="en-US" sz="2800" b="1" dirty="0">
                <a:solidFill>
                  <a:schemeClr val="bg1"/>
                </a:solidFill>
              </a:rPr>
              <a:t>；   正确     定义</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p++</a:t>
            </a:r>
            <a:r>
              <a:rPr lang="zh-CN" altLang="en-US" sz="2800" b="1" dirty="0">
                <a:solidFill>
                  <a:schemeClr val="bg1"/>
                </a:solidFill>
              </a:rPr>
              <a:t>；                                   错误</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p</a:t>
            </a:r>
            <a:r>
              <a:rPr lang="zh-CN" altLang="en-US" sz="2800" b="1" dirty="0">
                <a:solidFill>
                  <a:schemeClr val="bg1"/>
                </a:solidFill>
              </a:rPr>
              <a:t>＝</a:t>
            </a:r>
            <a:r>
              <a:rPr lang="en-US" altLang="zh-CN" sz="2800" b="1" dirty="0">
                <a:solidFill>
                  <a:schemeClr val="bg1"/>
                </a:solidFill>
              </a:rPr>
              <a:t>1</a:t>
            </a:r>
            <a:r>
              <a:rPr lang="zh-CN" altLang="en-US" sz="2800" b="1" dirty="0">
                <a:solidFill>
                  <a:schemeClr val="bg1"/>
                </a:solidFill>
              </a:rPr>
              <a:t>；                               错误</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c = 9;                                    </a:t>
            </a:r>
            <a:r>
              <a:rPr lang="zh-CN" altLang="en-US" sz="2800" b="1" dirty="0">
                <a:solidFill>
                  <a:schemeClr val="bg1"/>
                </a:solidFill>
              </a:rPr>
              <a:t>错误</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     const int *const q</a:t>
            </a:r>
            <a:r>
              <a:rPr lang="zh-CN" altLang="en-US" sz="2800" b="1" dirty="0">
                <a:solidFill>
                  <a:schemeClr val="bg1"/>
                </a:solidFill>
              </a:rPr>
              <a:t>＝</a:t>
            </a:r>
            <a:r>
              <a:rPr lang="en-US" altLang="zh-CN" sz="2800" b="1" dirty="0">
                <a:solidFill>
                  <a:schemeClr val="bg1"/>
                </a:solidFill>
              </a:rPr>
              <a:t>&amp;b</a:t>
            </a:r>
            <a:r>
              <a:rPr lang="zh-CN" altLang="en-US" sz="2800" b="1" dirty="0">
                <a:solidFill>
                  <a:schemeClr val="bg1"/>
                </a:solidFill>
              </a:rPr>
              <a:t>；  正确</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q=5;                                    </a:t>
            </a:r>
            <a:r>
              <a:rPr lang="zh-CN" altLang="en-US" sz="2800" b="1" dirty="0">
                <a:solidFill>
                  <a:schemeClr val="bg1"/>
                </a:solidFill>
              </a:rPr>
              <a:t>错误</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q++;                                    </a:t>
            </a:r>
            <a:r>
              <a:rPr lang="zh-CN" altLang="en-US" sz="2800" b="1" dirty="0">
                <a:solidFill>
                  <a:schemeClr val="bg1"/>
                </a:solidFill>
              </a:rPr>
              <a:t>错误</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b=5;                                    </a:t>
            </a:r>
            <a:r>
              <a:rPr lang="zh-CN" altLang="en-US" sz="2800" b="1" dirty="0">
                <a:solidFill>
                  <a:schemeClr val="bg1"/>
                </a:solidFill>
              </a:rPr>
              <a:t>正确 </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zh-CN" altLang="en-US" sz="2800" b="1" dirty="0">
                <a:solidFill>
                  <a:schemeClr val="bg1"/>
                </a:solidFill>
              </a:rPr>
              <a:t>（本身不能被修改就不允许外界提供可修改的漏洞）  </a:t>
            </a:r>
            <a:endParaRPr lang="zh-CN" altLang="en-US" sz="2800" b="1" dirty="0">
              <a:solidFill>
                <a:schemeClr val="bg1"/>
              </a:solidFill>
            </a:endParaRPr>
          </a:p>
        </p:txBody>
      </p:sp>
      <p:sp>
        <p:nvSpPr>
          <p:cNvPr id="46082" name="Rectangle 3"/>
          <p:cNvSpPr/>
          <p:nvPr/>
        </p:nvSpPr>
        <p:spPr>
          <a:xfrm>
            <a:off x="-252412" y="-315912"/>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idx="1"/>
          </p:nvPr>
        </p:nvSpPr>
        <p:spPr>
          <a:xfrm>
            <a:off x="182563" y="404813"/>
            <a:ext cx="8961437" cy="6453187"/>
          </a:xfrm>
        </p:spPr>
        <p:txBody>
          <a:bodyPr vert="horz" wrap="square" lIns="91440" tIns="45720" rIns="91440" bIns="45720" anchor="t"/>
          <a:p>
            <a:pPr eaLnBrk="1" hangingPunct="1">
              <a:buNone/>
            </a:pPr>
            <a:r>
              <a:rPr lang="en-US" altLang="zh-CN" sz="3600" b="1" dirty="0">
                <a:solidFill>
                  <a:schemeClr val="bg1"/>
                </a:solidFill>
              </a:rPr>
              <a:t>const int *const q</a:t>
            </a:r>
            <a:endParaRPr lang="en-US" altLang="zh-CN" sz="3600" b="1" dirty="0">
              <a:solidFill>
                <a:schemeClr val="bg1"/>
              </a:solidFill>
            </a:endParaRPr>
          </a:p>
          <a:p>
            <a:pPr eaLnBrk="1" hangingPunct="1">
              <a:buNone/>
            </a:pPr>
            <a:r>
              <a:rPr lang="en-US" altLang="zh-CN" sz="3600" b="1" dirty="0">
                <a:solidFill>
                  <a:schemeClr val="bg1"/>
                </a:solidFill>
              </a:rPr>
              <a:t>int const * const p</a:t>
            </a:r>
            <a:endParaRPr lang="en-US" altLang="zh-CN" sz="3600" b="1" dirty="0">
              <a:solidFill>
                <a:schemeClr val="bg1"/>
              </a:solidFill>
            </a:endParaRPr>
          </a:p>
          <a:p>
            <a:pPr eaLnBrk="1" hangingPunct="1">
              <a:buNone/>
            </a:pPr>
            <a:r>
              <a:rPr lang="en-US" altLang="zh-CN" sz="3600" b="1" dirty="0">
                <a:solidFill>
                  <a:schemeClr val="bg1"/>
                </a:solidFill>
              </a:rPr>
              <a:t>int * const p</a:t>
            </a:r>
            <a:endParaRPr lang="en-US" altLang="zh-CN" sz="3600" b="1" dirty="0">
              <a:solidFill>
                <a:schemeClr val="bg1"/>
              </a:solidFill>
            </a:endParaRPr>
          </a:p>
          <a:p>
            <a:pPr eaLnBrk="1" hangingPunct="1">
              <a:buNone/>
            </a:pPr>
            <a:r>
              <a:rPr lang="en-US" altLang="zh-CN" sz="3600" b="1" dirty="0">
                <a:solidFill>
                  <a:schemeClr val="bg1"/>
                </a:solidFill>
              </a:rPr>
              <a:t>int const * p</a:t>
            </a:r>
            <a:endParaRPr lang="en-US" altLang="zh-CN" sz="3600" b="1" dirty="0">
              <a:solidFill>
                <a:schemeClr val="bg1"/>
              </a:solidFill>
            </a:endParaRPr>
          </a:p>
          <a:p>
            <a:pPr eaLnBrk="1" hangingPunct="1">
              <a:buNone/>
            </a:pPr>
            <a:endParaRPr lang="en-US" altLang="zh-CN" sz="3600" b="1" dirty="0">
              <a:solidFill>
                <a:schemeClr val="bg1"/>
              </a:solidFill>
            </a:endParaRPr>
          </a:p>
          <a:p>
            <a:pPr eaLnBrk="1" hangingPunct="1">
              <a:buNone/>
            </a:pPr>
            <a:r>
              <a:rPr lang="zh-CN" altLang="en-US" sz="3600" b="1" dirty="0">
                <a:solidFill>
                  <a:schemeClr val="bg1"/>
                </a:solidFill>
              </a:rPr>
              <a:t>三个定义的意义：内部需要、参数传递意义</a:t>
            </a:r>
            <a:endParaRPr lang="en-US" altLang="zh-CN" sz="3600" b="1" dirty="0">
              <a:solidFill>
                <a:schemeClr val="bg1"/>
              </a:solidFill>
            </a:endParaRPr>
          </a:p>
          <a:p>
            <a:pPr eaLnBrk="1" hangingPunct="1">
              <a:buNone/>
            </a:pPr>
            <a:r>
              <a:rPr lang="zh-CN" altLang="en-US" sz="3600" b="1" dirty="0">
                <a:solidFill>
                  <a:schemeClr val="bg1"/>
                </a:solidFill>
              </a:rPr>
              <a:t>内部需要：</a:t>
            </a:r>
            <a:r>
              <a:rPr lang="en-US" altLang="zh-CN" sz="3600" b="1" dirty="0">
                <a:solidFill>
                  <a:schemeClr val="bg1"/>
                </a:solidFill>
              </a:rPr>
              <a:t>this</a:t>
            </a:r>
            <a:r>
              <a:rPr lang="zh-CN" altLang="en-US" sz="3600" b="1" dirty="0">
                <a:solidFill>
                  <a:schemeClr val="bg1"/>
                </a:solidFill>
              </a:rPr>
              <a:t>和常成员函数的</a:t>
            </a:r>
            <a:r>
              <a:rPr lang="en-US" altLang="zh-CN" sz="3600" b="1" dirty="0">
                <a:solidFill>
                  <a:schemeClr val="bg1"/>
                </a:solidFill>
              </a:rPr>
              <a:t>this</a:t>
            </a:r>
            <a:endParaRPr lang="en-US" altLang="zh-CN" sz="3600" b="1" dirty="0">
              <a:solidFill>
                <a:schemeClr val="bg1"/>
              </a:solidFill>
            </a:endParaRPr>
          </a:p>
          <a:p>
            <a:pPr eaLnBrk="1" hangingPunct="1">
              <a:buNone/>
            </a:pPr>
            <a:r>
              <a:rPr lang="zh-CN" altLang="en-US" sz="3600" b="1" dirty="0">
                <a:solidFill>
                  <a:schemeClr val="bg1"/>
                </a:solidFill>
              </a:rPr>
              <a:t>参数传递：传递过程中权限被缩小的机制，使数据得到保护，责任划分清楚</a:t>
            </a:r>
            <a:endParaRPr lang="en-US" altLang="zh-CN" sz="3600" b="1" dirty="0">
              <a:solidFill>
                <a:schemeClr val="bg1"/>
              </a:solidFill>
            </a:endParaRPr>
          </a:p>
        </p:txBody>
      </p:sp>
      <p:sp>
        <p:nvSpPr>
          <p:cNvPr id="47106" name="Rectangle 3"/>
          <p:cNvSpPr/>
          <p:nvPr/>
        </p:nvSpPr>
        <p:spPr>
          <a:xfrm>
            <a:off x="-252412" y="-315912"/>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idx="1"/>
          </p:nvPr>
        </p:nvSpPr>
        <p:spPr>
          <a:xfrm>
            <a:off x="182563" y="404813"/>
            <a:ext cx="8961437" cy="6453187"/>
          </a:xfrm>
        </p:spPr>
        <p:txBody>
          <a:bodyPr vert="horz" wrap="square" lIns="91440" tIns="45720" rIns="91440" bIns="45720" anchor="t"/>
          <a:p>
            <a:pPr eaLnBrk="1" hangingPunct="1">
              <a:buNone/>
            </a:pPr>
            <a:r>
              <a:rPr lang="en-US" altLang="zh-CN" sz="3600" b="1" dirty="0">
                <a:solidFill>
                  <a:schemeClr val="bg1"/>
                </a:solidFill>
              </a:rPr>
              <a:t>a[9][8],  (*p)[8],  *q[9],  **k;</a:t>
            </a:r>
            <a:endParaRPr lang="en-US" altLang="zh-CN" sz="3600" b="1" dirty="0">
              <a:solidFill>
                <a:schemeClr val="bg1"/>
              </a:solidFill>
            </a:endParaRPr>
          </a:p>
          <a:p>
            <a:pPr eaLnBrk="1" hangingPunct="1">
              <a:buNone/>
            </a:pPr>
            <a:endParaRPr lang="en-US" altLang="zh-CN" sz="3600" b="1" dirty="0">
              <a:solidFill>
                <a:schemeClr val="bg1"/>
              </a:solidFill>
            </a:endParaRPr>
          </a:p>
          <a:p>
            <a:pPr eaLnBrk="1" hangingPunct="1">
              <a:buNone/>
            </a:pPr>
            <a:r>
              <a:rPr lang="en-US" altLang="zh-CN" sz="3600" b="1" dirty="0">
                <a:solidFill>
                  <a:schemeClr val="bg1"/>
                </a:solidFill>
              </a:rPr>
              <a:t>p</a:t>
            </a:r>
            <a:r>
              <a:rPr lang="zh-CN" altLang="en-US" sz="3600" b="1" dirty="0">
                <a:solidFill>
                  <a:schemeClr val="bg1"/>
                </a:solidFill>
              </a:rPr>
              <a:t>可以直接指向</a:t>
            </a:r>
            <a:r>
              <a:rPr lang="en-US" altLang="zh-CN" sz="3600" b="1" dirty="0">
                <a:solidFill>
                  <a:schemeClr val="bg1"/>
                </a:solidFill>
              </a:rPr>
              <a:t>a</a:t>
            </a:r>
            <a:r>
              <a:rPr lang="zh-CN" altLang="en-US" sz="3600" b="1" dirty="0">
                <a:solidFill>
                  <a:schemeClr val="bg1"/>
                </a:solidFill>
              </a:rPr>
              <a:t>；</a:t>
            </a:r>
            <a:endParaRPr lang="en-US" altLang="zh-CN" sz="3600" b="1" dirty="0">
              <a:solidFill>
                <a:schemeClr val="bg1"/>
              </a:solidFill>
            </a:endParaRPr>
          </a:p>
          <a:p>
            <a:pPr eaLnBrk="1" hangingPunct="1">
              <a:buNone/>
            </a:pPr>
            <a:r>
              <a:rPr lang="en-US" altLang="zh-CN" sz="3600" b="1" dirty="0">
                <a:solidFill>
                  <a:schemeClr val="bg1"/>
                </a:solidFill>
              </a:rPr>
              <a:t>q</a:t>
            </a:r>
            <a:r>
              <a:rPr lang="zh-CN" altLang="en-US" sz="3600" b="1" dirty="0">
                <a:solidFill>
                  <a:schemeClr val="bg1"/>
                </a:solidFill>
              </a:rPr>
              <a:t>的每个元素可以指向</a:t>
            </a:r>
            <a:r>
              <a:rPr lang="en-US" altLang="zh-CN" sz="3600" b="1" dirty="0">
                <a:solidFill>
                  <a:schemeClr val="bg1"/>
                </a:solidFill>
              </a:rPr>
              <a:t>a</a:t>
            </a:r>
            <a:r>
              <a:rPr lang="zh-CN" altLang="en-US" sz="3600" b="1" dirty="0">
                <a:solidFill>
                  <a:schemeClr val="bg1"/>
                </a:solidFill>
              </a:rPr>
              <a:t>的每一行的首；</a:t>
            </a:r>
            <a:endParaRPr lang="en-US" altLang="zh-CN" sz="3600" b="1" dirty="0">
              <a:solidFill>
                <a:schemeClr val="bg1"/>
              </a:solidFill>
            </a:endParaRPr>
          </a:p>
          <a:p>
            <a:pPr eaLnBrk="1" hangingPunct="1">
              <a:buNone/>
            </a:pPr>
            <a:r>
              <a:rPr lang="en-US" altLang="zh-CN" sz="3600" b="1" dirty="0">
                <a:solidFill>
                  <a:schemeClr val="bg1"/>
                </a:solidFill>
              </a:rPr>
              <a:t>k</a:t>
            </a:r>
            <a:r>
              <a:rPr lang="zh-CN" altLang="en-US" sz="3600" b="1" dirty="0">
                <a:solidFill>
                  <a:schemeClr val="bg1"/>
                </a:solidFill>
              </a:rPr>
              <a:t>可以指向</a:t>
            </a:r>
            <a:r>
              <a:rPr lang="en-US" altLang="zh-CN" sz="3600" b="1" dirty="0">
                <a:solidFill>
                  <a:schemeClr val="bg1"/>
                </a:solidFill>
              </a:rPr>
              <a:t>q</a:t>
            </a:r>
            <a:endParaRPr lang="en-US" altLang="zh-CN" sz="3600" b="1" dirty="0">
              <a:solidFill>
                <a:schemeClr val="bg1"/>
              </a:solidFill>
            </a:endParaRPr>
          </a:p>
          <a:p>
            <a:pPr eaLnBrk="1" hangingPunct="1">
              <a:buNone/>
            </a:pPr>
            <a:endParaRPr lang="en-US" altLang="zh-CN" sz="3600" b="1" dirty="0">
              <a:solidFill>
                <a:schemeClr val="bg1"/>
              </a:solidFill>
            </a:endParaRPr>
          </a:p>
          <a:p>
            <a:pPr eaLnBrk="1" hangingPunct="1">
              <a:buNone/>
            </a:pPr>
            <a:r>
              <a:rPr lang="en-US" altLang="zh-CN" sz="3600" b="1" dirty="0">
                <a:solidFill>
                  <a:schemeClr val="bg1"/>
                </a:solidFill>
              </a:rPr>
              <a:t>A</a:t>
            </a:r>
            <a:r>
              <a:rPr lang="zh-CN" altLang="en-US" sz="3600" b="1" dirty="0">
                <a:solidFill>
                  <a:schemeClr val="bg1"/>
                </a:solidFill>
              </a:rPr>
              <a:t>和</a:t>
            </a:r>
            <a:r>
              <a:rPr lang="en-US" altLang="zh-CN" sz="3600" b="1" dirty="0">
                <a:solidFill>
                  <a:schemeClr val="bg1"/>
                </a:solidFill>
              </a:rPr>
              <a:t>p    q</a:t>
            </a:r>
            <a:r>
              <a:rPr lang="zh-CN" altLang="en-US" sz="3600" b="1" dirty="0">
                <a:solidFill>
                  <a:schemeClr val="bg1"/>
                </a:solidFill>
              </a:rPr>
              <a:t>和</a:t>
            </a:r>
            <a:r>
              <a:rPr lang="en-US" altLang="zh-CN" sz="3600" b="1" dirty="0">
                <a:solidFill>
                  <a:schemeClr val="bg1"/>
                </a:solidFill>
              </a:rPr>
              <a:t>k    </a:t>
            </a:r>
            <a:r>
              <a:rPr lang="zh-CN" altLang="en-US" sz="3600" b="1" dirty="0">
                <a:solidFill>
                  <a:schemeClr val="bg1"/>
                </a:solidFill>
              </a:rPr>
              <a:t>交叉不可以</a:t>
            </a:r>
            <a:endParaRPr lang="en-US" altLang="zh-CN" sz="3600" b="1" dirty="0">
              <a:solidFill>
                <a:schemeClr val="bg1"/>
              </a:solidFill>
            </a:endParaRPr>
          </a:p>
        </p:txBody>
      </p:sp>
      <p:sp>
        <p:nvSpPr>
          <p:cNvPr id="48130" name="Rectangle 3"/>
          <p:cNvSpPr/>
          <p:nvPr/>
        </p:nvSpPr>
        <p:spPr>
          <a:xfrm>
            <a:off x="-252412" y="-315912"/>
            <a:ext cx="9144000" cy="1143000"/>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关于作业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9285" name="Group 21"/>
          <p:cNvGraphicFramePr>
            <a:graphicFrameLocks noGrp="1"/>
          </p:cNvGraphicFramePr>
          <p:nvPr>
            <p:ph idx="4294967295"/>
          </p:nvPr>
        </p:nvGraphicFramePr>
        <p:xfrm>
          <a:off x="2819400" y="1808163"/>
          <a:ext cx="6096000" cy="4148138"/>
        </p:xfrm>
        <a:graphic>
          <a:graphicData uri="http://schemas.openxmlformats.org/drawingml/2006/table">
            <a:tbl>
              <a:tblPr/>
              <a:tblGrid>
                <a:gridCol w="3048000"/>
                <a:gridCol w="3048000"/>
              </a:tblGrid>
              <a:tr h="6186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dirty="0">
                          <a:ln>
                            <a:noFill/>
                          </a:ln>
                          <a:solidFill>
                            <a:srgbClr val="FFFF00"/>
                          </a:solidFill>
                          <a:effectLst/>
                          <a:latin typeface="黑体" panose="02010609060101010101" pitchFamily="49" charset="-122"/>
                          <a:ea typeface="黑体" panose="02010609060101010101" pitchFamily="49" charset="-122"/>
                        </a:rPr>
                        <a:t>对象ａ的操作</a:t>
                      </a:r>
                      <a:endParaRPr kumimoji="0" lang="zh-CN" altLang="en-US" sz="2800" b="0" i="0" u="none" strike="noStrike" cap="none" normalizeH="0" baseline="0" dirty="0">
                        <a:ln>
                          <a:noFill/>
                        </a:ln>
                        <a:solidFill>
                          <a:srgbClr val="FFFF00"/>
                        </a:solidFill>
                        <a:effectLst/>
                        <a:latin typeface="黑体" panose="02010609060101010101" pitchFamily="49" charset="-122"/>
                        <a:ea typeface="黑体" panose="02010609060101010101" pitchFamily="49" charset="-122"/>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改为操作对象ｂ</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6" marB="456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295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FuncB</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FuncAX</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a:t>
                      </a:r>
                      <a:endParaRPr kumimoji="0" lang="en-US" altLang="zh-CN" sz="2400" b="0" i="0" u="none" strike="noStrike" cap="none" normalizeH="0" baseline="0" dirty="0">
                        <a:ln>
                          <a:noFill/>
                        </a:ln>
                        <a:solidFill>
                          <a:schemeClr val="bg1"/>
                        </a:solidFill>
                        <a:effectLst/>
                        <a:latin typeface="Arial Narrow" panose="020B060602020203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FuncB</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FuncAX</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6" marB="456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1329" name="Group 17"/>
          <p:cNvGraphicFramePr>
            <a:graphicFrameLocks noGrp="1"/>
          </p:cNvGraphicFramePr>
          <p:nvPr>
            <p:ph idx="4294967295"/>
          </p:nvPr>
        </p:nvGraphicFramePr>
        <p:xfrm>
          <a:off x="2819400" y="1233488"/>
          <a:ext cx="6096000" cy="5026025"/>
        </p:xfrm>
        <a:graphic>
          <a:graphicData uri="http://schemas.openxmlformats.org/drawingml/2006/table">
            <a:tbl>
              <a:tblPr/>
              <a:tblGrid>
                <a:gridCol w="3048000"/>
                <a:gridCol w="3048000"/>
              </a:tblGrid>
              <a:tr h="61868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dirty="0">
                          <a:ln>
                            <a:noFill/>
                          </a:ln>
                          <a:solidFill>
                            <a:srgbClr val="FFFF00"/>
                          </a:solidFill>
                          <a:effectLst/>
                          <a:latin typeface="黑体" panose="02010609060101010101" pitchFamily="49" charset="-122"/>
                          <a:ea typeface="黑体" panose="02010609060101010101" pitchFamily="49" charset="-122"/>
                        </a:rPr>
                        <a:t>对象ａ的操作</a:t>
                      </a:r>
                      <a:endParaRPr kumimoji="0" lang="zh-CN" altLang="en-US" sz="2800" b="0" i="0" u="none" strike="noStrike" cap="none" normalizeH="0" baseline="0" dirty="0">
                        <a:ln>
                          <a:noFill/>
                        </a:ln>
                        <a:solidFill>
                          <a:srgbClr val="FFFF00"/>
                        </a:solidFill>
                        <a:effectLst/>
                        <a:latin typeface="黑体" panose="02010609060101010101" pitchFamily="49" charset="-122"/>
                        <a:ea typeface="黑体" panose="02010609060101010101" pitchFamily="49" charset="-122"/>
                      </a:endParaRPr>
                    </a:p>
                  </a:txBody>
                  <a:tcPr marT="45689" marB="456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改为操作对象ｂ</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9" marB="456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07342">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 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 = &amp;a;</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FuncB</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FuncAX</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89" marB="456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Student  * 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sng" strike="noStrike" cap="none" normalizeH="0" baseline="0" dirty="0">
                          <a:ln>
                            <a:noFill/>
                          </a:ln>
                          <a:solidFill>
                            <a:schemeClr val="bg1"/>
                          </a:solidFill>
                          <a:effectLst/>
                          <a:latin typeface="Arial" panose="020B0604020202020204" pitchFamily="34" charset="0"/>
                          <a:ea typeface="宋体" panose="02010600030101010101" pitchFamily="2" charset="-122"/>
                        </a:rPr>
                        <a:t>p = &amp;b;</a:t>
                      </a:r>
                      <a:endParaRPr kumimoji="0" lang="en-US" altLang="zh-CN" sz="2400" b="0" i="0" u="sng"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sng"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FuncB</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FuncAX</a:t>
                      </a:r>
                      <a:r>
                        <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(*p);</a:t>
                      </a:r>
                      <a:endParaRPr kumimoji="0" lang="en-US" altLang="zh-CN" sz="2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89" marB="456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idx="1"/>
          </p:nvPr>
        </p:nvSpPr>
        <p:spPr>
          <a:xfrm>
            <a:off x="182563" y="404813"/>
            <a:ext cx="8961437" cy="6453187"/>
          </a:xfrm>
        </p:spPr>
        <p:txBody>
          <a:bodyPr vert="horz" wrap="square" lIns="91440" tIns="45720" rIns="91440" bIns="45720" anchor="t"/>
          <a:p>
            <a:pPr eaLnBrk="1" hangingPunct="1">
              <a:buNone/>
            </a:pPr>
            <a:r>
              <a:rPr lang="en-US" altLang="zh-CN" sz="3600" b="1" dirty="0">
                <a:solidFill>
                  <a:schemeClr val="bg1"/>
                </a:solidFill>
              </a:rPr>
              <a:t>void  p(){</a:t>
            </a:r>
            <a:endParaRPr lang="en-US" altLang="zh-CN" sz="3600" b="1" dirty="0">
              <a:solidFill>
                <a:schemeClr val="bg1"/>
              </a:solidFill>
            </a:endParaRPr>
          </a:p>
          <a:p>
            <a:pPr eaLnBrk="1" hangingPunct="1">
              <a:buNone/>
            </a:pPr>
            <a:r>
              <a:rPr lang="en-US" altLang="zh-CN" sz="3600" b="1" dirty="0">
                <a:solidFill>
                  <a:schemeClr val="bg1"/>
                </a:solidFill>
              </a:rPr>
              <a:t>   int a[10];</a:t>
            </a:r>
            <a:endParaRPr lang="en-US" altLang="zh-CN" sz="3600" b="1" dirty="0">
              <a:solidFill>
                <a:schemeClr val="bg1"/>
              </a:solidFill>
            </a:endParaRPr>
          </a:p>
          <a:p>
            <a:pPr eaLnBrk="1" hangingPunct="1">
              <a:buNone/>
            </a:pPr>
            <a:r>
              <a:rPr lang="en-US" altLang="zh-CN" sz="3600" b="1" dirty="0">
                <a:solidFill>
                  <a:schemeClr val="bg1"/>
                </a:solidFill>
              </a:rPr>
              <a:t>   qA(a);   qB(a);  qC(a);   qD(a);</a:t>
            </a:r>
            <a:endParaRPr lang="en-US" altLang="zh-CN" sz="3600" b="1" dirty="0">
              <a:solidFill>
                <a:schemeClr val="bg1"/>
              </a:solidFill>
            </a:endParaRPr>
          </a:p>
          <a:p>
            <a:pPr eaLnBrk="1" hangingPunct="1">
              <a:buNone/>
            </a:pPr>
            <a:r>
              <a:rPr lang="en-US" altLang="zh-CN" sz="3600" b="1" dirty="0">
                <a:solidFill>
                  <a:schemeClr val="bg1"/>
                </a:solidFill>
              </a:rPr>
              <a:t>}</a:t>
            </a:r>
            <a:endParaRPr lang="en-US" altLang="zh-CN" sz="3600" b="1" dirty="0">
              <a:solidFill>
                <a:schemeClr val="bg1"/>
              </a:solidFill>
            </a:endParaRPr>
          </a:p>
          <a:p>
            <a:pPr eaLnBrk="1" hangingPunct="1">
              <a:buNone/>
            </a:pPr>
            <a:r>
              <a:rPr lang="en-US" altLang="zh-CN" sz="3600" b="1" dirty="0">
                <a:solidFill>
                  <a:schemeClr val="bg1"/>
                </a:solidFill>
              </a:rPr>
              <a:t>void qA(int const * const p);</a:t>
            </a:r>
            <a:endParaRPr lang="en-US" altLang="zh-CN" sz="3600" b="1" dirty="0">
              <a:solidFill>
                <a:schemeClr val="bg1"/>
              </a:solidFill>
            </a:endParaRPr>
          </a:p>
          <a:p>
            <a:pPr eaLnBrk="1" hangingPunct="1">
              <a:buNone/>
            </a:pPr>
            <a:r>
              <a:rPr lang="en-US" altLang="zh-CN" sz="3600" b="1" dirty="0">
                <a:solidFill>
                  <a:schemeClr val="bg1"/>
                </a:solidFill>
              </a:rPr>
              <a:t>void qB(int * const p);</a:t>
            </a:r>
            <a:r>
              <a:rPr lang="zh-CN" altLang="en-US" sz="3600" b="1" dirty="0">
                <a:solidFill>
                  <a:schemeClr val="bg1"/>
                </a:solidFill>
              </a:rPr>
              <a:t>数组内容可能被修改</a:t>
            </a:r>
            <a:endParaRPr lang="en-US" altLang="zh-CN" sz="3600" b="1" dirty="0">
              <a:solidFill>
                <a:schemeClr val="bg1"/>
              </a:solidFill>
            </a:endParaRPr>
          </a:p>
          <a:p>
            <a:pPr eaLnBrk="1" hangingPunct="1">
              <a:buNone/>
            </a:pPr>
            <a:r>
              <a:rPr lang="en-US" altLang="zh-CN" sz="3600" b="1" dirty="0">
                <a:solidFill>
                  <a:schemeClr val="bg1"/>
                </a:solidFill>
              </a:rPr>
              <a:t>void qC(int const * p);</a:t>
            </a:r>
            <a:endParaRPr lang="en-US" altLang="zh-CN" sz="3600" b="1" dirty="0">
              <a:solidFill>
                <a:schemeClr val="bg1"/>
              </a:solidFill>
            </a:endParaRPr>
          </a:p>
          <a:p>
            <a:pPr eaLnBrk="1" hangingPunct="1">
              <a:buNone/>
            </a:pPr>
            <a:r>
              <a:rPr lang="en-US" altLang="zh-CN" sz="3600" b="1" dirty="0">
                <a:solidFill>
                  <a:schemeClr val="bg1"/>
                </a:solidFill>
              </a:rPr>
              <a:t>void qD(int * p);</a:t>
            </a:r>
            <a:r>
              <a:rPr lang="zh-CN" altLang="en-US" sz="3600" b="1" dirty="0">
                <a:solidFill>
                  <a:schemeClr val="bg1"/>
                </a:solidFill>
              </a:rPr>
              <a:t>数组内容可能被修改</a:t>
            </a:r>
            <a:endParaRPr lang="en-US" altLang="zh-CN" sz="3600" b="1" dirty="0">
              <a:solidFill>
                <a:schemeClr val="bg1"/>
              </a:solidFill>
            </a:endParaRPr>
          </a:p>
        </p:txBody>
      </p:sp>
      <p:sp>
        <p:nvSpPr>
          <p:cNvPr id="51202" name="Rectangle 3"/>
          <p:cNvSpPr/>
          <p:nvPr/>
        </p:nvSpPr>
        <p:spPr>
          <a:xfrm>
            <a:off x="-252412" y="-315912"/>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idx="1"/>
          </p:nvPr>
        </p:nvSpPr>
        <p:spPr>
          <a:xfrm>
            <a:off x="182563" y="836613"/>
            <a:ext cx="8961437" cy="5040312"/>
          </a:xfrm>
        </p:spPr>
        <p:txBody>
          <a:bodyPr vert="horz" wrap="square" lIns="91440" tIns="45720" rIns="91440" bIns="45720" anchor="t"/>
          <a:p>
            <a:pPr eaLnBrk="1" hangingPunct="1">
              <a:buNone/>
            </a:pPr>
            <a:r>
              <a:rPr lang="en-US" altLang="zh-CN" sz="3600" b="1" dirty="0">
                <a:solidFill>
                  <a:schemeClr val="bg1"/>
                </a:solidFill>
              </a:rPr>
              <a:t>const</a:t>
            </a:r>
            <a:r>
              <a:rPr lang="zh-CN" altLang="en-US" sz="3600" b="1" dirty="0">
                <a:solidFill>
                  <a:schemeClr val="bg1"/>
                </a:solidFill>
              </a:rPr>
              <a:t>的另外重要用法：常成员函数</a:t>
            </a:r>
            <a:endParaRPr lang="en-US" altLang="zh-CN" sz="3600" b="1" dirty="0">
              <a:solidFill>
                <a:schemeClr val="bg1"/>
              </a:solidFill>
            </a:endParaRPr>
          </a:p>
          <a:p>
            <a:pPr eaLnBrk="1" hangingPunct="1">
              <a:buNone/>
            </a:pPr>
            <a:r>
              <a:rPr lang="en-US" altLang="zh-CN" sz="3600" b="1" dirty="0">
                <a:solidFill>
                  <a:schemeClr val="bg1"/>
                </a:solidFill>
              </a:rPr>
              <a:t>int f(int b) const</a:t>
            </a:r>
            <a:endParaRPr lang="en-US" altLang="zh-CN" sz="3600" b="1" dirty="0">
              <a:solidFill>
                <a:schemeClr val="bg1"/>
              </a:solidFill>
            </a:endParaRPr>
          </a:p>
          <a:p>
            <a:pPr eaLnBrk="1" hangingPunct="1">
              <a:buNone/>
            </a:pPr>
            <a:r>
              <a:rPr lang="zh-CN" altLang="en-US" sz="3600" b="1" dirty="0">
                <a:solidFill>
                  <a:schemeClr val="bg1"/>
                </a:solidFill>
              </a:rPr>
              <a:t>契约作用                    （后续会详细介绍）</a:t>
            </a:r>
            <a:endParaRPr lang="en-US" altLang="zh-CN" sz="3600" b="1" dirty="0">
              <a:solidFill>
                <a:schemeClr val="bg1"/>
              </a:solidFill>
            </a:endParaRPr>
          </a:p>
        </p:txBody>
      </p:sp>
      <p:sp>
        <p:nvSpPr>
          <p:cNvPr id="52226" name="Rectangle 3"/>
          <p:cNvSpPr/>
          <p:nvPr/>
        </p:nvSpPr>
        <p:spPr>
          <a:xfrm>
            <a:off x="-252412" y="-315912"/>
            <a:ext cx="9144000" cy="1143000"/>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指针</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ph idx="1"/>
          </p:nvPr>
        </p:nvSpPr>
        <p:spPr>
          <a:xfrm>
            <a:off x="1042988" y="692150"/>
            <a:ext cx="7705725"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引用的引出（形式歧义）</a:t>
            </a:r>
            <a:endParaRPr lang="zh-CN" altLang="en-US"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a=1,b=2;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swap1(&amp;a,&amp;b);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swap(int a,int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c=a; a=b;  b=c;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swap1(int *a,int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c=*a; *a=*b;  *b=c;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5325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53251" name="直接连接符 4"/>
          <p:cNvCxnSpPr/>
          <p:nvPr/>
        </p:nvCxnSpPr>
        <p:spPr>
          <a:xfrm>
            <a:off x="7164388" y="2708275"/>
            <a:ext cx="71437" cy="4149725"/>
          </a:xfrm>
          <a:prstGeom prst="line">
            <a:avLst/>
          </a:prstGeom>
          <a:ln w="9525" cap="flat" cmpd="sng">
            <a:solidFill>
              <a:schemeClr val="bg1"/>
            </a:solidFill>
            <a:prstDash val="solid"/>
            <a:round/>
            <a:headEnd type="none" w="med" len="med"/>
            <a:tailEnd type="none" w="med" len="med"/>
          </a:ln>
        </p:spPr>
      </p:cxnSp>
      <p:sp>
        <p:nvSpPr>
          <p:cNvPr id="8" name="矩形 7"/>
          <p:cNvSpPr/>
          <p:nvPr/>
        </p:nvSpPr>
        <p:spPr bwMode="auto">
          <a:xfrm>
            <a:off x="6300788" y="4437063"/>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矩形 8"/>
          <p:cNvSpPr/>
          <p:nvPr/>
        </p:nvSpPr>
        <p:spPr bwMode="auto">
          <a:xfrm>
            <a:off x="6300788" y="5013325"/>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3254" name="TextBox 9"/>
          <p:cNvSpPr txBox="1"/>
          <p:nvPr/>
        </p:nvSpPr>
        <p:spPr>
          <a:xfrm>
            <a:off x="5724525" y="42846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3255" name="TextBox 10"/>
          <p:cNvSpPr txBox="1"/>
          <p:nvPr/>
        </p:nvSpPr>
        <p:spPr>
          <a:xfrm>
            <a:off x="5724525" y="48609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12" name="矩形 11"/>
          <p:cNvSpPr/>
          <p:nvPr/>
        </p:nvSpPr>
        <p:spPr bwMode="auto">
          <a:xfrm>
            <a:off x="7524750" y="4437063"/>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 name="矩形 12"/>
          <p:cNvSpPr/>
          <p:nvPr/>
        </p:nvSpPr>
        <p:spPr bwMode="auto">
          <a:xfrm>
            <a:off x="7524750" y="5013325"/>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3258" name="TextBox 13"/>
          <p:cNvSpPr txBox="1"/>
          <p:nvPr/>
        </p:nvSpPr>
        <p:spPr>
          <a:xfrm>
            <a:off x="8243888" y="42846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3259" name="TextBox 14"/>
          <p:cNvSpPr txBox="1"/>
          <p:nvPr/>
        </p:nvSpPr>
        <p:spPr>
          <a:xfrm>
            <a:off x="8243888" y="48609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idx="1"/>
          </p:nvPr>
        </p:nvSpPr>
        <p:spPr>
          <a:xfrm>
            <a:off x="250825" y="692150"/>
            <a:ext cx="8893175"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引用的引出（除了上述例子外，正常对象值的传递）</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r>
              <a:rPr lang="zh-CN" altLang="en-US" sz="2400" b="1" dirty="0">
                <a:solidFill>
                  <a:schemeClr val="bg1"/>
                </a:solidFill>
              </a:rPr>
              <a:t>（）</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class A 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method(a,b);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method(ClassA a,Class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参数传递相当于：</a:t>
            </a:r>
            <a:r>
              <a:rPr lang="en-US" altLang="zh-CN" sz="2400" b="1" dirty="0">
                <a:solidFill>
                  <a:schemeClr val="bg1"/>
                </a:solidFill>
              </a:rPr>
              <a:t>classA swap.a = main.a;//</a:t>
            </a:r>
            <a:r>
              <a:rPr lang="zh-CN" altLang="en-US" sz="2400" b="1" dirty="0">
                <a:solidFill>
                  <a:schemeClr val="bg1"/>
                </a:solidFill>
              </a:rPr>
              <a:t>介绍</a:t>
            </a:r>
            <a:r>
              <a:rPr lang="en-US" altLang="zh-CN" sz="2400" b="1" dirty="0">
                <a:solidFill>
                  <a:schemeClr val="bg1"/>
                </a:solidFill>
              </a:rPr>
              <a:t>return</a:t>
            </a:r>
            <a:r>
              <a:rPr lang="zh-CN" altLang="en-US" sz="2400" b="1" dirty="0">
                <a:solidFill>
                  <a:schemeClr val="bg1"/>
                </a:solidFill>
              </a:rPr>
              <a:t>和函数名</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引起拷贝构造函数或赋值运算的调用，如果复杂，则代价大</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如果</a:t>
            </a:r>
            <a:r>
              <a:rPr lang="en-US" altLang="zh-CN" sz="2400" b="1" dirty="0">
                <a:solidFill>
                  <a:schemeClr val="bg1"/>
                </a:solidFill>
              </a:rPr>
              <a:t>ClassA</a:t>
            </a:r>
            <a:r>
              <a:rPr lang="zh-CN" altLang="en-US" sz="2400" b="1" dirty="0">
                <a:solidFill>
                  <a:schemeClr val="bg1"/>
                </a:solidFill>
              </a:rPr>
              <a:t>继承或者组合其他类。则要引起拷贝构造函数的层层调用，代价更大</a:t>
            </a:r>
            <a:endParaRPr lang="en-US" altLang="zh-CN" sz="2400" b="1" dirty="0">
              <a:solidFill>
                <a:schemeClr val="bg1"/>
              </a:solidFill>
            </a:endParaRPr>
          </a:p>
        </p:txBody>
      </p:sp>
      <p:sp>
        <p:nvSpPr>
          <p:cNvPr id="5427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idx="1"/>
          </p:nvPr>
        </p:nvSpPr>
        <p:spPr>
          <a:xfrm>
            <a:off x="2630488" y="765175"/>
            <a:ext cx="3813175" cy="5903913"/>
          </a:xfrm>
        </p:spPr>
        <p:txBody>
          <a:bodyPr vert="horz" wrap="square" lIns="91440" tIns="45720" rIns="91440" bIns="45720" anchor="t"/>
          <a:p>
            <a:pPr eaLnBrk="1" hangingPunct="1">
              <a:buNone/>
            </a:pPr>
            <a:r>
              <a:rPr lang="zh-CN" altLang="en-US" b="1" dirty="0">
                <a:solidFill>
                  <a:schemeClr val="bg1"/>
                </a:solidFill>
              </a:rPr>
              <a:t>引用的定义</a:t>
            </a:r>
            <a:endParaRPr lang="zh-CN" altLang="en-US" b="1" dirty="0">
              <a:solidFill>
                <a:schemeClr val="bg1"/>
              </a:solidFill>
            </a:endParaRPr>
          </a:p>
          <a:p>
            <a:pPr eaLnBrk="1" hangingPunct="1">
              <a:buNone/>
            </a:pPr>
            <a:r>
              <a:rPr lang="zh-CN" altLang="en-US" b="1" dirty="0">
                <a:solidFill>
                  <a:schemeClr val="bg1"/>
                </a:solidFill>
              </a:rPr>
              <a:t>引用就是别名。</a:t>
            </a:r>
            <a:endParaRPr lang="zh-CN" altLang="en-US" b="1" dirty="0">
              <a:solidFill>
                <a:schemeClr val="bg1"/>
              </a:solidFill>
            </a:endParaRPr>
          </a:p>
          <a:p>
            <a:pPr eaLnBrk="1" hangingPunct="1">
              <a:buNone/>
            </a:pPr>
            <a:r>
              <a:rPr lang="en-US" altLang="zh-CN" b="1" dirty="0">
                <a:solidFill>
                  <a:schemeClr val="bg1"/>
                </a:solidFill>
              </a:rPr>
              <a:t>int i;</a:t>
            </a:r>
            <a:endParaRPr lang="en-US" altLang="zh-CN" b="1" dirty="0">
              <a:solidFill>
                <a:schemeClr val="bg1"/>
              </a:solidFill>
            </a:endParaRPr>
          </a:p>
          <a:p>
            <a:pPr eaLnBrk="1" hangingPunct="1">
              <a:buNone/>
            </a:pPr>
            <a:r>
              <a:rPr lang="en-US" altLang="zh-CN" b="1" dirty="0">
                <a:solidFill>
                  <a:schemeClr val="bg1"/>
                </a:solidFill>
              </a:rPr>
              <a:t>int &amp; j=i;</a:t>
            </a:r>
            <a:endParaRPr lang="en-US" altLang="zh-CN" b="1" dirty="0">
              <a:solidFill>
                <a:schemeClr val="bg1"/>
              </a:solidFill>
            </a:endParaRPr>
          </a:p>
          <a:p>
            <a:pPr eaLnBrk="1" hangingPunct="1">
              <a:buNone/>
            </a:pPr>
            <a:r>
              <a:rPr lang="fr-FR" altLang="zh-CN" b="1" dirty="0">
                <a:solidFill>
                  <a:schemeClr val="bg1"/>
                </a:solidFill>
              </a:rPr>
              <a:t>i=8;</a:t>
            </a:r>
            <a:endParaRPr lang="fr-FR" altLang="zh-CN" b="1" dirty="0">
              <a:solidFill>
                <a:schemeClr val="bg1"/>
              </a:solidFill>
            </a:endParaRPr>
          </a:p>
          <a:p>
            <a:pPr eaLnBrk="1" hangingPunct="1">
              <a:buNone/>
            </a:pPr>
            <a:r>
              <a:rPr lang="fr-FR" altLang="zh-CN" b="1" dirty="0">
                <a:solidFill>
                  <a:schemeClr val="bg1"/>
                </a:solidFill>
              </a:rPr>
              <a:t> cout&lt;&lt;i&lt;&lt;'\n';</a:t>
            </a:r>
            <a:endParaRPr lang="fr-FR" altLang="zh-CN" b="1" dirty="0">
              <a:solidFill>
                <a:schemeClr val="bg1"/>
              </a:solidFill>
            </a:endParaRPr>
          </a:p>
          <a:p>
            <a:pPr eaLnBrk="1" hangingPunct="1">
              <a:buNone/>
            </a:pPr>
            <a:r>
              <a:rPr lang="fr-FR" altLang="zh-CN" b="1" dirty="0">
                <a:solidFill>
                  <a:schemeClr val="bg1"/>
                </a:solidFill>
              </a:rPr>
              <a:t> cout&lt;&lt;j&lt;&lt;'\n';</a:t>
            </a:r>
            <a:endParaRPr lang="fr-FR" altLang="zh-CN" b="1" dirty="0">
              <a:solidFill>
                <a:schemeClr val="bg1"/>
              </a:solidFill>
            </a:endParaRPr>
          </a:p>
          <a:p>
            <a:pPr eaLnBrk="1" hangingPunct="1">
              <a:buNone/>
            </a:pPr>
            <a:r>
              <a:rPr lang="fr-FR" altLang="zh-CN" b="1" dirty="0">
                <a:solidFill>
                  <a:schemeClr val="bg1"/>
                </a:solidFill>
              </a:rPr>
              <a:t>j=9;</a:t>
            </a:r>
            <a:endParaRPr lang="fr-FR" altLang="zh-CN" b="1" dirty="0">
              <a:solidFill>
                <a:schemeClr val="bg1"/>
              </a:solidFill>
            </a:endParaRPr>
          </a:p>
          <a:p>
            <a:pPr eaLnBrk="1" hangingPunct="1">
              <a:buNone/>
            </a:pPr>
            <a:r>
              <a:rPr lang="fr-FR" altLang="zh-CN" b="1" dirty="0">
                <a:solidFill>
                  <a:schemeClr val="bg1"/>
                </a:solidFill>
              </a:rPr>
              <a:t> cout&lt;&lt;i&lt;&lt;'\n';</a:t>
            </a:r>
            <a:endParaRPr lang="fr-FR" altLang="zh-CN" b="1" dirty="0">
              <a:solidFill>
                <a:schemeClr val="bg1"/>
              </a:solidFill>
            </a:endParaRPr>
          </a:p>
          <a:p>
            <a:pPr eaLnBrk="1" hangingPunct="1">
              <a:buNone/>
            </a:pPr>
            <a:r>
              <a:rPr lang="fr-FR" altLang="zh-CN" b="1" dirty="0">
                <a:solidFill>
                  <a:schemeClr val="bg1"/>
                </a:solidFill>
              </a:rPr>
              <a:t> cout&lt;&lt;j&lt;&lt;'\n';</a:t>
            </a:r>
            <a:endParaRPr lang="fr-FR" altLang="zh-CN" b="1" dirty="0">
              <a:solidFill>
                <a:schemeClr val="bg1"/>
              </a:solidFill>
            </a:endParaRPr>
          </a:p>
        </p:txBody>
      </p:sp>
      <p:sp>
        <p:nvSpPr>
          <p:cNvPr id="5529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6322" name="Rectangle 6"/>
          <p:cNvSpPr>
            <a:spLocks noGrp="1"/>
          </p:cNvSpPr>
          <p:nvPr>
            <p:ph idx="1"/>
          </p:nvPr>
        </p:nvSpPr>
        <p:spPr>
          <a:xfrm>
            <a:off x="685800" y="533400"/>
            <a:ext cx="7772400" cy="5562600"/>
          </a:xfrm>
        </p:spPr>
        <p:txBody>
          <a:bodyPr vert="horz" wrap="square" lIns="91440" tIns="45720" rIns="91440" bIns="45720" anchor="t"/>
          <a:p>
            <a:pPr eaLnBrk="1" hangingPunct="1">
              <a:buNone/>
            </a:pPr>
            <a:r>
              <a:rPr lang="en-US" altLang="zh-CN" sz="4000" b="1" dirty="0">
                <a:solidFill>
                  <a:schemeClr val="bg1"/>
                </a:solidFill>
              </a:rPr>
              <a:t>void g( )</a:t>
            </a:r>
            <a:endParaRPr lang="en-US" altLang="zh-CN" sz="4000" b="1" dirty="0">
              <a:solidFill>
                <a:schemeClr val="bg1"/>
              </a:solidFill>
            </a:endParaRPr>
          </a:p>
          <a:p>
            <a:pPr eaLnBrk="1" hangingPunct="1">
              <a:buNone/>
            </a:pPr>
            <a:r>
              <a:rPr lang="en-US" altLang="zh-CN" sz="4000" b="1" dirty="0">
                <a:solidFill>
                  <a:schemeClr val="bg1"/>
                </a:solidFill>
              </a:rPr>
              <a:t>{</a:t>
            </a:r>
            <a:endParaRPr lang="en-US" altLang="zh-CN" sz="4000" b="1" dirty="0">
              <a:solidFill>
                <a:schemeClr val="bg1"/>
              </a:solidFill>
            </a:endParaRPr>
          </a:p>
          <a:p>
            <a:pPr eaLnBrk="1" hangingPunct="1">
              <a:buNone/>
            </a:pPr>
            <a:r>
              <a:rPr lang="en-US" altLang="zh-CN" sz="4000" b="1" dirty="0">
                <a:solidFill>
                  <a:schemeClr val="bg1"/>
                </a:solidFill>
              </a:rPr>
              <a:t>	int ii=0;</a:t>
            </a:r>
            <a:endParaRPr lang="en-US" altLang="zh-CN" sz="4000" b="1" dirty="0">
              <a:solidFill>
                <a:schemeClr val="bg1"/>
              </a:solidFill>
            </a:endParaRPr>
          </a:p>
          <a:p>
            <a:pPr eaLnBrk="1" hangingPunct="1">
              <a:buNone/>
            </a:pPr>
            <a:r>
              <a:rPr lang="en-US" altLang="zh-CN" sz="4000" b="1" dirty="0">
                <a:solidFill>
                  <a:schemeClr val="bg1"/>
                </a:solidFill>
              </a:rPr>
              <a:t>	int &amp;rr=ii;</a:t>
            </a:r>
            <a:endParaRPr lang="en-US" altLang="zh-CN" sz="4000" b="1" dirty="0">
              <a:solidFill>
                <a:schemeClr val="bg1"/>
              </a:solidFill>
            </a:endParaRPr>
          </a:p>
          <a:p>
            <a:pPr eaLnBrk="1" hangingPunct="1">
              <a:buNone/>
            </a:pPr>
            <a:r>
              <a:rPr lang="en-US" altLang="zh-CN" sz="4000" b="1" dirty="0">
                <a:solidFill>
                  <a:schemeClr val="bg1"/>
                </a:solidFill>
              </a:rPr>
              <a:t>	rr++;</a:t>
            </a:r>
            <a:endParaRPr lang="en-US" altLang="zh-CN" sz="4000" b="1" dirty="0">
              <a:solidFill>
                <a:schemeClr val="bg1"/>
              </a:solidFill>
            </a:endParaRPr>
          </a:p>
          <a:p>
            <a:pPr eaLnBrk="1" hangingPunct="1">
              <a:buNone/>
            </a:pPr>
            <a:r>
              <a:rPr lang="en-US" altLang="zh-CN" sz="4000" b="1" dirty="0">
                <a:solidFill>
                  <a:schemeClr val="bg1"/>
                </a:solidFill>
              </a:rPr>
              <a:t>	int *pp=&amp;rr;</a:t>
            </a:r>
            <a:endParaRPr lang="en-US" altLang="zh-CN" sz="4000" b="1" dirty="0">
              <a:solidFill>
                <a:schemeClr val="bg1"/>
              </a:solidFill>
            </a:endParaRPr>
          </a:p>
          <a:p>
            <a:pPr eaLnBrk="1" hangingPunct="1">
              <a:buNone/>
            </a:pPr>
            <a:r>
              <a:rPr lang="en-US" altLang="zh-CN" sz="4000" b="1" dirty="0">
                <a:solidFill>
                  <a:schemeClr val="bg1"/>
                </a:solidFill>
              </a:rPr>
              <a:t>}</a:t>
            </a:r>
            <a:endParaRPr lang="en-US" altLang="zh-CN" sz="4000" b="1" dirty="0">
              <a:solidFill>
                <a:schemeClr val="bg1"/>
              </a:solidFill>
            </a:endParaRPr>
          </a:p>
        </p:txBody>
      </p:sp>
      <p:sp>
        <p:nvSpPr>
          <p:cNvPr id="56323" name="Rectangle 7"/>
          <p:cNvSpPr/>
          <p:nvPr/>
        </p:nvSpPr>
        <p:spPr>
          <a:xfrm>
            <a:off x="4724400" y="1600200"/>
            <a:ext cx="1600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dirty="0">
                <a:solidFill>
                  <a:schemeClr val="tx1"/>
                </a:solidFill>
                <a:latin typeface="Times New Roman" panose="02020603050405020304" pitchFamily="18" charset="0"/>
                <a:ea typeface="宋体" panose="02010600030101010101" pitchFamily="2" charset="-122"/>
              </a:rPr>
              <a:t>&amp;ii</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56324" name="Rectangle 8"/>
          <p:cNvSpPr/>
          <p:nvPr/>
        </p:nvSpPr>
        <p:spPr>
          <a:xfrm>
            <a:off x="6553200" y="3276600"/>
            <a:ext cx="16764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dirty="0">
                <a:solidFill>
                  <a:schemeClr val="tx1"/>
                </a:solidFill>
                <a:latin typeface="Times New Roman" panose="02020603050405020304" pitchFamily="18" charset="0"/>
                <a:ea typeface="宋体" panose="02010600030101010101" pitchFamily="2" charset="-122"/>
              </a:rPr>
              <a:t>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56325" name="Text Box 9"/>
          <p:cNvSpPr txBox="1"/>
          <p:nvPr/>
        </p:nvSpPr>
        <p:spPr>
          <a:xfrm>
            <a:off x="3962400" y="1600200"/>
            <a:ext cx="762000" cy="519113"/>
          </a:xfrm>
          <a:prstGeom prst="rect">
            <a:avLst/>
          </a:prstGeom>
          <a:noFill/>
          <a:ln w="9525">
            <a:noFill/>
          </a:ln>
        </p:spPr>
        <p:txBody>
          <a:bodyPr anchor="t">
            <a:spAutoFit/>
          </a:bodyPr>
          <a:p>
            <a:pPr>
              <a:spcBef>
                <a:spcPct val="50000"/>
              </a:spcBef>
            </a:pPr>
            <a:r>
              <a:rPr lang="en-US" altLang="zh-CN" sz="2800" b="1" dirty="0">
                <a:latin typeface="Times New Roman" panose="02020603050405020304" pitchFamily="18" charset="0"/>
                <a:ea typeface="宋体" panose="02010600030101010101" pitchFamily="2" charset="-122"/>
              </a:rPr>
              <a:t>pp:</a:t>
            </a:r>
            <a:endParaRPr lang="en-US" altLang="zh-CN" sz="2800" b="1" dirty="0">
              <a:latin typeface="Times New Roman" panose="02020603050405020304" pitchFamily="18" charset="0"/>
              <a:ea typeface="宋体" panose="02010600030101010101" pitchFamily="2" charset="-122"/>
            </a:endParaRPr>
          </a:p>
        </p:txBody>
      </p:sp>
      <p:sp>
        <p:nvSpPr>
          <p:cNvPr id="56326" name="Text Box 10"/>
          <p:cNvSpPr txBox="1"/>
          <p:nvPr/>
        </p:nvSpPr>
        <p:spPr>
          <a:xfrm>
            <a:off x="5715000" y="3352800"/>
            <a:ext cx="762000" cy="519113"/>
          </a:xfrm>
          <a:prstGeom prst="rect">
            <a:avLst/>
          </a:prstGeom>
          <a:noFill/>
          <a:ln w="9525">
            <a:noFill/>
          </a:ln>
        </p:spPr>
        <p:txBody>
          <a:bodyPr anchor="t">
            <a:spAutoFit/>
          </a:bodyPr>
          <a:p>
            <a:pPr>
              <a:spcBef>
                <a:spcPct val="50000"/>
              </a:spcBef>
            </a:pPr>
            <a:r>
              <a:rPr lang="en-US" altLang="zh-CN" sz="2800" b="1" dirty="0">
                <a:latin typeface="Times New Roman" panose="02020603050405020304" pitchFamily="18" charset="0"/>
                <a:ea typeface="宋体" panose="02010600030101010101" pitchFamily="2" charset="-122"/>
              </a:rPr>
              <a:t>ii:</a:t>
            </a:r>
            <a:endParaRPr lang="en-US" altLang="zh-CN" sz="2800" b="1" dirty="0">
              <a:latin typeface="Times New Roman" panose="02020603050405020304" pitchFamily="18" charset="0"/>
              <a:ea typeface="宋体" panose="02010600030101010101" pitchFamily="2" charset="-122"/>
            </a:endParaRPr>
          </a:p>
        </p:txBody>
      </p:sp>
      <p:sp>
        <p:nvSpPr>
          <p:cNvPr id="56327" name="Text Box 11"/>
          <p:cNvSpPr txBox="1"/>
          <p:nvPr/>
        </p:nvSpPr>
        <p:spPr>
          <a:xfrm>
            <a:off x="7772400" y="2514600"/>
            <a:ext cx="762000" cy="519113"/>
          </a:xfrm>
          <a:prstGeom prst="rect">
            <a:avLst/>
          </a:prstGeom>
          <a:noFill/>
          <a:ln w="9525">
            <a:noFill/>
          </a:ln>
        </p:spPr>
        <p:txBody>
          <a:bodyPr anchor="t">
            <a:spAutoFit/>
          </a:bodyPr>
          <a:p>
            <a:pPr>
              <a:spcBef>
                <a:spcPct val="50000"/>
              </a:spcBef>
            </a:pPr>
            <a:r>
              <a:rPr lang="en-US" altLang="zh-CN" sz="2800" b="1" dirty="0">
                <a:latin typeface="Times New Roman" panose="02020603050405020304" pitchFamily="18" charset="0"/>
                <a:ea typeface="宋体" panose="02010600030101010101" pitchFamily="2" charset="-122"/>
              </a:rPr>
              <a:t>rr:</a:t>
            </a:r>
            <a:endParaRPr lang="en-US" altLang="zh-CN" sz="2800" b="1" dirty="0">
              <a:latin typeface="Times New Roman" panose="02020603050405020304" pitchFamily="18" charset="0"/>
              <a:ea typeface="宋体" panose="02010600030101010101" pitchFamily="2" charset="-122"/>
            </a:endParaRPr>
          </a:p>
        </p:txBody>
      </p:sp>
      <p:sp>
        <p:nvSpPr>
          <p:cNvPr id="599052" name="Line 12"/>
          <p:cNvSpPr>
            <a:spLocks noChangeShapeType="1"/>
          </p:cNvSpPr>
          <p:nvPr/>
        </p:nvSpPr>
        <p:spPr bwMode="auto">
          <a:xfrm>
            <a:off x="5867400" y="2209800"/>
            <a:ext cx="1143000" cy="990600"/>
          </a:xfrm>
          <a:prstGeom prst="line">
            <a:avLst/>
          </a:prstGeom>
          <a:noFill/>
          <a:ln w="38100">
            <a:solidFill>
              <a:srgbClr val="FFFF00"/>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ph idx="1"/>
          </p:nvPr>
        </p:nvSpPr>
        <p:spPr>
          <a:xfrm>
            <a:off x="182563" y="765175"/>
            <a:ext cx="8961437" cy="5903913"/>
          </a:xfrm>
        </p:spPr>
        <p:txBody>
          <a:bodyPr vert="horz" wrap="square" lIns="91440" tIns="45720" rIns="91440" bIns="45720" anchor="t"/>
          <a:p>
            <a:pPr eaLnBrk="1" hangingPunct="1">
              <a:lnSpc>
                <a:spcPct val="90000"/>
              </a:lnSpc>
              <a:buNone/>
            </a:pPr>
            <a:r>
              <a:rPr lang="fr-FR" altLang="zh-CN" b="1" dirty="0">
                <a:solidFill>
                  <a:schemeClr val="bg1"/>
                </a:solidFill>
              </a:rPr>
              <a:t>int &amp; i;           </a:t>
            </a:r>
            <a:r>
              <a:rPr lang="zh-CN" altLang="fr-FR" b="1" dirty="0">
                <a:solidFill>
                  <a:schemeClr val="bg1"/>
                </a:solidFill>
              </a:rPr>
              <a:t>错误      </a:t>
            </a:r>
            <a:r>
              <a:rPr lang="fr-FR" altLang="zh-CN" b="1" dirty="0">
                <a:solidFill>
                  <a:schemeClr val="bg1"/>
                </a:solidFill>
              </a:rPr>
              <a:t>int &amp; i</a:t>
            </a:r>
            <a:r>
              <a:rPr lang="zh-CN" altLang="fr-FR" b="1" dirty="0">
                <a:solidFill>
                  <a:schemeClr val="bg1"/>
                </a:solidFill>
              </a:rPr>
              <a:t>＝</a:t>
            </a:r>
            <a:r>
              <a:rPr lang="fr-FR" altLang="zh-CN" b="1" dirty="0">
                <a:solidFill>
                  <a:schemeClr val="bg1"/>
                </a:solidFill>
              </a:rPr>
              <a:t>1;   </a:t>
            </a:r>
            <a:r>
              <a:rPr lang="zh-CN" altLang="fr-FR" b="1" dirty="0">
                <a:solidFill>
                  <a:schemeClr val="bg1"/>
                </a:solidFill>
              </a:rPr>
              <a:t>错误</a:t>
            </a:r>
            <a:endParaRPr lang="zh-CN" altLang="fr-FR" b="1" dirty="0">
              <a:solidFill>
                <a:schemeClr val="bg1"/>
              </a:solidFill>
            </a:endParaRPr>
          </a:p>
          <a:p>
            <a:pPr eaLnBrk="1" hangingPunct="1">
              <a:lnSpc>
                <a:spcPct val="90000"/>
              </a:lnSpc>
              <a:buNone/>
            </a:pPr>
            <a:r>
              <a:rPr lang="zh-CN" altLang="fr-FR" b="1" dirty="0">
                <a:solidFill>
                  <a:schemeClr val="bg1"/>
                </a:solidFill>
              </a:rPr>
              <a:t>定义引用必</a:t>
            </a:r>
            <a:r>
              <a:rPr lang="zh-CN" altLang="en-US" b="1" dirty="0">
                <a:solidFill>
                  <a:schemeClr val="bg1"/>
                </a:solidFill>
              </a:rPr>
              <a:t>须</a:t>
            </a:r>
            <a:r>
              <a:rPr lang="zh-CN" altLang="fr-FR" b="1" dirty="0">
                <a:solidFill>
                  <a:schemeClr val="bg1"/>
                </a:solidFill>
              </a:rPr>
              <a:t>初始化</a:t>
            </a:r>
            <a:r>
              <a:rPr lang="fr-FR" altLang="zh-CN" b="1" dirty="0">
                <a:solidFill>
                  <a:schemeClr val="bg1"/>
                </a:solidFill>
              </a:rPr>
              <a:t>;   </a:t>
            </a:r>
            <a:endParaRPr lang="fr-FR" altLang="zh-CN" b="1" dirty="0">
              <a:solidFill>
                <a:schemeClr val="bg1"/>
              </a:solidFill>
            </a:endParaRPr>
          </a:p>
          <a:p>
            <a:pPr eaLnBrk="1" hangingPunct="1">
              <a:lnSpc>
                <a:spcPct val="90000"/>
              </a:lnSpc>
              <a:buNone/>
            </a:pPr>
            <a:r>
              <a:rPr lang="zh-CN" altLang="en-US" b="1" dirty="0">
                <a:solidFill>
                  <a:schemeClr val="bg1"/>
                </a:solidFill>
              </a:rPr>
              <a:t>为什么使用</a:t>
            </a:r>
            <a:r>
              <a:rPr lang="zh-CN" altLang="fr-FR" b="1" dirty="0">
                <a:solidFill>
                  <a:schemeClr val="bg1"/>
                </a:solidFill>
              </a:rPr>
              <a:t>地址操作符</a:t>
            </a:r>
            <a:endParaRPr lang="zh-CN" altLang="fr-FR" b="1" dirty="0">
              <a:solidFill>
                <a:schemeClr val="bg1"/>
              </a:solidFill>
            </a:endParaRPr>
          </a:p>
          <a:p>
            <a:pPr eaLnBrk="1" hangingPunct="1">
              <a:lnSpc>
                <a:spcPct val="90000"/>
              </a:lnSpc>
              <a:buNone/>
            </a:pPr>
            <a:r>
              <a:rPr lang="zh-CN" altLang="en-US" b="1" dirty="0">
                <a:solidFill>
                  <a:schemeClr val="bg1"/>
                </a:solidFill>
              </a:rPr>
              <a:t>如果：</a:t>
            </a:r>
            <a:r>
              <a:rPr lang="en-US" altLang="zh-CN" b="1" dirty="0">
                <a:solidFill>
                  <a:schemeClr val="bg1"/>
                </a:solidFill>
              </a:rPr>
              <a:t>int &amp;i = j;</a:t>
            </a:r>
            <a:r>
              <a:rPr lang="zh-CN" altLang="en-US" b="1" dirty="0">
                <a:solidFill>
                  <a:schemeClr val="bg1"/>
                </a:solidFill>
              </a:rPr>
              <a:t>则</a:t>
            </a:r>
            <a:r>
              <a:rPr lang="en-US" altLang="zh-CN" b="1" dirty="0">
                <a:solidFill>
                  <a:schemeClr val="bg1"/>
                </a:solidFill>
              </a:rPr>
              <a:t>;i == j; &amp;i == &amp;j;</a:t>
            </a:r>
            <a:endParaRPr lang="zh-CN" altLang="en-US" b="1" dirty="0">
              <a:solidFill>
                <a:schemeClr val="bg1"/>
              </a:solidFill>
            </a:endParaRPr>
          </a:p>
          <a:p>
            <a:pPr eaLnBrk="1" hangingPunct="1">
              <a:lnSpc>
                <a:spcPct val="90000"/>
              </a:lnSpc>
              <a:buNone/>
            </a:pPr>
            <a:r>
              <a:rPr lang="zh-CN" altLang="en-US" b="1" dirty="0">
                <a:solidFill>
                  <a:schemeClr val="bg1"/>
                </a:solidFill>
              </a:rPr>
              <a:t>   </a:t>
            </a:r>
            <a:endParaRPr lang="en-US" altLang="zh-CN" b="1" dirty="0">
              <a:solidFill>
                <a:schemeClr val="bg1"/>
              </a:solidFill>
            </a:endParaRPr>
          </a:p>
          <a:p>
            <a:pPr eaLnBrk="1" hangingPunct="1">
              <a:lnSpc>
                <a:spcPct val="90000"/>
              </a:lnSpc>
              <a:buNone/>
            </a:pPr>
            <a:r>
              <a:rPr lang="en-US" altLang="zh-CN" b="1" dirty="0">
                <a:solidFill>
                  <a:schemeClr val="bg1"/>
                </a:solidFill>
              </a:rPr>
              <a:t>   int j</a:t>
            </a:r>
            <a:r>
              <a:rPr lang="zh-CN" altLang="en-US" b="1" dirty="0">
                <a:solidFill>
                  <a:schemeClr val="bg1"/>
                </a:solidFill>
              </a:rPr>
              <a:t>；  </a:t>
            </a:r>
            <a:r>
              <a:rPr lang="en-US" altLang="zh-CN" b="1" dirty="0">
                <a:solidFill>
                  <a:schemeClr val="bg1"/>
                </a:solidFill>
              </a:rPr>
              <a:t>int&amp;i=j</a:t>
            </a:r>
            <a:r>
              <a:rPr lang="zh-CN" altLang="en-US" b="1" dirty="0">
                <a:solidFill>
                  <a:schemeClr val="bg1"/>
                </a:solidFill>
              </a:rPr>
              <a:t>；  </a:t>
            </a:r>
            <a:r>
              <a:rPr lang="en-US" altLang="zh-CN" b="1" dirty="0">
                <a:solidFill>
                  <a:schemeClr val="bg1"/>
                </a:solidFill>
              </a:rPr>
              <a:t>int  k=8;</a:t>
            </a:r>
            <a:endParaRPr lang="en-US" altLang="zh-CN" b="1" dirty="0">
              <a:solidFill>
                <a:schemeClr val="bg1"/>
              </a:solidFill>
            </a:endParaRPr>
          </a:p>
          <a:p>
            <a:pPr eaLnBrk="1" hangingPunct="1">
              <a:lnSpc>
                <a:spcPct val="90000"/>
              </a:lnSpc>
              <a:buNone/>
            </a:pPr>
            <a:r>
              <a:rPr lang="en-US" altLang="zh-CN" b="1" dirty="0">
                <a:solidFill>
                  <a:schemeClr val="bg1"/>
                </a:solidFill>
              </a:rPr>
              <a:t>   j=9;</a:t>
            </a:r>
            <a:endParaRPr lang="en-US" altLang="zh-CN" b="1" dirty="0">
              <a:solidFill>
                <a:schemeClr val="bg1"/>
              </a:solidFill>
            </a:endParaRPr>
          </a:p>
          <a:p>
            <a:pPr eaLnBrk="1" hangingPunct="1">
              <a:lnSpc>
                <a:spcPct val="90000"/>
              </a:lnSpc>
              <a:buNone/>
            </a:pPr>
            <a:r>
              <a:rPr lang="en-US" altLang="zh-CN" b="1" dirty="0">
                <a:solidFill>
                  <a:schemeClr val="bg1"/>
                </a:solidFill>
              </a:rPr>
              <a:t>   i=k;                    //</a:t>
            </a:r>
            <a:r>
              <a:rPr lang="zh-CN" altLang="en-US" b="1" dirty="0">
                <a:solidFill>
                  <a:schemeClr val="bg1"/>
                </a:solidFill>
              </a:rPr>
              <a:t>仅仅是赋值  </a:t>
            </a:r>
            <a:r>
              <a:rPr lang="en-US" altLang="zh-CN" b="1" dirty="0">
                <a:solidFill>
                  <a:schemeClr val="bg1"/>
                </a:solidFill>
              </a:rPr>
              <a:t>i</a:t>
            </a:r>
            <a:r>
              <a:rPr lang="zh-CN" altLang="en-US" b="1" dirty="0">
                <a:solidFill>
                  <a:schemeClr val="bg1"/>
                </a:solidFill>
              </a:rPr>
              <a:t>没有成为</a:t>
            </a:r>
            <a:r>
              <a:rPr lang="en-US" altLang="zh-CN" b="1" dirty="0">
                <a:solidFill>
                  <a:schemeClr val="bg1"/>
                </a:solidFill>
              </a:rPr>
              <a:t>k</a:t>
            </a:r>
            <a:r>
              <a:rPr lang="zh-CN" altLang="en-US" b="1" dirty="0">
                <a:solidFill>
                  <a:schemeClr val="bg1"/>
                </a:solidFill>
              </a:rPr>
              <a:t>的引用</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cout&lt;&lt;i&lt;&lt;j;</a:t>
            </a:r>
            <a:endParaRPr lang="en-US" altLang="zh-CN" b="1" dirty="0">
              <a:solidFill>
                <a:schemeClr val="bg1"/>
              </a:solidFill>
            </a:endParaRPr>
          </a:p>
          <a:p>
            <a:pPr eaLnBrk="1" hangingPunct="1">
              <a:lnSpc>
                <a:spcPct val="90000"/>
              </a:lnSpc>
              <a:buNone/>
            </a:pPr>
            <a:r>
              <a:rPr lang="en-US" altLang="zh-CN" b="1" dirty="0">
                <a:solidFill>
                  <a:schemeClr val="bg1"/>
                </a:solidFill>
              </a:rPr>
              <a:t>   k=10;</a:t>
            </a:r>
            <a:endParaRPr lang="en-US" altLang="zh-CN" b="1" dirty="0">
              <a:solidFill>
                <a:schemeClr val="bg1"/>
              </a:solidFill>
            </a:endParaRPr>
          </a:p>
          <a:p>
            <a:pPr eaLnBrk="1" hangingPunct="1">
              <a:lnSpc>
                <a:spcPct val="90000"/>
              </a:lnSpc>
              <a:buNone/>
            </a:pPr>
            <a:r>
              <a:rPr lang="en-US" altLang="zh-CN" b="1" dirty="0">
                <a:solidFill>
                  <a:schemeClr val="bg1"/>
                </a:solidFill>
              </a:rPr>
              <a:t>   cout&lt;&lt;i&lt;&lt;j;        </a:t>
            </a:r>
            <a:endParaRPr lang="en-US" altLang="zh-CN" b="1" dirty="0">
              <a:solidFill>
                <a:schemeClr val="bg1"/>
              </a:solidFill>
            </a:endParaRPr>
          </a:p>
        </p:txBody>
      </p:sp>
      <p:sp>
        <p:nvSpPr>
          <p:cNvPr id="5734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idx="1"/>
          </p:nvPr>
        </p:nvSpPr>
        <p:spPr>
          <a:xfrm>
            <a:off x="1908175" y="692150"/>
            <a:ext cx="6118225" cy="5903913"/>
          </a:xfrm>
        </p:spPr>
        <p:txBody>
          <a:bodyPr vert="horz" wrap="square" lIns="91440" tIns="45720" rIns="91440" bIns="45720" anchor="t"/>
          <a:p>
            <a:pPr eaLnBrk="1" hangingPunct="1">
              <a:buNone/>
            </a:pPr>
            <a:r>
              <a:rPr lang="zh-CN" altLang="en-US" b="1" dirty="0">
                <a:solidFill>
                  <a:schemeClr val="bg1"/>
                </a:solidFill>
              </a:rPr>
              <a:t>引用的使用</a:t>
            </a:r>
            <a:endParaRPr lang="zh-CN" altLang="en-US" b="1" dirty="0">
              <a:solidFill>
                <a:schemeClr val="bg1"/>
              </a:solidFill>
            </a:endParaRPr>
          </a:p>
          <a:p>
            <a:pPr eaLnBrk="1" hangingPunct="1">
              <a:buNone/>
            </a:pPr>
            <a:r>
              <a:rPr lang="zh-CN" altLang="en-US" b="1" dirty="0">
                <a:solidFill>
                  <a:schemeClr val="bg1"/>
                </a:solidFill>
              </a:rPr>
              <a:t>引用一旦被定义则不能再修改</a:t>
            </a:r>
            <a:endParaRPr lang="zh-CN" altLang="en-US" b="1" dirty="0">
              <a:solidFill>
                <a:schemeClr val="bg1"/>
              </a:solidFill>
            </a:endParaRPr>
          </a:p>
          <a:p>
            <a:pPr eaLnBrk="1" hangingPunct="1">
              <a:buNone/>
            </a:pPr>
            <a:r>
              <a:rPr lang="fr-FR" altLang="zh-CN" b="1" dirty="0">
                <a:solidFill>
                  <a:schemeClr val="bg1"/>
                </a:solidFill>
              </a:rPr>
              <a:t>int &amp;s</a:t>
            </a:r>
            <a:r>
              <a:rPr lang="zh-CN" altLang="fr-FR" b="1" dirty="0">
                <a:solidFill>
                  <a:schemeClr val="bg1"/>
                </a:solidFill>
              </a:rPr>
              <a:t>＝</a:t>
            </a:r>
            <a:r>
              <a:rPr lang="fr-FR" altLang="zh-CN" b="1" dirty="0">
                <a:solidFill>
                  <a:schemeClr val="bg1"/>
                </a:solidFill>
              </a:rPr>
              <a:t>j;     int &amp;s=k;(</a:t>
            </a:r>
            <a:r>
              <a:rPr lang="zh-CN" altLang="fr-FR" b="1" dirty="0">
                <a:solidFill>
                  <a:schemeClr val="bg1"/>
                </a:solidFill>
              </a:rPr>
              <a:t>错误</a:t>
            </a:r>
            <a:r>
              <a:rPr lang="fr-FR" altLang="zh-CN" b="1" dirty="0">
                <a:solidFill>
                  <a:schemeClr val="bg1"/>
                </a:solidFill>
              </a:rPr>
              <a:t>) </a:t>
            </a:r>
            <a:endParaRPr lang="fr-FR" altLang="zh-CN" b="1" dirty="0">
              <a:solidFill>
                <a:schemeClr val="bg1"/>
              </a:solidFill>
            </a:endParaRPr>
          </a:p>
          <a:p>
            <a:pPr eaLnBrk="1" hangingPunct="1">
              <a:buNone/>
            </a:pPr>
            <a:r>
              <a:rPr lang="fr-FR" altLang="zh-CN" b="1" dirty="0">
                <a:solidFill>
                  <a:schemeClr val="bg1"/>
                </a:solidFill>
              </a:rPr>
              <a:t>int *i;</a:t>
            </a:r>
            <a:endParaRPr lang="fr-FR" altLang="zh-CN" b="1" dirty="0">
              <a:solidFill>
                <a:schemeClr val="bg1"/>
              </a:solidFill>
            </a:endParaRPr>
          </a:p>
          <a:p>
            <a:pPr eaLnBrk="1" hangingPunct="1">
              <a:buNone/>
            </a:pPr>
            <a:r>
              <a:rPr lang="fr-FR" altLang="zh-CN" b="1" dirty="0">
                <a:solidFill>
                  <a:schemeClr val="bg1"/>
                </a:solidFill>
              </a:rPr>
              <a:t>int k;</a:t>
            </a:r>
            <a:endParaRPr lang="fr-FR" altLang="zh-CN" b="1" dirty="0">
              <a:solidFill>
                <a:schemeClr val="bg1"/>
              </a:solidFill>
            </a:endParaRPr>
          </a:p>
          <a:p>
            <a:pPr eaLnBrk="1" hangingPunct="1">
              <a:buNone/>
            </a:pPr>
            <a:r>
              <a:rPr lang="fr-FR" altLang="zh-CN" b="1" dirty="0">
                <a:solidFill>
                  <a:schemeClr val="bg1"/>
                </a:solidFill>
              </a:rPr>
              <a:t>int * &amp;j=i;      </a:t>
            </a:r>
            <a:r>
              <a:rPr lang="zh-CN" altLang="en-US" b="1" dirty="0">
                <a:solidFill>
                  <a:schemeClr val="bg1"/>
                </a:solidFill>
              </a:rPr>
              <a:t>指针的引用</a:t>
            </a:r>
            <a:r>
              <a:rPr lang="fr-FR" altLang="zh-CN" b="1" dirty="0">
                <a:solidFill>
                  <a:schemeClr val="bg1"/>
                </a:solidFill>
              </a:rPr>
              <a:t>         </a:t>
            </a:r>
            <a:endParaRPr lang="zh-CN" altLang="fr-FR" b="1" dirty="0">
              <a:solidFill>
                <a:schemeClr val="bg1"/>
              </a:solidFill>
            </a:endParaRPr>
          </a:p>
          <a:p>
            <a:pPr eaLnBrk="1" hangingPunct="1">
              <a:buNone/>
            </a:pPr>
            <a:r>
              <a:rPr lang="fr-FR" altLang="zh-CN" b="1" dirty="0">
                <a:solidFill>
                  <a:schemeClr val="bg1"/>
                </a:solidFill>
              </a:rPr>
              <a:t>j=&amp;k;</a:t>
            </a:r>
            <a:endParaRPr lang="fr-FR" altLang="zh-CN" b="1" dirty="0">
              <a:solidFill>
                <a:schemeClr val="bg1"/>
              </a:solidFill>
            </a:endParaRPr>
          </a:p>
          <a:p>
            <a:pPr eaLnBrk="1" hangingPunct="1">
              <a:buNone/>
            </a:pPr>
            <a:r>
              <a:rPr lang="fr-FR" altLang="zh-CN" b="1" dirty="0">
                <a:solidFill>
                  <a:schemeClr val="bg1"/>
                </a:solidFill>
              </a:rPr>
              <a:t>k=5;</a:t>
            </a:r>
            <a:endParaRPr lang="fr-FR" altLang="zh-CN" b="1" dirty="0">
              <a:solidFill>
                <a:schemeClr val="bg1"/>
              </a:solidFill>
            </a:endParaRPr>
          </a:p>
          <a:p>
            <a:pPr eaLnBrk="1" hangingPunct="1">
              <a:buNone/>
            </a:pPr>
            <a:r>
              <a:rPr lang="fr-FR" altLang="zh-CN" b="1" dirty="0">
                <a:solidFill>
                  <a:schemeClr val="bg1"/>
                </a:solidFill>
              </a:rPr>
              <a:t>int * &amp;l=j;</a:t>
            </a:r>
            <a:endParaRPr lang="fr-FR" altLang="zh-CN" b="1" dirty="0">
              <a:solidFill>
                <a:schemeClr val="bg1"/>
              </a:solidFill>
            </a:endParaRPr>
          </a:p>
          <a:p>
            <a:pPr eaLnBrk="1" hangingPunct="1">
              <a:buNone/>
            </a:pPr>
            <a:r>
              <a:rPr lang="fr-FR" altLang="zh-CN" b="1" dirty="0">
                <a:solidFill>
                  <a:schemeClr val="bg1"/>
                </a:solidFill>
              </a:rPr>
              <a:t>cout&lt;&lt;*j&lt;&lt;*i&lt;&lt;*l;</a:t>
            </a:r>
            <a:endParaRPr lang="fr-FR" altLang="zh-CN" b="1" dirty="0">
              <a:solidFill>
                <a:schemeClr val="bg1"/>
              </a:solidFill>
            </a:endParaRPr>
          </a:p>
        </p:txBody>
      </p:sp>
      <p:sp>
        <p:nvSpPr>
          <p:cNvPr id="5837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idx="1"/>
          </p:nvPr>
        </p:nvSpPr>
        <p:spPr>
          <a:xfrm>
            <a:off x="182563" y="549275"/>
            <a:ext cx="8961437" cy="6119813"/>
          </a:xfrm>
        </p:spPr>
        <p:txBody>
          <a:bodyPr vert="horz" wrap="square" lIns="91440" tIns="45720" rIns="91440" bIns="45720" anchor="t"/>
          <a:p>
            <a:pPr eaLnBrk="1" hangingPunct="1">
              <a:lnSpc>
                <a:spcPct val="80000"/>
              </a:lnSpc>
              <a:buNone/>
            </a:pPr>
            <a:r>
              <a:rPr lang="zh-CN" altLang="en-US" sz="2400" b="1" dirty="0">
                <a:solidFill>
                  <a:schemeClr val="bg1"/>
                </a:solidFill>
              </a:rPr>
              <a:t>引用的使用－参数传递</a:t>
            </a:r>
            <a:endParaRPr lang="zh-CN" altLang="en-US"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a=1,b=2;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swap(a,b);                    </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cout&lt;&lt;a&lt;&lt;b;                   </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swap1(&amp;a,&amp;b);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swap(int &amp;a,int &amp;b)  //</a:t>
            </a:r>
            <a:r>
              <a:rPr lang="zh-CN" altLang="en-US" sz="2400" b="1" dirty="0">
                <a:solidFill>
                  <a:schemeClr val="bg1"/>
                </a:solidFill>
              </a:rPr>
              <a:t>和指针的意义是等价的形式直白而已</a:t>
            </a:r>
            <a:endParaRPr lang="zh-CN" altLang="en-US" sz="2400" b="1" dirty="0">
              <a:solidFill>
                <a:schemeClr val="bg1"/>
              </a:solidFill>
            </a:endParaRPr>
          </a:p>
          <a:p>
            <a:pPr eaLnBrk="1" hangingPunct="1">
              <a:lnSpc>
                <a:spcPct val="80000"/>
              </a:lnSpc>
              <a:buNone/>
            </a:pPr>
            <a:r>
              <a:rPr lang="en-US" altLang="zh-CN" sz="2400" b="1" dirty="0">
                <a:solidFill>
                  <a:schemeClr val="bg1"/>
                </a:solidFill>
              </a:rPr>
              <a:t>{  int 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c=a; a=b;  b=c;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swap1(int *a,int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c=*a; *a=*b;  *b=c;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r>
              <a:rPr lang="zh-CN" altLang="en-US" sz="2400" b="1" dirty="0">
                <a:solidFill>
                  <a:schemeClr val="bg1"/>
                </a:solidFill>
              </a:rPr>
              <a:t>参数结合符合初始化标准；其副作用</a:t>
            </a:r>
            <a:endParaRPr lang="zh-CN" altLang="en-US" sz="2400" b="1" dirty="0">
              <a:solidFill>
                <a:schemeClr val="bg1"/>
              </a:solidFill>
            </a:endParaRPr>
          </a:p>
        </p:txBody>
      </p:sp>
      <p:sp>
        <p:nvSpPr>
          <p:cNvPr id="59394" name="Rectangle 3"/>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59395" name="直接连接符 3"/>
          <p:cNvCxnSpPr/>
          <p:nvPr/>
        </p:nvCxnSpPr>
        <p:spPr>
          <a:xfrm>
            <a:off x="7235825" y="3860800"/>
            <a:ext cx="0" cy="2881313"/>
          </a:xfrm>
          <a:prstGeom prst="line">
            <a:avLst/>
          </a:prstGeom>
          <a:ln w="9525" cap="flat" cmpd="sng">
            <a:solidFill>
              <a:schemeClr val="bg1"/>
            </a:solidFill>
            <a:prstDash val="solid"/>
            <a:round/>
            <a:headEnd type="none" w="med" len="med"/>
            <a:tailEnd type="none" w="med" len="med"/>
          </a:ln>
        </p:spPr>
      </p:cxnSp>
      <p:sp>
        <p:nvSpPr>
          <p:cNvPr id="5" name="矩形 4"/>
          <p:cNvSpPr/>
          <p:nvPr/>
        </p:nvSpPr>
        <p:spPr bwMode="auto">
          <a:xfrm>
            <a:off x="6300788" y="5300663"/>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矩形 5"/>
          <p:cNvSpPr/>
          <p:nvPr/>
        </p:nvSpPr>
        <p:spPr bwMode="auto">
          <a:xfrm>
            <a:off x="6300788" y="5876925"/>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398" name="TextBox 6"/>
          <p:cNvSpPr txBox="1"/>
          <p:nvPr/>
        </p:nvSpPr>
        <p:spPr>
          <a:xfrm>
            <a:off x="5724525" y="51482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9399" name="TextBox 7"/>
          <p:cNvSpPr txBox="1"/>
          <p:nvPr/>
        </p:nvSpPr>
        <p:spPr>
          <a:xfrm>
            <a:off x="5724525" y="57245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9" name="矩形 8"/>
          <p:cNvSpPr/>
          <p:nvPr/>
        </p:nvSpPr>
        <p:spPr bwMode="auto">
          <a:xfrm>
            <a:off x="7524750" y="5300663"/>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 name="矩形 9"/>
          <p:cNvSpPr/>
          <p:nvPr/>
        </p:nvSpPr>
        <p:spPr bwMode="auto">
          <a:xfrm>
            <a:off x="7524750" y="5876925"/>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402" name="TextBox 10"/>
          <p:cNvSpPr txBox="1"/>
          <p:nvPr/>
        </p:nvSpPr>
        <p:spPr>
          <a:xfrm>
            <a:off x="8243888" y="51482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9403" name="TextBox 11"/>
          <p:cNvSpPr txBox="1"/>
          <p:nvPr/>
        </p:nvSpPr>
        <p:spPr>
          <a:xfrm>
            <a:off x="8243888" y="57245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13" name="矩形 12"/>
          <p:cNvSpPr/>
          <p:nvPr/>
        </p:nvSpPr>
        <p:spPr bwMode="auto">
          <a:xfrm>
            <a:off x="6300788" y="3941763"/>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 name="矩形 13"/>
          <p:cNvSpPr/>
          <p:nvPr/>
        </p:nvSpPr>
        <p:spPr bwMode="auto">
          <a:xfrm>
            <a:off x="6300788" y="4518025"/>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406" name="TextBox 14"/>
          <p:cNvSpPr txBox="1"/>
          <p:nvPr/>
        </p:nvSpPr>
        <p:spPr>
          <a:xfrm>
            <a:off x="5724525" y="37893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9407" name="TextBox 15"/>
          <p:cNvSpPr txBox="1"/>
          <p:nvPr/>
        </p:nvSpPr>
        <p:spPr>
          <a:xfrm>
            <a:off x="5724525" y="43656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59408" name="TextBox 18"/>
          <p:cNvSpPr txBox="1"/>
          <p:nvPr/>
        </p:nvSpPr>
        <p:spPr>
          <a:xfrm>
            <a:off x="8243888" y="37893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59409" name="TextBox 19"/>
          <p:cNvSpPr txBox="1"/>
          <p:nvPr/>
        </p:nvSpPr>
        <p:spPr>
          <a:xfrm>
            <a:off x="8243888" y="436562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cxnSp>
        <p:nvCxnSpPr>
          <p:cNvPr id="59410" name="直接连接符 21"/>
          <p:cNvCxnSpPr/>
          <p:nvPr/>
        </p:nvCxnSpPr>
        <p:spPr>
          <a:xfrm>
            <a:off x="5148263" y="5084763"/>
            <a:ext cx="3995737" cy="0"/>
          </a:xfrm>
          <a:prstGeom prst="line">
            <a:avLst/>
          </a:prstGeom>
          <a:ln w="9525" cap="flat" cmpd="sng">
            <a:solidFill>
              <a:schemeClr val="bg1"/>
            </a:solidFill>
            <a:prstDash val="solid"/>
            <a:round/>
            <a:headEnd type="none" w="med" len="med"/>
            <a:tailEnd type="none" w="med" len="med"/>
          </a:ln>
        </p:spPr>
      </p:cxnSp>
      <p:sp>
        <p:nvSpPr>
          <p:cNvPr id="25" name="椭圆 24"/>
          <p:cNvSpPr/>
          <p:nvPr/>
        </p:nvSpPr>
        <p:spPr bwMode="auto">
          <a:xfrm>
            <a:off x="7812088" y="4076700"/>
            <a:ext cx="73025" cy="7302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6" name="椭圆 25"/>
          <p:cNvSpPr/>
          <p:nvPr/>
        </p:nvSpPr>
        <p:spPr bwMode="auto">
          <a:xfrm>
            <a:off x="7812088" y="4652963"/>
            <a:ext cx="73025" cy="71438"/>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59413" name="直接连接符 27"/>
          <p:cNvCxnSpPr>
            <a:stCxn id="13" idx="3"/>
            <a:endCxn id="25" idx="6"/>
          </p:cNvCxnSpPr>
          <p:nvPr/>
        </p:nvCxnSpPr>
        <p:spPr>
          <a:xfrm flipV="1">
            <a:off x="6875463" y="4113213"/>
            <a:ext cx="1009650" cy="7937"/>
          </a:xfrm>
          <a:prstGeom prst="line">
            <a:avLst/>
          </a:prstGeom>
          <a:ln w="9525" cap="flat" cmpd="sng">
            <a:solidFill>
              <a:schemeClr val="bg1"/>
            </a:solidFill>
            <a:prstDash val="solid"/>
            <a:round/>
            <a:headEnd type="triangle" w="med" len="med"/>
            <a:tailEnd type="none" w="med" len="med"/>
          </a:ln>
        </p:spPr>
      </p:cxnSp>
      <p:cxnSp>
        <p:nvCxnSpPr>
          <p:cNvPr id="59414" name="直接连接符 29"/>
          <p:cNvCxnSpPr>
            <a:stCxn id="13" idx="3"/>
            <a:endCxn id="25" idx="6"/>
          </p:cNvCxnSpPr>
          <p:nvPr/>
        </p:nvCxnSpPr>
        <p:spPr>
          <a:xfrm flipV="1">
            <a:off x="6875463" y="4716463"/>
            <a:ext cx="1009650" cy="7937"/>
          </a:xfrm>
          <a:prstGeom prst="line">
            <a:avLst/>
          </a:prstGeom>
          <a:ln w="9525" cap="flat" cmpd="sng">
            <a:solidFill>
              <a:schemeClr val="bg1"/>
            </a:solidFill>
            <a:prstDash val="solid"/>
            <a:round/>
            <a:headEnd type="triangle" w="med" len="med"/>
            <a:tailEnd type="non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idx="1"/>
          </p:nvPr>
        </p:nvSpPr>
        <p:spPr>
          <a:xfrm>
            <a:off x="250825" y="692150"/>
            <a:ext cx="8893175"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引用的引出（正常对象值的传递的情况）</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r>
              <a:rPr lang="zh-CN" altLang="en-US" sz="2400" b="1" dirty="0">
                <a:solidFill>
                  <a:schemeClr val="bg1"/>
                </a:solidFill>
              </a:rPr>
              <a:t>（）</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classA 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method(a,b);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method(ClassA &amp; a,Class &amp;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参数传递相当于：</a:t>
            </a:r>
            <a:r>
              <a:rPr lang="en-US" altLang="zh-CN" sz="2400" b="1" dirty="0">
                <a:solidFill>
                  <a:schemeClr val="bg1"/>
                </a:solidFill>
              </a:rPr>
              <a:t>classA &amp; swap.a = main.a;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引用的使用不再引起拷贝构造函数的调用，避免拷贝构造函数调用的代价</a:t>
            </a:r>
            <a:endParaRPr lang="en-US" altLang="zh-CN" sz="2400" b="1" dirty="0">
              <a:solidFill>
                <a:schemeClr val="bg1"/>
              </a:solidFill>
            </a:endParaRPr>
          </a:p>
        </p:txBody>
      </p:sp>
      <p:sp>
        <p:nvSpPr>
          <p:cNvPr id="6041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60419" name="直接连接符 3"/>
          <p:cNvCxnSpPr/>
          <p:nvPr/>
        </p:nvCxnSpPr>
        <p:spPr>
          <a:xfrm flipH="1">
            <a:off x="7200900" y="549275"/>
            <a:ext cx="34925" cy="3816350"/>
          </a:xfrm>
          <a:prstGeom prst="line">
            <a:avLst/>
          </a:prstGeom>
          <a:ln w="9525" cap="flat" cmpd="sng">
            <a:solidFill>
              <a:schemeClr val="bg1"/>
            </a:solidFill>
            <a:prstDash val="solid"/>
            <a:round/>
            <a:headEnd type="none" w="med" len="med"/>
            <a:tailEnd type="none" w="med" len="med"/>
          </a:ln>
        </p:spPr>
      </p:cxnSp>
      <p:sp>
        <p:nvSpPr>
          <p:cNvPr id="13" name="矩形 12"/>
          <p:cNvSpPr/>
          <p:nvPr/>
        </p:nvSpPr>
        <p:spPr bwMode="auto">
          <a:xfrm>
            <a:off x="6265863" y="1565275"/>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 name="矩形 13"/>
          <p:cNvSpPr/>
          <p:nvPr/>
        </p:nvSpPr>
        <p:spPr bwMode="auto">
          <a:xfrm>
            <a:off x="6265863" y="2141538"/>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422" name="TextBox 14"/>
          <p:cNvSpPr txBox="1"/>
          <p:nvPr/>
        </p:nvSpPr>
        <p:spPr>
          <a:xfrm>
            <a:off x="5689600" y="141287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60423" name="TextBox 15"/>
          <p:cNvSpPr txBox="1"/>
          <p:nvPr/>
        </p:nvSpPr>
        <p:spPr>
          <a:xfrm>
            <a:off x="5689600" y="1989138"/>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60424" name="TextBox 18"/>
          <p:cNvSpPr txBox="1"/>
          <p:nvPr/>
        </p:nvSpPr>
        <p:spPr>
          <a:xfrm>
            <a:off x="8208963" y="141287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60425" name="TextBox 19"/>
          <p:cNvSpPr txBox="1"/>
          <p:nvPr/>
        </p:nvSpPr>
        <p:spPr>
          <a:xfrm>
            <a:off x="8208963" y="1989138"/>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20" name="椭圆 19"/>
          <p:cNvSpPr/>
          <p:nvPr/>
        </p:nvSpPr>
        <p:spPr bwMode="auto">
          <a:xfrm>
            <a:off x="7777163" y="1700213"/>
            <a:ext cx="73025" cy="7302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1" name="椭圆 20"/>
          <p:cNvSpPr/>
          <p:nvPr/>
        </p:nvSpPr>
        <p:spPr bwMode="auto">
          <a:xfrm>
            <a:off x="7777163" y="2276475"/>
            <a:ext cx="73025" cy="71438"/>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60428" name="直接连接符 27"/>
          <p:cNvCxnSpPr>
            <a:stCxn id="13" idx="3"/>
            <a:endCxn id="20" idx="6"/>
          </p:cNvCxnSpPr>
          <p:nvPr/>
        </p:nvCxnSpPr>
        <p:spPr>
          <a:xfrm flipV="1">
            <a:off x="6840538" y="1736725"/>
            <a:ext cx="1009650" cy="7938"/>
          </a:xfrm>
          <a:prstGeom prst="line">
            <a:avLst/>
          </a:prstGeom>
          <a:ln w="9525" cap="flat" cmpd="sng">
            <a:solidFill>
              <a:schemeClr val="bg1"/>
            </a:solidFill>
            <a:prstDash val="solid"/>
            <a:round/>
            <a:headEnd type="triangle" w="med" len="med"/>
            <a:tailEnd type="none" w="med" len="med"/>
          </a:ln>
        </p:spPr>
      </p:cxnSp>
      <p:cxnSp>
        <p:nvCxnSpPr>
          <p:cNvPr id="60429" name="直接连接符 29"/>
          <p:cNvCxnSpPr>
            <a:stCxn id="13" idx="3"/>
            <a:endCxn id="20" idx="6"/>
          </p:cNvCxnSpPr>
          <p:nvPr/>
        </p:nvCxnSpPr>
        <p:spPr>
          <a:xfrm flipV="1">
            <a:off x="6840538" y="2339975"/>
            <a:ext cx="1009650" cy="7938"/>
          </a:xfrm>
          <a:prstGeom prst="line">
            <a:avLst/>
          </a:prstGeom>
          <a:ln w="9525" cap="flat" cmpd="sng">
            <a:solidFill>
              <a:schemeClr val="bg1"/>
            </a:solidFill>
            <a:prstDash val="solid"/>
            <a:round/>
            <a:headEnd type="triangle" w="med" len="med"/>
            <a:tailEnd type="non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idx="1"/>
          </p:nvPr>
        </p:nvSpPr>
        <p:spPr>
          <a:xfrm>
            <a:off x="2198688" y="765175"/>
            <a:ext cx="5757862" cy="5903913"/>
          </a:xfrm>
        </p:spPr>
        <p:txBody>
          <a:bodyPr vert="horz" wrap="square" lIns="91440" tIns="45720" rIns="91440" bIns="45720" anchor="t"/>
          <a:p>
            <a:pPr eaLnBrk="1" hangingPunct="1">
              <a:lnSpc>
                <a:spcPct val="80000"/>
              </a:lnSpc>
              <a:buNone/>
            </a:pPr>
            <a:r>
              <a:rPr lang="zh-CN" altLang="en-US" sz="2800" b="1" dirty="0">
                <a:solidFill>
                  <a:schemeClr val="bg1"/>
                </a:solidFill>
              </a:rPr>
              <a:t>引用的使用－返回引用的函数</a:t>
            </a:r>
            <a:endParaRPr lang="zh-CN" altLang="en-US"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a=5;</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&amp; c=f(a);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cout&lt;&lt;a&lt;&lt;c;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c=c+1;</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cout&lt;&lt;a&lt;&lt;c;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float &amp; f(float &amp; r)</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r=3.14*r*r;</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return(r);</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6144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5" name="直接连接符 4"/>
          <p:cNvCxnSpPr/>
          <p:nvPr/>
        </p:nvCxnSpPr>
        <p:spPr>
          <a:xfrm>
            <a:off x="7092950" y="2060575"/>
            <a:ext cx="71438" cy="3671888"/>
          </a:xfrm>
          <a:prstGeom prst="line">
            <a:avLst/>
          </a:prstGeom>
          <a:ln w="9525" cap="flat" cmpd="sng">
            <a:solidFill>
              <a:schemeClr val="bg1"/>
            </a:solidFill>
            <a:prstDash val="solid"/>
            <a:round/>
            <a:headEnd type="none" w="med" len="med"/>
            <a:tailEnd type="none" w="med" len="med"/>
          </a:ln>
        </p:spPr>
      </p:cxnSp>
      <p:sp>
        <p:nvSpPr>
          <p:cNvPr id="6" name="矩形 5"/>
          <p:cNvSpPr/>
          <p:nvPr/>
        </p:nvSpPr>
        <p:spPr bwMode="auto">
          <a:xfrm>
            <a:off x="6300788" y="3221038"/>
            <a:ext cx="574675"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TextBox 6"/>
          <p:cNvSpPr txBox="1"/>
          <p:nvPr/>
        </p:nvSpPr>
        <p:spPr>
          <a:xfrm>
            <a:off x="5724525" y="3068638"/>
            <a:ext cx="431800" cy="585787"/>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8" name="椭圆 7"/>
          <p:cNvSpPr/>
          <p:nvPr/>
        </p:nvSpPr>
        <p:spPr bwMode="auto">
          <a:xfrm>
            <a:off x="6516688" y="4076700"/>
            <a:ext cx="142875" cy="144463"/>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TextBox 8"/>
          <p:cNvSpPr txBox="1"/>
          <p:nvPr/>
        </p:nvSpPr>
        <p:spPr>
          <a:xfrm>
            <a:off x="5724525" y="37893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c</a:t>
            </a:r>
            <a:endParaRPr lang="zh-CN" altLang="en-US" sz="3200" dirty="0">
              <a:latin typeface="Times New Roman" panose="02020603050405020304" pitchFamily="18" charset="0"/>
              <a:ea typeface="宋体" panose="02010600030101010101" pitchFamily="2" charset="-122"/>
            </a:endParaRPr>
          </a:p>
        </p:txBody>
      </p:sp>
      <p:sp>
        <p:nvSpPr>
          <p:cNvPr id="10" name="椭圆 9"/>
          <p:cNvSpPr/>
          <p:nvPr/>
        </p:nvSpPr>
        <p:spPr bwMode="auto">
          <a:xfrm>
            <a:off x="8027988" y="3357563"/>
            <a:ext cx="144463" cy="14287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 name="TextBox 10"/>
          <p:cNvSpPr txBox="1"/>
          <p:nvPr/>
        </p:nvSpPr>
        <p:spPr>
          <a:xfrm>
            <a:off x="8459788" y="3068638"/>
            <a:ext cx="433387" cy="585787"/>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r</a:t>
            </a:r>
            <a:endParaRPr lang="zh-CN" altLang="en-US" sz="3200" dirty="0">
              <a:latin typeface="Times New Roman" panose="02020603050405020304" pitchFamily="18" charset="0"/>
              <a:ea typeface="宋体" panose="02010600030101010101" pitchFamily="2" charset="-122"/>
            </a:endParaRPr>
          </a:p>
        </p:txBody>
      </p:sp>
      <p:sp>
        <p:nvSpPr>
          <p:cNvPr id="12" name="椭圆 11"/>
          <p:cNvSpPr/>
          <p:nvPr/>
        </p:nvSpPr>
        <p:spPr bwMode="auto">
          <a:xfrm>
            <a:off x="8027988" y="4787900"/>
            <a:ext cx="144463" cy="144463"/>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 name="TextBox 12"/>
          <p:cNvSpPr txBox="1"/>
          <p:nvPr/>
        </p:nvSpPr>
        <p:spPr>
          <a:xfrm>
            <a:off x="8532813" y="45005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f</a:t>
            </a:r>
            <a:endParaRPr lang="zh-CN" altLang="en-US" sz="3200" dirty="0">
              <a:latin typeface="Times New Roman" panose="02020603050405020304" pitchFamily="18" charset="0"/>
              <a:ea typeface="宋体" panose="02010600030101010101" pitchFamily="2" charset="-122"/>
            </a:endParaRPr>
          </a:p>
        </p:txBody>
      </p:sp>
      <p:cxnSp>
        <p:nvCxnSpPr>
          <p:cNvPr id="15" name="直接连接符 14"/>
          <p:cNvCxnSpPr>
            <a:stCxn id="8" idx="5"/>
            <a:endCxn id="12" idx="1"/>
          </p:cNvCxnSpPr>
          <p:nvPr/>
        </p:nvCxnSpPr>
        <p:spPr>
          <a:xfrm>
            <a:off x="6638925" y="4200525"/>
            <a:ext cx="1411288" cy="609600"/>
          </a:xfrm>
          <a:prstGeom prst="line">
            <a:avLst/>
          </a:prstGeom>
          <a:ln w="9525" cap="flat" cmpd="sng">
            <a:solidFill>
              <a:schemeClr val="bg1"/>
            </a:solidFill>
            <a:prstDash val="solid"/>
            <a:round/>
            <a:headEnd type="none" w="med" len="med"/>
            <a:tailEnd type="none" w="med" len="med"/>
          </a:ln>
        </p:spPr>
      </p:cxnSp>
      <p:cxnSp>
        <p:nvCxnSpPr>
          <p:cNvPr id="18" name="直接连接符 17"/>
          <p:cNvCxnSpPr>
            <a:stCxn id="6" idx="3"/>
            <a:endCxn id="10" idx="1"/>
          </p:cNvCxnSpPr>
          <p:nvPr/>
        </p:nvCxnSpPr>
        <p:spPr>
          <a:xfrm flipV="1">
            <a:off x="6875463" y="3378200"/>
            <a:ext cx="1174750" cy="23813"/>
          </a:xfrm>
          <a:prstGeom prst="line">
            <a:avLst/>
          </a:prstGeom>
          <a:ln w="9525" cap="flat" cmpd="sng">
            <a:solidFill>
              <a:schemeClr val="bg1"/>
            </a:solidFill>
            <a:prstDash val="solid"/>
            <a:round/>
            <a:headEnd type="none" w="med" len="med"/>
            <a:tailEnd type="none" w="med" len="med"/>
          </a:ln>
        </p:spPr>
      </p:cxnSp>
      <p:cxnSp>
        <p:nvCxnSpPr>
          <p:cNvPr id="20" name="直接连接符 19"/>
          <p:cNvCxnSpPr>
            <a:stCxn id="10" idx="4"/>
            <a:endCxn id="12" idx="0"/>
          </p:cNvCxnSpPr>
          <p:nvPr/>
        </p:nvCxnSpPr>
        <p:spPr>
          <a:xfrm>
            <a:off x="8101013" y="3500438"/>
            <a:ext cx="0" cy="1287462"/>
          </a:xfrm>
          <a:prstGeom prst="line">
            <a:avLst/>
          </a:prstGeom>
          <a:ln w="9525" cap="flat" cmpd="sng">
            <a:solidFill>
              <a:schemeClr val="bg1"/>
            </a:solidFill>
            <a:prstDash val="solid"/>
            <a:round/>
            <a:headEnd type="none" w="med" len="med"/>
            <a:tailEnd type="none" w="med" len="med"/>
          </a:ln>
        </p:spPr>
      </p:cxnSp>
      <p:cxnSp>
        <p:nvCxnSpPr>
          <p:cNvPr id="22" name="直接连接符 21"/>
          <p:cNvCxnSpPr>
            <a:stCxn id="6" idx="2"/>
            <a:endCxn id="12" idx="0"/>
          </p:cNvCxnSpPr>
          <p:nvPr/>
        </p:nvCxnSpPr>
        <p:spPr>
          <a:xfrm>
            <a:off x="6588125" y="3581400"/>
            <a:ext cx="0" cy="495300"/>
          </a:xfrm>
          <a:prstGeom prst="line">
            <a:avLst/>
          </a:prstGeom>
          <a:ln w="9525" cap="flat" cmpd="sng">
            <a:solidFill>
              <a:schemeClr val="bg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linds(horizontal)">
                                      <p:cBhvr>
                                        <p:cTn id="26" dur="500"/>
                                        <p:tgtEl>
                                          <p:spTgt spid="1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linds(horizontal)">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linds(horizontal)">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linds(horizontal)">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linds(horizontal)">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nodeType="clickEffect">
                                  <p:stCondLst>
                                    <p:cond delay="0"/>
                                  </p:stCondLst>
                                  <p:childTnLst>
                                    <p:animEffect transition="out" filter="blinds(horizontal)">
                                      <p:cBhvr>
                                        <p:cTn id="59" dur="500"/>
                                        <p:tgtEl>
                                          <p:spTgt spid="5"/>
                                        </p:tgtEl>
                                      </p:cBhvr>
                                    </p:animEffect>
                                    <p:set>
                                      <p:cBhvr>
                                        <p:cTn id="60" dur="1" fill="hold">
                                          <p:stCondLst>
                                            <p:cond delay="499"/>
                                          </p:stCondLst>
                                        </p:cTn>
                                        <p:tgtEl>
                                          <p:spTgt spid="5"/>
                                        </p:tgtEl>
                                        <p:attrNameLst>
                                          <p:attrName>style.visibility</p:attrName>
                                        </p:attrNameLst>
                                      </p:cBhvr>
                                      <p:to>
                                        <p:strVal val="hidden"/>
                                      </p:to>
                                    </p:set>
                                  </p:childTnLst>
                                </p:cTn>
                              </p:par>
                              <p:par>
                                <p:cTn id="61" presetID="3" presetClass="exit" presetSubtype="10" fill="hold" nodeType="withEffect">
                                  <p:stCondLst>
                                    <p:cond delay="0"/>
                                  </p:stCondLst>
                                  <p:childTnLst>
                                    <p:animEffect transition="out" filter="blinds(horizontal)">
                                      <p:cBhvr>
                                        <p:cTn id="62" dur="500"/>
                                        <p:tgtEl>
                                          <p:spTgt spid="18"/>
                                        </p:tgtEl>
                                      </p:cBhvr>
                                    </p:animEffect>
                                    <p:set>
                                      <p:cBhvr>
                                        <p:cTn id="63" dur="1" fill="hold">
                                          <p:stCondLst>
                                            <p:cond delay="499"/>
                                          </p:stCondLst>
                                        </p:cTn>
                                        <p:tgtEl>
                                          <p:spTgt spid="18"/>
                                        </p:tgtEl>
                                        <p:attrNameLst>
                                          <p:attrName>style.visibility</p:attrName>
                                        </p:attrNameLst>
                                      </p:cBhvr>
                                      <p:to>
                                        <p:strVal val="hidden"/>
                                      </p:to>
                                    </p:set>
                                  </p:childTnLst>
                                </p:cTn>
                              </p:par>
                              <p:par>
                                <p:cTn id="64" presetID="3" presetClass="exit" presetSubtype="10" fill="hold" nodeType="withEffect">
                                  <p:stCondLst>
                                    <p:cond delay="0"/>
                                  </p:stCondLst>
                                  <p:childTnLst>
                                    <p:animEffect transition="out" filter="blinds(horizontal)">
                                      <p:cBhvr>
                                        <p:cTn id="65" dur="500"/>
                                        <p:tgtEl>
                                          <p:spTgt spid="15"/>
                                        </p:tgtEl>
                                      </p:cBhvr>
                                    </p:animEffect>
                                    <p:set>
                                      <p:cBhvr>
                                        <p:cTn id="66" dur="1" fill="hold">
                                          <p:stCondLst>
                                            <p:cond delay="499"/>
                                          </p:stCondLst>
                                        </p:cTn>
                                        <p:tgtEl>
                                          <p:spTgt spid="15"/>
                                        </p:tgtEl>
                                        <p:attrNameLst>
                                          <p:attrName>style.visibility</p:attrName>
                                        </p:attrNameLst>
                                      </p:cBhvr>
                                      <p:to>
                                        <p:strVal val="hidden"/>
                                      </p:to>
                                    </p:set>
                                  </p:childTnLst>
                                </p:cTn>
                              </p:par>
                              <p:par>
                                <p:cTn id="67" presetID="3" presetClass="exit" presetSubtype="10" fill="hold" nodeType="withEffect">
                                  <p:stCondLst>
                                    <p:cond delay="0"/>
                                  </p:stCondLst>
                                  <p:childTnLst>
                                    <p:animEffect transition="out" filter="blinds(horizontal)">
                                      <p:cBhvr>
                                        <p:cTn id="68" dur="500"/>
                                        <p:tgtEl>
                                          <p:spTgt spid="20"/>
                                        </p:tgtEl>
                                      </p:cBhvr>
                                    </p:animEffect>
                                    <p:set>
                                      <p:cBhvr>
                                        <p:cTn id="69" dur="1" fill="hold">
                                          <p:stCondLst>
                                            <p:cond delay="499"/>
                                          </p:stCondLst>
                                        </p:cTn>
                                        <p:tgtEl>
                                          <p:spTgt spid="20"/>
                                        </p:tgtEl>
                                        <p:attrNameLst>
                                          <p:attrName>style.visibility</p:attrName>
                                        </p:attrNameLst>
                                      </p:cBhvr>
                                      <p:to>
                                        <p:strVal val="hidden"/>
                                      </p:to>
                                    </p:set>
                                  </p:childTnLst>
                                </p:cTn>
                              </p:par>
                              <p:par>
                                <p:cTn id="70" presetID="3" presetClass="exit" presetSubtype="10" fill="hold" grpId="1" nodeType="withEffect">
                                  <p:stCondLst>
                                    <p:cond delay="0"/>
                                  </p:stCondLst>
                                  <p:childTnLst>
                                    <p:animEffect transition="out" filter="blinds(horizontal)">
                                      <p:cBhvr>
                                        <p:cTn id="71" dur="500"/>
                                        <p:tgtEl>
                                          <p:spTgt spid="10"/>
                                        </p:tgtEl>
                                      </p:cBhvr>
                                    </p:animEffect>
                                    <p:set>
                                      <p:cBhvr>
                                        <p:cTn id="72" dur="1" fill="hold">
                                          <p:stCondLst>
                                            <p:cond delay="499"/>
                                          </p:stCondLst>
                                        </p:cTn>
                                        <p:tgtEl>
                                          <p:spTgt spid="10"/>
                                        </p:tgtEl>
                                        <p:attrNameLst>
                                          <p:attrName>style.visibility</p:attrName>
                                        </p:attrNameLst>
                                      </p:cBhvr>
                                      <p:to>
                                        <p:strVal val="hidden"/>
                                      </p:to>
                                    </p:set>
                                  </p:childTnLst>
                                </p:cTn>
                              </p:par>
                              <p:par>
                                <p:cTn id="73" presetID="3" presetClass="exit" presetSubtype="10" fill="hold" grpId="1" nodeType="withEffect">
                                  <p:stCondLst>
                                    <p:cond delay="0"/>
                                  </p:stCondLst>
                                  <p:childTnLst>
                                    <p:animEffect transition="out" filter="blinds(horizontal)">
                                      <p:cBhvr>
                                        <p:cTn id="74" dur="500"/>
                                        <p:tgtEl>
                                          <p:spTgt spid="11"/>
                                        </p:tgtEl>
                                      </p:cBhvr>
                                    </p:animEffect>
                                    <p:set>
                                      <p:cBhvr>
                                        <p:cTn id="75" dur="1" fill="hold">
                                          <p:stCondLst>
                                            <p:cond delay="499"/>
                                          </p:stCondLst>
                                        </p:cTn>
                                        <p:tgtEl>
                                          <p:spTgt spid="11"/>
                                        </p:tgtEl>
                                        <p:attrNameLst>
                                          <p:attrName>style.visibility</p:attrName>
                                        </p:attrNameLst>
                                      </p:cBhvr>
                                      <p:to>
                                        <p:strVal val="hidden"/>
                                      </p:to>
                                    </p:set>
                                  </p:childTnLst>
                                </p:cTn>
                              </p:par>
                              <p:par>
                                <p:cTn id="76" presetID="3" presetClass="exit" presetSubtype="10" fill="hold" grpId="1" nodeType="withEffect">
                                  <p:stCondLst>
                                    <p:cond delay="0"/>
                                  </p:stCondLst>
                                  <p:childTnLst>
                                    <p:animEffect transition="out" filter="blinds(horizontal)">
                                      <p:cBhvr>
                                        <p:cTn id="77" dur="500"/>
                                        <p:tgtEl>
                                          <p:spTgt spid="13"/>
                                        </p:tgtEl>
                                      </p:cBhvr>
                                    </p:animEffect>
                                    <p:set>
                                      <p:cBhvr>
                                        <p:cTn id="78" dur="1" fill="hold">
                                          <p:stCondLst>
                                            <p:cond delay="499"/>
                                          </p:stCondLst>
                                        </p:cTn>
                                        <p:tgtEl>
                                          <p:spTgt spid="13"/>
                                        </p:tgtEl>
                                        <p:attrNameLst>
                                          <p:attrName>style.visibility</p:attrName>
                                        </p:attrNameLst>
                                      </p:cBhvr>
                                      <p:to>
                                        <p:strVal val="hidden"/>
                                      </p:to>
                                    </p:set>
                                  </p:childTnLst>
                                </p:cTn>
                              </p:par>
                              <p:par>
                                <p:cTn id="79" presetID="3" presetClass="exit" presetSubtype="10" fill="hold" grpId="1" nodeType="withEffect">
                                  <p:stCondLst>
                                    <p:cond delay="0"/>
                                  </p:stCondLst>
                                  <p:childTnLst>
                                    <p:animEffect transition="out" filter="blinds(horizontal)">
                                      <p:cBhvr>
                                        <p:cTn id="80" dur="500"/>
                                        <p:tgtEl>
                                          <p:spTgt spid="12"/>
                                        </p:tgtEl>
                                      </p:cBhvr>
                                    </p:animEffect>
                                    <p:set>
                                      <p:cBhvr>
                                        <p:cTn id="81"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0" grpId="1" animBg="1"/>
      <p:bldP spid="11" grpId="0"/>
      <p:bldP spid="11" grpId="1"/>
      <p:bldP spid="12" grpId="0" animBg="1"/>
      <p:bldP spid="12" grpId="1" animBg="1"/>
      <p:bldP spid="13" grpId="0"/>
      <p:bldP spid="13"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idx="1"/>
          </p:nvPr>
        </p:nvSpPr>
        <p:spPr>
          <a:xfrm>
            <a:off x="2268538" y="692150"/>
            <a:ext cx="4821237"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引用的使用－函数名称的引用</a:t>
            </a:r>
            <a:endParaRPr lang="zh-CN" altLang="en-US" sz="2400" b="1" dirty="0">
              <a:solidFill>
                <a:schemeClr val="bg1"/>
              </a:solidFill>
            </a:endParaRPr>
          </a:p>
          <a:p>
            <a:pPr eaLnBrk="1" hangingPunct="1">
              <a:lnSpc>
                <a:spcPct val="80000"/>
              </a:lnSpc>
              <a:buNone/>
            </a:pPr>
            <a:r>
              <a:rPr lang="en-US" altLang="zh-CN" sz="2400" b="1" dirty="0">
                <a:solidFill>
                  <a:schemeClr val="bg1"/>
                </a:solidFill>
              </a:rPr>
              <a:t>float 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a=f1(5); float &amp; b=f1(5);</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c=f2(5); float &amp; d=f2(5);</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e=f3(5); float &amp; f=f3(5);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g=f4(5); float &amp; h=f4(5);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float f1(float 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return(3.14*r*r);}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float &amp;f2(float 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return(3.14*r*r);}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float &amp;f3(float 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f; f=3.14*r*r; return(f);}</a:t>
            </a:r>
            <a:endParaRPr lang="en-US" altLang="zh-CN" sz="2400" b="1" dirty="0">
              <a:solidFill>
                <a:schemeClr val="bg1"/>
              </a:solidFill>
            </a:endParaRPr>
          </a:p>
          <a:p>
            <a:pPr eaLnBrk="1" hangingPunct="1">
              <a:lnSpc>
                <a:spcPct val="80000"/>
              </a:lnSpc>
              <a:buNone/>
            </a:pPr>
            <a:r>
              <a:rPr lang="en-US" altLang="zh-CN" sz="2400" b="1" dirty="0">
                <a:solidFill>
                  <a:schemeClr val="bg1"/>
                </a:solidFill>
              </a:rPr>
              <a:t>float &amp;f4(float 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t=3.14*r*r; return(t);}</a:t>
            </a:r>
            <a:endParaRPr lang="en-US" altLang="zh-CN" sz="2400" b="1" dirty="0">
              <a:solidFill>
                <a:schemeClr val="bg1"/>
              </a:solidFill>
            </a:endParaRPr>
          </a:p>
        </p:txBody>
      </p:sp>
      <p:sp>
        <p:nvSpPr>
          <p:cNvPr id="6246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idx="1"/>
          </p:nvPr>
        </p:nvSpPr>
        <p:spPr>
          <a:xfrm>
            <a:off x="2054225" y="765175"/>
            <a:ext cx="4965700"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引用的使用－函数名称作为左值</a:t>
            </a:r>
            <a:endParaRPr lang="zh-CN" altLang="en-US" sz="2400" b="1" dirty="0">
              <a:solidFill>
                <a:schemeClr val="bg1"/>
              </a:solidFill>
            </a:endParaRPr>
          </a:p>
          <a:p>
            <a:pPr eaLnBrk="1" hangingPunct="1">
              <a:lnSpc>
                <a:spcPct val="80000"/>
              </a:lnSpc>
              <a:buNone/>
            </a:pPr>
            <a:r>
              <a:rPr lang="en-US" altLang="zh-CN" sz="2400" b="1" dirty="0">
                <a:solidFill>
                  <a:schemeClr val="bg1"/>
                </a:solidFill>
              </a:rPr>
              <a:t>int a=0,b=0,c=0;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i,j;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for(i=0;i&lt;15;i++){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cin&gt;&gt;j;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count(j)++;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cout&lt;&lt;a&lt;&lt;b&lt;&lt;c;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int &amp; count(int k){</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if(k&gt;60) return(a);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if(k&lt;=60&amp;&amp;k&gt;30) return(b);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if(k&lt;=30) return(c);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6349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4" name="直接连接符 3"/>
          <p:cNvCxnSpPr/>
          <p:nvPr/>
        </p:nvCxnSpPr>
        <p:spPr>
          <a:xfrm>
            <a:off x="7092950" y="1773238"/>
            <a:ext cx="0" cy="2879725"/>
          </a:xfrm>
          <a:prstGeom prst="line">
            <a:avLst/>
          </a:prstGeom>
          <a:ln w="9525" cap="flat" cmpd="sng">
            <a:solidFill>
              <a:schemeClr val="bg1"/>
            </a:solidFill>
            <a:prstDash val="solid"/>
            <a:round/>
            <a:headEnd type="none" w="med" len="med"/>
            <a:tailEnd type="none" w="med" len="med"/>
          </a:ln>
        </p:spPr>
      </p:cxnSp>
      <p:sp>
        <p:nvSpPr>
          <p:cNvPr id="5" name="矩形 4"/>
          <p:cNvSpPr/>
          <p:nvPr/>
        </p:nvSpPr>
        <p:spPr bwMode="auto">
          <a:xfrm>
            <a:off x="6156325" y="3509963"/>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TextBox 6"/>
          <p:cNvSpPr txBox="1"/>
          <p:nvPr/>
        </p:nvSpPr>
        <p:spPr>
          <a:xfrm>
            <a:off x="5580063" y="335756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c</a:t>
            </a:r>
            <a:endParaRPr lang="zh-CN" altLang="en-US" sz="3200" dirty="0">
              <a:latin typeface="Times New Roman" panose="02020603050405020304" pitchFamily="18" charset="0"/>
              <a:ea typeface="宋体" panose="02010600030101010101" pitchFamily="2" charset="-122"/>
            </a:endParaRPr>
          </a:p>
        </p:txBody>
      </p:sp>
      <p:sp>
        <p:nvSpPr>
          <p:cNvPr id="13" name="矩形 12"/>
          <p:cNvSpPr/>
          <p:nvPr/>
        </p:nvSpPr>
        <p:spPr bwMode="auto">
          <a:xfrm>
            <a:off x="6156325" y="2286000"/>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4" name="矩形 13"/>
          <p:cNvSpPr/>
          <p:nvPr/>
        </p:nvSpPr>
        <p:spPr bwMode="auto">
          <a:xfrm>
            <a:off x="6156325" y="2862263"/>
            <a:ext cx="576263" cy="358775"/>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 name="TextBox 14"/>
          <p:cNvSpPr txBox="1"/>
          <p:nvPr/>
        </p:nvSpPr>
        <p:spPr>
          <a:xfrm>
            <a:off x="5580063" y="2133600"/>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16" name="TextBox 15"/>
          <p:cNvSpPr txBox="1"/>
          <p:nvPr/>
        </p:nvSpPr>
        <p:spPr>
          <a:xfrm>
            <a:off x="5580063" y="2708275"/>
            <a:ext cx="431800" cy="585788"/>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18" name="TextBox 17"/>
          <p:cNvSpPr txBox="1"/>
          <p:nvPr/>
        </p:nvSpPr>
        <p:spPr>
          <a:xfrm>
            <a:off x="7704138" y="2771775"/>
            <a:ext cx="1260475" cy="585788"/>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count</a:t>
            </a:r>
            <a:endParaRPr lang="zh-CN" altLang="en-US" sz="3200" dirty="0">
              <a:latin typeface="Times New Roman" panose="02020603050405020304" pitchFamily="18" charset="0"/>
              <a:ea typeface="宋体" panose="02010600030101010101" pitchFamily="2" charset="-122"/>
            </a:endParaRPr>
          </a:p>
        </p:txBody>
      </p:sp>
      <p:sp>
        <p:nvSpPr>
          <p:cNvPr id="21" name="椭圆 20"/>
          <p:cNvSpPr/>
          <p:nvPr/>
        </p:nvSpPr>
        <p:spPr bwMode="auto">
          <a:xfrm>
            <a:off x="7488238" y="3068638"/>
            <a:ext cx="71438" cy="7302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19" name="直接连接符 18"/>
          <p:cNvCxnSpPr>
            <a:stCxn id="21" idx="4"/>
          </p:cNvCxnSpPr>
          <p:nvPr/>
        </p:nvCxnSpPr>
        <p:spPr>
          <a:xfrm flipH="1">
            <a:off x="6659563" y="3141663"/>
            <a:ext cx="865187" cy="1366837"/>
          </a:xfrm>
          <a:prstGeom prst="line">
            <a:avLst/>
          </a:prstGeom>
          <a:ln w="9525" cap="flat" cmpd="sng">
            <a:solidFill>
              <a:schemeClr val="bg1"/>
            </a:solidFill>
            <a:prstDash val="solid"/>
            <a:round/>
            <a:headEnd type="none" w="med" len="med"/>
            <a:tailEnd type="none" w="med" len="med"/>
          </a:ln>
        </p:spPr>
      </p:cxnSp>
      <p:sp>
        <p:nvSpPr>
          <p:cNvPr id="20" name="TextBox 19"/>
          <p:cNvSpPr txBox="1"/>
          <p:nvPr/>
        </p:nvSpPr>
        <p:spPr>
          <a:xfrm>
            <a:off x="6372225" y="4429125"/>
            <a:ext cx="6477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t>
            </a:r>
            <a:endParaRPr lang="zh-CN" altLang="en-US" sz="32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linds(horizontal)">
                                      <p:cBhvr>
                                        <p:cTn id="28" dur="500"/>
                                        <p:tgtEl>
                                          <p:spTgt spid="1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linds(horizontal)">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linds(horizont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linds(horizontal)">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13" grpId="0" animBg="1"/>
      <p:bldP spid="14" grpId="0" animBg="1"/>
      <p:bldP spid="15" grpId="0"/>
      <p:bldP spid="16" grpId="0"/>
      <p:bldP spid="18" grpId="0"/>
      <p:bldP spid="21" grpId="0" animBg="1"/>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idx="1"/>
          </p:nvPr>
        </p:nvSpPr>
        <p:spPr>
          <a:xfrm>
            <a:off x="182563" y="620713"/>
            <a:ext cx="8961437" cy="6048375"/>
          </a:xfrm>
        </p:spPr>
        <p:txBody>
          <a:bodyPr vert="horz" wrap="square" lIns="91440" tIns="45720" rIns="91440" bIns="45720" anchor="t"/>
          <a:p>
            <a:pPr eaLnBrk="1" hangingPunct="1">
              <a:lnSpc>
                <a:spcPct val="90000"/>
              </a:lnSpc>
              <a:buNone/>
            </a:pPr>
            <a:r>
              <a:rPr lang="zh-CN" altLang="en-US" sz="2400" b="1" dirty="0">
                <a:solidFill>
                  <a:schemeClr val="bg1"/>
                </a:solidFill>
              </a:rPr>
              <a:t>与指针的关系</a:t>
            </a:r>
            <a:endParaRPr lang="en-US" altLang="zh-CN" sz="2400" b="1" dirty="0">
              <a:solidFill>
                <a:schemeClr val="bg1"/>
              </a:solidFill>
            </a:endParaRPr>
          </a:p>
          <a:p>
            <a:pPr eaLnBrk="1" hangingPunct="1">
              <a:lnSpc>
                <a:spcPct val="90000"/>
              </a:lnSpc>
              <a:buNone/>
            </a:pPr>
            <a:endParaRPr lang="zh-CN" altLang="en-US" sz="2400" b="1" dirty="0">
              <a:solidFill>
                <a:schemeClr val="bg1"/>
              </a:solidFill>
            </a:endParaRPr>
          </a:p>
          <a:p>
            <a:pPr eaLnBrk="1" hangingPunct="1">
              <a:lnSpc>
                <a:spcPct val="90000"/>
              </a:lnSpc>
              <a:buNone/>
            </a:pPr>
            <a:r>
              <a:rPr lang="zh-CN" altLang="en-US" sz="2400" b="1" dirty="0">
                <a:solidFill>
                  <a:schemeClr val="bg1"/>
                </a:solidFill>
              </a:rPr>
              <a:t>代替指针常量</a:t>
            </a:r>
            <a:endParaRPr lang="en-US" altLang="zh-CN" sz="2400" b="1" dirty="0">
              <a:solidFill>
                <a:schemeClr val="bg1"/>
              </a:solidFill>
            </a:endParaRPr>
          </a:p>
          <a:p>
            <a:pPr eaLnBrk="1" hangingPunct="1">
              <a:lnSpc>
                <a:spcPct val="90000"/>
              </a:lnSpc>
              <a:buNone/>
            </a:pPr>
            <a:r>
              <a:rPr lang="en-US" altLang="zh-CN" sz="2400" b="1" dirty="0">
                <a:solidFill>
                  <a:schemeClr val="bg1"/>
                </a:solidFill>
              </a:rPr>
              <a:t>int i;   int * const p</a:t>
            </a:r>
            <a:r>
              <a:rPr lang="zh-CN" altLang="en-US" sz="2400" b="1" dirty="0">
                <a:solidFill>
                  <a:schemeClr val="bg1"/>
                </a:solidFill>
              </a:rPr>
              <a:t>＝</a:t>
            </a:r>
            <a:r>
              <a:rPr lang="en-US" altLang="zh-CN" sz="2400" b="1" dirty="0">
                <a:solidFill>
                  <a:schemeClr val="bg1"/>
                </a:solidFill>
              </a:rPr>
              <a:t>&amp;i</a:t>
            </a:r>
            <a:r>
              <a:rPr lang="zh-CN" altLang="en-US" sz="2400" b="1" dirty="0">
                <a:solidFill>
                  <a:schemeClr val="bg1"/>
                </a:solidFill>
              </a:rPr>
              <a:t>；    </a:t>
            </a:r>
            <a:r>
              <a:rPr lang="en-US" altLang="zh-CN" sz="2400" b="1" dirty="0">
                <a:solidFill>
                  <a:schemeClr val="bg1"/>
                </a:solidFill>
              </a:rPr>
              <a:t>int  &amp;p=i;     </a:t>
            </a:r>
            <a:r>
              <a:rPr lang="zh-CN" altLang="en-US" sz="2400" b="1" dirty="0">
                <a:solidFill>
                  <a:schemeClr val="bg1"/>
                </a:solidFill>
              </a:rPr>
              <a:t>注意使用方式不同</a:t>
            </a:r>
            <a:endParaRPr lang="en-US" altLang="zh-CN" sz="2400" b="1" dirty="0">
              <a:solidFill>
                <a:schemeClr val="bg1"/>
              </a:solidFill>
            </a:endParaRPr>
          </a:p>
          <a:p>
            <a:pPr eaLnBrk="1" hangingPunct="1">
              <a:lnSpc>
                <a:spcPct val="90000"/>
              </a:lnSpc>
              <a:buNone/>
            </a:pPr>
            <a:endParaRPr lang="en-US" altLang="zh-CN" sz="2400" b="1" dirty="0">
              <a:solidFill>
                <a:schemeClr val="bg1"/>
              </a:solidFill>
            </a:endParaRPr>
          </a:p>
          <a:p>
            <a:pPr eaLnBrk="1" hangingPunct="1">
              <a:lnSpc>
                <a:spcPct val="90000"/>
              </a:lnSpc>
              <a:buNone/>
            </a:pPr>
            <a:r>
              <a:rPr lang="zh-CN" altLang="en-US" sz="2400" b="1" dirty="0">
                <a:solidFill>
                  <a:schemeClr val="bg1"/>
                </a:solidFill>
              </a:rPr>
              <a:t>引用对应数组</a:t>
            </a:r>
            <a:endParaRPr lang="zh-CN" altLang="en-US" sz="2400" b="1" dirty="0">
              <a:solidFill>
                <a:schemeClr val="bg1"/>
              </a:solidFill>
            </a:endParaRPr>
          </a:p>
          <a:p>
            <a:pPr eaLnBrk="1" hangingPunct="1">
              <a:lnSpc>
                <a:spcPct val="90000"/>
              </a:lnSpc>
              <a:buNone/>
            </a:pPr>
            <a:r>
              <a:rPr lang="zh-CN" altLang="en-US" sz="2400" b="1" dirty="0">
                <a:solidFill>
                  <a:schemeClr val="bg1"/>
                </a:solidFill>
              </a:rPr>
              <a:t> </a:t>
            </a:r>
            <a:r>
              <a:rPr lang="en-US" altLang="zh-CN" sz="2400" b="1" dirty="0">
                <a:solidFill>
                  <a:schemeClr val="bg1"/>
                </a:solidFill>
              </a:rPr>
              <a:t>int a[10];                                     int (&amp;f)[10]=a;    cout&lt;&lt;f[6];</a:t>
            </a:r>
            <a:endParaRPr lang="zh-CN" altLang="en-US" sz="2000" b="1" dirty="0">
              <a:solidFill>
                <a:schemeClr val="bg1"/>
              </a:solidFill>
            </a:endParaRPr>
          </a:p>
          <a:p>
            <a:pPr eaLnBrk="1" hangingPunct="1">
              <a:lnSpc>
                <a:spcPct val="90000"/>
              </a:lnSpc>
              <a:buNone/>
            </a:pPr>
            <a:endParaRPr lang="en-US" altLang="zh-CN" sz="2400" b="1" dirty="0">
              <a:solidFill>
                <a:schemeClr val="bg1"/>
              </a:solidFill>
            </a:endParaRPr>
          </a:p>
          <a:p>
            <a:pPr eaLnBrk="1" hangingPunct="1">
              <a:lnSpc>
                <a:spcPct val="90000"/>
              </a:lnSpc>
              <a:buNone/>
            </a:pPr>
            <a:r>
              <a:rPr lang="zh-CN" altLang="en-US" sz="2400" b="1" dirty="0">
                <a:solidFill>
                  <a:schemeClr val="bg1"/>
                </a:solidFill>
              </a:rPr>
              <a:t>没有引用的引用（因为引用不是数据类型）</a:t>
            </a:r>
            <a:endParaRPr lang="zh-CN" altLang="en-US" sz="2400" b="1" dirty="0">
              <a:solidFill>
                <a:schemeClr val="bg1"/>
              </a:solidFill>
            </a:endParaRPr>
          </a:p>
          <a:p>
            <a:pPr eaLnBrk="1" hangingPunct="1">
              <a:lnSpc>
                <a:spcPct val="90000"/>
              </a:lnSpc>
              <a:buNone/>
            </a:pPr>
            <a:r>
              <a:rPr lang="zh-CN" altLang="en-US" sz="2400" b="1" dirty="0">
                <a:solidFill>
                  <a:schemeClr val="bg1"/>
                </a:solidFill>
              </a:rPr>
              <a:t>没有</a:t>
            </a:r>
            <a:r>
              <a:rPr lang="en-US" altLang="zh-CN" sz="2400" b="1" dirty="0">
                <a:solidFill>
                  <a:schemeClr val="bg1"/>
                </a:solidFill>
              </a:rPr>
              <a:t>void</a:t>
            </a:r>
            <a:r>
              <a:rPr lang="zh-CN" altLang="en-US" sz="2400" b="1" dirty="0">
                <a:solidFill>
                  <a:schemeClr val="bg1"/>
                </a:solidFill>
              </a:rPr>
              <a:t>变量，所以没有</a:t>
            </a:r>
            <a:r>
              <a:rPr lang="en-US" altLang="zh-CN" sz="2400" b="1" dirty="0">
                <a:solidFill>
                  <a:schemeClr val="bg1"/>
                </a:solidFill>
              </a:rPr>
              <a:t>void</a:t>
            </a:r>
            <a:r>
              <a:rPr lang="zh-CN" altLang="en-US" sz="2400" b="1" dirty="0">
                <a:solidFill>
                  <a:schemeClr val="bg1"/>
                </a:solidFill>
              </a:rPr>
              <a:t>的引用</a:t>
            </a:r>
            <a:endParaRPr lang="zh-CN" altLang="en-US" sz="2400" b="1" dirty="0">
              <a:solidFill>
                <a:schemeClr val="bg1"/>
              </a:solidFill>
            </a:endParaRPr>
          </a:p>
          <a:p>
            <a:pPr eaLnBrk="1" hangingPunct="1">
              <a:lnSpc>
                <a:spcPct val="90000"/>
              </a:lnSpc>
              <a:buNone/>
            </a:pPr>
            <a:endParaRPr lang="en-US" altLang="zh-CN" sz="2400" b="1" dirty="0">
              <a:solidFill>
                <a:schemeClr val="bg1"/>
              </a:solidFill>
            </a:endParaRPr>
          </a:p>
          <a:p>
            <a:pPr eaLnBrk="1" hangingPunct="1">
              <a:lnSpc>
                <a:spcPct val="90000"/>
              </a:lnSpc>
              <a:buNone/>
            </a:pPr>
            <a:endParaRPr lang="en-US" altLang="zh-CN" sz="2400" b="1" dirty="0">
              <a:solidFill>
                <a:schemeClr val="bg1"/>
              </a:solidFill>
            </a:endParaRPr>
          </a:p>
        </p:txBody>
      </p:sp>
      <p:sp>
        <p:nvSpPr>
          <p:cNvPr id="64514" name="Rectangle 3"/>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3"/>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引用</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65538" name="Rectangle 6"/>
          <p:cNvSpPr>
            <a:spLocks noGrp="1"/>
          </p:cNvSpPr>
          <p:nvPr>
            <p:ph idx="1"/>
          </p:nvPr>
        </p:nvSpPr>
        <p:spPr>
          <a:xfrm>
            <a:off x="685800" y="549275"/>
            <a:ext cx="8205788" cy="5410200"/>
          </a:xfrm>
        </p:spPr>
        <p:txBody>
          <a:bodyPr vert="horz" wrap="square" lIns="91440" tIns="45720" rIns="91440" bIns="45720" anchor="t"/>
          <a:p>
            <a:pPr eaLnBrk="1" hangingPunct="1">
              <a:lnSpc>
                <a:spcPct val="90000"/>
              </a:lnSpc>
              <a:buNone/>
            </a:pPr>
            <a:endParaRPr lang="en-US" altLang="zh-CN" sz="3600" b="1" dirty="0">
              <a:solidFill>
                <a:schemeClr val="bg1"/>
              </a:solidFill>
            </a:endParaRPr>
          </a:p>
          <a:p>
            <a:pPr eaLnBrk="1" hangingPunct="1">
              <a:lnSpc>
                <a:spcPct val="90000"/>
              </a:lnSpc>
              <a:buNone/>
            </a:pPr>
            <a:r>
              <a:rPr lang="en-US" altLang="zh-CN" sz="3600" b="1" dirty="0">
                <a:solidFill>
                  <a:schemeClr val="bg1"/>
                </a:solidFill>
              </a:rPr>
              <a:t>int *p=new int;                        </a:t>
            </a:r>
            <a:r>
              <a:rPr lang="zh-CN" altLang="en-US" sz="3600" b="1" dirty="0">
                <a:solidFill>
                  <a:schemeClr val="bg1"/>
                </a:solidFill>
              </a:rPr>
              <a:t>正确</a:t>
            </a:r>
            <a:endParaRPr lang="en-US" altLang="zh-CN" sz="3600" b="1" dirty="0">
              <a:solidFill>
                <a:schemeClr val="bg1"/>
              </a:solidFill>
            </a:endParaRPr>
          </a:p>
          <a:p>
            <a:pPr eaLnBrk="1" hangingPunct="1">
              <a:lnSpc>
                <a:spcPct val="90000"/>
              </a:lnSpc>
              <a:buNone/>
            </a:pPr>
            <a:r>
              <a:rPr lang="en-US" altLang="zh-CN" sz="3600" b="1" dirty="0">
                <a:solidFill>
                  <a:schemeClr val="bg1"/>
                </a:solidFill>
              </a:rPr>
              <a:t>int &amp;i=*p;                                </a:t>
            </a:r>
            <a:r>
              <a:rPr lang="zh-CN" altLang="en-US" sz="3600" b="1" dirty="0">
                <a:solidFill>
                  <a:schemeClr val="bg1"/>
                </a:solidFill>
              </a:rPr>
              <a:t>正确</a:t>
            </a:r>
            <a:endParaRPr lang="zh-CN" altLang="en-US" sz="3600" b="1" dirty="0">
              <a:solidFill>
                <a:schemeClr val="bg1"/>
              </a:solidFill>
            </a:endParaRPr>
          </a:p>
          <a:p>
            <a:pPr eaLnBrk="1" hangingPunct="1">
              <a:lnSpc>
                <a:spcPct val="90000"/>
              </a:lnSpc>
              <a:buNone/>
            </a:pPr>
            <a:r>
              <a:rPr lang="en-US" altLang="zh-CN" sz="3600" b="1" dirty="0">
                <a:solidFill>
                  <a:schemeClr val="bg1"/>
                </a:solidFill>
              </a:rPr>
              <a:t>int &amp;j=*(new int);                   </a:t>
            </a:r>
            <a:r>
              <a:rPr lang="zh-CN" altLang="en-US" sz="3600" b="1" dirty="0">
                <a:solidFill>
                  <a:schemeClr val="bg1"/>
                </a:solidFill>
              </a:rPr>
              <a:t>正确</a:t>
            </a:r>
            <a:endParaRPr lang="zh-CN" altLang="en-US" sz="3600" b="1" dirty="0">
              <a:solidFill>
                <a:schemeClr val="bg1"/>
              </a:solidFill>
            </a:endParaRPr>
          </a:p>
          <a:p>
            <a:pPr eaLnBrk="1" hangingPunct="1">
              <a:lnSpc>
                <a:spcPct val="90000"/>
              </a:lnSpc>
              <a:buNone/>
            </a:pPr>
            <a:r>
              <a:rPr lang="en-US" altLang="zh-CN" sz="3600" b="1" dirty="0">
                <a:solidFill>
                  <a:schemeClr val="bg1"/>
                </a:solidFill>
              </a:rPr>
              <a:t>int &amp;k=new int;                       </a:t>
            </a:r>
            <a:r>
              <a:rPr lang="zh-CN" altLang="en-US" sz="3600" b="1" dirty="0">
                <a:solidFill>
                  <a:schemeClr val="bg1"/>
                </a:solidFill>
              </a:rPr>
              <a:t>错误 </a:t>
            </a:r>
            <a:endParaRPr lang="en-US" altLang="zh-CN" sz="3600" b="1" dirty="0">
              <a:solidFill>
                <a:schemeClr val="bg1"/>
              </a:solidFill>
            </a:endParaRPr>
          </a:p>
          <a:p>
            <a:pPr eaLnBrk="1" hangingPunct="1">
              <a:lnSpc>
                <a:spcPct val="90000"/>
              </a:lnSpc>
              <a:buNone/>
            </a:pPr>
            <a:endParaRPr lang="en-US" altLang="zh-CN" sz="3600" b="1"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idx="1"/>
          </p:nvPr>
        </p:nvSpPr>
        <p:spPr>
          <a:xfrm>
            <a:off x="1258888" y="1295400"/>
            <a:ext cx="6985000" cy="5013325"/>
          </a:xfrm>
        </p:spPr>
        <p:txBody>
          <a:bodyPr vert="horz" wrap="square" lIns="91440" tIns="45720" rIns="91440" bIns="45720" anchor="t"/>
          <a:p>
            <a:pPr eaLnBrk="1" hangingPunct="1">
              <a:lnSpc>
                <a:spcPct val="90000"/>
              </a:lnSpc>
              <a:buNone/>
            </a:pPr>
            <a:r>
              <a:rPr lang="en-US" altLang="zh-CN" b="1" dirty="0">
                <a:solidFill>
                  <a:schemeClr val="bg1"/>
                </a:solidFill>
              </a:rPr>
              <a:t>	</a:t>
            </a:r>
            <a:r>
              <a:rPr lang="en-US" altLang="zh-CN" sz="4000" b="1" dirty="0">
                <a:solidFill>
                  <a:schemeClr val="bg1"/>
                </a:solidFill>
              </a:rPr>
              <a:t>int a=1;</a:t>
            </a:r>
            <a:endParaRPr lang="en-US" altLang="zh-CN" sz="4000" b="1" dirty="0">
              <a:solidFill>
                <a:schemeClr val="bg1"/>
              </a:solidFill>
            </a:endParaRPr>
          </a:p>
          <a:p>
            <a:pPr eaLnBrk="1" hangingPunct="1">
              <a:lnSpc>
                <a:spcPct val="90000"/>
              </a:lnSpc>
              <a:buNone/>
            </a:pPr>
            <a:r>
              <a:rPr lang="en-US" altLang="zh-CN" sz="4000" b="1" dirty="0">
                <a:solidFill>
                  <a:schemeClr val="bg1"/>
                </a:solidFill>
              </a:rPr>
              <a:t>   float &amp; b = a;//</a:t>
            </a:r>
            <a:r>
              <a:rPr lang="zh-CN" altLang="en-US" sz="4000" b="1" dirty="0">
                <a:solidFill>
                  <a:schemeClr val="bg1"/>
                </a:solidFill>
              </a:rPr>
              <a:t>错误</a:t>
            </a:r>
            <a:endParaRPr lang="zh-CN" altLang="en-US" sz="4000" b="1" dirty="0">
              <a:solidFill>
                <a:schemeClr val="bg1"/>
              </a:solidFill>
            </a:endParaRPr>
          </a:p>
          <a:p>
            <a:pPr eaLnBrk="1" hangingPunct="1">
              <a:lnSpc>
                <a:spcPct val="90000"/>
              </a:lnSpc>
              <a:buNone/>
            </a:pPr>
            <a:r>
              <a:rPr lang="zh-CN" altLang="en-US" sz="4000" b="1" dirty="0">
                <a:solidFill>
                  <a:schemeClr val="bg1"/>
                </a:solidFill>
              </a:rPr>
              <a:t>   </a:t>
            </a:r>
            <a:r>
              <a:rPr lang="en-US" altLang="zh-CN" sz="4000" b="1" dirty="0">
                <a:solidFill>
                  <a:schemeClr val="bg1"/>
                </a:solidFill>
              </a:rPr>
              <a:t>float &amp; c = float(a);//</a:t>
            </a:r>
            <a:r>
              <a:rPr lang="zh-CN" altLang="en-US" sz="4000" b="1" dirty="0">
                <a:solidFill>
                  <a:schemeClr val="bg1"/>
                </a:solidFill>
              </a:rPr>
              <a:t>错误</a:t>
            </a:r>
            <a:endParaRPr lang="zh-CN" altLang="en-US" sz="4000" b="1" dirty="0">
              <a:solidFill>
                <a:schemeClr val="bg1"/>
              </a:solidFill>
            </a:endParaRPr>
          </a:p>
          <a:p>
            <a:pPr eaLnBrk="1" hangingPunct="1">
              <a:lnSpc>
                <a:spcPct val="90000"/>
              </a:lnSpc>
              <a:buNone/>
            </a:pPr>
            <a:r>
              <a:rPr lang="zh-CN" altLang="en-US" sz="4000" b="1" dirty="0">
                <a:solidFill>
                  <a:schemeClr val="bg1"/>
                </a:solidFill>
              </a:rPr>
              <a:t>   </a:t>
            </a:r>
            <a:r>
              <a:rPr lang="en-US" altLang="zh-CN" sz="4000" b="1" dirty="0">
                <a:solidFill>
                  <a:schemeClr val="bg1"/>
                </a:solidFill>
              </a:rPr>
              <a:t>float const &amp; d = a;//</a:t>
            </a:r>
            <a:r>
              <a:rPr lang="zh-CN" altLang="en-US" sz="4000" b="1" dirty="0">
                <a:solidFill>
                  <a:schemeClr val="bg1"/>
                </a:solidFill>
              </a:rPr>
              <a:t>正确</a:t>
            </a:r>
            <a:endParaRPr lang="zh-CN" altLang="en-US" sz="4000" b="1" dirty="0">
              <a:solidFill>
                <a:schemeClr val="bg1"/>
              </a:solidFill>
            </a:endParaRPr>
          </a:p>
          <a:p>
            <a:pPr eaLnBrk="1" hangingPunct="1">
              <a:lnSpc>
                <a:spcPct val="90000"/>
              </a:lnSpc>
              <a:buNone/>
            </a:pPr>
            <a:r>
              <a:rPr lang="zh-CN" altLang="en-US" sz="4000" b="1" dirty="0">
                <a:solidFill>
                  <a:schemeClr val="bg1"/>
                </a:solidFill>
              </a:rPr>
              <a:t>   </a:t>
            </a:r>
            <a:r>
              <a:rPr lang="en-US" altLang="zh-CN" sz="4000" b="1" dirty="0">
                <a:solidFill>
                  <a:schemeClr val="bg1"/>
                </a:solidFill>
              </a:rPr>
              <a:t>int &amp; i = 1;</a:t>
            </a:r>
            <a:r>
              <a:rPr lang="zh-CN" altLang="en-US" sz="4000" b="1" dirty="0">
                <a:solidFill>
                  <a:schemeClr val="bg1"/>
                </a:solidFill>
              </a:rPr>
              <a:t>错误 </a:t>
            </a:r>
            <a:endParaRPr lang="zh-CN" altLang="en-US" sz="4000" b="1" dirty="0">
              <a:solidFill>
                <a:schemeClr val="bg1"/>
              </a:solidFill>
            </a:endParaRPr>
          </a:p>
          <a:p>
            <a:pPr eaLnBrk="1" hangingPunct="1">
              <a:lnSpc>
                <a:spcPct val="90000"/>
              </a:lnSpc>
              <a:buNone/>
            </a:pPr>
            <a:r>
              <a:rPr lang="zh-CN" altLang="en-US" sz="4000" b="1" dirty="0">
                <a:solidFill>
                  <a:schemeClr val="bg1"/>
                </a:solidFill>
              </a:rPr>
              <a:t>   </a:t>
            </a:r>
            <a:r>
              <a:rPr lang="en-US" altLang="zh-CN" sz="4000" b="1" dirty="0">
                <a:solidFill>
                  <a:schemeClr val="bg1"/>
                </a:solidFill>
              </a:rPr>
              <a:t>int const &amp; i = 1;</a:t>
            </a:r>
            <a:r>
              <a:rPr lang="zh-CN" altLang="en-US" sz="4000" b="1" dirty="0">
                <a:solidFill>
                  <a:schemeClr val="bg1"/>
                </a:solidFill>
              </a:rPr>
              <a:t>正确 </a:t>
            </a:r>
            <a:endParaRPr lang="zh-CN" altLang="en-US" sz="4000" b="1" dirty="0">
              <a:solidFill>
                <a:schemeClr val="bg1"/>
              </a:solidFill>
            </a:endParaRPr>
          </a:p>
        </p:txBody>
      </p:sp>
      <p:sp>
        <p:nvSpPr>
          <p:cNvPr id="6656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引用</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idx="1"/>
          </p:nvPr>
        </p:nvSpPr>
        <p:spPr>
          <a:xfrm>
            <a:off x="182563" y="765175"/>
            <a:ext cx="8961437" cy="5903913"/>
          </a:xfrm>
        </p:spPr>
        <p:txBody>
          <a:bodyPr vert="horz" wrap="square" lIns="91440" tIns="45720" rIns="91440" bIns="45720" anchor="t"/>
          <a:p>
            <a:pPr eaLnBrk="1" hangingPunct="1">
              <a:buNone/>
            </a:pPr>
            <a:endParaRPr lang="zh-CN" altLang="en-US" b="1" dirty="0">
              <a:solidFill>
                <a:schemeClr val="bg1"/>
              </a:solidFill>
            </a:endParaRPr>
          </a:p>
          <a:p>
            <a:pPr eaLnBrk="1" hangingPunct="1">
              <a:buNone/>
            </a:pPr>
            <a:r>
              <a:rPr lang="en-US" altLang="zh-CN" b="1" dirty="0">
                <a:solidFill>
                  <a:schemeClr val="bg1"/>
                </a:solidFill>
              </a:rPr>
              <a:t>#include </a:t>
            </a:r>
            <a:r>
              <a:rPr lang="en-US" altLang="zh-CN" b="1" dirty="0">
                <a:solidFill>
                  <a:schemeClr val="bg1"/>
                </a:solidFill>
                <a:latin typeface="Arial" panose="020B0604020202020204" pitchFamily="34" charset="0"/>
              </a:rPr>
              <a:t>“</a:t>
            </a:r>
            <a:r>
              <a:rPr lang="en-US" altLang="zh-CN" b="1" dirty="0">
                <a:solidFill>
                  <a:schemeClr val="bg1"/>
                </a:solidFill>
              </a:rPr>
              <a:t>iostream.h</a:t>
            </a:r>
            <a:r>
              <a:rPr lang="en-US" altLang="zh-CN" b="1" dirty="0">
                <a:solidFill>
                  <a:schemeClr val="bg1"/>
                </a:solidFill>
                <a:latin typeface="Arial" panose="020B0604020202020204" pitchFamily="34" charset="0"/>
              </a:rPr>
              <a:t>”</a:t>
            </a:r>
            <a:r>
              <a:rPr lang="zh-CN" altLang="en-US" b="1" dirty="0">
                <a:solidFill>
                  <a:schemeClr val="bg1"/>
                </a:solidFill>
              </a:rPr>
              <a:t>和</a:t>
            </a:r>
            <a:endParaRPr lang="zh-CN" altLang="en-US" b="1" dirty="0">
              <a:solidFill>
                <a:schemeClr val="bg1"/>
              </a:solidFill>
            </a:endParaRPr>
          </a:p>
          <a:p>
            <a:pPr eaLnBrk="1" hangingPunct="1">
              <a:buNone/>
            </a:pPr>
            <a:r>
              <a:rPr lang="en-US" altLang="zh-CN" b="1" dirty="0">
                <a:solidFill>
                  <a:schemeClr val="bg1"/>
                </a:solidFill>
              </a:rPr>
              <a:t>#include &lt;iostream.h&gt;</a:t>
            </a:r>
            <a:r>
              <a:rPr lang="zh-CN" altLang="en-US" b="1" dirty="0">
                <a:solidFill>
                  <a:schemeClr val="bg1"/>
                </a:solidFill>
              </a:rPr>
              <a:t>的关系</a:t>
            </a:r>
            <a:endParaRPr lang="zh-CN" altLang="en-US" b="1" dirty="0">
              <a:solidFill>
                <a:schemeClr val="bg1"/>
              </a:solidFill>
            </a:endParaRPr>
          </a:p>
          <a:p>
            <a:pPr eaLnBrk="1" hangingPunct="1">
              <a:buNone/>
            </a:pPr>
            <a:r>
              <a:rPr lang="zh-CN" altLang="en-US" b="1" dirty="0">
                <a:solidFill>
                  <a:schemeClr val="bg1"/>
                </a:solidFill>
              </a:rPr>
              <a:t>以及</a:t>
            </a:r>
            <a:endParaRPr lang="zh-CN" altLang="en-US" b="1" dirty="0">
              <a:solidFill>
                <a:schemeClr val="bg1"/>
              </a:solidFill>
            </a:endParaRPr>
          </a:p>
          <a:p>
            <a:pPr eaLnBrk="1" hangingPunct="1">
              <a:buNone/>
            </a:pPr>
            <a:r>
              <a:rPr lang="en-US" altLang="zh-CN" b="1" dirty="0">
                <a:solidFill>
                  <a:schemeClr val="bg1"/>
                </a:solidFill>
              </a:rPr>
              <a:t>#include &lt;iostream&gt;</a:t>
            </a:r>
            <a:r>
              <a:rPr lang="zh-CN" altLang="en-US" b="1" dirty="0">
                <a:solidFill>
                  <a:schemeClr val="bg1"/>
                </a:solidFill>
              </a:rPr>
              <a:t>的关系</a:t>
            </a:r>
            <a:endParaRPr lang="zh-CN" altLang="en-US" b="1" dirty="0">
              <a:solidFill>
                <a:schemeClr val="bg1"/>
              </a:solidFill>
            </a:endParaRPr>
          </a:p>
          <a:p>
            <a:pPr eaLnBrk="1" hangingPunct="1">
              <a:buNone/>
            </a:pPr>
            <a:endParaRPr lang="zh-CN" altLang="en-US" b="1" dirty="0">
              <a:solidFill>
                <a:schemeClr val="bg1"/>
              </a:solidFill>
            </a:endParaRPr>
          </a:p>
          <a:p>
            <a:pPr eaLnBrk="1" hangingPunct="1">
              <a:buNone/>
            </a:pPr>
            <a:r>
              <a:rPr lang="zh-CN" altLang="en-US" b="1" dirty="0">
                <a:solidFill>
                  <a:schemeClr val="bg1"/>
                </a:solidFill>
              </a:rPr>
              <a:t>关于函数声明（文件独立编译）（之后链接）</a:t>
            </a:r>
            <a:endParaRPr lang="zh-CN" altLang="en-US" b="1" dirty="0">
              <a:solidFill>
                <a:schemeClr val="bg1"/>
              </a:solidFill>
            </a:endParaRPr>
          </a:p>
          <a:p>
            <a:pPr eaLnBrk="1" hangingPunct="1">
              <a:buNone/>
            </a:pPr>
            <a:r>
              <a:rPr lang="en-US" altLang="zh-CN" b="1" dirty="0">
                <a:solidFill>
                  <a:schemeClr val="bg1"/>
                </a:solidFill>
              </a:rPr>
              <a:t>double  f(int, char *, double &amp;);</a:t>
            </a:r>
            <a:endParaRPr lang="en-US" altLang="zh-CN" b="1" dirty="0">
              <a:solidFill>
                <a:schemeClr val="bg1"/>
              </a:solidFill>
            </a:endParaRPr>
          </a:p>
        </p:txBody>
      </p:sp>
      <p:sp>
        <p:nvSpPr>
          <p:cNvPr id="67586" name="Rectangle 3"/>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几个问题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idx="1"/>
          </p:nvPr>
        </p:nvSpPr>
        <p:spPr>
          <a:xfrm>
            <a:off x="1406525" y="765175"/>
            <a:ext cx="7845425" cy="5903913"/>
          </a:xfrm>
        </p:spPr>
        <p:txBody>
          <a:bodyPr vert="horz" wrap="square" lIns="91440" tIns="45720" rIns="91440" bIns="45720" anchor="t"/>
          <a:p>
            <a:pPr eaLnBrk="1" hangingPunct="1">
              <a:lnSpc>
                <a:spcPct val="90000"/>
              </a:lnSpc>
              <a:buNone/>
            </a:pPr>
            <a:r>
              <a:rPr lang="en-US" altLang="zh-CN" b="1" dirty="0">
                <a:solidFill>
                  <a:schemeClr val="bg1"/>
                </a:solidFill>
              </a:rPr>
              <a:t>class student </a:t>
            </a:r>
            <a:endParaRPr lang="en-US" altLang="zh-CN" b="1" dirty="0">
              <a:solidFill>
                <a:schemeClr val="bg1"/>
              </a:solidFill>
            </a:endParaRPr>
          </a:p>
          <a:p>
            <a:pPr eaLnBrk="1" hangingPunct="1">
              <a:lnSpc>
                <a:spcPct val="90000"/>
              </a:lnSpc>
              <a:buNone/>
            </a:pPr>
            <a:r>
              <a:rPr lang="en-US" altLang="zh-CN" b="1" dirty="0">
                <a:solidFill>
                  <a:schemeClr val="bg1"/>
                </a:solidFill>
              </a:rPr>
              <a:t>      {    int age;</a:t>
            </a:r>
            <a:endParaRPr lang="en-US" altLang="zh-CN" b="1" dirty="0">
              <a:solidFill>
                <a:schemeClr val="bg1"/>
              </a:solidFill>
            </a:endParaRPr>
          </a:p>
          <a:p>
            <a:pPr eaLnBrk="1" hangingPunct="1">
              <a:lnSpc>
                <a:spcPct val="90000"/>
              </a:lnSpc>
              <a:buNone/>
            </a:pPr>
            <a:r>
              <a:rPr lang="en-US" altLang="zh-CN" b="1" dirty="0">
                <a:solidFill>
                  <a:schemeClr val="bg1"/>
                </a:solidFill>
              </a:rPr>
              <a:t>            char name[9];</a:t>
            </a:r>
            <a:endParaRPr lang="en-US" altLang="zh-CN" b="1" dirty="0">
              <a:solidFill>
                <a:schemeClr val="bg1"/>
              </a:solidFill>
            </a:endParaRPr>
          </a:p>
          <a:p>
            <a:pPr eaLnBrk="1" hangingPunct="1">
              <a:lnSpc>
                <a:spcPct val="90000"/>
              </a:lnSpc>
              <a:buNone/>
            </a:pPr>
            <a:r>
              <a:rPr lang="en-US" altLang="zh-CN" b="1" dirty="0">
                <a:solidFill>
                  <a:schemeClr val="bg1"/>
                </a:solidFill>
              </a:rPr>
              <a:t>            float score;</a:t>
            </a:r>
            <a:endParaRPr lang="en-US" altLang="zh-CN" b="1" dirty="0">
              <a:solidFill>
                <a:schemeClr val="bg1"/>
              </a:solidFill>
            </a:endParaRPr>
          </a:p>
          <a:p>
            <a:pPr eaLnBrk="1" hangingPunct="1">
              <a:lnSpc>
                <a:spcPct val="90000"/>
              </a:lnSpc>
              <a:buNone/>
            </a:pPr>
            <a:r>
              <a:rPr lang="en-US" altLang="zh-CN" b="1" dirty="0">
                <a:solidFill>
                  <a:schemeClr val="bg1"/>
                </a:solidFill>
              </a:rPr>
              <a:t>            void f(){age =20;}</a:t>
            </a:r>
            <a:endParaRPr lang="en-US" altLang="zh-CN" b="1" dirty="0">
              <a:solidFill>
                <a:schemeClr val="bg1"/>
              </a:solidFill>
            </a:endParaRPr>
          </a:p>
          <a:p>
            <a:pPr eaLnBrk="1" hangingPunct="1">
              <a:lnSpc>
                <a:spcPct val="90000"/>
              </a:lnSpc>
              <a:buNone/>
            </a:pPr>
            <a:r>
              <a:rPr lang="en-US" altLang="zh-CN" b="1" dirty="0">
                <a:solidFill>
                  <a:schemeClr val="bg1"/>
                </a:solidFill>
              </a:rPr>
              <a:t>       };                                  </a:t>
            </a:r>
            <a:r>
              <a:rPr lang="en-US" altLang="zh-CN" b="1" dirty="0">
                <a:solidFill>
                  <a:schemeClr val="bg1"/>
                </a:solidFill>
                <a:latin typeface="Arial" panose="020B0604020202020204" pitchFamily="34" charset="0"/>
              </a:rPr>
              <a:t>‘</a:t>
            </a:r>
            <a:r>
              <a:rPr lang="zh-CN" altLang="en-US" b="1" dirty="0">
                <a:solidFill>
                  <a:schemeClr val="bg1"/>
                </a:solidFill>
              </a:rPr>
              <a:t>；</a:t>
            </a:r>
            <a:r>
              <a:rPr lang="zh-CN" altLang="en-US" b="1" dirty="0">
                <a:solidFill>
                  <a:schemeClr val="bg1"/>
                </a:solidFill>
                <a:latin typeface="Arial" panose="020B0604020202020204" pitchFamily="34" charset="0"/>
              </a:rPr>
              <a:t>’</a:t>
            </a:r>
            <a:r>
              <a:rPr lang="zh-CN" altLang="en-US" b="1" dirty="0">
                <a:solidFill>
                  <a:schemeClr val="bg1"/>
                </a:solidFill>
              </a:rPr>
              <a:t>是必需的</a:t>
            </a:r>
            <a:endParaRPr lang="zh-CN" altLang="en-US" b="1" dirty="0">
              <a:solidFill>
                <a:schemeClr val="bg1"/>
              </a:solidFill>
            </a:endParaRPr>
          </a:p>
          <a:p>
            <a:pPr eaLnBrk="1" hangingPunct="1">
              <a:lnSpc>
                <a:spcPct val="90000"/>
              </a:lnSpc>
              <a:buNone/>
            </a:pPr>
            <a:r>
              <a:rPr lang="en-US" altLang="zh-CN" b="1" dirty="0">
                <a:solidFill>
                  <a:schemeClr val="bg1"/>
                </a:solidFill>
              </a:rPr>
              <a:t>class student  a,b;               </a:t>
            </a:r>
            <a:endParaRPr lang="en-US" altLang="zh-CN" b="1" dirty="0">
              <a:solidFill>
                <a:schemeClr val="bg1"/>
              </a:solidFill>
            </a:endParaRPr>
          </a:p>
          <a:p>
            <a:pPr eaLnBrk="1" hangingPunct="1">
              <a:lnSpc>
                <a:spcPct val="90000"/>
              </a:lnSpc>
              <a:buNone/>
            </a:pPr>
            <a:r>
              <a:rPr lang="zh-CN" altLang="en-US" b="1" dirty="0">
                <a:solidFill>
                  <a:schemeClr val="bg1"/>
                </a:solidFill>
              </a:rPr>
              <a:t>或者  </a:t>
            </a:r>
            <a:r>
              <a:rPr lang="en-US" altLang="zh-CN" b="1" dirty="0">
                <a:solidFill>
                  <a:schemeClr val="bg1"/>
                </a:solidFill>
              </a:rPr>
              <a:t>student a,b;               </a:t>
            </a:r>
            <a:r>
              <a:rPr lang="zh-CN" altLang="en-US" b="1" dirty="0">
                <a:solidFill>
                  <a:schemeClr val="bg1"/>
                </a:solidFill>
              </a:rPr>
              <a:t>常用形式</a:t>
            </a:r>
            <a:endParaRPr lang="en-US" altLang="zh-CN" b="1" dirty="0">
              <a:solidFill>
                <a:schemeClr val="bg1"/>
              </a:solidFill>
            </a:endParaRPr>
          </a:p>
          <a:p>
            <a:pPr eaLnBrk="1" hangingPunct="1">
              <a:lnSpc>
                <a:spcPct val="90000"/>
              </a:lnSpc>
              <a:buNone/>
            </a:pPr>
            <a:endParaRPr lang="zh-CN" altLang="en-US" b="1" dirty="0">
              <a:solidFill>
                <a:schemeClr val="bg1"/>
              </a:solidFill>
            </a:endParaRPr>
          </a:p>
          <a:p>
            <a:pPr eaLnBrk="1" hangingPunct="1">
              <a:lnSpc>
                <a:spcPct val="90000"/>
              </a:lnSpc>
              <a:buNone/>
            </a:pPr>
            <a:r>
              <a:rPr lang="en-US" altLang="zh-CN" b="1" dirty="0">
                <a:solidFill>
                  <a:schemeClr val="bg1"/>
                </a:solidFill>
              </a:rPr>
              <a:t>a.age = 1; a.f();</a:t>
            </a:r>
            <a:endParaRPr lang="en-US" altLang="zh-CN" b="1" dirty="0">
              <a:solidFill>
                <a:schemeClr val="bg1"/>
              </a:solidFill>
            </a:endParaRPr>
          </a:p>
          <a:p>
            <a:pPr eaLnBrk="1" hangingPunct="1">
              <a:lnSpc>
                <a:spcPct val="90000"/>
              </a:lnSpc>
              <a:buNone/>
            </a:pPr>
            <a:r>
              <a:rPr lang="zh-CN" altLang="en-US" b="1" dirty="0">
                <a:solidFill>
                  <a:schemeClr val="bg1"/>
                </a:solidFill>
              </a:rPr>
              <a:t>定义一个类是定义一个类型</a:t>
            </a:r>
            <a:endParaRPr lang="zh-CN" altLang="en-US" b="1" dirty="0">
              <a:solidFill>
                <a:schemeClr val="bg1"/>
              </a:solidFill>
            </a:endParaRPr>
          </a:p>
        </p:txBody>
      </p:sp>
      <p:sp>
        <p:nvSpPr>
          <p:cNvPr id="6861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69634" name="Rectangle 6"/>
          <p:cNvSpPr>
            <a:spLocks noGrp="1"/>
          </p:cNvSpPr>
          <p:nvPr>
            <p:ph idx="1"/>
          </p:nvPr>
        </p:nvSpPr>
        <p:spPr>
          <a:xfrm>
            <a:off x="1943100" y="2276475"/>
            <a:ext cx="5437188" cy="3960813"/>
          </a:xfrm>
        </p:spPr>
        <p:txBody>
          <a:bodyPr vert="horz" wrap="square" lIns="92075" tIns="46037" rIns="92075" bIns="46037" anchor="t"/>
          <a:p>
            <a:pPr algn="just" eaLnBrk="1" hangingPunct="1">
              <a:lnSpc>
                <a:spcPct val="90000"/>
              </a:lnSpc>
              <a:buBlip>
                <a:blip r:embed="rId1"/>
              </a:buBlip>
            </a:pPr>
            <a:r>
              <a:rPr lang="zh-CN" altLang="en-US" sz="2400" b="1" dirty="0">
                <a:solidFill>
                  <a:srgbClr val="FFFFFF"/>
                </a:solidFill>
                <a:latin typeface="黑体" panose="02010609060101010101" pitchFamily="49" charset="-122"/>
                <a:ea typeface="黑体" panose="02010609060101010101" pitchFamily="49" charset="-122"/>
              </a:rPr>
              <a:t>结构：单纯堆积数据空间构造的类型</a:t>
            </a:r>
            <a:endParaRPr lang="zh-CN" altLang="en-US" sz="24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endParaRPr lang="zh-CN" altLang="en-US" sz="16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r>
              <a:rPr lang="zh-CN" altLang="en-US" sz="2400" b="1" dirty="0">
                <a:solidFill>
                  <a:srgbClr val="FFFFFF"/>
                </a:solidFill>
                <a:latin typeface="黑体" panose="02010609060101010101" pitchFamily="49" charset="-122"/>
                <a:ea typeface="黑体" panose="02010609060101010101" pitchFamily="49" charset="-122"/>
              </a:rPr>
              <a:t>类：不但描述数据空间</a:t>
            </a:r>
            <a:r>
              <a:rPr lang="en-US" altLang="zh-CN" sz="2400" b="1" dirty="0">
                <a:solidFill>
                  <a:srgbClr val="FFFFFF"/>
                </a:solidFill>
                <a:latin typeface="黑体" panose="02010609060101010101" pitchFamily="49" charset="-122"/>
                <a:ea typeface="黑体" panose="02010609060101010101" pitchFamily="49" charset="-122"/>
              </a:rPr>
              <a:t>,</a:t>
            </a:r>
            <a:r>
              <a:rPr lang="zh-CN" altLang="en-US" sz="2400" b="1" dirty="0">
                <a:solidFill>
                  <a:srgbClr val="FFFFFF"/>
                </a:solidFill>
                <a:latin typeface="黑体" panose="02010609060101010101" pitchFamily="49" charset="-122"/>
                <a:ea typeface="黑体" panose="02010609060101010101" pitchFamily="49" charset="-122"/>
              </a:rPr>
              <a:t>还描述其操作的自定义类型</a:t>
            </a:r>
            <a:endParaRPr lang="zh-CN" altLang="en-US" sz="24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endParaRPr lang="zh-CN" altLang="en-US" sz="16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r>
              <a:rPr lang="zh-CN" altLang="en-US" sz="2400" b="1" dirty="0">
                <a:solidFill>
                  <a:srgbClr val="FFFFFF"/>
                </a:solidFill>
                <a:latin typeface="黑体" panose="02010609060101010101" pitchFamily="49" charset="-122"/>
                <a:ea typeface="黑体" panose="02010609060101010101" pitchFamily="49" charset="-122"/>
              </a:rPr>
              <a:t>变量：由内部数据类型或衍生的结构类型所产生的实体</a:t>
            </a:r>
            <a:endParaRPr lang="zh-CN" altLang="en-US" sz="24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endParaRPr lang="zh-CN" altLang="en-US" sz="2400" b="1" dirty="0">
              <a:solidFill>
                <a:srgbClr val="FFFFFF"/>
              </a:solidFill>
              <a:latin typeface="黑体" panose="02010609060101010101" pitchFamily="49" charset="-122"/>
              <a:ea typeface="黑体" panose="02010609060101010101" pitchFamily="49" charset="-122"/>
            </a:endParaRPr>
          </a:p>
          <a:p>
            <a:pPr algn="just" eaLnBrk="1" hangingPunct="1">
              <a:lnSpc>
                <a:spcPct val="90000"/>
              </a:lnSpc>
              <a:buBlip>
                <a:blip r:embed="rId1"/>
              </a:buBlip>
            </a:pPr>
            <a:r>
              <a:rPr lang="zh-CN" altLang="en-US" sz="2400" b="1" dirty="0">
                <a:solidFill>
                  <a:srgbClr val="FFFFFF"/>
                </a:solidFill>
                <a:latin typeface="黑体" panose="02010609060101010101" pitchFamily="49" charset="-122"/>
                <a:ea typeface="黑体" panose="02010609060101010101" pitchFamily="49" charset="-122"/>
              </a:rPr>
              <a:t>对象</a:t>
            </a:r>
            <a:r>
              <a:rPr lang="en-US" altLang="zh-CN" sz="2400" b="1" dirty="0">
                <a:solidFill>
                  <a:srgbClr val="FFFFFF"/>
                </a:solidFill>
                <a:latin typeface="黑体" panose="02010609060101010101" pitchFamily="49" charset="-122"/>
                <a:ea typeface="黑体" panose="02010609060101010101" pitchFamily="49" charset="-122"/>
              </a:rPr>
              <a:t>: </a:t>
            </a:r>
            <a:r>
              <a:rPr lang="zh-CN" altLang="en-US" sz="2400" b="1" dirty="0">
                <a:solidFill>
                  <a:srgbClr val="FFFFFF"/>
                </a:solidFill>
                <a:latin typeface="黑体" panose="02010609060101010101" pitchFamily="49" charset="-122"/>
                <a:ea typeface="黑体" panose="02010609060101010101" pitchFamily="49" charset="-122"/>
              </a:rPr>
              <a:t>由类产生的实体</a:t>
            </a:r>
            <a:r>
              <a:rPr lang="en-US" altLang="zh-CN" sz="2400" b="1" dirty="0">
                <a:solidFill>
                  <a:srgbClr val="FFFFFF"/>
                </a:solidFill>
                <a:latin typeface="黑体" panose="02010609060101010101" pitchFamily="49" charset="-122"/>
                <a:ea typeface="黑体" panose="02010609060101010101" pitchFamily="49" charset="-122"/>
              </a:rPr>
              <a:t>,</a:t>
            </a:r>
            <a:r>
              <a:rPr lang="zh-CN" altLang="en-US" sz="2400" b="1" dirty="0">
                <a:solidFill>
                  <a:srgbClr val="FFFFFF"/>
                </a:solidFill>
                <a:latin typeface="黑体" panose="02010609060101010101" pitchFamily="49" charset="-122"/>
                <a:ea typeface="黑体" panose="02010609060101010101" pitchFamily="49" charset="-122"/>
              </a:rPr>
              <a:t>本质上</a:t>
            </a:r>
            <a:r>
              <a:rPr lang="en-US" altLang="zh-CN" sz="2400" b="1" dirty="0">
                <a:solidFill>
                  <a:srgbClr val="FFFFFF"/>
                </a:solidFill>
                <a:latin typeface="黑体" panose="02010609060101010101" pitchFamily="49" charset="-122"/>
                <a:ea typeface="黑体" panose="02010609060101010101" pitchFamily="49" charset="-122"/>
              </a:rPr>
              <a:t>,</a:t>
            </a:r>
            <a:r>
              <a:rPr lang="zh-CN" altLang="en-US" sz="2400" b="1" dirty="0">
                <a:solidFill>
                  <a:srgbClr val="FFFFFF"/>
                </a:solidFill>
                <a:latin typeface="黑体" panose="02010609060101010101" pitchFamily="49" charset="-122"/>
                <a:ea typeface="黑体" panose="02010609060101010101" pitchFamily="49" charset="-122"/>
              </a:rPr>
              <a:t>变量也是对象</a:t>
            </a:r>
            <a:r>
              <a:rPr lang="en-US" altLang="zh-CN" sz="2400" b="1" dirty="0">
                <a:solidFill>
                  <a:srgbClr val="FFFFFF"/>
                </a:solidFill>
                <a:latin typeface="黑体" panose="02010609060101010101" pitchFamily="49" charset="-122"/>
                <a:ea typeface="黑体" panose="02010609060101010101" pitchFamily="49" charset="-122"/>
              </a:rPr>
              <a:t>,</a:t>
            </a:r>
            <a:r>
              <a:rPr lang="zh-CN" altLang="en-US" sz="2400" b="1" dirty="0">
                <a:solidFill>
                  <a:srgbClr val="FFFFFF"/>
                </a:solidFill>
                <a:latin typeface="黑体" panose="02010609060101010101" pitchFamily="49" charset="-122"/>
                <a:ea typeface="黑体" panose="02010609060101010101" pitchFamily="49" charset="-122"/>
              </a:rPr>
              <a:t>只不过简单一点罢了</a:t>
            </a:r>
            <a:r>
              <a:rPr lang="en-US" altLang="zh-CN" sz="2400" b="1" dirty="0">
                <a:solidFill>
                  <a:srgbClr val="FFFFFF"/>
                </a:solidFill>
                <a:latin typeface="黑体" panose="02010609060101010101" pitchFamily="49" charset="-122"/>
                <a:ea typeface="黑体" panose="02010609060101010101" pitchFamily="49" charset="-122"/>
              </a:rPr>
              <a:t>.</a:t>
            </a:r>
            <a:endParaRPr lang="en-US" altLang="zh-CN" sz="2400" b="1" dirty="0">
              <a:solidFill>
                <a:srgbClr val="FFFFFF"/>
              </a:solidFill>
              <a:latin typeface="黑体" panose="02010609060101010101" pitchFamily="49" charset="-122"/>
              <a:ea typeface="黑体" panose="02010609060101010101" pitchFamily="49" charset="-122"/>
            </a:endParaRPr>
          </a:p>
        </p:txBody>
      </p:sp>
      <p:sp>
        <p:nvSpPr>
          <p:cNvPr id="69635" name="Rectangle 8"/>
          <p:cNvSpPr>
            <a:spLocks noGrp="1"/>
          </p:cNvSpPr>
          <p:nvPr>
            <p:ph type="title"/>
          </p:nvPr>
        </p:nvSpPr>
        <p:spPr>
          <a:xfrm>
            <a:off x="971550" y="873125"/>
            <a:ext cx="7885113" cy="828675"/>
          </a:xfrm>
        </p:spPr>
        <p:txBody>
          <a:bodyPr vert="horz" wrap="square" lIns="92075" tIns="46037" rIns="92075" bIns="46037" anchor="ctr"/>
          <a:p>
            <a:pPr algn="l" eaLnBrk="1" hangingPunct="1"/>
            <a:r>
              <a:rPr lang="zh-CN" altLang="en-US" sz="3600" b="1" dirty="0">
                <a:solidFill>
                  <a:srgbClr val="FFFFCC"/>
                </a:solidFill>
              </a:rPr>
              <a:t>从结构到类</a:t>
            </a:r>
            <a:endParaRPr lang="zh-CN" altLang="en-US" sz="3200" dirty="0">
              <a:solidFill>
                <a:srgbClr val="FFFFCC"/>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idx="1"/>
          </p:nvPr>
        </p:nvSpPr>
        <p:spPr>
          <a:xfrm>
            <a:off x="539750" y="765175"/>
            <a:ext cx="8604250" cy="6092825"/>
          </a:xfrm>
        </p:spPr>
        <p:txBody>
          <a:bodyPr vert="horz" wrap="square" lIns="91440" tIns="45720" rIns="91440" bIns="45720" anchor="t"/>
          <a:p>
            <a:pPr eaLnBrk="1" hangingPunct="1">
              <a:buNone/>
            </a:pPr>
            <a:r>
              <a:rPr lang="zh-CN" altLang="en-US" b="1" dirty="0">
                <a:solidFill>
                  <a:schemeClr val="bg1"/>
                </a:solidFill>
              </a:rPr>
              <a:t>指针分量和对象分量</a:t>
            </a:r>
            <a:endParaRPr lang="zh-CN" altLang="en-US" b="1" dirty="0">
              <a:solidFill>
                <a:schemeClr val="bg1"/>
              </a:solidFill>
            </a:endParaRPr>
          </a:p>
          <a:p>
            <a:pPr eaLnBrk="1" hangingPunct="1">
              <a:buNone/>
            </a:pPr>
            <a:r>
              <a:rPr lang="en-US" altLang="zh-CN" b="1" dirty="0">
                <a:solidFill>
                  <a:schemeClr val="bg1"/>
                </a:solidFill>
              </a:rPr>
              <a:t>class student </a:t>
            </a:r>
            <a:endParaRPr lang="en-US" altLang="zh-CN" b="1" dirty="0">
              <a:solidFill>
                <a:schemeClr val="bg1"/>
              </a:solidFill>
            </a:endParaRPr>
          </a:p>
          <a:p>
            <a:pPr eaLnBrk="1" hangingPunct="1">
              <a:buNone/>
            </a:pPr>
            <a:r>
              <a:rPr lang="en-US" altLang="zh-CN" b="1" dirty="0">
                <a:solidFill>
                  <a:schemeClr val="bg1"/>
                </a:solidFill>
              </a:rPr>
              <a:t>{    int age;</a:t>
            </a:r>
            <a:endParaRPr lang="en-US" altLang="zh-CN" b="1" dirty="0">
              <a:solidFill>
                <a:schemeClr val="bg1"/>
              </a:solidFill>
            </a:endParaRPr>
          </a:p>
          <a:p>
            <a:pPr eaLnBrk="1" hangingPunct="1">
              <a:buNone/>
            </a:pPr>
            <a:r>
              <a:rPr lang="en-US" altLang="zh-CN" b="1" dirty="0">
                <a:solidFill>
                  <a:schemeClr val="bg1"/>
                </a:solidFill>
              </a:rPr>
              <a:t>      char name[9];</a:t>
            </a:r>
            <a:endParaRPr lang="en-US" altLang="zh-CN" b="1" dirty="0">
              <a:solidFill>
                <a:schemeClr val="bg1"/>
              </a:solidFill>
            </a:endParaRPr>
          </a:p>
          <a:p>
            <a:pPr eaLnBrk="1" hangingPunct="1">
              <a:buNone/>
            </a:pPr>
            <a:r>
              <a:rPr lang="en-US" altLang="zh-CN" b="1" dirty="0">
                <a:solidFill>
                  <a:schemeClr val="bg1"/>
                </a:solidFill>
              </a:rPr>
              <a:t>      float score;</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student  a;</a:t>
            </a:r>
            <a:endParaRPr lang="en-US" altLang="zh-CN" b="1" dirty="0">
              <a:solidFill>
                <a:schemeClr val="bg1"/>
              </a:solidFill>
            </a:endParaRPr>
          </a:p>
          <a:p>
            <a:pPr eaLnBrk="1" hangingPunct="1">
              <a:buNone/>
            </a:pPr>
            <a:r>
              <a:rPr lang="en-US" altLang="zh-CN" b="1" dirty="0">
                <a:solidFill>
                  <a:schemeClr val="bg1"/>
                </a:solidFill>
              </a:rPr>
              <a:t>student *p=&amp;a;</a:t>
            </a:r>
            <a:endParaRPr lang="en-US" altLang="zh-CN" b="1" dirty="0">
              <a:solidFill>
                <a:schemeClr val="bg1"/>
              </a:solidFill>
            </a:endParaRPr>
          </a:p>
          <a:p>
            <a:pPr eaLnBrk="1" hangingPunct="1">
              <a:buNone/>
            </a:pPr>
            <a:r>
              <a:rPr lang="en-US" altLang="zh-CN" b="1" dirty="0">
                <a:solidFill>
                  <a:schemeClr val="bg1"/>
                </a:solidFill>
              </a:rPr>
              <a:t>a.age=20;           p-&gt;age=20;   //.</a:t>
            </a:r>
            <a:r>
              <a:rPr lang="zh-CN" altLang="en-US" b="1" dirty="0">
                <a:solidFill>
                  <a:schemeClr val="bg1"/>
                </a:solidFill>
              </a:rPr>
              <a:t>的前面是对象</a:t>
            </a:r>
            <a:endParaRPr lang="zh-CN" altLang="en-US" b="1" dirty="0">
              <a:solidFill>
                <a:schemeClr val="bg1"/>
              </a:solidFill>
            </a:endParaRPr>
          </a:p>
          <a:p>
            <a:pPr eaLnBrk="1" hangingPunct="1">
              <a:buNone/>
            </a:pPr>
            <a:r>
              <a:rPr lang="en-US" altLang="zh-CN" b="1" dirty="0">
                <a:solidFill>
                  <a:schemeClr val="bg1"/>
                </a:solidFill>
              </a:rPr>
              <a:t>&amp;a-&gt;age=20;    (*p).age=20;  //-&gt;</a:t>
            </a:r>
            <a:r>
              <a:rPr lang="zh-CN" altLang="en-US" b="1" dirty="0">
                <a:solidFill>
                  <a:schemeClr val="bg1"/>
                </a:solidFill>
              </a:rPr>
              <a:t>的前面是地址</a:t>
            </a:r>
            <a:endParaRPr lang="zh-CN" altLang="en-US" b="1" dirty="0">
              <a:solidFill>
                <a:schemeClr val="bg1"/>
              </a:solidFill>
            </a:endParaRPr>
          </a:p>
        </p:txBody>
      </p:sp>
      <p:sp>
        <p:nvSpPr>
          <p:cNvPr id="7065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idx="1"/>
          </p:nvPr>
        </p:nvSpPr>
        <p:spPr>
          <a:xfrm>
            <a:off x="182563" y="765175"/>
            <a:ext cx="3884612" cy="6092825"/>
          </a:xfrm>
        </p:spPr>
        <p:txBody>
          <a:bodyPr vert="horz" wrap="square" lIns="91440" tIns="45720" rIns="91440" bIns="45720" anchor="t"/>
          <a:p>
            <a:pPr eaLnBrk="1" hangingPunct="1">
              <a:lnSpc>
                <a:spcPct val="80000"/>
              </a:lnSpc>
              <a:buNone/>
            </a:pPr>
            <a:r>
              <a:rPr lang="zh-CN" altLang="en-US" sz="2400" b="1" dirty="0">
                <a:solidFill>
                  <a:schemeClr val="bg1"/>
                </a:solidFill>
              </a:rPr>
              <a:t>类的引用以及返回类的函数</a:t>
            </a:r>
            <a:endParaRPr lang="zh-CN" altLang="en-US" sz="2400" b="1" dirty="0">
              <a:solidFill>
                <a:schemeClr val="bg1"/>
              </a:solidFill>
            </a:endParaRPr>
          </a:p>
          <a:p>
            <a:pPr eaLnBrk="1" hangingPunct="1">
              <a:lnSpc>
                <a:spcPct val="80000"/>
              </a:lnSpc>
              <a:buNone/>
            </a:pPr>
            <a:r>
              <a:rPr lang="en-US" altLang="zh-CN" sz="2800" b="1" dirty="0">
                <a:solidFill>
                  <a:schemeClr val="bg1"/>
                </a:solidFill>
              </a:rPr>
              <a:t>class student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char name[9];</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score;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i;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add(student);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get();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a[30];</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for(i=0;i&lt;30;i++)</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add(a[i]=get());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7168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71683" name="Rectangle 4"/>
          <p:cNvSpPr/>
          <p:nvPr/>
        </p:nvSpPr>
        <p:spPr>
          <a:xfrm>
            <a:off x="4067175" y="1125538"/>
            <a:ext cx="3529013" cy="5111750"/>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add (student &amp;b){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if(b.age&lt;20)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b.age++;</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student get(){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temp; </a:t>
            </a:r>
            <a:endParaRPr lang="en-US" altLang="zh-CN" sz="24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400" b="1" dirty="0">
                <a:latin typeface="Times New Roman" panose="02020603050405020304" pitchFamily="18" charset="0"/>
                <a:ea typeface="宋体" panose="02010600030101010101" pitchFamily="2" charset="-122"/>
              </a:rPr>
              <a:t>   cin&gt;&gt;temp.age;</a:t>
            </a:r>
            <a:endParaRPr lang="en-US" altLang="zh-CN" sz="24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400" b="1" dirty="0">
                <a:latin typeface="Times New Roman" panose="02020603050405020304" pitchFamily="18" charset="0"/>
                <a:ea typeface="宋体" panose="02010600030101010101" pitchFamily="2" charset="-122"/>
              </a:rPr>
              <a:t>   cin&gt;&gt;temp.name;</a:t>
            </a:r>
            <a:endParaRPr lang="en-US" altLang="zh-CN" sz="24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400" b="1" dirty="0">
                <a:latin typeface="Times New Roman" panose="02020603050405020304" pitchFamily="18" charset="0"/>
                <a:ea typeface="宋体" panose="02010600030101010101" pitchFamily="2" charset="-122"/>
              </a:rPr>
              <a:t>   cin&gt;&gt;temp.score;</a:t>
            </a:r>
            <a:endParaRPr lang="en-US" altLang="zh-CN" sz="24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400" b="1" dirty="0">
                <a:latin typeface="Times New Roman" panose="02020603050405020304" pitchFamily="18" charset="0"/>
                <a:ea typeface="宋体" panose="02010600030101010101" pitchFamily="2" charset="-122"/>
              </a:rPr>
              <a:t>   return(temp);</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5" name="矩形 4"/>
          <p:cNvSpPr/>
          <p:nvPr/>
        </p:nvSpPr>
        <p:spPr bwMode="auto">
          <a:xfrm>
            <a:off x="7164388" y="2781300"/>
            <a:ext cx="503238" cy="287338"/>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矩形 5"/>
          <p:cNvSpPr/>
          <p:nvPr/>
        </p:nvSpPr>
        <p:spPr bwMode="auto">
          <a:xfrm>
            <a:off x="7164388" y="3068638"/>
            <a:ext cx="503238" cy="288925"/>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 name="矩形 6"/>
          <p:cNvSpPr/>
          <p:nvPr/>
        </p:nvSpPr>
        <p:spPr bwMode="auto">
          <a:xfrm>
            <a:off x="7164388" y="3357563"/>
            <a:ext cx="503238" cy="287338"/>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bwMode="auto">
          <a:xfrm>
            <a:off x="7164388" y="4005263"/>
            <a:ext cx="503238" cy="287338"/>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TextBox 8"/>
          <p:cNvSpPr txBox="1"/>
          <p:nvPr/>
        </p:nvSpPr>
        <p:spPr>
          <a:xfrm>
            <a:off x="7235825" y="3573463"/>
            <a:ext cx="431800" cy="338137"/>
          </a:xfrm>
          <a:prstGeom prst="rect">
            <a:avLst/>
          </a:prstGeom>
          <a:noFill/>
          <a:ln w="9525">
            <a:noFill/>
          </a:ln>
        </p:spPr>
        <p:txBody>
          <a:bodyPr anchor="t">
            <a:spAutoFit/>
          </a:bodyPr>
          <a:p>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cxnSp>
        <p:nvCxnSpPr>
          <p:cNvPr id="11" name="直接连接符 10"/>
          <p:cNvCxnSpPr/>
          <p:nvPr/>
        </p:nvCxnSpPr>
        <p:spPr>
          <a:xfrm>
            <a:off x="8027988" y="2205038"/>
            <a:ext cx="0" cy="2232025"/>
          </a:xfrm>
          <a:prstGeom prst="line">
            <a:avLst/>
          </a:prstGeom>
          <a:ln w="9525" cap="flat" cmpd="sng">
            <a:solidFill>
              <a:schemeClr val="bg1"/>
            </a:solidFill>
            <a:prstDash val="solid"/>
            <a:round/>
            <a:headEnd type="none" w="med" len="med"/>
            <a:tailEnd type="none" w="med" len="med"/>
          </a:ln>
        </p:spPr>
      </p:cxnSp>
      <p:sp>
        <p:nvSpPr>
          <p:cNvPr id="12" name="椭圆 11"/>
          <p:cNvSpPr/>
          <p:nvPr/>
        </p:nvSpPr>
        <p:spPr bwMode="auto">
          <a:xfrm>
            <a:off x="8243888" y="3060700"/>
            <a:ext cx="144463" cy="14287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 name="TextBox 12"/>
          <p:cNvSpPr txBox="1"/>
          <p:nvPr/>
        </p:nvSpPr>
        <p:spPr>
          <a:xfrm>
            <a:off x="8675688" y="2771775"/>
            <a:ext cx="433387" cy="585788"/>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14" name="矩形 13"/>
          <p:cNvSpPr/>
          <p:nvPr/>
        </p:nvSpPr>
        <p:spPr bwMode="auto">
          <a:xfrm>
            <a:off x="7019925" y="2205038"/>
            <a:ext cx="2124075" cy="2276475"/>
          </a:xfrm>
          <a:prstGeom prst="rect">
            <a:avLst/>
          </a:prstGeom>
          <a:noFill/>
          <a:ln w="19050" cap="flat" cmpd="sng" algn="ctr">
            <a:solidFill>
              <a:schemeClr val="accent3"/>
            </a:solidFill>
            <a:prstDash val="sysDash"/>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par>
                                <p:cTn id="20" presetID="3" presetClass="entr" presetSubtype="1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2" grpId="0" animBg="1"/>
      <p:bldP spid="13" grpId="0"/>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idx="1"/>
          </p:nvPr>
        </p:nvSpPr>
        <p:spPr>
          <a:xfrm>
            <a:off x="182563" y="765175"/>
            <a:ext cx="4102100" cy="3959225"/>
          </a:xfrm>
        </p:spPr>
        <p:txBody>
          <a:bodyPr vert="horz" wrap="square" lIns="91440" tIns="45720" rIns="91440" bIns="45720" anchor="t"/>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p(){ x();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score;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private: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char name[9];</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x(){age = 20;}</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endParaRPr lang="en-US" altLang="zh-CN" sz="2800" b="1" dirty="0">
              <a:solidFill>
                <a:schemeClr val="bg1"/>
              </a:solidFill>
            </a:endParaRPr>
          </a:p>
        </p:txBody>
      </p:sp>
      <p:sp>
        <p:nvSpPr>
          <p:cNvPr id="7270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72707" name="Rectangle 2"/>
          <p:cNvSpPr txBox="1"/>
          <p:nvPr/>
        </p:nvSpPr>
        <p:spPr>
          <a:xfrm>
            <a:off x="182563" y="4868863"/>
            <a:ext cx="8961437" cy="1989137"/>
          </a:xfrm>
          <a:prstGeom prst="rect">
            <a:avLst/>
          </a:prstGeom>
          <a:noFill/>
          <a:ln w="9525">
            <a:noFill/>
          </a:ln>
        </p:spPr>
        <p:txBody>
          <a:bodyPr wrap="square" lIns="91440" tIns="45720" rIns="91440" bIns="45720" anchor="t"/>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void  x(){</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a.p</a:t>
            </a: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a.score</a:t>
            </a:r>
            <a:r>
              <a:rPr lang="en-US" altLang="zh-CN" sz="2800" b="1" dirty="0">
                <a:latin typeface="Times New Roman" panose="02020603050405020304" pitchFamily="18" charset="0"/>
                <a:ea typeface="宋体" panose="02010600030101010101" pitchFamily="2" charset="-122"/>
              </a:rPr>
              <a:t>=80.5;              </a:t>
            </a:r>
            <a:r>
              <a:rPr lang="en-US" altLang="zh-CN" sz="2800" b="1" dirty="0" err="1">
                <a:latin typeface="Times New Roman" panose="02020603050405020304" pitchFamily="18" charset="0"/>
                <a:ea typeface="宋体" panose="02010600030101010101" pitchFamily="2" charset="-122"/>
              </a:rPr>
              <a:t>a.age</a:t>
            </a:r>
            <a:r>
              <a:rPr lang="en-US" altLang="zh-CN" sz="2800" b="1" dirty="0">
                <a:latin typeface="Times New Roman" panose="02020603050405020304" pitchFamily="18" charset="0"/>
                <a:ea typeface="宋体" panose="02010600030101010101" pitchFamily="2" charset="-122"/>
              </a:rPr>
              <a:t>=20;     </a:t>
            </a:r>
            <a:r>
              <a:rPr lang="en-US" altLang="zh-CN" sz="2800" b="1" dirty="0" err="1">
                <a:latin typeface="Times New Roman" panose="02020603050405020304" pitchFamily="18" charset="0"/>
                <a:ea typeface="宋体" panose="02010600030101010101" pitchFamily="2" charset="-122"/>
              </a:rPr>
              <a:t>a.x</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72708" name="Rectangle 2"/>
          <p:cNvSpPr txBox="1"/>
          <p:nvPr/>
        </p:nvSpPr>
        <p:spPr>
          <a:xfrm>
            <a:off x="5222875" y="620713"/>
            <a:ext cx="4102100" cy="3959225"/>
          </a:xfrm>
          <a:prstGeom prst="rect">
            <a:avLst/>
          </a:prstGeom>
          <a:noFill/>
          <a:ln w="9525">
            <a:noFill/>
          </a:ln>
        </p:spPr>
        <p:txBody>
          <a:bodyPr wrap="square" lIns="91440" tIns="45720" rIns="91440" bIns="45720" anchor="t"/>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class teacher{</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public:</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void 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a.p</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a.score</a:t>
            </a:r>
            <a:r>
              <a:rPr lang="en-US" altLang="zh-CN" sz="2800" b="1" dirty="0">
                <a:latin typeface="Times New Roman" panose="02020603050405020304" pitchFamily="18" charset="0"/>
                <a:ea typeface="宋体" panose="02010600030101010101" pitchFamily="2" charset="-122"/>
              </a:rPr>
              <a:t>=80.5;</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a.age</a:t>
            </a:r>
            <a:r>
              <a:rPr lang="en-US" altLang="zh-CN" sz="2800" b="1" dirty="0">
                <a:latin typeface="Times New Roman" panose="02020603050405020304" pitchFamily="18" charset="0"/>
                <a:ea typeface="宋体" panose="02010600030101010101" pitchFamily="2" charset="-122"/>
              </a:rPr>
              <a:t>=20;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r>
              <a:rPr lang="en-US" altLang="zh-CN" sz="2800" b="1" dirty="0" err="1">
                <a:latin typeface="Times New Roman" panose="02020603050405020304" pitchFamily="18" charset="0"/>
                <a:ea typeface="宋体" panose="02010600030101010101" pitchFamily="2" charset="-122"/>
              </a:rPr>
              <a:t>a.x</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idx="1"/>
          </p:nvPr>
        </p:nvSpPr>
        <p:spPr>
          <a:xfrm>
            <a:off x="685483" y="118745"/>
            <a:ext cx="7269162" cy="6092825"/>
          </a:xfrm>
        </p:spPr>
        <p:txBody>
          <a:bodyPr vert="horz" wrap="square" lIns="91440" tIns="45720" rIns="91440" bIns="45720" anchor="t"/>
          <a:p>
            <a:pPr eaLnBrk="1" hangingPunct="1">
              <a:lnSpc>
                <a:spcPct val="80000"/>
              </a:lnSpc>
              <a:buNone/>
            </a:pPr>
            <a:r>
              <a:rPr lang="en-US" altLang="zh-CN" sz="2800" b="1" dirty="0">
                <a:solidFill>
                  <a:schemeClr val="bg1"/>
                </a:solidFill>
              </a:rPr>
              <a:t>class class_name{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默认数据成员；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默认函数成员；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公共数据成员；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公共函数成员；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private: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私有数据成员；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私有函数成员；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protected</a:t>
            </a:r>
            <a:r>
              <a:rPr lang="zh-CN" altLang="en-US"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保护数据成员；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zh-CN" altLang="en-US" sz="2800" b="1" dirty="0">
                <a:solidFill>
                  <a:schemeClr val="bg1"/>
                </a:solidFill>
              </a:rPr>
              <a:t>保护函数成员；</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private</a:t>
            </a:r>
            <a:r>
              <a:rPr lang="zh-CN" altLang="en-US" sz="2800" b="1" dirty="0">
                <a:solidFill>
                  <a:schemeClr val="bg1"/>
                </a:solidFill>
              </a:rPr>
              <a:t>与</a:t>
            </a:r>
            <a:r>
              <a:rPr lang="en-US" altLang="zh-CN" sz="2800" b="1" dirty="0">
                <a:solidFill>
                  <a:schemeClr val="bg1"/>
                </a:solidFill>
              </a:rPr>
              <a:t>protected</a:t>
            </a:r>
            <a:r>
              <a:rPr lang="zh-CN" altLang="en-US" sz="2800" b="1" dirty="0">
                <a:solidFill>
                  <a:schemeClr val="bg1"/>
                </a:solidFill>
              </a:rPr>
              <a:t>在继承出现之前不区分</a:t>
            </a:r>
            <a:endParaRPr lang="en-US" altLang="zh-CN" sz="2800" b="1" dirty="0">
              <a:solidFill>
                <a:schemeClr val="bg1"/>
              </a:solidFill>
            </a:endParaRPr>
          </a:p>
          <a:p>
            <a:pPr eaLnBrk="1" hangingPunct="1">
              <a:lnSpc>
                <a:spcPct val="80000"/>
              </a:lnSpc>
              <a:buNone/>
            </a:pPr>
            <a:r>
              <a:rPr lang="zh-CN" altLang="en-US" sz="2800" b="1" dirty="0">
                <a:solidFill>
                  <a:schemeClr val="bg1"/>
                </a:solidFill>
              </a:rPr>
              <a:t>类与结构在默认公有与私有上的差异</a:t>
            </a:r>
            <a:endParaRPr lang="zh-CN" altLang="en-US" sz="2800" b="1" dirty="0">
              <a:solidFill>
                <a:schemeClr val="bg1"/>
              </a:solidFill>
            </a:endParaRPr>
          </a:p>
          <a:p>
            <a:pPr eaLnBrk="1" hangingPunct="1">
              <a:lnSpc>
                <a:spcPct val="80000"/>
              </a:lnSpc>
              <a:buNone/>
            </a:pPr>
            <a:r>
              <a:rPr lang="zh-CN" altLang="en-US" sz="2800" b="1" dirty="0">
                <a:solidFill>
                  <a:schemeClr val="bg1"/>
                </a:solidFill>
              </a:rPr>
              <a:t>常量指针是整体权限；属性是局部权限 </a:t>
            </a:r>
            <a:endParaRPr lang="zh-CN" altLang="en-US" sz="2800" b="1" dirty="0">
              <a:solidFill>
                <a:schemeClr val="bg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p:nvPr/>
        </p:nvSpPr>
        <p:spPr>
          <a:xfrm>
            <a:off x="0" y="115888"/>
            <a:ext cx="9144000" cy="1143000"/>
          </a:xfrm>
          <a:prstGeom prst="rect">
            <a:avLst/>
          </a:prstGeom>
          <a:noFill/>
          <a:ln w="9525">
            <a:noFill/>
          </a:ln>
        </p:spPr>
        <p:txBody>
          <a:bodyPr anchor="ctr"/>
          <a:p>
            <a:pPr algn="ctr"/>
            <a:r>
              <a:rPr lang="zh-CN" altLang="en-US" sz="4400" b="1" dirty="0">
                <a:solidFill>
                  <a:srgbClr val="FFFF00"/>
                </a:solidFill>
                <a:latin typeface="隶书" panose="02010509060101010101" pitchFamily="49" charset="-122"/>
                <a:ea typeface="隶书" panose="02010509060101010101" pitchFamily="49" charset="-122"/>
              </a:rPr>
              <a:t>类型的演化</a:t>
            </a:r>
            <a:endParaRPr lang="zh-CN" altLang="en-US" sz="4400" dirty="0">
              <a:solidFill>
                <a:srgbClr val="FFFF00"/>
              </a:solidFill>
              <a:latin typeface="隶书" panose="02010509060101010101" pitchFamily="49" charset="-122"/>
              <a:ea typeface="隶书" panose="02010509060101010101" pitchFamily="49" charset="-122"/>
            </a:endParaRPr>
          </a:p>
        </p:txBody>
      </p:sp>
      <p:sp>
        <p:nvSpPr>
          <p:cNvPr id="74754" name="Rectangle 3"/>
          <p:cNvSpPr/>
          <p:nvPr/>
        </p:nvSpPr>
        <p:spPr>
          <a:xfrm>
            <a:off x="323850" y="1052513"/>
            <a:ext cx="7772400" cy="4114800"/>
          </a:xfrm>
          <a:prstGeom prst="rect">
            <a:avLst/>
          </a:prstGeom>
          <a:noFill/>
          <a:ln w="9525">
            <a:noFill/>
          </a:ln>
        </p:spPr>
        <p:txBody>
          <a:bodyPr anchor="t"/>
          <a:p>
            <a:pPr marL="342900" indent="-342900">
              <a:spcBef>
                <a:spcPct val="20000"/>
              </a:spcBef>
            </a:pPr>
            <a:r>
              <a:rPr lang="en-US" altLang="zh-CN" sz="3200" dirty="0">
                <a:solidFill>
                  <a:schemeClr val="tx1"/>
                </a:solidFill>
                <a:latin typeface="Times New Roman" panose="02020603050405020304" pitchFamily="18" charset="0"/>
                <a:ea typeface="宋体" panose="02010600030101010101" pitchFamily="2" charset="-122"/>
              </a:rPr>
              <a:t> </a:t>
            </a:r>
            <a:endParaRPr lang="en-US" altLang="zh-CN" sz="3200" dirty="0">
              <a:solidFill>
                <a:schemeClr val="tx1"/>
              </a:solidFill>
              <a:latin typeface="Times New Roman" panose="02020603050405020304" pitchFamily="18" charset="0"/>
              <a:ea typeface="宋体" panose="02010600030101010101" pitchFamily="2" charset="-122"/>
            </a:endParaRPr>
          </a:p>
          <a:p>
            <a:pPr marL="342900" indent="-342900">
              <a:spcBef>
                <a:spcPct val="20000"/>
              </a:spcBef>
              <a:buChar char="•"/>
            </a:pP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375812" name="Text Box 4"/>
          <p:cNvSpPr txBox="1">
            <a:spLocks noChangeArrowheads="1"/>
          </p:cNvSpPr>
          <p:nvPr/>
        </p:nvSpPr>
        <p:spPr bwMode="auto">
          <a:xfrm>
            <a:off x="628650" y="1196975"/>
            <a:ext cx="533400" cy="52133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75813" name="Rectangle 5"/>
          <p:cNvSpPr>
            <a:spLocks noChangeArrowheads="1"/>
          </p:cNvSpPr>
          <p:nvPr/>
        </p:nvSpPr>
        <p:spPr bwMode="auto">
          <a:xfrm>
            <a:off x="1238250" y="1204913"/>
            <a:ext cx="7221538" cy="115093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数据结构＋算法   试图追求组合的丰富性 </a:t>
            </a:r>
            <a:endParaRPr kumimoji="0" lang="zh-CN" altLang="en-US" sz="2800" b="1" i="0" u="none" strike="noStrike" kern="1200" cap="none" spc="0" normalizeH="0" baseline="0" noProof="0" dirty="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75814" name="Rectangle 6"/>
          <p:cNvSpPr>
            <a:spLocks noChangeArrowheads="1"/>
          </p:cNvSpPr>
          <p:nvPr/>
        </p:nvSpPr>
        <p:spPr bwMode="auto">
          <a:xfrm>
            <a:off x="1238250" y="2525713"/>
            <a:ext cx="7219950"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（数据结构＋算法） 更加吻合实际</a:t>
            </a:r>
            <a:endParaRPr kumimoji="0" lang="zh-CN" altLang="en-US" sz="32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75815" name="Rectangle 7"/>
          <p:cNvSpPr>
            <a:spLocks noChangeArrowheads="1"/>
          </p:cNvSpPr>
          <p:nvPr/>
        </p:nvSpPr>
        <p:spPr bwMode="auto">
          <a:xfrm>
            <a:off x="1238250" y="3822700"/>
            <a:ext cx="7219950" cy="1198563"/>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类＋类</a:t>
            </a:r>
            <a:r>
              <a:rPr kumimoji="0" lang="en-US" altLang="zh-CN" sz="36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r>
              <a:rPr kumimoji="0" lang="zh-CN" altLang="en-US" sz="36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＋类＝程序</a:t>
            </a:r>
            <a:endParaRPr kumimoji="0" lang="zh-CN" altLang="en-US" sz="36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75816" name="Rectangle 8"/>
          <p:cNvSpPr>
            <a:spLocks noChangeArrowheads="1"/>
          </p:cNvSpPr>
          <p:nvPr/>
        </p:nvSpPr>
        <p:spPr bwMode="auto">
          <a:xfrm>
            <a:off x="1239838" y="5181600"/>
            <a:ext cx="7219950" cy="1198563"/>
          </a:xfrm>
          <a:prstGeom prst="rect">
            <a:avLst/>
          </a:prstGeom>
          <a:gradFill rotWithShape="0">
            <a:gsLst>
              <a:gs pos="0">
                <a:srgbClr val="006600">
                  <a:gamma/>
                  <a:shade val="46275"/>
                  <a:invGamma/>
                </a:srgbClr>
              </a:gs>
              <a:gs pos="100000">
                <a:srgbClr val="006600"/>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类的深度管理</a:t>
            </a:r>
            <a:endParaRPr kumimoji="0" lang="zh-CN" altLang="en-US" sz="32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5812"/>
                                        </p:tgtEl>
                                        <p:attrNameLst>
                                          <p:attrName>style.visibility</p:attrName>
                                        </p:attrNameLst>
                                      </p:cBhvr>
                                      <p:to>
                                        <p:strVal val="visible"/>
                                      </p:to>
                                    </p:set>
                                    <p:anim calcmode="lin" valueType="num">
                                      <p:cBhvr additive="base">
                                        <p:cTn id="7" dur="500" fill="hold"/>
                                        <p:tgtEl>
                                          <p:spTgt spid="375812"/>
                                        </p:tgtEl>
                                        <p:attrNameLst>
                                          <p:attrName>ppt_x</p:attrName>
                                        </p:attrNameLst>
                                      </p:cBhvr>
                                      <p:tavLst>
                                        <p:tav tm="0">
                                          <p:val>
                                            <p:strVal val="0-#ppt_w/2"/>
                                          </p:val>
                                        </p:tav>
                                        <p:tav tm="100000">
                                          <p:val>
                                            <p:strVal val="#ppt_x"/>
                                          </p:val>
                                        </p:tav>
                                      </p:tavLst>
                                    </p:anim>
                                    <p:anim calcmode="lin" valueType="num">
                                      <p:cBhvr additive="base">
                                        <p:cTn id="8" dur="500" fill="hold"/>
                                        <p:tgtEl>
                                          <p:spTgt spid="3758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75813"/>
                                        </p:tgtEl>
                                        <p:attrNameLst>
                                          <p:attrName>style.visibility</p:attrName>
                                        </p:attrNameLst>
                                      </p:cBhvr>
                                      <p:to>
                                        <p:strVal val="visible"/>
                                      </p:to>
                                    </p:set>
                                    <p:animEffect transition="in" filter="slide(fromLeft)">
                                      <p:cBhvr>
                                        <p:cTn id="12" dur="500"/>
                                        <p:tgtEl>
                                          <p:spTgt spid="3758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75814"/>
                                        </p:tgtEl>
                                        <p:attrNameLst>
                                          <p:attrName>style.visibility</p:attrName>
                                        </p:attrNameLst>
                                      </p:cBhvr>
                                      <p:to>
                                        <p:strVal val="visible"/>
                                      </p:to>
                                    </p:set>
                                    <p:anim calcmode="lin" valueType="num">
                                      <p:cBhvr additive="base">
                                        <p:cTn id="17" dur="2000" fill="hold"/>
                                        <p:tgtEl>
                                          <p:spTgt spid="375814"/>
                                        </p:tgtEl>
                                        <p:attrNameLst>
                                          <p:attrName>ppt_x</p:attrName>
                                        </p:attrNameLst>
                                      </p:cBhvr>
                                      <p:tavLst>
                                        <p:tav tm="0">
                                          <p:val>
                                            <p:strVal val="#ppt_x"/>
                                          </p:val>
                                        </p:tav>
                                        <p:tav tm="100000">
                                          <p:val>
                                            <p:strVal val="#ppt_x"/>
                                          </p:val>
                                        </p:tav>
                                      </p:tavLst>
                                    </p:anim>
                                    <p:anim calcmode="lin" valueType="num">
                                      <p:cBhvr additive="base">
                                        <p:cTn id="18" dur="2000" fill="hold"/>
                                        <p:tgtEl>
                                          <p:spTgt spid="37581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375815"/>
                                        </p:tgtEl>
                                        <p:attrNameLst>
                                          <p:attrName>style.visibility</p:attrName>
                                        </p:attrNameLst>
                                      </p:cBhvr>
                                      <p:to>
                                        <p:strVal val="visible"/>
                                      </p:to>
                                    </p:set>
                                    <p:animEffect transition="in" filter="wheel(4)">
                                      <p:cBhvr>
                                        <p:cTn id="23" dur="2000"/>
                                        <p:tgtEl>
                                          <p:spTgt spid="3758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4" fill="hold" grpId="0" nodeType="clickEffect">
                                  <p:stCondLst>
                                    <p:cond delay="0"/>
                                  </p:stCondLst>
                                  <p:childTnLst>
                                    <p:set>
                                      <p:cBhvr>
                                        <p:cTn id="27" dur="1" fill="hold">
                                          <p:stCondLst>
                                            <p:cond delay="0"/>
                                          </p:stCondLst>
                                        </p:cTn>
                                        <p:tgtEl>
                                          <p:spTgt spid="375816"/>
                                        </p:tgtEl>
                                        <p:attrNameLst>
                                          <p:attrName>style.visibility</p:attrName>
                                        </p:attrNameLst>
                                      </p:cBhvr>
                                      <p:to>
                                        <p:strVal val="visible"/>
                                      </p:to>
                                    </p:set>
                                    <p:animEffect transition="in" filter="wheel(4)">
                                      <p:cBhvr>
                                        <p:cTn id="28" dur="2000"/>
                                        <p:tgtEl>
                                          <p:spTgt spid="375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2" grpId="0" animBg="1"/>
      <p:bldP spid="375813" grpId="0" animBg="1"/>
      <p:bldP spid="375814" grpId="0" animBg="1"/>
      <p:bldP spid="375815" grpId="0" animBg="1"/>
      <p:bldP spid="37581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类（封装）</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75778" name="Rectangle 6"/>
          <p:cNvSpPr>
            <a:spLocks noGrp="1"/>
          </p:cNvSpPr>
          <p:nvPr>
            <p:ph idx="1"/>
          </p:nvPr>
        </p:nvSpPr>
        <p:spPr>
          <a:xfrm>
            <a:off x="685800" y="685800"/>
            <a:ext cx="7772400" cy="5410200"/>
          </a:xfrm>
        </p:spPr>
        <p:txBody>
          <a:bodyPr vert="horz" wrap="square" lIns="91440" tIns="45720" rIns="91440" bIns="45720" anchor="t"/>
          <a:p>
            <a:pPr eaLnBrk="1" hangingPunct="1">
              <a:buNone/>
            </a:pPr>
            <a:r>
              <a:rPr lang="en-US" altLang="zh-CN" sz="3600" b="1" dirty="0">
                <a:solidFill>
                  <a:schemeClr val="bg1"/>
                </a:solidFill>
              </a:rPr>
              <a:t>1</a:t>
            </a:r>
            <a:r>
              <a:rPr lang="zh-CN" altLang="en-US" sz="3600" b="1" dirty="0">
                <a:solidFill>
                  <a:schemeClr val="bg1"/>
                </a:solidFill>
              </a:rPr>
              <a:t>、定义新类型的基本思想就是将实现中的那些并非必然的细节，与那些对这个类型的正确使用至关重要的性质区分开来。</a:t>
            </a:r>
            <a:endParaRPr lang="zh-CN" altLang="en-US" sz="3600" b="1" dirty="0">
              <a:solidFill>
                <a:schemeClr val="bg1"/>
              </a:solidFill>
            </a:endParaRPr>
          </a:p>
          <a:p>
            <a:pPr eaLnBrk="1" hangingPunct="1">
              <a:buNone/>
            </a:pPr>
            <a:r>
              <a:rPr lang="en-US" altLang="zh-CN" sz="3600" b="1" dirty="0">
                <a:solidFill>
                  <a:schemeClr val="bg1"/>
                </a:solidFill>
              </a:rPr>
              <a:t>2</a:t>
            </a:r>
            <a:r>
              <a:rPr lang="zh-CN" altLang="en-US" sz="3600" b="1" dirty="0">
                <a:solidFill>
                  <a:schemeClr val="bg1"/>
                </a:solidFill>
              </a:rPr>
              <a:t>、其依据是属性基本可以确定功能；反之需要功能则要求对应属性；</a:t>
            </a:r>
            <a:endParaRPr lang="en-US" altLang="zh-CN" sz="3600" b="1" dirty="0">
              <a:solidFill>
                <a:schemeClr val="bg1"/>
              </a:solidFill>
            </a:endParaRPr>
          </a:p>
          <a:p>
            <a:pPr eaLnBrk="1" hangingPunct="1">
              <a:buNone/>
            </a:pPr>
            <a:r>
              <a:rPr lang="en-US" altLang="zh-CN" sz="3600" b="1" dirty="0">
                <a:solidFill>
                  <a:schemeClr val="bg1"/>
                </a:solidFill>
              </a:rPr>
              <a:t>3</a:t>
            </a:r>
            <a:r>
              <a:rPr lang="zh-CN" altLang="en-US" sz="3600" b="1" dirty="0">
                <a:solidFill>
                  <a:schemeClr val="bg1"/>
                </a:solidFill>
              </a:rPr>
              <a:t>、提供一个特定界面，令对于数据结构以及内部维护例程的所有使用都通过这个界面进行。</a:t>
            </a:r>
            <a:endParaRPr lang="zh-CN" altLang="en-US" sz="3600" b="1" dirty="0">
              <a:solidFill>
                <a:schemeClr val="bg1"/>
              </a:solidFill>
            </a:endParaRPr>
          </a:p>
          <a:p>
            <a:pPr eaLnBrk="1" hangingPunct="1">
              <a:buNone/>
            </a:pPr>
            <a:r>
              <a:rPr lang="en-US" altLang="zh-CN" sz="3600" b="1" dirty="0">
                <a:solidFill>
                  <a:schemeClr val="bg1"/>
                </a:solidFill>
              </a:rPr>
              <a:t>4</a:t>
            </a:r>
            <a:r>
              <a:rPr lang="zh-CN" altLang="en-US" sz="3600" b="1" dirty="0">
                <a:solidFill>
                  <a:schemeClr val="bg1"/>
                </a:solidFill>
              </a:rPr>
              <a:t>、前提：针对大型、复杂系统</a:t>
            </a:r>
            <a:endParaRPr lang="zh-CN" altLang="en-US" sz="3600" b="1"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p:nvPr/>
        </p:nvSpPr>
        <p:spPr>
          <a:xfrm>
            <a:off x="0" y="44450"/>
            <a:ext cx="9144000" cy="1143000"/>
          </a:xfrm>
          <a:prstGeom prst="rect">
            <a:avLst/>
          </a:prstGeom>
          <a:noFill/>
          <a:ln w="9525">
            <a:noFill/>
          </a:ln>
        </p:spPr>
        <p:txBody>
          <a:bodyPr anchor="ctr"/>
          <a:p>
            <a:pPr algn="ctr"/>
            <a:r>
              <a:rPr lang="zh-CN" altLang="en-US" sz="4400" dirty="0">
                <a:solidFill>
                  <a:srgbClr val="FFFF00"/>
                </a:solidFill>
                <a:latin typeface="隶书" panose="02010509060101010101" pitchFamily="49" charset="-122"/>
                <a:ea typeface="隶书" panose="02010509060101010101" pitchFamily="49" charset="-122"/>
              </a:rPr>
              <a:t>类</a:t>
            </a:r>
            <a:endParaRPr lang="zh-CN" altLang="en-US" sz="4400" dirty="0">
              <a:solidFill>
                <a:srgbClr val="FFFF00"/>
              </a:solidFill>
              <a:latin typeface="隶书" panose="02010509060101010101" pitchFamily="49" charset="-122"/>
              <a:ea typeface="隶书" panose="02010509060101010101" pitchFamily="49" charset="-122"/>
            </a:endParaRPr>
          </a:p>
        </p:txBody>
      </p:sp>
      <p:sp>
        <p:nvSpPr>
          <p:cNvPr id="76802" name="Rectangle 3"/>
          <p:cNvSpPr/>
          <p:nvPr/>
        </p:nvSpPr>
        <p:spPr>
          <a:xfrm>
            <a:off x="323850" y="1916113"/>
            <a:ext cx="7772400" cy="4114800"/>
          </a:xfrm>
          <a:prstGeom prst="rect">
            <a:avLst/>
          </a:prstGeom>
          <a:noFill/>
          <a:ln w="9525">
            <a:noFill/>
          </a:ln>
        </p:spPr>
        <p:txBody>
          <a:bodyPr anchor="t"/>
          <a:p>
            <a:pPr marL="342900" indent="-342900">
              <a:spcBef>
                <a:spcPct val="20000"/>
              </a:spcBef>
            </a:pPr>
            <a:r>
              <a:rPr lang="en-US" altLang="zh-CN" sz="3200" dirty="0">
                <a:solidFill>
                  <a:schemeClr val="tx1"/>
                </a:solidFill>
                <a:latin typeface="Times New Roman" panose="02020603050405020304" pitchFamily="18" charset="0"/>
                <a:ea typeface="宋体" panose="02010600030101010101" pitchFamily="2" charset="-122"/>
              </a:rPr>
              <a:t> </a:t>
            </a:r>
            <a:endParaRPr lang="en-US" altLang="zh-CN" sz="3200" dirty="0">
              <a:solidFill>
                <a:schemeClr val="tx1"/>
              </a:solidFill>
              <a:latin typeface="Times New Roman" panose="02020603050405020304" pitchFamily="18" charset="0"/>
              <a:ea typeface="宋体" panose="02010600030101010101" pitchFamily="2" charset="-122"/>
            </a:endParaRPr>
          </a:p>
          <a:p>
            <a:pPr marL="342900" indent="-342900">
              <a:spcBef>
                <a:spcPct val="20000"/>
              </a:spcBef>
              <a:buChar char="•"/>
            </a:pP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368644" name="Rectangle 4"/>
          <p:cNvSpPr>
            <a:spLocks noChangeArrowheads="1"/>
          </p:cNvSpPr>
          <p:nvPr/>
        </p:nvSpPr>
        <p:spPr bwMode="auto">
          <a:xfrm>
            <a:off x="1238250" y="1557338"/>
            <a:ext cx="1389063" cy="115093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对象 </a:t>
            </a:r>
            <a:endPar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68645" name="Rectangle 5"/>
          <p:cNvSpPr>
            <a:spLocks noChangeArrowheads="1"/>
          </p:cNvSpPr>
          <p:nvPr/>
        </p:nvSpPr>
        <p:spPr bwMode="auto">
          <a:xfrm>
            <a:off x="6496050" y="1622425"/>
            <a:ext cx="138906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实体</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68646" name="Rectangle 6"/>
          <p:cNvSpPr>
            <a:spLocks noChangeArrowheads="1"/>
          </p:cNvSpPr>
          <p:nvPr/>
        </p:nvSpPr>
        <p:spPr bwMode="auto">
          <a:xfrm>
            <a:off x="1238250" y="4894263"/>
            <a:ext cx="1389063" cy="1198563"/>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a:t>
            </a:r>
            <a:endPar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68647" name="Rectangle 7"/>
          <p:cNvSpPr>
            <a:spLocks noChangeArrowheads="1"/>
          </p:cNvSpPr>
          <p:nvPr/>
        </p:nvSpPr>
        <p:spPr bwMode="auto">
          <a:xfrm>
            <a:off x="6480175" y="4868863"/>
            <a:ext cx="1476375" cy="1198563"/>
          </a:xfrm>
          <a:prstGeom prst="rect">
            <a:avLst/>
          </a:prstGeom>
          <a:gradFill rotWithShape="0">
            <a:gsLst>
              <a:gs pos="0">
                <a:srgbClr val="00CC00">
                  <a:gamma/>
                  <a:shade val="46275"/>
                  <a:invGamma/>
                </a:srgbClr>
              </a:gs>
              <a:gs pos="100000">
                <a:srgbClr val="00CC00"/>
              </a:gs>
            </a:gsLst>
            <a:lin ang="5400000" scaled="1"/>
          </a:gradFill>
          <a:ln w="12700">
            <a:solidFill>
              <a:srgbClr val="00660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抽象数据类</a:t>
            </a:r>
            <a:endParaRPr kumimoji="0" lang="zh-CN" altLang="en-US" sz="20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68648" name="Line 8"/>
          <p:cNvSpPr>
            <a:spLocks noChangeShapeType="1"/>
          </p:cNvSpPr>
          <p:nvPr/>
        </p:nvSpPr>
        <p:spPr bwMode="auto">
          <a:xfrm>
            <a:off x="1403350" y="2781300"/>
            <a:ext cx="0" cy="2087563"/>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8649" name="Line 9"/>
          <p:cNvSpPr>
            <a:spLocks noChangeShapeType="1"/>
          </p:cNvSpPr>
          <p:nvPr/>
        </p:nvSpPr>
        <p:spPr bwMode="auto">
          <a:xfrm flipV="1">
            <a:off x="2268538" y="2781300"/>
            <a:ext cx="0" cy="2087563"/>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8650" name="Line 10"/>
          <p:cNvSpPr>
            <a:spLocks noChangeShapeType="1"/>
          </p:cNvSpPr>
          <p:nvPr/>
        </p:nvSpPr>
        <p:spPr bwMode="auto">
          <a:xfrm flipH="1">
            <a:off x="2627313" y="5516563"/>
            <a:ext cx="3889375" cy="0"/>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68652" name="Line 12"/>
          <p:cNvSpPr>
            <a:spLocks noChangeShapeType="1"/>
          </p:cNvSpPr>
          <p:nvPr/>
        </p:nvSpPr>
        <p:spPr bwMode="auto">
          <a:xfrm flipH="1">
            <a:off x="2627313" y="2205038"/>
            <a:ext cx="3816350" cy="0"/>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68645"/>
                                        </p:tgtEl>
                                        <p:attrNameLst>
                                          <p:attrName>style.visibility</p:attrName>
                                        </p:attrNameLst>
                                      </p:cBhvr>
                                      <p:to>
                                        <p:strVal val="visible"/>
                                      </p:to>
                                    </p:set>
                                    <p:animEffect transition="in" filter="diamond(in)">
                                      <p:cBhvr>
                                        <p:cTn id="7" dur="2000"/>
                                        <p:tgtEl>
                                          <p:spTgt spid="3686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68647"/>
                                        </p:tgtEl>
                                        <p:attrNameLst>
                                          <p:attrName>style.visibility</p:attrName>
                                        </p:attrNameLst>
                                      </p:cBhvr>
                                      <p:to>
                                        <p:strVal val="visible"/>
                                      </p:to>
                                    </p:set>
                                    <p:animEffect transition="in" filter="barn(inHorizontal)">
                                      <p:cBhvr>
                                        <p:cTn id="12" dur="500"/>
                                        <p:tgtEl>
                                          <p:spTgt spid="36864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68650"/>
                                        </p:tgtEl>
                                        <p:attrNameLst>
                                          <p:attrName>style.visibility</p:attrName>
                                        </p:attrNameLst>
                                      </p:cBhvr>
                                      <p:to>
                                        <p:strVal val="visible"/>
                                      </p:to>
                                    </p:set>
                                    <p:animEffect transition="in" filter="strips(downLeft)">
                                      <p:cBhvr>
                                        <p:cTn id="17" dur="500"/>
                                        <p:tgtEl>
                                          <p:spTgt spid="368650"/>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368646"/>
                                        </p:tgtEl>
                                        <p:attrNameLst>
                                          <p:attrName>style.visibility</p:attrName>
                                        </p:attrNameLst>
                                      </p:cBhvr>
                                      <p:to>
                                        <p:strVal val="visible"/>
                                      </p:to>
                                    </p:set>
                                    <p:animEffect transition="in" filter="wedge">
                                      <p:cBhvr>
                                        <p:cTn id="22" dur="2000"/>
                                        <p:tgtEl>
                                          <p:spTgt spid="36864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68649"/>
                                        </p:tgtEl>
                                        <p:attrNameLst>
                                          <p:attrName>style.visibility</p:attrName>
                                        </p:attrNameLst>
                                      </p:cBhvr>
                                      <p:to>
                                        <p:strVal val="visible"/>
                                      </p:to>
                                    </p:set>
                                    <p:animEffect transition="in" filter="randombar(horizontal)">
                                      <p:cBhvr>
                                        <p:cTn id="27" dur="500"/>
                                        <p:tgtEl>
                                          <p:spTgt spid="368649"/>
                                        </p:tgtEl>
                                      </p:cBhvr>
                                    </p:animEffect>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iterate type="lt">
                                    <p:tmPct val="10000"/>
                                  </p:iterate>
                                  <p:childTnLst>
                                    <p:set>
                                      <p:cBhvr>
                                        <p:cTn id="31" dur="1" fill="hold">
                                          <p:stCondLst>
                                            <p:cond delay="0"/>
                                          </p:stCondLst>
                                        </p:cTn>
                                        <p:tgtEl>
                                          <p:spTgt spid="368644"/>
                                        </p:tgtEl>
                                        <p:attrNameLst>
                                          <p:attrName>style.visibility</p:attrName>
                                        </p:attrNameLst>
                                      </p:cBhvr>
                                      <p:to>
                                        <p:strVal val="visible"/>
                                      </p:to>
                                    </p:set>
                                    <p:animEffect transition="in" filter="fade">
                                      <p:cBhvr>
                                        <p:cTn id="32" dur="2000"/>
                                        <p:tgtEl>
                                          <p:spTgt spid="368644"/>
                                        </p:tgtEl>
                                      </p:cBhvr>
                                    </p:animEffect>
                                    <p:anim calcmode="lin" valueType="num">
                                      <p:cBhvr>
                                        <p:cTn id="33" dur="2000" fill="hold"/>
                                        <p:tgtEl>
                                          <p:spTgt spid="368644"/>
                                        </p:tgtEl>
                                        <p:attrNameLst>
                                          <p:attrName>ppt_w</p:attrName>
                                        </p:attrNameLst>
                                      </p:cBhvr>
                                      <p:tavLst>
                                        <p:tav tm="0" fmla="#ppt_w*sin(2.5*pi*$)">
                                          <p:val>
                                            <p:fltVal val="0.000000"/>
                                          </p:val>
                                        </p:tav>
                                        <p:tav tm="100000">
                                          <p:val>
                                            <p:fltVal val="1.000000"/>
                                          </p:val>
                                        </p:tav>
                                      </p:tavLst>
                                    </p:anim>
                                    <p:anim calcmode="lin" valueType="num">
                                      <p:cBhvr>
                                        <p:cTn id="34" dur="2000" fill="hold"/>
                                        <p:tgtEl>
                                          <p:spTgt spid="368644"/>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368648"/>
                                        </p:tgtEl>
                                        <p:attrNameLst>
                                          <p:attrName>style.visibility</p:attrName>
                                        </p:attrNameLst>
                                      </p:cBhvr>
                                      <p:to>
                                        <p:strVal val="visible"/>
                                      </p:to>
                                    </p:set>
                                    <p:animEffect transition="in" filter="slide(fromBottom)">
                                      <p:cBhvr>
                                        <p:cTn id="39" dur="500"/>
                                        <p:tgtEl>
                                          <p:spTgt spid="368648"/>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368652"/>
                                        </p:tgtEl>
                                        <p:attrNameLst>
                                          <p:attrName>style.visibility</p:attrName>
                                        </p:attrNameLst>
                                      </p:cBhvr>
                                      <p:to>
                                        <p:strVal val="visible"/>
                                      </p:to>
                                    </p:set>
                                    <p:anim calcmode="lin" valueType="num">
                                      <p:cBhvr>
                                        <p:cTn id="44" dur="500" fill="hold"/>
                                        <p:tgtEl>
                                          <p:spTgt spid="368652"/>
                                        </p:tgtEl>
                                        <p:attrNameLst>
                                          <p:attrName>ppt_w</p:attrName>
                                        </p:attrNameLst>
                                      </p:cBhvr>
                                      <p:tavLst>
                                        <p:tav tm="0">
                                          <p:val>
                                            <p:fltVal val="0.000000"/>
                                          </p:val>
                                        </p:tav>
                                        <p:tav tm="100000">
                                          <p:val>
                                            <p:strVal val="#ppt_w"/>
                                          </p:val>
                                        </p:tav>
                                      </p:tavLst>
                                    </p:anim>
                                    <p:anim calcmode="lin" valueType="num">
                                      <p:cBhvr>
                                        <p:cTn id="45" dur="500" fill="hold"/>
                                        <p:tgtEl>
                                          <p:spTgt spid="368652"/>
                                        </p:tgtEl>
                                        <p:attrNameLst>
                                          <p:attrName>ppt_h</p:attrName>
                                        </p:attrNameLst>
                                      </p:cBhvr>
                                      <p:tavLst>
                                        <p:tav tm="0">
                                          <p:val>
                                            <p:fltVal val="0.000000"/>
                                          </p:val>
                                        </p:tav>
                                        <p:tav tm="100000">
                                          <p:val>
                                            <p:strVal val="#ppt_h"/>
                                          </p:val>
                                        </p:tav>
                                      </p:tavLst>
                                    </p:anim>
                                    <p:animEffect transition="in" filter="fade">
                                      <p:cBhvr>
                                        <p:cTn id="46" dur="500"/>
                                        <p:tgtEl>
                                          <p:spTgt spid="368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animBg="1"/>
      <p:bldP spid="368645" grpId="0" animBg="1"/>
      <p:bldP spid="368646" grpId="0" animBg="1"/>
      <p:bldP spid="36864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p:nvPr/>
        </p:nvSpPr>
        <p:spPr>
          <a:xfrm>
            <a:off x="0" y="269875"/>
            <a:ext cx="9144000" cy="1143000"/>
          </a:xfrm>
          <a:prstGeom prst="rect">
            <a:avLst/>
          </a:prstGeom>
          <a:noFill/>
          <a:ln w="9525">
            <a:noFill/>
          </a:ln>
        </p:spPr>
        <p:txBody>
          <a:bodyPr anchor="ctr"/>
          <a:p>
            <a:pPr algn="ctr"/>
            <a:r>
              <a:rPr lang="zh-CN" altLang="en-US" sz="4400" dirty="0">
                <a:solidFill>
                  <a:srgbClr val="FFFF00"/>
                </a:solidFill>
                <a:latin typeface="隶书" panose="02010509060101010101" pitchFamily="49" charset="-122"/>
                <a:ea typeface="隶书" panose="02010509060101010101" pitchFamily="49" charset="-122"/>
              </a:rPr>
              <a:t>类</a:t>
            </a:r>
            <a:endParaRPr lang="zh-CN" altLang="en-US" sz="4400" dirty="0">
              <a:solidFill>
                <a:srgbClr val="FFFF00"/>
              </a:solidFill>
              <a:latin typeface="隶书" panose="02010509060101010101" pitchFamily="49" charset="-122"/>
              <a:ea typeface="隶书" panose="02010509060101010101" pitchFamily="49" charset="-122"/>
            </a:endParaRPr>
          </a:p>
        </p:txBody>
      </p:sp>
      <p:sp>
        <p:nvSpPr>
          <p:cNvPr id="77826" name="Rectangle 3"/>
          <p:cNvSpPr/>
          <p:nvPr/>
        </p:nvSpPr>
        <p:spPr>
          <a:xfrm>
            <a:off x="323850" y="1916113"/>
            <a:ext cx="7772400" cy="4114800"/>
          </a:xfrm>
          <a:prstGeom prst="rect">
            <a:avLst/>
          </a:prstGeom>
          <a:noFill/>
          <a:ln w="9525">
            <a:noFill/>
          </a:ln>
        </p:spPr>
        <p:txBody>
          <a:bodyPr anchor="t"/>
          <a:p>
            <a:pPr marL="342900" indent="-342900">
              <a:spcBef>
                <a:spcPct val="20000"/>
              </a:spcBef>
            </a:pPr>
            <a:r>
              <a:rPr lang="en-US" altLang="zh-CN" sz="3200" dirty="0">
                <a:solidFill>
                  <a:schemeClr val="tx1"/>
                </a:solidFill>
                <a:latin typeface="Times New Roman" panose="02020603050405020304" pitchFamily="18" charset="0"/>
                <a:ea typeface="宋体" panose="02010600030101010101" pitchFamily="2" charset="-122"/>
              </a:rPr>
              <a:t> </a:t>
            </a:r>
            <a:endParaRPr lang="en-US" altLang="zh-CN" sz="3200" dirty="0">
              <a:solidFill>
                <a:schemeClr val="tx1"/>
              </a:solidFill>
              <a:latin typeface="Times New Roman" panose="02020603050405020304" pitchFamily="18" charset="0"/>
              <a:ea typeface="宋体" panose="02010600030101010101" pitchFamily="2" charset="-122"/>
            </a:endParaRPr>
          </a:p>
          <a:p>
            <a:pPr marL="342900" indent="-342900">
              <a:spcBef>
                <a:spcPct val="20000"/>
              </a:spcBef>
              <a:buChar char="•"/>
            </a:pP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367620" name="Text Box 4"/>
          <p:cNvSpPr txBox="1">
            <a:spLocks noChangeArrowheads="1"/>
          </p:cNvSpPr>
          <p:nvPr/>
        </p:nvSpPr>
        <p:spPr bwMode="auto">
          <a:xfrm>
            <a:off x="628650" y="2144713"/>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67621" name="Rectangle 5"/>
          <p:cNvSpPr>
            <a:spLocks noChangeArrowheads="1"/>
          </p:cNvSpPr>
          <p:nvPr/>
        </p:nvSpPr>
        <p:spPr bwMode="auto">
          <a:xfrm>
            <a:off x="1238250" y="2068513"/>
            <a:ext cx="7221538" cy="115093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对象：物理实体在计算机逻辑中的映射和体现 </a:t>
            </a:r>
            <a:endPar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67622" name="Rectangle 6"/>
          <p:cNvSpPr>
            <a:spLocks noChangeArrowheads="1"/>
          </p:cNvSpPr>
          <p:nvPr/>
        </p:nvSpPr>
        <p:spPr bwMode="auto">
          <a:xfrm>
            <a:off x="1238250" y="3389313"/>
            <a:ext cx="7219950"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类：同种对象的集合与抽象</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67623" name="Rectangle 7"/>
          <p:cNvSpPr>
            <a:spLocks noChangeArrowheads="1"/>
          </p:cNvSpPr>
          <p:nvPr/>
        </p:nvSpPr>
        <p:spPr bwMode="auto">
          <a:xfrm>
            <a:off x="1238250" y="4686300"/>
            <a:ext cx="7219950" cy="1198563"/>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实体：现实世界中需要描述的对象</a:t>
            </a:r>
            <a:endPar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7620"/>
                                        </p:tgtEl>
                                        <p:attrNameLst>
                                          <p:attrName>style.visibility</p:attrName>
                                        </p:attrNameLst>
                                      </p:cBhvr>
                                      <p:to>
                                        <p:strVal val="visible"/>
                                      </p:to>
                                    </p:set>
                                    <p:anim calcmode="lin" valueType="num">
                                      <p:cBhvr additive="base">
                                        <p:cTn id="7" dur="500" fill="hold"/>
                                        <p:tgtEl>
                                          <p:spTgt spid="367620"/>
                                        </p:tgtEl>
                                        <p:attrNameLst>
                                          <p:attrName>ppt_x</p:attrName>
                                        </p:attrNameLst>
                                      </p:cBhvr>
                                      <p:tavLst>
                                        <p:tav tm="0">
                                          <p:val>
                                            <p:strVal val="0-#ppt_w/2"/>
                                          </p:val>
                                        </p:tav>
                                        <p:tav tm="100000">
                                          <p:val>
                                            <p:strVal val="#ppt_x"/>
                                          </p:val>
                                        </p:tav>
                                      </p:tavLst>
                                    </p:anim>
                                    <p:anim calcmode="lin" valueType="num">
                                      <p:cBhvr additive="base">
                                        <p:cTn id="8" dur="500" fill="hold"/>
                                        <p:tgtEl>
                                          <p:spTgt spid="36762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67621"/>
                                        </p:tgtEl>
                                        <p:attrNameLst>
                                          <p:attrName>style.visibility</p:attrName>
                                        </p:attrNameLst>
                                      </p:cBhvr>
                                      <p:to>
                                        <p:strVal val="visible"/>
                                      </p:to>
                                    </p:set>
                                    <p:animEffect transition="in" filter="slide(fromLeft)">
                                      <p:cBhvr>
                                        <p:cTn id="12" dur="500"/>
                                        <p:tgtEl>
                                          <p:spTgt spid="3676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7622"/>
                                        </p:tgtEl>
                                        <p:attrNameLst>
                                          <p:attrName>style.visibility</p:attrName>
                                        </p:attrNameLst>
                                      </p:cBhvr>
                                      <p:to>
                                        <p:strVal val="visible"/>
                                      </p:to>
                                    </p:set>
                                    <p:anim calcmode="lin" valueType="num">
                                      <p:cBhvr additive="base">
                                        <p:cTn id="17" dur="2000" fill="hold"/>
                                        <p:tgtEl>
                                          <p:spTgt spid="367622"/>
                                        </p:tgtEl>
                                        <p:attrNameLst>
                                          <p:attrName>ppt_x</p:attrName>
                                        </p:attrNameLst>
                                      </p:cBhvr>
                                      <p:tavLst>
                                        <p:tav tm="0">
                                          <p:val>
                                            <p:strVal val="#ppt_x"/>
                                          </p:val>
                                        </p:tav>
                                        <p:tav tm="100000">
                                          <p:val>
                                            <p:strVal val="#ppt_x"/>
                                          </p:val>
                                        </p:tav>
                                      </p:tavLst>
                                    </p:anim>
                                    <p:anim calcmode="lin" valueType="num">
                                      <p:cBhvr additive="base">
                                        <p:cTn id="18" dur="2000" fill="hold"/>
                                        <p:tgtEl>
                                          <p:spTgt spid="36762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367623"/>
                                        </p:tgtEl>
                                        <p:attrNameLst>
                                          <p:attrName>style.visibility</p:attrName>
                                        </p:attrNameLst>
                                      </p:cBhvr>
                                      <p:to>
                                        <p:strVal val="visible"/>
                                      </p:to>
                                    </p:set>
                                    <p:animEffect transition="in" filter="wheel(4)">
                                      <p:cBhvr>
                                        <p:cTn id="23" dur="2000"/>
                                        <p:tgtEl>
                                          <p:spTgt spid="367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0" grpId="0" animBg="1"/>
      <p:bldP spid="367621" grpId="0" animBg="1"/>
      <p:bldP spid="367622" grpId="0" animBg="1"/>
      <p:bldP spid="36762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p:nvPr/>
        </p:nvSpPr>
        <p:spPr>
          <a:xfrm>
            <a:off x="0" y="269875"/>
            <a:ext cx="9144000" cy="1143000"/>
          </a:xfrm>
          <a:prstGeom prst="rect">
            <a:avLst/>
          </a:prstGeom>
          <a:noFill/>
          <a:ln w="9525">
            <a:noFill/>
          </a:ln>
        </p:spPr>
        <p:txBody>
          <a:bodyPr anchor="ctr"/>
          <a:p>
            <a:pPr algn="ctr"/>
            <a:r>
              <a:rPr lang="zh-CN" altLang="en-US" sz="4400" b="1" dirty="0">
                <a:solidFill>
                  <a:srgbClr val="FFFF00"/>
                </a:solidFill>
                <a:latin typeface="隶书" panose="02010509060101010101" pitchFamily="49" charset="-122"/>
                <a:ea typeface="隶书" panose="02010509060101010101" pitchFamily="49" charset="-122"/>
              </a:rPr>
              <a:t>对象要素</a:t>
            </a:r>
            <a:endParaRPr lang="zh-CN" altLang="en-US" sz="4400" dirty="0">
              <a:solidFill>
                <a:srgbClr val="FFFF00"/>
              </a:solidFill>
              <a:latin typeface="隶书" panose="02010509060101010101" pitchFamily="49" charset="-122"/>
              <a:ea typeface="隶书" panose="02010509060101010101" pitchFamily="49" charset="-122"/>
            </a:endParaRPr>
          </a:p>
        </p:txBody>
      </p:sp>
      <p:sp>
        <p:nvSpPr>
          <p:cNvPr id="78850" name="Rectangle 3"/>
          <p:cNvSpPr/>
          <p:nvPr/>
        </p:nvSpPr>
        <p:spPr>
          <a:xfrm>
            <a:off x="323850" y="1916113"/>
            <a:ext cx="7772400" cy="4114800"/>
          </a:xfrm>
          <a:prstGeom prst="rect">
            <a:avLst/>
          </a:prstGeom>
          <a:noFill/>
          <a:ln w="9525">
            <a:noFill/>
          </a:ln>
        </p:spPr>
        <p:txBody>
          <a:bodyPr anchor="t"/>
          <a:p>
            <a:pPr marL="342900" indent="-342900">
              <a:spcBef>
                <a:spcPct val="20000"/>
              </a:spcBef>
            </a:pPr>
            <a:r>
              <a:rPr lang="en-US" altLang="zh-CN" sz="3200" dirty="0">
                <a:solidFill>
                  <a:schemeClr val="tx1"/>
                </a:solidFill>
                <a:latin typeface="Times New Roman" panose="02020603050405020304" pitchFamily="18" charset="0"/>
                <a:ea typeface="宋体" panose="02010600030101010101" pitchFamily="2" charset="-122"/>
              </a:rPr>
              <a:t> </a:t>
            </a:r>
            <a:endParaRPr lang="en-US" altLang="zh-CN" sz="3200" dirty="0">
              <a:solidFill>
                <a:schemeClr val="tx1"/>
              </a:solidFill>
              <a:latin typeface="Times New Roman" panose="02020603050405020304" pitchFamily="18" charset="0"/>
              <a:ea typeface="宋体" panose="02010600030101010101" pitchFamily="2" charset="-122"/>
            </a:endParaRPr>
          </a:p>
          <a:p>
            <a:pPr marL="342900" indent="-342900">
              <a:spcBef>
                <a:spcPct val="20000"/>
              </a:spcBef>
              <a:buChar char="•"/>
            </a:pP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369669" name="Rectangle 5"/>
          <p:cNvSpPr>
            <a:spLocks noChangeArrowheads="1"/>
          </p:cNvSpPr>
          <p:nvPr/>
        </p:nvSpPr>
        <p:spPr bwMode="auto">
          <a:xfrm>
            <a:off x="1238250" y="2068513"/>
            <a:ext cx="7221538" cy="115093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状态：静态属性</a:t>
            </a:r>
            <a:r>
              <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zh-CN" altLang="en-US"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69670" name="Rectangle 6"/>
          <p:cNvSpPr>
            <a:spLocks noChangeArrowheads="1"/>
          </p:cNvSpPr>
          <p:nvPr/>
        </p:nvSpPr>
        <p:spPr bwMode="auto">
          <a:xfrm>
            <a:off x="1238250" y="3389313"/>
            <a:ext cx="7219950"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行为：对象的操作</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69671" name="Rectangle 7"/>
          <p:cNvSpPr>
            <a:spLocks noChangeArrowheads="1"/>
          </p:cNvSpPr>
          <p:nvPr/>
        </p:nvSpPr>
        <p:spPr bwMode="auto">
          <a:xfrm>
            <a:off x="1238250" y="4686300"/>
            <a:ext cx="7219950" cy="1198563"/>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标志：对象唯一的描述</a:t>
            </a:r>
            <a:r>
              <a:rPr kumimoji="0" lang="en-US" altLang="zh-CN"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ID</a:t>
            </a:r>
            <a:endParaRPr kumimoji="0" lang="en-US" altLang="zh-CN"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69669"/>
                                        </p:tgtEl>
                                        <p:attrNameLst>
                                          <p:attrName>style.visibility</p:attrName>
                                        </p:attrNameLst>
                                      </p:cBhvr>
                                      <p:to>
                                        <p:strVal val="visible"/>
                                      </p:to>
                                    </p:set>
                                    <p:animEffect transition="in" filter="slide(fromLeft)">
                                      <p:cBhvr>
                                        <p:cTn id="7" dur="500"/>
                                        <p:tgtEl>
                                          <p:spTgt spid="36966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69670"/>
                                        </p:tgtEl>
                                        <p:attrNameLst>
                                          <p:attrName>style.visibility</p:attrName>
                                        </p:attrNameLst>
                                      </p:cBhvr>
                                      <p:to>
                                        <p:strVal val="visible"/>
                                      </p:to>
                                    </p:set>
                                    <p:anim calcmode="lin" valueType="num">
                                      <p:cBhvr additive="base">
                                        <p:cTn id="12" dur="2000" fill="hold"/>
                                        <p:tgtEl>
                                          <p:spTgt spid="369670"/>
                                        </p:tgtEl>
                                        <p:attrNameLst>
                                          <p:attrName>ppt_x</p:attrName>
                                        </p:attrNameLst>
                                      </p:cBhvr>
                                      <p:tavLst>
                                        <p:tav tm="0">
                                          <p:val>
                                            <p:strVal val="#ppt_x"/>
                                          </p:val>
                                        </p:tav>
                                        <p:tav tm="100000">
                                          <p:val>
                                            <p:strVal val="#ppt_x"/>
                                          </p:val>
                                        </p:tav>
                                      </p:tavLst>
                                    </p:anim>
                                    <p:anim calcmode="lin" valueType="num">
                                      <p:cBhvr additive="base">
                                        <p:cTn id="13" dur="2000" fill="hold"/>
                                        <p:tgtEl>
                                          <p:spTgt spid="36967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4" fill="hold" grpId="0" nodeType="clickEffect">
                                  <p:stCondLst>
                                    <p:cond delay="0"/>
                                  </p:stCondLst>
                                  <p:childTnLst>
                                    <p:set>
                                      <p:cBhvr>
                                        <p:cTn id="17" dur="1" fill="hold">
                                          <p:stCondLst>
                                            <p:cond delay="0"/>
                                          </p:stCondLst>
                                        </p:cTn>
                                        <p:tgtEl>
                                          <p:spTgt spid="369671"/>
                                        </p:tgtEl>
                                        <p:attrNameLst>
                                          <p:attrName>style.visibility</p:attrName>
                                        </p:attrNameLst>
                                      </p:cBhvr>
                                      <p:to>
                                        <p:strVal val="visible"/>
                                      </p:to>
                                    </p:set>
                                    <p:animEffect transition="in" filter="wheel(4)">
                                      <p:cBhvr>
                                        <p:cTn id="18" dur="2000"/>
                                        <p:tgtEl>
                                          <p:spTgt spid="369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9" grpId="0" animBg="1"/>
      <p:bldP spid="369670" grpId="0" animBg="1"/>
      <p:bldP spid="36967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603142" name="AutoShape 6"/>
          <p:cNvSpPr>
            <a:spLocks noChangeArrowheads="1"/>
          </p:cNvSpPr>
          <p:nvPr/>
        </p:nvSpPr>
        <p:spPr bwMode="auto">
          <a:xfrm>
            <a:off x="1752600" y="3033713"/>
            <a:ext cx="990600" cy="990600"/>
          </a:xfrm>
          <a:prstGeom prst="can">
            <a:avLst>
              <a:gd name="adj" fmla="val 25000"/>
            </a:avLst>
          </a:prstGeom>
          <a:solidFill>
            <a:schemeClr val="accent1"/>
          </a:solidFill>
          <a:ln w="9525">
            <a:solidFill>
              <a:srgbClr val="FFFF00"/>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43" name="AutoShape 7"/>
          <p:cNvSpPr>
            <a:spLocks noChangeArrowheads="1"/>
          </p:cNvSpPr>
          <p:nvPr/>
        </p:nvSpPr>
        <p:spPr bwMode="auto">
          <a:xfrm>
            <a:off x="1752600" y="2347913"/>
            <a:ext cx="990600" cy="990600"/>
          </a:xfrm>
          <a:prstGeom prst="can">
            <a:avLst>
              <a:gd name="adj" fmla="val 25000"/>
            </a:avLst>
          </a:prstGeom>
          <a:solidFill>
            <a:srgbClr val="0000FF"/>
          </a:solidFill>
          <a:ln w="9525">
            <a:solidFill>
              <a:srgbClr val="FFFF00"/>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44" name="AutoShape 8"/>
          <p:cNvSpPr>
            <a:spLocks noChangeArrowheads="1"/>
          </p:cNvSpPr>
          <p:nvPr/>
        </p:nvSpPr>
        <p:spPr bwMode="auto">
          <a:xfrm>
            <a:off x="4343400" y="3033713"/>
            <a:ext cx="1143000" cy="1066800"/>
          </a:xfrm>
          <a:prstGeom prst="can">
            <a:avLst>
              <a:gd name="adj" fmla="val 25000"/>
            </a:avLst>
          </a:prstGeom>
          <a:solidFill>
            <a:schemeClr val="accent1"/>
          </a:solidFill>
          <a:ln w="9525">
            <a:solidFill>
              <a:srgbClr val="FFFF00"/>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45" name="AutoShape 9"/>
          <p:cNvSpPr>
            <a:spLocks noChangeArrowheads="1"/>
          </p:cNvSpPr>
          <p:nvPr/>
        </p:nvSpPr>
        <p:spPr bwMode="auto">
          <a:xfrm>
            <a:off x="2895600" y="2881313"/>
            <a:ext cx="1219200" cy="304800"/>
          </a:xfrm>
          <a:prstGeom prst="leftRightArrow">
            <a:avLst>
              <a:gd name="adj1" fmla="val 50000"/>
              <a:gd name="adj2" fmla="val 80000"/>
            </a:avLst>
          </a:prstGeom>
          <a:solidFill>
            <a:schemeClr val="accent1"/>
          </a:solidFill>
          <a:ln w="9525">
            <a:solidFill>
              <a:srgbClr val="FFFF00"/>
            </a:solidFill>
            <a:miter lim="800000"/>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46" name="AutoShape 10"/>
          <p:cNvSpPr>
            <a:spLocks noChangeArrowheads="1"/>
          </p:cNvSpPr>
          <p:nvPr/>
        </p:nvSpPr>
        <p:spPr bwMode="auto">
          <a:xfrm>
            <a:off x="4343400" y="2347913"/>
            <a:ext cx="1143000" cy="990600"/>
          </a:xfrm>
          <a:prstGeom prst="can">
            <a:avLst>
              <a:gd name="adj" fmla="val 25000"/>
            </a:avLst>
          </a:prstGeom>
          <a:solidFill>
            <a:srgbClr val="0000FF"/>
          </a:solidFill>
          <a:ln w="9525">
            <a:solidFill>
              <a:srgbClr val="FFFF00"/>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9879" name="AutoShape 11"/>
          <p:cNvSpPr/>
          <p:nvPr/>
        </p:nvSpPr>
        <p:spPr>
          <a:xfrm>
            <a:off x="2743200" y="1357313"/>
            <a:ext cx="1676400" cy="609600"/>
          </a:xfrm>
          <a:prstGeom prst="cloudCallout">
            <a:avLst>
              <a:gd name="adj1" fmla="val 4736"/>
              <a:gd name="adj2" fmla="val 302083"/>
            </a:avLst>
          </a:prstGeom>
          <a:noFill/>
          <a:ln w="9525" cap="flat" cmpd="sng">
            <a:solidFill>
              <a:srgbClr val="FFFF00"/>
            </a:solidFill>
            <a:prstDash val="solid"/>
            <a:round/>
            <a:headEnd type="none" w="med" len="med"/>
            <a:tailEnd type="none" w="med" len="med"/>
          </a:ln>
        </p:spPr>
        <p:txBody>
          <a:bodyPr anchor="t"/>
          <a:p>
            <a:pPr algn="ctr"/>
            <a:r>
              <a:rPr lang="zh-CN" altLang="en-US" sz="2400" b="1" dirty="0">
                <a:latin typeface="Times New Roman" panose="02020603050405020304" pitchFamily="18" charset="0"/>
                <a:ea typeface="宋体" panose="02010600030101010101" pitchFamily="2" charset="-122"/>
              </a:rPr>
              <a:t>类</a:t>
            </a:r>
            <a:endParaRPr lang="zh-CN" altLang="en-US" sz="2400" b="1" dirty="0">
              <a:latin typeface="Times New Roman" panose="02020603050405020304" pitchFamily="18" charset="0"/>
              <a:ea typeface="宋体" panose="02010600030101010101" pitchFamily="2" charset="-122"/>
            </a:endParaRPr>
          </a:p>
        </p:txBody>
      </p:sp>
      <p:sp>
        <p:nvSpPr>
          <p:cNvPr id="603148" name="Line 12"/>
          <p:cNvSpPr>
            <a:spLocks noChangeShapeType="1"/>
          </p:cNvSpPr>
          <p:nvPr/>
        </p:nvSpPr>
        <p:spPr bwMode="auto">
          <a:xfrm flipH="1">
            <a:off x="2438400" y="1966913"/>
            <a:ext cx="457200" cy="381000"/>
          </a:xfrm>
          <a:prstGeom prst="line">
            <a:avLst/>
          </a:prstGeom>
          <a:noFill/>
          <a:ln w="9525">
            <a:solidFill>
              <a:srgbClr val="FFFF00"/>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49" name="Line 13"/>
          <p:cNvSpPr>
            <a:spLocks noChangeShapeType="1"/>
          </p:cNvSpPr>
          <p:nvPr/>
        </p:nvSpPr>
        <p:spPr bwMode="auto">
          <a:xfrm>
            <a:off x="4191000" y="1890713"/>
            <a:ext cx="457200" cy="381000"/>
          </a:xfrm>
          <a:prstGeom prst="line">
            <a:avLst/>
          </a:prstGeom>
          <a:noFill/>
          <a:ln w="9525">
            <a:solidFill>
              <a:srgbClr val="FFFF00"/>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9882" name="AutoShape 14"/>
          <p:cNvSpPr/>
          <p:nvPr/>
        </p:nvSpPr>
        <p:spPr>
          <a:xfrm>
            <a:off x="5334000" y="1738313"/>
            <a:ext cx="1295400" cy="609600"/>
          </a:xfrm>
          <a:prstGeom prst="wedgeRoundRectCallout">
            <a:avLst>
              <a:gd name="adj1" fmla="val -67157"/>
              <a:gd name="adj2" fmla="val 144792"/>
              <a:gd name="adj3" fmla="val 16667"/>
            </a:avLst>
          </a:prstGeom>
          <a:noFill/>
          <a:ln w="9525" cap="flat" cmpd="sng">
            <a:solidFill>
              <a:srgbClr val="FFFF00"/>
            </a:solidFill>
            <a:prstDash val="solid"/>
            <a:miter/>
            <a:headEnd type="none" w="med" len="med"/>
            <a:tailEnd type="none" w="med" len="med"/>
          </a:ln>
        </p:spPr>
        <p:txBody>
          <a:bodyPr anchor="t"/>
          <a:p>
            <a:pPr algn="ctr"/>
            <a:r>
              <a:rPr lang="zh-CN" altLang="en-US" sz="2400" b="1" dirty="0">
                <a:latin typeface="Times New Roman" panose="02020603050405020304" pitchFamily="18" charset="0"/>
                <a:ea typeface="宋体" panose="02010600030101010101" pitchFamily="2" charset="-122"/>
              </a:rPr>
              <a:t>对象</a:t>
            </a:r>
            <a:endParaRPr lang="zh-CN" altLang="en-US" sz="2400" b="1" dirty="0">
              <a:latin typeface="Times New Roman" panose="02020603050405020304" pitchFamily="18" charset="0"/>
              <a:ea typeface="宋体" panose="02010600030101010101" pitchFamily="2" charset="-122"/>
            </a:endParaRPr>
          </a:p>
        </p:txBody>
      </p:sp>
      <p:sp>
        <p:nvSpPr>
          <p:cNvPr id="79883" name="AutoShape 15"/>
          <p:cNvSpPr/>
          <p:nvPr/>
        </p:nvSpPr>
        <p:spPr>
          <a:xfrm>
            <a:off x="6705600" y="2576513"/>
            <a:ext cx="914400" cy="609600"/>
          </a:xfrm>
          <a:prstGeom prst="borderCallout2">
            <a:avLst>
              <a:gd name="adj1" fmla="val 30468"/>
              <a:gd name="adj2" fmla="val -8333"/>
              <a:gd name="adj3" fmla="val 30468"/>
              <a:gd name="adj4" fmla="val -79514"/>
              <a:gd name="adj5" fmla="val 74481"/>
              <a:gd name="adj6" fmla="val -153648"/>
            </a:avLst>
          </a:prstGeom>
          <a:noFill/>
          <a:ln w="9525" cap="flat" cmpd="sng">
            <a:solidFill>
              <a:srgbClr val="FFFF00"/>
            </a:solidFill>
            <a:prstDash val="solid"/>
            <a:miter/>
            <a:headEnd type="none" w="med" len="med"/>
            <a:tailEnd type="none" w="med" len="med"/>
          </a:ln>
        </p:spPr>
        <p:txBody>
          <a:bodyPr anchor="t"/>
          <a:p>
            <a:pPr algn="ctr"/>
            <a:r>
              <a:rPr lang="zh-CN" altLang="en-US" sz="2400" b="1" dirty="0">
                <a:latin typeface="Times New Roman" panose="02020603050405020304" pitchFamily="18" charset="0"/>
                <a:ea typeface="宋体" panose="02010600030101010101" pitchFamily="2" charset="-122"/>
              </a:rPr>
              <a:t>属性</a:t>
            </a:r>
            <a:endParaRPr lang="zh-CN" altLang="en-US" sz="2400" b="1" dirty="0">
              <a:latin typeface="Times New Roman" panose="02020603050405020304" pitchFamily="18" charset="0"/>
              <a:ea typeface="宋体" panose="02010600030101010101" pitchFamily="2" charset="-122"/>
            </a:endParaRPr>
          </a:p>
        </p:txBody>
      </p:sp>
      <p:sp>
        <p:nvSpPr>
          <p:cNvPr id="79884" name="AutoShape 16"/>
          <p:cNvSpPr/>
          <p:nvPr/>
        </p:nvSpPr>
        <p:spPr>
          <a:xfrm>
            <a:off x="6708775" y="3546475"/>
            <a:ext cx="914400" cy="609600"/>
          </a:xfrm>
          <a:prstGeom prst="borderCallout2">
            <a:avLst>
              <a:gd name="adj1" fmla="val 30468"/>
              <a:gd name="adj2" fmla="val -8333"/>
              <a:gd name="adj3" fmla="val 30468"/>
              <a:gd name="adj4" fmla="val -74829"/>
              <a:gd name="adj5" fmla="val 69532"/>
              <a:gd name="adj6" fmla="val -143926"/>
            </a:avLst>
          </a:prstGeom>
          <a:noFill/>
          <a:ln w="9525" cap="flat" cmpd="sng">
            <a:solidFill>
              <a:srgbClr val="FFFF00"/>
            </a:solidFill>
            <a:prstDash val="solid"/>
            <a:miter/>
            <a:headEnd type="none" w="med" len="med"/>
            <a:tailEnd type="none" w="med" len="med"/>
          </a:ln>
        </p:spPr>
        <p:txBody>
          <a:bodyPr anchor="t"/>
          <a:p>
            <a:pPr algn="ctr"/>
            <a:r>
              <a:rPr lang="zh-CN" altLang="en-US" sz="2400" b="1" dirty="0">
                <a:latin typeface="Times New Roman" panose="02020603050405020304" pitchFamily="18" charset="0"/>
                <a:ea typeface="宋体" panose="02010600030101010101" pitchFamily="2" charset="-122"/>
              </a:rPr>
              <a:t>行为</a:t>
            </a:r>
            <a:endParaRPr lang="zh-CN" altLang="en-US" sz="2400" b="1" dirty="0">
              <a:latin typeface="Times New Roman" panose="02020603050405020304" pitchFamily="18" charset="0"/>
              <a:ea typeface="宋体" panose="02010600030101010101" pitchFamily="2" charset="-122"/>
            </a:endParaRPr>
          </a:p>
        </p:txBody>
      </p:sp>
      <p:sp>
        <p:nvSpPr>
          <p:cNvPr id="79885" name="AutoShape 17"/>
          <p:cNvSpPr/>
          <p:nvPr/>
        </p:nvSpPr>
        <p:spPr>
          <a:xfrm>
            <a:off x="2209800" y="3948113"/>
            <a:ext cx="914400" cy="609600"/>
          </a:xfrm>
          <a:prstGeom prst="borderCallout2">
            <a:avLst>
              <a:gd name="adj1" fmla="val 30468"/>
              <a:gd name="adj2" fmla="val 108333"/>
              <a:gd name="adj3" fmla="val 30468"/>
              <a:gd name="adj4" fmla="val 128819"/>
              <a:gd name="adj5" fmla="val -120833"/>
              <a:gd name="adj6" fmla="val 151218"/>
            </a:avLst>
          </a:prstGeom>
          <a:noFill/>
          <a:ln w="9525" cap="flat" cmpd="sng">
            <a:solidFill>
              <a:srgbClr val="FFFF00"/>
            </a:solidFill>
            <a:prstDash val="solid"/>
            <a:miter/>
            <a:headEnd type="none" w="med" len="med"/>
            <a:tailEnd type="none" w="med" len="med"/>
          </a:ln>
        </p:spPr>
        <p:txBody>
          <a:bodyPr anchor="t"/>
          <a:p>
            <a:pPr algn="ctr"/>
            <a:r>
              <a:rPr lang="zh-CN" altLang="en-US" sz="2400" b="1" dirty="0">
                <a:latin typeface="Times New Roman" panose="02020603050405020304" pitchFamily="18" charset="0"/>
                <a:ea typeface="宋体" panose="02010600030101010101" pitchFamily="2" charset="-122"/>
              </a:rPr>
              <a:t>通信</a:t>
            </a:r>
            <a:endParaRPr lang="zh-CN" altLang="en-US" sz="2400" b="1" dirty="0">
              <a:latin typeface="Times New Roman" panose="02020603050405020304" pitchFamily="18" charset="0"/>
              <a:ea typeface="宋体" panose="02010600030101010101" pitchFamily="2" charset="-122"/>
            </a:endParaRPr>
          </a:p>
        </p:txBody>
      </p:sp>
      <p:sp>
        <p:nvSpPr>
          <p:cNvPr id="79886" name="Rectangle 18"/>
          <p:cNvSpPr/>
          <p:nvPr/>
        </p:nvSpPr>
        <p:spPr>
          <a:xfrm>
            <a:off x="4419600" y="1052513"/>
            <a:ext cx="1447800" cy="685800"/>
          </a:xfrm>
          <a:prstGeom prst="rect">
            <a:avLst/>
          </a:prstGeom>
          <a:noFill/>
          <a:ln w="9525" cap="flat" cmpd="sng">
            <a:solidFill>
              <a:srgbClr val="FFFF00"/>
            </a:solidFill>
            <a:prstDash val="solid"/>
            <a:miter/>
            <a:headEnd type="none" w="med" len="med"/>
            <a:tailEnd type="none" w="med" len="med"/>
          </a:ln>
        </p:spPr>
        <p:txBody>
          <a:bodyPr wrap="none" anchor="ctr"/>
          <a:p>
            <a:pPr algn="ctr"/>
            <a:r>
              <a:rPr lang="zh-CN" altLang="en-US" sz="2400" b="1" dirty="0">
                <a:latin typeface="Times New Roman" panose="02020603050405020304" pitchFamily="18" charset="0"/>
                <a:ea typeface="宋体" panose="02010600030101010101" pitchFamily="2" charset="-122"/>
              </a:rPr>
              <a:t>数据成员</a:t>
            </a:r>
            <a:endParaRPr lang="zh-CN" altLang="en-US" sz="2400" b="1" dirty="0">
              <a:latin typeface="Times New Roman" panose="02020603050405020304" pitchFamily="18" charset="0"/>
              <a:ea typeface="宋体" panose="02010600030101010101" pitchFamily="2" charset="-122"/>
            </a:endParaRPr>
          </a:p>
          <a:p>
            <a:pPr algn="ctr"/>
            <a:r>
              <a:rPr lang="zh-CN" altLang="en-US" sz="2400" b="1" dirty="0">
                <a:latin typeface="Times New Roman" panose="02020603050405020304" pitchFamily="18" charset="0"/>
                <a:ea typeface="宋体" panose="02010600030101010101" pitchFamily="2" charset="-122"/>
              </a:rPr>
              <a:t>成员函数</a:t>
            </a:r>
            <a:endParaRPr lang="zh-CN" altLang="en-US" sz="2400" b="1" dirty="0">
              <a:latin typeface="Times New Roman" panose="02020603050405020304" pitchFamily="18" charset="0"/>
              <a:ea typeface="宋体" panose="02010600030101010101" pitchFamily="2" charset="-122"/>
            </a:endParaRPr>
          </a:p>
        </p:txBody>
      </p:sp>
      <p:sp>
        <p:nvSpPr>
          <p:cNvPr id="603155" name="Line 19"/>
          <p:cNvSpPr>
            <a:spLocks noChangeShapeType="1"/>
          </p:cNvSpPr>
          <p:nvPr/>
        </p:nvSpPr>
        <p:spPr bwMode="auto">
          <a:xfrm flipH="1">
            <a:off x="4191000" y="1357313"/>
            <a:ext cx="228600" cy="76200"/>
          </a:xfrm>
          <a:prstGeom prst="line">
            <a:avLst/>
          </a:prstGeom>
          <a:noFill/>
          <a:ln w="9525">
            <a:solidFill>
              <a:srgbClr val="FFFF00"/>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3157" name="Rectangle 21"/>
          <p:cNvSpPr>
            <a:spLocks noChangeArrowheads="1"/>
          </p:cNvSpPr>
          <p:nvPr/>
        </p:nvSpPr>
        <p:spPr bwMode="auto">
          <a:xfrm>
            <a:off x="1763713" y="4935538"/>
            <a:ext cx="6553200" cy="1800225"/>
          </a:xfrm>
          <a:prstGeom prst="rect">
            <a:avLst/>
          </a:prstGeom>
          <a:noFill/>
          <a:ln>
            <a:noFill/>
          </a:ln>
          <a:effectLst/>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对象是现实世界的实体或者概念在计算机逻辑中的抽象表示。</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对象的操作一般都是基于状态。</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状态只有通过行为操作才能改变。</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9" name="Rectangle 3"/>
          <p:cNvSpPr>
            <a:spLocks noChangeArrowheads="1"/>
          </p:cNvSpPr>
          <p:nvPr/>
        </p:nvSpPr>
        <p:spPr bwMode="auto">
          <a:xfrm>
            <a:off x="755650" y="2420938"/>
            <a:ext cx="8340725" cy="3600450"/>
          </a:xfrm>
          <a:prstGeom prst="rect">
            <a:avLst/>
          </a:prstGeom>
          <a:noFill/>
          <a:ln>
            <a:noFill/>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就是力图从实际问题中抽象出封装了数据和操作的</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对象，通过定义对象的各种属性来描述他们的特征</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和功能，通过接口的定义描述他们的地位及与其它</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对象的关系，最终形成一个广泛联系的可理解、</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可扩充、可维护、更接近于问题本来面目的动态</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对象模型系统。</a:t>
            </a: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80898" name="Rectangle 4"/>
          <p:cNvSpPr/>
          <p:nvPr/>
        </p:nvSpPr>
        <p:spPr>
          <a:xfrm>
            <a:off x="0" y="-26987"/>
            <a:ext cx="9144000" cy="1143000"/>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类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372741" name="Rectangle 5"/>
          <p:cNvSpPr>
            <a:spLocks noChangeArrowheads="1"/>
          </p:cNvSpPr>
          <p:nvPr/>
        </p:nvSpPr>
        <p:spPr bwMode="auto">
          <a:xfrm>
            <a:off x="755650" y="1319213"/>
            <a:ext cx="8356600" cy="814388"/>
          </a:xfrm>
          <a:prstGeom prst="rect">
            <a:avLst/>
          </a:prstGeom>
          <a:gradFill rotWithShape="1">
            <a:gsLst>
              <a:gs pos="0">
                <a:schemeClr val="hlink"/>
              </a:gs>
              <a:gs pos="100000">
                <a:srgbClr val="006600"/>
              </a:gs>
            </a:gsLst>
            <a:path path="shape">
              <a:fillToRect l="50000" t="50000" r="50000" b="50000"/>
            </a:path>
          </a:gradFill>
          <a:ln w="12700">
            <a:solidFill>
              <a:srgbClr val="006600"/>
            </a:solidFill>
            <a:miter lim="800000"/>
          </a:ln>
          <a:effectLst/>
        </p:spPr>
        <p:txBody>
          <a:bodyPr wrap="none" anchor="ct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面向对象的求解</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72739"/>
                                        </p:tgtEl>
                                        <p:attrNameLst>
                                          <p:attrName>style.visibility</p:attrName>
                                        </p:attrNameLst>
                                      </p:cBhvr>
                                      <p:to>
                                        <p:strVal val="visible"/>
                                      </p:to>
                                    </p:set>
                                    <p:animEffect transition="in" filter="slide(fromTop)">
                                      <p:cBhvr>
                                        <p:cTn id="7" dur="500"/>
                                        <p:tgtEl>
                                          <p:spTgt spid="37273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372741"/>
                                        </p:tgtEl>
                                        <p:attrNameLst>
                                          <p:attrName>style.visibility</p:attrName>
                                        </p:attrNameLst>
                                      </p:cBhvr>
                                      <p:to>
                                        <p:strVal val="visible"/>
                                      </p:to>
                                    </p:set>
                                    <p:animEffect transition="in" filter="slide(fromLeft)">
                                      <p:cBhvr>
                                        <p:cTn id="11" dur="500"/>
                                        <p:tgtEl>
                                          <p:spTgt spid="372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p:bldP spid="37274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3"/>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关于作业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81922" name="Rectangle 2"/>
          <p:cNvSpPr>
            <a:spLocks noGrp="1"/>
          </p:cNvSpPr>
          <p:nvPr>
            <p:ph idx="1"/>
          </p:nvPr>
        </p:nvSpPr>
        <p:spPr>
          <a:xfrm>
            <a:off x="179388" y="765175"/>
            <a:ext cx="4965700" cy="5903913"/>
          </a:xfrm>
        </p:spPr>
        <p:txBody>
          <a:bodyPr vert="horz" wrap="square" lIns="91440" tIns="45720" rIns="91440" bIns="45720" anchor="t"/>
          <a:p>
            <a:pPr eaLnBrk="1" hangingPunct="1">
              <a:lnSpc>
                <a:spcPct val="80000"/>
              </a:lnSpc>
              <a:buNone/>
            </a:pPr>
            <a:r>
              <a:rPr lang="zh-CN" altLang="en-US" sz="2400" b="1" dirty="0">
                <a:solidFill>
                  <a:schemeClr val="bg1"/>
                </a:solidFill>
              </a:rPr>
              <a:t>引用的使用－函数名称作为左值</a:t>
            </a:r>
            <a:endParaRPr lang="zh-CN" altLang="en-US" sz="2400" b="1" dirty="0">
              <a:solidFill>
                <a:schemeClr val="bg1"/>
              </a:solidFill>
            </a:endParaRPr>
          </a:p>
          <a:p>
            <a:pPr eaLnBrk="1" hangingPunct="1">
              <a:lnSpc>
                <a:spcPct val="80000"/>
              </a:lnSpc>
              <a:buNone/>
            </a:pPr>
            <a:r>
              <a:rPr lang="en-US" altLang="zh-CN" sz="2400" b="1" dirty="0">
                <a:solidFill>
                  <a:schemeClr val="bg1"/>
                </a:solidFill>
              </a:rPr>
              <a:t>int a=0,b=0,c=0;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i,j;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for(i=0;i&lt;15;i++){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cin&gt;&gt;j;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count(j)++;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cout&lt;&lt;a&lt;&lt;b&lt;&lt;c;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int &amp; count(int k){</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if(k&gt;60) return(a);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if(k&lt;=60&amp;&amp;k&gt;30) return(b);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if(k&lt;=30) return(c);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7" name="Rectangle 2"/>
          <p:cNvSpPr txBox="1"/>
          <p:nvPr/>
        </p:nvSpPr>
        <p:spPr>
          <a:xfrm>
            <a:off x="4643438" y="2925763"/>
            <a:ext cx="4500562" cy="3959225"/>
          </a:xfrm>
          <a:prstGeom prst="rect">
            <a:avLst/>
          </a:prstGeom>
          <a:noFill/>
          <a:ln w="9525">
            <a:noFill/>
          </a:ln>
        </p:spPr>
        <p:txBody>
          <a:bodyPr anchor="t"/>
          <a:p>
            <a:pPr marL="342900" indent="-342900">
              <a:lnSpc>
                <a:spcPct val="80000"/>
              </a:lnSpc>
              <a:spcBef>
                <a:spcPct val="20000"/>
              </a:spcBef>
              <a:buSzTx/>
            </a:pPr>
            <a:r>
              <a:rPr lang="zh-CN" altLang="en-US" sz="2400" b="1" dirty="0">
                <a:latin typeface="Times New Roman" panose="02020603050405020304" pitchFamily="18" charset="0"/>
                <a:ea typeface="宋体" panose="02010600030101010101" pitchFamily="2" charset="-122"/>
              </a:rPr>
              <a:t>思考：</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count</a:t>
            </a:r>
            <a:r>
              <a:rPr lang="zh-CN" altLang="en-US" sz="2400" b="1" dirty="0">
                <a:latin typeface="Times New Roman" panose="02020603050405020304" pitchFamily="18" charset="0"/>
                <a:ea typeface="宋体" panose="02010600030101010101" pitchFamily="2" charset="-122"/>
              </a:rPr>
              <a:t>完成选择，还是完成计算？如何不违背原意？</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、引用、指针、值是修饰</a:t>
            </a:r>
            <a:r>
              <a:rPr lang="en-US" altLang="zh-CN" sz="2400" b="1" dirty="0">
                <a:latin typeface="Times New Roman" panose="02020603050405020304" pitchFamily="18" charset="0"/>
                <a:ea typeface="宋体" panose="02010600030101010101" pitchFamily="2" charset="-122"/>
              </a:rPr>
              <a:t>count</a:t>
            </a:r>
            <a:r>
              <a:rPr lang="zh-CN" altLang="en-US" sz="2400" b="1" dirty="0">
                <a:latin typeface="Times New Roman" panose="02020603050405020304" pitchFamily="18" charset="0"/>
                <a:ea typeface="宋体" panose="02010600030101010101" pitchFamily="2" charset="-122"/>
              </a:rPr>
              <a:t>还是它的参数？</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、不用全局变量可否？</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zh-CN" altLang="en-US" sz="2400" b="1" dirty="0">
                <a:latin typeface="Times New Roman" panose="02020603050405020304" pitchFamily="18" charset="0"/>
                <a:ea typeface="宋体" panose="02010600030101010101" pitchFamily="2" charset="-122"/>
              </a:rPr>
              <a:t>讨论：</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、多参数</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、函数特别简单</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buSzTx/>
            </a:pP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、没有函数</a:t>
            </a:r>
            <a:endParaRPr lang="en-US" altLang="zh-CN" sz="2400" b="1" dirty="0">
              <a:latin typeface="Times New Roman" panose="02020603050405020304" pitchFamily="18" charset="0"/>
              <a:ea typeface="宋体" panose="02010600030101010101" pitchFamily="2" charset="-122"/>
            </a:endParaRPr>
          </a:p>
        </p:txBody>
      </p:sp>
      <p:cxnSp>
        <p:nvCxnSpPr>
          <p:cNvPr id="5" name="直接连接符 4"/>
          <p:cNvCxnSpPr/>
          <p:nvPr/>
        </p:nvCxnSpPr>
        <p:spPr>
          <a:xfrm>
            <a:off x="7308850" y="44450"/>
            <a:ext cx="0" cy="2879725"/>
          </a:xfrm>
          <a:prstGeom prst="line">
            <a:avLst/>
          </a:prstGeom>
          <a:ln w="9525" cap="flat" cmpd="sng">
            <a:solidFill>
              <a:schemeClr val="bg1"/>
            </a:solidFill>
            <a:prstDash val="solid"/>
            <a:round/>
            <a:headEnd type="none" w="med" len="med"/>
            <a:tailEnd type="none" w="med" len="med"/>
          </a:ln>
        </p:spPr>
      </p:cxnSp>
      <p:sp>
        <p:nvSpPr>
          <p:cNvPr id="6" name="矩形 5"/>
          <p:cNvSpPr/>
          <p:nvPr/>
        </p:nvSpPr>
        <p:spPr bwMode="auto">
          <a:xfrm>
            <a:off x="6372225" y="1781175"/>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TextBox 7"/>
          <p:cNvSpPr txBox="1"/>
          <p:nvPr/>
        </p:nvSpPr>
        <p:spPr>
          <a:xfrm>
            <a:off x="5795963" y="1628775"/>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c</a:t>
            </a:r>
            <a:endParaRPr lang="zh-CN" altLang="en-US" sz="3200" dirty="0">
              <a:latin typeface="Times New Roman" panose="02020603050405020304" pitchFamily="18" charset="0"/>
              <a:ea typeface="宋体" panose="02010600030101010101" pitchFamily="2" charset="-122"/>
            </a:endParaRPr>
          </a:p>
        </p:txBody>
      </p:sp>
      <p:sp>
        <p:nvSpPr>
          <p:cNvPr id="9" name="矩形 8"/>
          <p:cNvSpPr/>
          <p:nvPr/>
        </p:nvSpPr>
        <p:spPr bwMode="auto">
          <a:xfrm>
            <a:off x="6372225" y="557213"/>
            <a:ext cx="576263"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 name="矩形 9"/>
          <p:cNvSpPr/>
          <p:nvPr/>
        </p:nvSpPr>
        <p:spPr bwMode="auto">
          <a:xfrm>
            <a:off x="6372225" y="1133475"/>
            <a:ext cx="576263" cy="358775"/>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1" name="TextBox 10"/>
          <p:cNvSpPr txBox="1"/>
          <p:nvPr/>
        </p:nvSpPr>
        <p:spPr>
          <a:xfrm>
            <a:off x="5795963" y="404813"/>
            <a:ext cx="4318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a:t>
            </a:r>
            <a:endParaRPr lang="zh-CN" altLang="en-US" sz="3200" dirty="0">
              <a:latin typeface="Times New Roman" panose="02020603050405020304" pitchFamily="18" charset="0"/>
              <a:ea typeface="宋体" panose="02010600030101010101" pitchFamily="2" charset="-122"/>
            </a:endParaRPr>
          </a:p>
        </p:txBody>
      </p:sp>
      <p:sp>
        <p:nvSpPr>
          <p:cNvPr id="12" name="TextBox 11"/>
          <p:cNvSpPr txBox="1"/>
          <p:nvPr/>
        </p:nvSpPr>
        <p:spPr>
          <a:xfrm>
            <a:off x="5795963" y="979488"/>
            <a:ext cx="431800" cy="585787"/>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b</a:t>
            </a:r>
            <a:endParaRPr lang="zh-CN" altLang="en-US" sz="3200" dirty="0">
              <a:latin typeface="Times New Roman" panose="02020603050405020304" pitchFamily="18" charset="0"/>
              <a:ea typeface="宋体" panose="02010600030101010101" pitchFamily="2" charset="-122"/>
            </a:endParaRPr>
          </a:p>
        </p:txBody>
      </p:sp>
      <p:sp>
        <p:nvSpPr>
          <p:cNvPr id="13" name="TextBox 12"/>
          <p:cNvSpPr txBox="1"/>
          <p:nvPr/>
        </p:nvSpPr>
        <p:spPr>
          <a:xfrm>
            <a:off x="7920038" y="1042988"/>
            <a:ext cx="1260475" cy="585787"/>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count</a:t>
            </a:r>
            <a:endParaRPr lang="zh-CN" altLang="en-US" sz="3200" dirty="0">
              <a:latin typeface="Times New Roman" panose="02020603050405020304" pitchFamily="18" charset="0"/>
              <a:ea typeface="宋体" panose="02010600030101010101" pitchFamily="2" charset="-122"/>
            </a:endParaRPr>
          </a:p>
        </p:txBody>
      </p:sp>
      <p:sp>
        <p:nvSpPr>
          <p:cNvPr id="14" name="椭圆 13"/>
          <p:cNvSpPr/>
          <p:nvPr/>
        </p:nvSpPr>
        <p:spPr bwMode="auto">
          <a:xfrm>
            <a:off x="7704138" y="1339850"/>
            <a:ext cx="71438" cy="73025"/>
          </a:xfrm>
          <a:prstGeom prst="ellipse">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15" name="直接连接符 14"/>
          <p:cNvCxnSpPr>
            <a:stCxn id="14" idx="4"/>
          </p:cNvCxnSpPr>
          <p:nvPr/>
        </p:nvCxnSpPr>
        <p:spPr>
          <a:xfrm flipH="1">
            <a:off x="6875463" y="1412875"/>
            <a:ext cx="865187" cy="1366838"/>
          </a:xfrm>
          <a:prstGeom prst="line">
            <a:avLst/>
          </a:prstGeom>
          <a:ln w="9525" cap="flat" cmpd="sng">
            <a:solidFill>
              <a:schemeClr val="bg1"/>
            </a:solidFill>
            <a:prstDash val="solid"/>
            <a:round/>
            <a:headEnd type="none" w="med" len="med"/>
            <a:tailEnd type="none" w="med" len="med"/>
          </a:ln>
        </p:spPr>
      </p:cxnSp>
      <p:sp>
        <p:nvSpPr>
          <p:cNvPr id="16" name="TextBox 15"/>
          <p:cNvSpPr txBox="1"/>
          <p:nvPr/>
        </p:nvSpPr>
        <p:spPr>
          <a:xfrm>
            <a:off x="6588125" y="2700338"/>
            <a:ext cx="647700" cy="584200"/>
          </a:xfrm>
          <a:prstGeom prst="rect">
            <a:avLst/>
          </a:prstGeom>
          <a:noFill/>
          <a:ln w="9525">
            <a:noFill/>
          </a:ln>
        </p:spPr>
        <p:txBody>
          <a:bodyPr anchor="t">
            <a:spAutoFit/>
          </a:bodyPr>
          <a:p>
            <a:r>
              <a:rPr lang="en-US" altLang="zh-CN" sz="3200" dirty="0">
                <a:latin typeface="Times New Roman" panose="02020603050405020304" pitchFamily="18" charset="0"/>
                <a:ea typeface="宋体" panose="02010600030101010101" pitchFamily="2" charset="-122"/>
              </a:rPr>
              <a:t>++</a:t>
            </a:r>
            <a:endParaRPr lang="zh-CN" altLang="en-US" sz="32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linds(horizontal)">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blinds(horizontal)">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P spid="8" grpId="0"/>
      <p:bldP spid="9" grpId="0" animBg="1"/>
      <p:bldP spid="10" grpId="0" animBg="1"/>
      <p:bldP spid="11" grpId="0"/>
      <p:bldP spid="12" grpId="0"/>
      <p:bldP spid="13" grpId="0"/>
      <p:bldP spid="14" grpId="0" animBg="1"/>
      <p:bldP spid="1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p:nvPr/>
        </p:nvSpPr>
        <p:spPr>
          <a:xfrm>
            <a:off x="0" y="269875"/>
            <a:ext cx="9144000" cy="1143000"/>
          </a:xfrm>
          <a:prstGeom prst="rect">
            <a:avLst/>
          </a:prstGeom>
          <a:noFill/>
          <a:ln w="9525">
            <a:noFill/>
          </a:ln>
        </p:spPr>
        <p:txBody>
          <a:bodyPr anchor="ctr"/>
          <a:p>
            <a:pPr algn="ctr"/>
            <a:r>
              <a:rPr lang="zh-CN" altLang="en-US" sz="4400" dirty="0">
                <a:solidFill>
                  <a:srgbClr val="FFFF00"/>
                </a:solidFill>
                <a:latin typeface="隶书" panose="02010509060101010101" pitchFamily="49" charset="-122"/>
                <a:ea typeface="隶书" panose="02010509060101010101" pitchFamily="49" charset="-122"/>
              </a:rPr>
              <a:t>类</a:t>
            </a:r>
            <a:endParaRPr lang="zh-CN" altLang="en-US" sz="4400" dirty="0">
              <a:solidFill>
                <a:srgbClr val="FFFF00"/>
              </a:solidFill>
              <a:latin typeface="隶书" panose="02010509060101010101" pitchFamily="49" charset="-122"/>
              <a:ea typeface="隶书" panose="02010509060101010101" pitchFamily="49" charset="-122"/>
            </a:endParaRPr>
          </a:p>
        </p:txBody>
      </p:sp>
      <p:sp>
        <p:nvSpPr>
          <p:cNvPr id="82946" name="Rectangle 3"/>
          <p:cNvSpPr/>
          <p:nvPr/>
        </p:nvSpPr>
        <p:spPr>
          <a:xfrm>
            <a:off x="323850" y="1916113"/>
            <a:ext cx="7772400" cy="4114800"/>
          </a:xfrm>
          <a:prstGeom prst="rect">
            <a:avLst/>
          </a:prstGeom>
          <a:noFill/>
          <a:ln w="9525">
            <a:noFill/>
          </a:ln>
        </p:spPr>
        <p:txBody>
          <a:bodyPr anchor="t"/>
          <a:p>
            <a:pPr marL="342900" indent="-342900">
              <a:spcBef>
                <a:spcPct val="20000"/>
              </a:spcBef>
            </a:pPr>
            <a:r>
              <a:rPr lang="en-US" altLang="zh-CN" sz="3200" dirty="0">
                <a:solidFill>
                  <a:schemeClr val="tx1"/>
                </a:solidFill>
                <a:latin typeface="Times New Roman" panose="02020603050405020304" pitchFamily="18" charset="0"/>
                <a:ea typeface="宋体" panose="02010600030101010101" pitchFamily="2" charset="-122"/>
              </a:rPr>
              <a:t> </a:t>
            </a:r>
            <a:endParaRPr lang="en-US" altLang="zh-CN" sz="3200" dirty="0">
              <a:solidFill>
                <a:schemeClr val="tx1"/>
              </a:solidFill>
              <a:latin typeface="Times New Roman" panose="02020603050405020304" pitchFamily="18" charset="0"/>
              <a:ea typeface="宋体" panose="02010600030101010101" pitchFamily="2" charset="-122"/>
            </a:endParaRPr>
          </a:p>
          <a:p>
            <a:pPr marL="342900" indent="-342900">
              <a:spcBef>
                <a:spcPct val="20000"/>
              </a:spcBef>
              <a:buChar char="•"/>
            </a:pP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377860" name="Text Box 4"/>
          <p:cNvSpPr txBox="1">
            <a:spLocks noChangeArrowheads="1"/>
          </p:cNvSpPr>
          <p:nvPr/>
        </p:nvSpPr>
        <p:spPr bwMode="auto">
          <a:xfrm>
            <a:off x="628650" y="2144713"/>
            <a:ext cx="533400" cy="3752850"/>
          </a:xfrm>
          <a:prstGeom prst="rect">
            <a:avLst/>
          </a:prstGeom>
          <a:gradFill rotWithShape="0">
            <a:gsLst>
              <a:gs pos="0">
                <a:srgbClr val="FFC800">
                  <a:gamma/>
                  <a:shade val="46275"/>
                  <a:invGamma/>
                </a:srgbClr>
              </a:gs>
              <a:gs pos="100000">
                <a:srgbClr val="FFC800"/>
              </a:gs>
            </a:gsLst>
            <a:lin ang="0" scaled="1"/>
          </a:gradFill>
          <a:ln w="9525">
            <a:solidFill>
              <a:schemeClr val="tx1"/>
            </a:solidFill>
            <a:miter lim="800000"/>
            <a:tailEnd type="none" w="lg" len="lg"/>
          </a:ln>
          <a:effectLst/>
        </p:spPr>
        <p:txBody>
          <a:bodyPr>
            <a:spAutoFit/>
          </a:bodyPr>
          <a:lstStyle/>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a:p>
            <a:pPr marR="0" algn="ctr" defTabSz="914400">
              <a:buClrTx/>
              <a:buSzTx/>
              <a:buFontTx/>
              <a:defRPr/>
            </a:pPr>
            <a:endParaRPr kumimoji="1" lang="en-US" altLang="zh-CN" sz="2400" kern="1200" cap="none" spc="0" normalizeH="0" baseline="0" noProof="0">
              <a:solidFill>
                <a:srgbClr val="F0F087"/>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77861" name="Rectangle 5"/>
          <p:cNvSpPr>
            <a:spLocks noChangeArrowheads="1"/>
          </p:cNvSpPr>
          <p:nvPr/>
        </p:nvSpPr>
        <p:spPr bwMode="auto">
          <a:xfrm>
            <a:off x="1238250" y="2068513"/>
            <a:ext cx="7221538" cy="1150938"/>
          </a:xfrm>
          <a:prstGeom prst="rect">
            <a:avLst/>
          </a:prstGeom>
          <a:gradFill rotWithShape="0">
            <a:gsLst>
              <a:gs pos="0">
                <a:srgbClr val="F0F01E">
                  <a:gamma/>
                  <a:shade val="46275"/>
                  <a:invGamma/>
                </a:srgbClr>
              </a:gs>
              <a:gs pos="100000">
                <a:srgbClr val="F0F01E"/>
              </a:gs>
            </a:gsLst>
            <a:lin ang="5400000" scaled="1"/>
          </a:gradFill>
          <a:ln w="12700">
            <a:solidFill>
              <a:schemeClr val="accent2"/>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OOA</a:t>
            </a:r>
            <a:r>
              <a:rPr kumimoji="0" lang="zh-CN" altLang="en-US"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：面向对象分析</a:t>
            </a:r>
            <a:r>
              <a:rPr kumimoji="0" lang="en-US" altLang="zh-CN"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r>
              <a:rPr kumimoji="0" lang="zh-CN" altLang="en-US"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干什么</a:t>
            </a:r>
            <a:r>
              <a:rPr kumimoji="0" lang="en-US" altLang="zh-CN" sz="36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r>
              <a:rPr kumimoji="0" lang="en-US" altLang="zh-CN"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0" lang="en-US" altLang="zh-CN" sz="2800" b="1" i="0" u="none" strike="noStrike" kern="1200" cap="none" spc="0" normalizeH="0" baseline="0" noProof="0">
              <a:ln>
                <a:noFill/>
              </a:ln>
              <a:solidFill>
                <a:srgbClr val="FFE2C5"/>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77862" name="Rectangle 6"/>
          <p:cNvSpPr>
            <a:spLocks noChangeArrowheads="1"/>
          </p:cNvSpPr>
          <p:nvPr/>
        </p:nvSpPr>
        <p:spPr bwMode="auto">
          <a:xfrm>
            <a:off x="1238250" y="3389313"/>
            <a:ext cx="7219950"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OOD</a:t>
            </a:r>
            <a:r>
              <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：面向对象设计（怎样干）</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77863" name="Rectangle 7"/>
          <p:cNvSpPr>
            <a:spLocks noChangeArrowheads="1"/>
          </p:cNvSpPr>
          <p:nvPr/>
        </p:nvSpPr>
        <p:spPr bwMode="auto">
          <a:xfrm>
            <a:off x="1238250" y="4686300"/>
            <a:ext cx="7219950" cy="1198563"/>
          </a:xfrm>
          <a:prstGeom prst="rect">
            <a:avLst/>
          </a:prstGeom>
          <a:gradFill rotWithShape="0">
            <a:gsLst>
              <a:gs pos="0">
                <a:schemeClr val="hlink">
                  <a:gamma/>
                  <a:shade val="46275"/>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OOP</a:t>
            </a:r>
            <a:r>
              <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：面向对象编程（实现）</a:t>
            </a:r>
            <a:endParaRPr kumimoji="0" lang="zh-CN" altLang="en-US" sz="36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7860"/>
                                        </p:tgtEl>
                                        <p:attrNameLst>
                                          <p:attrName>style.visibility</p:attrName>
                                        </p:attrNameLst>
                                      </p:cBhvr>
                                      <p:to>
                                        <p:strVal val="visible"/>
                                      </p:to>
                                    </p:set>
                                    <p:anim calcmode="lin" valueType="num">
                                      <p:cBhvr additive="base">
                                        <p:cTn id="7" dur="500" fill="hold"/>
                                        <p:tgtEl>
                                          <p:spTgt spid="377860"/>
                                        </p:tgtEl>
                                        <p:attrNameLst>
                                          <p:attrName>ppt_x</p:attrName>
                                        </p:attrNameLst>
                                      </p:cBhvr>
                                      <p:tavLst>
                                        <p:tav tm="0">
                                          <p:val>
                                            <p:strVal val="0-#ppt_w/2"/>
                                          </p:val>
                                        </p:tav>
                                        <p:tav tm="100000">
                                          <p:val>
                                            <p:strVal val="#ppt_x"/>
                                          </p:val>
                                        </p:tav>
                                      </p:tavLst>
                                    </p:anim>
                                    <p:anim calcmode="lin" valueType="num">
                                      <p:cBhvr additive="base">
                                        <p:cTn id="8" dur="500" fill="hold"/>
                                        <p:tgtEl>
                                          <p:spTgt spid="37786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77861"/>
                                        </p:tgtEl>
                                        <p:attrNameLst>
                                          <p:attrName>style.visibility</p:attrName>
                                        </p:attrNameLst>
                                      </p:cBhvr>
                                      <p:to>
                                        <p:strVal val="visible"/>
                                      </p:to>
                                    </p:set>
                                    <p:animEffect transition="in" filter="slide(fromLeft)">
                                      <p:cBhvr>
                                        <p:cTn id="12" dur="500"/>
                                        <p:tgtEl>
                                          <p:spTgt spid="37786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77862"/>
                                        </p:tgtEl>
                                        <p:attrNameLst>
                                          <p:attrName>style.visibility</p:attrName>
                                        </p:attrNameLst>
                                      </p:cBhvr>
                                      <p:to>
                                        <p:strVal val="visible"/>
                                      </p:to>
                                    </p:set>
                                    <p:anim calcmode="lin" valueType="num">
                                      <p:cBhvr additive="base">
                                        <p:cTn id="17" dur="2000" fill="hold"/>
                                        <p:tgtEl>
                                          <p:spTgt spid="377862"/>
                                        </p:tgtEl>
                                        <p:attrNameLst>
                                          <p:attrName>ppt_x</p:attrName>
                                        </p:attrNameLst>
                                      </p:cBhvr>
                                      <p:tavLst>
                                        <p:tav tm="0">
                                          <p:val>
                                            <p:strVal val="#ppt_x"/>
                                          </p:val>
                                        </p:tav>
                                        <p:tav tm="100000">
                                          <p:val>
                                            <p:strVal val="#ppt_x"/>
                                          </p:val>
                                        </p:tav>
                                      </p:tavLst>
                                    </p:anim>
                                    <p:anim calcmode="lin" valueType="num">
                                      <p:cBhvr additive="base">
                                        <p:cTn id="18" dur="2000" fill="hold"/>
                                        <p:tgtEl>
                                          <p:spTgt spid="3778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377863"/>
                                        </p:tgtEl>
                                        <p:attrNameLst>
                                          <p:attrName>style.visibility</p:attrName>
                                        </p:attrNameLst>
                                      </p:cBhvr>
                                      <p:to>
                                        <p:strVal val="visible"/>
                                      </p:to>
                                    </p:set>
                                    <p:animEffect transition="in" filter="wheel(4)">
                                      <p:cBhvr>
                                        <p:cTn id="23" dur="2000"/>
                                        <p:tgtEl>
                                          <p:spTgt spid="377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animBg="1"/>
      <p:bldP spid="377861" grpId="0" animBg="1"/>
      <p:bldP spid="377862" grpId="0" animBg="1"/>
      <p:bldP spid="37786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p:cNvSpPr>
          <p:nvPr>
            <p:ph idx="1"/>
          </p:nvPr>
        </p:nvSpPr>
        <p:spPr>
          <a:xfrm>
            <a:off x="182563" y="765175"/>
            <a:ext cx="6550025" cy="5327650"/>
          </a:xfrm>
        </p:spPr>
        <p:txBody>
          <a:bodyPr vert="horz" wrap="square" lIns="91440" tIns="45720" rIns="91440" bIns="45720" anchor="t"/>
          <a:p>
            <a:pPr eaLnBrk="1" hangingPunct="1">
              <a:lnSpc>
                <a:spcPct val="90000"/>
              </a:lnSpc>
              <a:buNone/>
            </a:pPr>
            <a:r>
              <a:rPr lang="zh-CN" altLang="en-US" sz="2400" b="1" dirty="0">
                <a:solidFill>
                  <a:schemeClr val="bg1"/>
                </a:solidFill>
              </a:rPr>
              <a:t>成员函数</a:t>
            </a:r>
            <a:r>
              <a:rPr lang="en-US" altLang="zh-CN" sz="2400" b="1" dirty="0">
                <a:solidFill>
                  <a:schemeClr val="bg1"/>
                </a:solidFill>
              </a:rPr>
              <a:t>&amp;</a:t>
            </a:r>
            <a:r>
              <a:rPr lang="zh-CN" altLang="en-US" sz="2400" b="1" dirty="0">
                <a:solidFill>
                  <a:schemeClr val="bg1"/>
                </a:solidFill>
              </a:rPr>
              <a:t>非成员函数</a:t>
            </a:r>
            <a:endParaRPr lang="zh-CN" altLang="en-US" sz="2400" b="1" dirty="0">
              <a:solidFill>
                <a:schemeClr val="bg1"/>
              </a:solidFill>
            </a:endParaRPr>
          </a:p>
          <a:p>
            <a:pPr eaLnBrk="1" hangingPunct="1">
              <a:lnSpc>
                <a:spcPct val="9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void p(){age=20; cout&lt;&lt;q();}</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int q(){return(age)}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void r(){p();   ::p(6);}</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float score;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private: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char name[9];</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int age;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r>
              <a:rPr lang="zh-CN" altLang="en-US" sz="2400" b="1" dirty="0">
                <a:solidFill>
                  <a:schemeClr val="bg1"/>
                </a:solidFill>
              </a:rPr>
              <a:t>成员函数之间相当于同作用域互相可见；非成员函数不在相同作用域  </a:t>
            </a:r>
            <a:endParaRPr lang="en-US" altLang="zh-CN" sz="2400" b="1" dirty="0">
              <a:solidFill>
                <a:schemeClr val="bg1"/>
              </a:solidFill>
            </a:endParaRPr>
          </a:p>
          <a:p>
            <a:pPr eaLnBrk="1" hangingPunct="1">
              <a:lnSpc>
                <a:spcPct val="90000"/>
              </a:lnSpc>
              <a:buNone/>
            </a:pPr>
            <a:endParaRPr lang="en-US" altLang="zh-CN" sz="2400" b="1" dirty="0">
              <a:solidFill>
                <a:schemeClr val="bg1"/>
              </a:solidFill>
            </a:endParaRPr>
          </a:p>
        </p:txBody>
      </p:sp>
      <p:sp>
        <p:nvSpPr>
          <p:cNvPr id="8397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83971" name="Rectangle 4"/>
          <p:cNvSpPr/>
          <p:nvPr/>
        </p:nvSpPr>
        <p:spPr>
          <a:xfrm>
            <a:off x="6805613" y="981075"/>
            <a:ext cx="2159000" cy="3960813"/>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p(int x){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q()</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a.p();</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p(a.q());</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a.r();</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84994" name="Rectangle 7"/>
          <p:cNvSpPr>
            <a:spLocks noGrp="1"/>
          </p:cNvSpPr>
          <p:nvPr>
            <p:ph idx="1"/>
          </p:nvPr>
        </p:nvSpPr>
        <p:spPr>
          <a:xfrm>
            <a:off x="1619250" y="1773238"/>
            <a:ext cx="6769100" cy="4248150"/>
          </a:xfrm>
        </p:spPr>
        <p:txBody>
          <a:bodyPr vert="horz" wrap="square" lIns="92075" tIns="46037" rIns="92075" bIns="46037" anchor="t"/>
          <a:p>
            <a:pPr eaLnBrk="1" hangingPunct="1">
              <a:lnSpc>
                <a:spcPct val="130000"/>
              </a:lnSpc>
              <a:spcBef>
                <a:spcPct val="100000"/>
              </a:spcBef>
              <a:buNone/>
            </a:pPr>
            <a:r>
              <a:rPr lang="zh-CN" altLang="en-US" sz="2400" b="1" dirty="0">
                <a:solidFill>
                  <a:srgbClr val="FFFF00"/>
                </a:solidFill>
              </a:rPr>
              <a:t>成员函数与普通函数的区别</a:t>
            </a:r>
            <a:r>
              <a:rPr lang="en-US" altLang="zh-CN" sz="2400" b="1" dirty="0">
                <a:solidFill>
                  <a:srgbClr val="FFFF00"/>
                </a:solidFill>
              </a:rPr>
              <a:t>:</a:t>
            </a:r>
            <a:endParaRPr lang="en-US" altLang="zh-CN" sz="2400" b="1" dirty="0">
              <a:solidFill>
                <a:srgbClr val="FFFF00"/>
              </a:solidFill>
            </a:endParaRPr>
          </a:p>
          <a:p>
            <a:pPr eaLnBrk="1" hangingPunct="1">
              <a:lnSpc>
                <a:spcPct val="130000"/>
              </a:lnSpc>
              <a:spcBef>
                <a:spcPct val="100000"/>
              </a:spcBef>
            </a:pPr>
            <a:r>
              <a:rPr lang="zh-CN" altLang="en-US" sz="2400" b="1" dirty="0">
                <a:solidFill>
                  <a:srgbClr val="FFFFFF"/>
                </a:solidFill>
              </a:rPr>
              <a:t>成员函数属于类</a:t>
            </a:r>
            <a:r>
              <a:rPr lang="en-US" altLang="zh-CN" sz="2400" b="1" dirty="0">
                <a:solidFill>
                  <a:srgbClr val="FFFFFF"/>
                </a:solidFill>
              </a:rPr>
              <a:t>, </a:t>
            </a:r>
            <a:r>
              <a:rPr lang="zh-CN" altLang="en-US" sz="2400" b="1" dirty="0">
                <a:solidFill>
                  <a:srgbClr val="FFFFFF"/>
                </a:solidFill>
              </a:rPr>
              <a:t>成员函数定义是类设计的一部分</a:t>
            </a:r>
            <a:r>
              <a:rPr lang="en-US" altLang="zh-CN" sz="2400" b="1" dirty="0">
                <a:solidFill>
                  <a:srgbClr val="FFFFFF"/>
                </a:solidFill>
              </a:rPr>
              <a:t>, </a:t>
            </a:r>
            <a:r>
              <a:rPr lang="zh-CN" altLang="en-US" sz="2400" b="1" dirty="0">
                <a:solidFill>
                  <a:srgbClr val="FFFFFF"/>
                </a:solidFill>
              </a:rPr>
              <a:t>其作用域是类作用域</a:t>
            </a:r>
            <a:r>
              <a:rPr lang="en-US" altLang="zh-CN" sz="2400" b="1" dirty="0">
                <a:solidFill>
                  <a:srgbClr val="FFFFFF"/>
                </a:solidFill>
              </a:rPr>
              <a:t>. </a:t>
            </a:r>
            <a:r>
              <a:rPr lang="zh-CN" altLang="en-US" sz="2400" b="1" dirty="0">
                <a:solidFill>
                  <a:srgbClr val="FFFFFF"/>
                </a:solidFill>
              </a:rPr>
              <a:t>而普通函数一般为全局函数</a:t>
            </a:r>
            <a:endParaRPr lang="zh-CN" altLang="en-US" sz="2400" b="1" dirty="0">
              <a:solidFill>
                <a:srgbClr val="FFFFFF"/>
              </a:solidFill>
            </a:endParaRPr>
          </a:p>
          <a:p>
            <a:pPr eaLnBrk="1" hangingPunct="1">
              <a:lnSpc>
                <a:spcPct val="130000"/>
              </a:lnSpc>
              <a:spcBef>
                <a:spcPct val="100000"/>
              </a:spcBef>
            </a:pPr>
            <a:r>
              <a:rPr lang="zh-CN" altLang="en-US" sz="2400" b="1" dirty="0">
                <a:solidFill>
                  <a:srgbClr val="FFFFFF"/>
                </a:solidFill>
              </a:rPr>
              <a:t>成员函数的操作主体是对象</a:t>
            </a:r>
            <a:r>
              <a:rPr lang="en-US" altLang="zh-CN" sz="2400" b="1" dirty="0">
                <a:solidFill>
                  <a:srgbClr val="FFFFFF"/>
                </a:solidFill>
              </a:rPr>
              <a:t>,</a:t>
            </a:r>
            <a:r>
              <a:rPr lang="zh-CN" altLang="en-US" sz="2400" b="1" dirty="0">
                <a:solidFill>
                  <a:srgbClr val="FFFFFF"/>
                </a:solidFill>
              </a:rPr>
              <a:t>使用时通过捆绑对象来行使其职责</a:t>
            </a:r>
            <a:r>
              <a:rPr lang="en-US" altLang="zh-CN" sz="2400" b="1" dirty="0">
                <a:solidFill>
                  <a:srgbClr val="FFFFFF"/>
                </a:solidFill>
              </a:rPr>
              <a:t>, </a:t>
            </a:r>
            <a:r>
              <a:rPr lang="zh-CN" altLang="en-US" sz="2400" b="1" dirty="0">
                <a:solidFill>
                  <a:srgbClr val="FFFFFF"/>
                </a:solidFill>
              </a:rPr>
              <a:t>而普通函数被调用时没有操作主体</a:t>
            </a:r>
            <a:endParaRPr lang="zh-CN" altLang="en-US" sz="2400" b="1" dirty="0">
              <a:solidFill>
                <a:srgbClr val="FFFF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Rectangle 2"/>
          <p:cNvSpPr>
            <a:spLocks noGrp="1" noChangeArrowheads="1"/>
          </p:cNvSpPr>
          <p:nvPr>
            <p:ph idx="1"/>
          </p:nvPr>
        </p:nvSpPr>
        <p:spPr>
          <a:xfrm>
            <a:off x="250825" y="692150"/>
            <a:ext cx="8424863" cy="61658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zh-CN" altLang="en-US" sz="2400" b="1" i="0" u="none" strike="noStrike" kern="0" cap="none" spc="0" normalizeH="0" baseline="0" noProof="0" dirty="0">
                <a:ln>
                  <a:noFill/>
                </a:ln>
                <a:solidFill>
                  <a:schemeClr val="bg1"/>
                </a:solidFill>
                <a:effectLst/>
                <a:uLnTx/>
                <a:uFillTx/>
                <a:latin typeface="+mn-lt"/>
                <a:ea typeface="+mn-ea"/>
                <a:cs typeface="+mn-cs"/>
              </a:rPr>
              <a:t>公有</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&amp;</a:t>
            </a:r>
            <a:r>
              <a:rPr kumimoji="1" lang="zh-CN" altLang="en-US" sz="2400" b="1" i="0" u="none" strike="noStrike" kern="0" cap="none" spc="0" normalizeH="0" baseline="0" noProof="0" dirty="0">
                <a:ln>
                  <a:noFill/>
                </a:ln>
                <a:solidFill>
                  <a:schemeClr val="bg1"/>
                </a:solidFill>
                <a:effectLst/>
                <a:uLnTx/>
                <a:uFillTx/>
                <a:latin typeface="+mn-lt"/>
                <a:ea typeface="+mn-ea"/>
                <a:cs typeface="+mn-cs"/>
              </a:rPr>
              <a:t>保护</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&amp;</a:t>
            </a:r>
            <a:r>
              <a:rPr kumimoji="1" lang="zh-CN" altLang="en-US" sz="2400" b="1" i="0" u="none" strike="noStrike" kern="0" cap="none" spc="0" normalizeH="0" baseline="0" noProof="0" dirty="0">
                <a:ln>
                  <a:noFill/>
                </a:ln>
                <a:solidFill>
                  <a:schemeClr val="bg1"/>
                </a:solidFill>
                <a:effectLst/>
                <a:uLnTx/>
                <a:uFillTx/>
                <a:latin typeface="+mn-lt"/>
                <a:ea typeface="+mn-ea"/>
                <a:cs typeface="+mn-cs"/>
              </a:rPr>
              <a:t>私有</a:t>
            </a:r>
            <a:endParaRPr kumimoji="1" lang="zh-CN" altLang="en-US"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class Student{</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public:</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float score;</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void p(){ age=20;}</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void q() {add();}</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void r(</a:t>
            </a:r>
            <a:r>
              <a:rPr kumimoji="1" lang="en-US" altLang="zh-CN" sz="2400" b="1" i="0" u="none" strike="noStrike" kern="0" cap="none" spc="0" normalizeH="0" baseline="0" noProof="0" dirty="0" err="1">
                <a:ln>
                  <a:noFill/>
                </a:ln>
                <a:solidFill>
                  <a:schemeClr val="bg1"/>
                </a:solidFill>
                <a:effectLst/>
                <a:uLnTx/>
                <a:uFillTx/>
                <a:latin typeface="+mn-lt"/>
                <a:ea typeface="+mn-ea"/>
                <a:cs typeface="+mn-cs"/>
              </a:rPr>
              <a:t>int</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 a){</a:t>
            </a:r>
            <a:r>
              <a:rPr kumimoji="1" lang="en-US" altLang="zh-CN" sz="2400" b="1" i="0" u="none" strike="noStrike" kern="0" cap="none" spc="0" normalizeH="0" baseline="0" noProof="0" dirty="0" err="1">
                <a:ln>
                  <a:noFill/>
                </a:ln>
                <a:solidFill>
                  <a:schemeClr val="bg1"/>
                </a:solidFill>
                <a:effectLst/>
                <a:uLnTx/>
                <a:uFillTx/>
                <a:latin typeface="+mn-lt"/>
                <a:ea typeface="+mn-ea"/>
                <a:cs typeface="+mn-cs"/>
              </a:rPr>
              <a:t>cout</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&lt;&lt;a;}     </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private:  </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a:t>
            </a:r>
            <a:r>
              <a:rPr kumimoji="1" lang="zh-CN" altLang="en-US" sz="2400" b="1" i="0" u="none" strike="noStrike" kern="0" cap="none" spc="0" normalizeH="0" baseline="0" noProof="0" dirty="0">
                <a:ln>
                  <a:noFill/>
                </a:ln>
                <a:solidFill>
                  <a:schemeClr val="bg1"/>
                </a:solidFill>
                <a:effectLst/>
                <a:uLnTx/>
                <a:uFillTx/>
                <a:latin typeface="+mn-lt"/>
                <a:ea typeface="+mn-ea"/>
                <a:cs typeface="+mn-cs"/>
              </a:rPr>
              <a:t>和</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protected</a:t>
            </a:r>
            <a:r>
              <a:rPr kumimoji="1" lang="zh-CN" altLang="en-US" sz="2400" b="1" i="0" u="none" strike="noStrike" kern="0" cap="none" spc="0" normalizeH="0" baseline="0" noProof="0" dirty="0">
                <a:ln>
                  <a:noFill/>
                </a:ln>
                <a:solidFill>
                  <a:schemeClr val="bg1"/>
                </a:solidFill>
                <a:effectLst/>
                <a:uLnTx/>
                <a:uFillTx/>
                <a:latin typeface="+mn-lt"/>
                <a:ea typeface="+mn-ea"/>
                <a:cs typeface="+mn-cs"/>
              </a:rPr>
              <a:t>只有继承区别</a:t>
            </a:r>
            <a:endParaRPr kumimoji="1" lang="zh-CN" altLang="en-US"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zh-CN" altLang="en-US" sz="2400" b="1" i="0" u="none" strike="noStrike" kern="0" cap="none" spc="0" normalizeH="0" baseline="0" noProof="0" dirty="0">
                <a:ln>
                  <a:noFill/>
                </a:ln>
                <a:solidFill>
                  <a:schemeClr val="bg1"/>
                </a:solidFill>
                <a:effectLst/>
                <a:uLnTx/>
                <a:uFillTx/>
                <a:latin typeface="+mn-lt"/>
                <a:ea typeface="+mn-ea"/>
                <a:cs typeface="+mn-cs"/>
              </a:rPr>
              <a:t>       </a:t>
            </a:r>
            <a:r>
              <a:rPr kumimoji="1" lang="en-US" altLang="zh-CN" sz="2400" b="1" i="0" u="none" strike="noStrike" kern="0" cap="none" spc="0" normalizeH="0" baseline="0" noProof="0" dirty="0" err="1">
                <a:ln>
                  <a:noFill/>
                </a:ln>
                <a:solidFill>
                  <a:schemeClr val="bg1"/>
                </a:solidFill>
                <a:effectLst/>
                <a:uLnTx/>
                <a:uFillTx/>
                <a:latin typeface="+mn-lt"/>
                <a:ea typeface="+mn-ea"/>
                <a:cs typeface="+mn-cs"/>
              </a:rPr>
              <a:t>int</a:t>
            </a:r>
            <a:r>
              <a:rPr kumimoji="1" lang="en-US" altLang="zh-CN" sz="2400" b="1" i="0" u="none" strike="noStrike" kern="0" cap="none" spc="0" normalizeH="0" baseline="0" noProof="0" dirty="0">
                <a:ln>
                  <a:noFill/>
                </a:ln>
                <a:solidFill>
                  <a:schemeClr val="bg1"/>
                </a:solidFill>
                <a:effectLst/>
                <a:uLnTx/>
                <a:uFillTx/>
                <a:latin typeface="+mn-lt"/>
                <a:ea typeface="+mn-ea"/>
                <a:cs typeface="+mn-cs"/>
              </a:rPr>
              <a:t> age;</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void add(){score=0;p();age++;}</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uLnTx/>
                <a:uFillTx/>
                <a:latin typeface="+mn-lt"/>
                <a:ea typeface="+mn-ea"/>
                <a:cs typeface="+mn-cs"/>
              </a:rPr>
              <a:t>}; </a:t>
            </a:r>
            <a:endParaRPr kumimoji="1"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权限</a:t>
            </a:r>
            <a:r>
              <a:rPr kumimoji="1" lang="zh-CN" altLang="en-US" sz="24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是对外</a:t>
            </a:r>
            <a:r>
              <a:rPr kumimoji="1" lang="zh-CN"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的直接权限；对内没有权限</a:t>
            </a:r>
            <a:r>
              <a:rPr kumimoji="1" lang="zh-CN" altLang="en-US" sz="24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限制</a:t>
            </a:r>
            <a:endParaRPr kumimoji="1" lang="en-US" altLang="zh-CN" sz="24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4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400" b="1"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外部包括：非成员函数和其它类的成员函数</a:t>
            </a:r>
            <a:endParaRPr kumimoji="1" lang="zh-CN"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
        <p:nvSpPr>
          <p:cNvPr id="8601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86019" name="Rectangle 4"/>
          <p:cNvSpPr/>
          <p:nvPr/>
        </p:nvSpPr>
        <p:spPr>
          <a:xfrm>
            <a:off x="5508625" y="549275"/>
            <a:ext cx="3635375" cy="630872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Student  a,*p;</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 = new Student;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a.p();</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a.q();</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a.score=80;</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a.age=20;     //</a:t>
            </a:r>
            <a:r>
              <a:rPr lang="zh-CN" altLang="en-US" sz="2400" b="1" dirty="0">
                <a:latin typeface="Times New Roman" panose="02020603050405020304" pitchFamily="18" charset="0"/>
                <a:ea typeface="宋体" panose="02010600030101010101" pitchFamily="2" charset="-122"/>
              </a:rPr>
              <a:t>错误</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a.add();        //</a:t>
            </a:r>
            <a:r>
              <a:rPr lang="zh-CN" altLang="en-US" sz="2400" b="1" dirty="0">
                <a:latin typeface="Times New Roman" panose="02020603050405020304" pitchFamily="18" charset="0"/>
                <a:ea typeface="宋体" panose="02010600030101010101" pitchFamily="2" charset="-122"/>
              </a:rPr>
              <a:t>错误</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a.r(5);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a.r((int)a.score);</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a.r(a.age);    //</a:t>
            </a:r>
            <a:r>
              <a:rPr lang="zh-CN" altLang="en-US" sz="2400" b="1" dirty="0">
                <a:latin typeface="Times New Roman" panose="02020603050405020304" pitchFamily="18" charset="0"/>
                <a:ea typeface="宋体" panose="02010600030101010101" pitchFamily="2" charset="-122"/>
              </a:rPr>
              <a:t>错误</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p-&gt;</a:t>
            </a:r>
            <a:r>
              <a:rPr lang="zh-CN" altLang="en-US" sz="2400" b="1" dirty="0">
                <a:latin typeface="Times New Roman" panose="02020603050405020304" pitchFamily="18" charset="0"/>
                <a:ea typeface="宋体" panose="02010600030101010101" pitchFamily="2" charset="-122"/>
              </a:rPr>
              <a:t>成员；（常见）</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idx="1"/>
          </p:nvPr>
        </p:nvSpPr>
        <p:spPr>
          <a:xfrm>
            <a:off x="182563" y="765175"/>
            <a:ext cx="8350250" cy="6092825"/>
          </a:xfrm>
        </p:spPr>
        <p:txBody>
          <a:bodyPr vert="horz" wrap="square" lIns="91440" tIns="45720" rIns="91440" bIns="45720" anchor="t"/>
          <a:p>
            <a:pPr eaLnBrk="1" hangingPunct="1">
              <a:buNone/>
            </a:pPr>
            <a:r>
              <a:rPr lang="en-US" altLang="zh-CN" sz="2800" b="1" dirty="0">
                <a:solidFill>
                  <a:schemeClr val="bg1"/>
                </a:solidFill>
              </a:rPr>
              <a:t>class Student{</a:t>
            </a:r>
            <a:endParaRPr lang="en-US" altLang="zh-CN" sz="2800" b="1" dirty="0">
              <a:solidFill>
                <a:schemeClr val="bg1"/>
              </a:solidFill>
            </a:endParaRPr>
          </a:p>
          <a:p>
            <a:pPr eaLnBrk="1" hangingPunct="1">
              <a:buNone/>
            </a:pPr>
            <a:r>
              <a:rPr lang="en-US" altLang="zh-CN" sz="2800" b="1" dirty="0">
                <a:solidFill>
                  <a:schemeClr val="bg1"/>
                </a:solidFill>
              </a:rPr>
              <a:t>  public:</a:t>
            </a:r>
            <a:endParaRPr lang="en-US" altLang="zh-CN" sz="2800" b="1" dirty="0">
              <a:solidFill>
                <a:schemeClr val="bg1"/>
              </a:solidFill>
            </a:endParaRPr>
          </a:p>
          <a:p>
            <a:pPr eaLnBrk="1" hangingPunct="1">
              <a:buNone/>
            </a:pPr>
            <a:r>
              <a:rPr lang="en-US" altLang="zh-CN" sz="2800" b="1" dirty="0">
                <a:solidFill>
                  <a:schemeClr val="bg1"/>
                </a:solidFill>
              </a:rPr>
              <a:t>      float score;</a:t>
            </a:r>
            <a:endParaRPr lang="en-US" altLang="zh-CN" sz="2800" b="1" dirty="0">
              <a:solidFill>
                <a:schemeClr val="bg1"/>
              </a:solidFill>
            </a:endParaRPr>
          </a:p>
          <a:p>
            <a:pPr eaLnBrk="1" hangingPunct="1">
              <a:buNone/>
            </a:pPr>
            <a:r>
              <a:rPr lang="en-US" altLang="zh-CN" sz="2800" b="1" dirty="0">
                <a:solidFill>
                  <a:schemeClr val="bg1"/>
                </a:solidFill>
              </a:rPr>
              <a:t>       void p() { q()=20; }</a:t>
            </a:r>
            <a:endParaRPr lang="en-US" altLang="zh-CN" sz="2800" b="1" dirty="0">
              <a:solidFill>
                <a:schemeClr val="bg1"/>
              </a:solidFill>
            </a:endParaRPr>
          </a:p>
          <a:p>
            <a:pPr eaLnBrk="1" hangingPunct="1">
              <a:buNone/>
            </a:pPr>
            <a:r>
              <a:rPr lang="en-US" altLang="zh-CN" sz="2800" b="1" dirty="0">
                <a:solidFill>
                  <a:schemeClr val="bg1"/>
                </a:solidFill>
              </a:rPr>
              <a:t>       void r(int x) {s(x);}</a:t>
            </a:r>
            <a:endParaRPr lang="en-US" altLang="zh-CN" sz="2800" b="1" dirty="0">
              <a:solidFill>
                <a:schemeClr val="bg1"/>
              </a:solidFill>
            </a:endParaRPr>
          </a:p>
          <a:p>
            <a:pPr eaLnBrk="1" hangingPunct="1">
              <a:buNone/>
            </a:pPr>
            <a:r>
              <a:rPr lang="en-US" altLang="zh-CN" sz="2800" b="1" dirty="0">
                <a:solidFill>
                  <a:schemeClr val="bg1"/>
                </a:solidFill>
              </a:rPr>
              <a:t>       int &amp;q(){return(age);}</a:t>
            </a:r>
            <a:endParaRPr lang="en-US" altLang="zh-CN" sz="2800" b="1" dirty="0">
              <a:solidFill>
                <a:schemeClr val="bg1"/>
              </a:solidFill>
            </a:endParaRPr>
          </a:p>
          <a:p>
            <a:pPr eaLnBrk="1" hangingPunct="1">
              <a:buNone/>
            </a:pPr>
            <a:r>
              <a:rPr lang="en-US" altLang="zh-CN" sz="2800" b="1" dirty="0">
                <a:solidFill>
                  <a:schemeClr val="bg1"/>
                </a:solidFill>
              </a:rPr>
              <a:t>protected:</a:t>
            </a:r>
            <a:endParaRPr lang="en-US" altLang="zh-CN" sz="2800" b="1" dirty="0">
              <a:solidFill>
                <a:schemeClr val="bg1"/>
              </a:solidFill>
            </a:endParaRPr>
          </a:p>
          <a:p>
            <a:pPr eaLnBrk="1" hangingPunct="1">
              <a:buNone/>
            </a:pPr>
            <a:r>
              <a:rPr lang="en-US" altLang="zh-CN" sz="2800" b="1" dirty="0">
                <a:solidFill>
                  <a:schemeClr val="bg1"/>
                </a:solidFill>
              </a:rPr>
              <a:t>        char name;</a:t>
            </a:r>
            <a:endParaRPr lang="en-US" altLang="zh-CN" sz="2800" b="1" dirty="0">
              <a:solidFill>
                <a:schemeClr val="bg1"/>
              </a:solidFill>
            </a:endParaRPr>
          </a:p>
          <a:p>
            <a:pPr eaLnBrk="1" hangingPunct="1">
              <a:buNone/>
            </a:pPr>
            <a:r>
              <a:rPr lang="en-US" altLang="zh-CN" sz="2800" b="1" dirty="0">
                <a:solidFill>
                  <a:schemeClr val="bg1"/>
                </a:solidFill>
              </a:rPr>
              <a:t>        int age;</a:t>
            </a:r>
            <a:endParaRPr lang="en-US" altLang="zh-CN" sz="2800" b="1" dirty="0">
              <a:solidFill>
                <a:schemeClr val="bg1"/>
              </a:solidFill>
            </a:endParaRPr>
          </a:p>
          <a:p>
            <a:pPr eaLnBrk="1" hangingPunct="1">
              <a:buNone/>
            </a:pPr>
            <a:r>
              <a:rPr lang="en-US" altLang="zh-CN" sz="2800" b="1" dirty="0">
                <a:solidFill>
                  <a:schemeClr val="bg1"/>
                </a:solidFill>
              </a:rPr>
              <a:t>        void s(int x){</a:t>
            </a:r>
            <a:endParaRPr lang="en-US" altLang="zh-CN" sz="2800" b="1" dirty="0">
              <a:solidFill>
                <a:schemeClr val="bg1"/>
              </a:solidFill>
            </a:endParaRPr>
          </a:p>
          <a:p>
            <a:pPr eaLnBrk="1" hangingPunct="1">
              <a:buNone/>
            </a:pPr>
            <a:r>
              <a:rPr lang="en-US" altLang="zh-CN" sz="2800" b="1" dirty="0">
                <a:solidFill>
                  <a:schemeClr val="bg1"/>
                </a:solidFill>
              </a:rPr>
              <a:t>           age = x; score+=1;}</a:t>
            </a:r>
            <a:endParaRPr lang="en-US" altLang="zh-CN" sz="2800" b="1" dirty="0">
              <a:solidFill>
                <a:schemeClr val="bg1"/>
              </a:solidFill>
            </a:endParaRPr>
          </a:p>
          <a:p>
            <a:pPr eaLnBrk="1" hangingPunct="1">
              <a:buNone/>
            </a:pPr>
            <a:r>
              <a:rPr lang="en-US" altLang="zh-CN" sz="2800" b="1" dirty="0">
                <a:solidFill>
                  <a:schemeClr val="bg1"/>
                </a:solidFill>
              </a:rPr>
              <a:t>};\\</a:t>
            </a:r>
            <a:r>
              <a:rPr lang="zh-CN" altLang="en-US" sz="2800" b="1" dirty="0">
                <a:solidFill>
                  <a:schemeClr val="bg1"/>
                </a:solidFill>
              </a:rPr>
              <a:t>数据成员之于成员函数？成员函数之间？</a:t>
            </a:r>
            <a:endParaRPr lang="en-US" altLang="zh-CN" sz="2800" b="1" dirty="0">
              <a:solidFill>
                <a:schemeClr val="bg1"/>
              </a:solidFill>
            </a:endParaRPr>
          </a:p>
        </p:txBody>
      </p:sp>
      <p:sp>
        <p:nvSpPr>
          <p:cNvPr id="8704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87043" name="Rectangle 4"/>
          <p:cNvSpPr/>
          <p:nvPr/>
        </p:nvSpPr>
        <p:spPr>
          <a:xfrm>
            <a:off x="4859338" y="765175"/>
            <a:ext cx="4032250" cy="6092825"/>
          </a:xfrm>
          <a:prstGeom prst="rect">
            <a:avLst/>
          </a:prstGeom>
          <a:noFill/>
          <a:ln w="9525">
            <a:noFill/>
          </a:ln>
        </p:spPr>
        <p:txBody>
          <a:bodyPr anchor="t"/>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float score;</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a.score=80;</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cout&lt;&lt;a.age; //</a:t>
            </a:r>
            <a:r>
              <a:rPr lang="zh-CN" altLang="en-US" sz="2800" b="1" dirty="0">
                <a:latin typeface="Times New Roman" panose="02020603050405020304" pitchFamily="18" charset="0"/>
                <a:ea typeface="宋体" panose="02010600030101010101" pitchFamily="2" charset="-122"/>
              </a:rPr>
              <a:t>错误 </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cout&lt;&lt;a.q();</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a.age = 20; //</a:t>
            </a:r>
            <a:r>
              <a:rPr lang="zh-CN" altLang="en-US" sz="2800" b="1" dirty="0">
                <a:latin typeface="Times New Roman" panose="02020603050405020304" pitchFamily="18" charset="0"/>
                <a:ea typeface="宋体" panose="02010600030101010101" pitchFamily="2" charset="-122"/>
              </a:rPr>
              <a:t>错误</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a.q() = 20;</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a.s();          //</a:t>
            </a:r>
            <a:r>
              <a:rPr lang="zh-CN" altLang="en-US" sz="2800" b="1" dirty="0">
                <a:latin typeface="Times New Roman" panose="02020603050405020304" pitchFamily="18" charset="0"/>
                <a:ea typeface="宋体" panose="02010600030101010101" pitchFamily="2" charset="-122"/>
              </a:rPr>
              <a:t>错误</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a.r(20);</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}public</a:t>
            </a:r>
            <a:r>
              <a:rPr lang="zh-CN" altLang="en-US" sz="2800" b="1" dirty="0">
                <a:latin typeface="Times New Roman" panose="02020603050405020304" pitchFamily="18" charset="0"/>
                <a:ea typeface="宋体" panose="02010600030101010101" pitchFamily="2" charset="-122"/>
              </a:rPr>
              <a:t>内容相当于面板</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idx="1"/>
          </p:nvPr>
        </p:nvSpPr>
        <p:spPr>
          <a:xfrm>
            <a:off x="182563" y="1125538"/>
            <a:ext cx="8961437" cy="2735262"/>
          </a:xfrm>
        </p:spPr>
        <p:txBody>
          <a:bodyPr vert="horz" wrap="square" lIns="91440" tIns="45720" rIns="91440" bIns="45720" anchor="t"/>
          <a:p>
            <a:pPr eaLnBrk="1" hangingPunct="1">
              <a:lnSpc>
                <a:spcPct val="90000"/>
              </a:lnSpc>
              <a:buNone/>
            </a:pPr>
            <a:r>
              <a:rPr lang="zh-CN" altLang="en-US" b="1" dirty="0">
                <a:solidFill>
                  <a:schemeClr val="bg1"/>
                </a:solidFill>
              </a:rPr>
              <a:t>类的作用</a:t>
            </a:r>
            <a:endParaRPr lang="en-US" altLang="zh-CN" b="1" dirty="0">
              <a:solidFill>
                <a:schemeClr val="bg1"/>
              </a:solidFill>
            </a:endParaRPr>
          </a:p>
          <a:p>
            <a:pPr eaLnBrk="1" hangingPunct="1">
              <a:lnSpc>
                <a:spcPct val="90000"/>
              </a:lnSpc>
              <a:buNone/>
            </a:pPr>
            <a:endParaRPr lang="zh-CN" altLang="en-US" b="1" dirty="0">
              <a:solidFill>
                <a:schemeClr val="bg1"/>
              </a:solidFill>
            </a:endParaRPr>
          </a:p>
          <a:p>
            <a:pPr eaLnBrk="1" hangingPunct="1">
              <a:lnSpc>
                <a:spcPct val="90000"/>
              </a:lnSpc>
              <a:buNone/>
            </a:pPr>
            <a:r>
              <a:rPr lang="zh-CN" altLang="en-US" b="1" dirty="0">
                <a:solidFill>
                  <a:schemeClr val="bg1"/>
                </a:solidFill>
              </a:rPr>
              <a:t>外壳保护作用</a:t>
            </a:r>
            <a:endParaRPr lang="en-US" altLang="zh-CN" b="1" dirty="0">
              <a:solidFill>
                <a:schemeClr val="bg1"/>
              </a:solidFill>
            </a:endParaRPr>
          </a:p>
          <a:p>
            <a:pPr eaLnBrk="1" hangingPunct="1">
              <a:lnSpc>
                <a:spcPct val="90000"/>
              </a:lnSpc>
              <a:buNone/>
            </a:pPr>
            <a:r>
              <a:rPr lang="zh-CN" altLang="en-US" b="1" dirty="0">
                <a:solidFill>
                  <a:schemeClr val="bg1"/>
                </a:solidFill>
              </a:rPr>
              <a:t>外壳内外分明</a:t>
            </a:r>
            <a:endParaRPr lang="zh-CN" altLang="en-US" b="1" dirty="0">
              <a:solidFill>
                <a:schemeClr val="bg1"/>
              </a:solidFill>
            </a:endParaRPr>
          </a:p>
          <a:p>
            <a:pPr eaLnBrk="1" hangingPunct="1">
              <a:lnSpc>
                <a:spcPct val="90000"/>
              </a:lnSpc>
              <a:buNone/>
            </a:pPr>
            <a:r>
              <a:rPr lang="zh-CN" altLang="en-US" b="1" dirty="0">
                <a:solidFill>
                  <a:schemeClr val="bg1"/>
                </a:solidFill>
              </a:rPr>
              <a:t>接口标准清晰</a:t>
            </a:r>
            <a:endParaRPr lang="zh-CN" altLang="en-US" b="1" dirty="0">
              <a:solidFill>
                <a:schemeClr val="bg1"/>
              </a:solidFill>
            </a:endParaRPr>
          </a:p>
          <a:p>
            <a:pPr eaLnBrk="1" hangingPunct="1">
              <a:lnSpc>
                <a:spcPct val="90000"/>
              </a:lnSpc>
              <a:buNone/>
            </a:pPr>
            <a:r>
              <a:rPr lang="zh-CN" altLang="en-US" b="1" dirty="0">
                <a:solidFill>
                  <a:schemeClr val="bg1"/>
                </a:solidFill>
              </a:rPr>
              <a:t>责任方便维护</a:t>
            </a:r>
            <a:endParaRPr lang="zh-CN" altLang="en-US" b="1" dirty="0">
              <a:solidFill>
                <a:schemeClr val="bg1"/>
              </a:solidFill>
            </a:endParaRPr>
          </a:p>
        </p:txBody>
      </p:sp>
      <p:sp>
        <p:nvSpPr>
          <p:cNvPr id="8806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pic>
        <p:nvPicPr>
          <p:cNvPr id="88067" name="图片 1"/>
          <p:cNvPicPr>
            <a:picLocks noChangeAspect="1"/>
          </p:cNvPicPr>
          <p:nvPr/>
        </p:nvPicPr>
        <p:blipFill>
          <a:blip r:embed="rId1"/>
          <a:stretch>
            <a:fillRect/>
          </a:stretch>
        </p:blipFill>
        <p:spPr>
          <a:xfrm>
            <a:off x="4038600" y="3573463"/>
            <a:ext cx="5105400" cy="3228975"/>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idx="1"/>
          </p:nvPr>
        </p:nvSpPr>
        <p:spPr>
          <a:xfrm>
            <a:off x="1042988" y="765175"/>
            <a:ext cx="7850187" cy="6092825"/>
          </a:xfrm>
        </p:spPr>
        <p:txBody>
          <a:bodyPr vert="horz" wrap="square" lIns="91440" tIns="45720" rIns="91440" bIns="45720" anchor="t"/>
          <a:p>
            <a:pPr eaLnBrk="1" hangingPunct="1">
              <a:lnSpc>
                <a:spcPct val="80000"/>
              </a:lnSpc>
              <a:buNone/>
            </a:pPr>
            <a:r>
              <a:rPr lang="zh-CN" altLang="en-US" sz="2800" b="1" dirty="0">
                <a:solidFill>
                  <a:schemeClr val="bg1"/>
                </a:solidFill>
              </a:rPr>
              <a:t>例子</a:t>
            </a:r>
            <a:r>
              <a:rPr lang="en-US" altLang="zh-CN" sz="2800" b="1" dirty="0">
                <a:solidFill>
                  <a:schemeClr val="bg1"/>
                </a:solidFill>
              </a:rPr>
              <a:t>//</a:t>
            </a:r>
            <a:r>
              <a:rPr lang="zh-CN" altLang="en-US" sz="2800" b="1" dirty="0">
                <a:solidFill>
                  <a:schemeClr val="bg1"/>
                </a:solidFill>
              </a:rPr>
              <a:t>变量的作用域－｛｝内或其后的全部内容</a:t>
            </a:r>
            <a:endParaRPr lang="zh-CN" altLang="en-US" sz="2800" b="1" dirty="0">
              <a:solidFill>
                <a:schemeClr val="bg1"/>
              </a:solidFill>
            </a:endParaRPr>
          </a:p>
          <a:p>
            <a:pPr eaLnBrk="1" hangingPunct="1">
              <a:lnSpc>
                <a:spcPct val="80000"/>
              </a:lnSpc>
              <a:buNone/>
            </a:pPr>
            <a:r>
              <a:rPr lang="en-US" altLang="zh-CN" sz="2800" b="1" dirty="0">
                <a:solidFill>
                  <a:schemeClr val="bg1"/>
                </a:solidFill>
              </a:rPr>
              <a:t>int a = 1;</a:t>
            </a:r>
            <a:endParaRPr lang="en-US" altLang="zh-CN" sz="2800" b="1" dirty="0">
              <a:solidFill>
                <a:schemeClr val="bg1"/>
              </a:solidFill>
            </a:endParaRPr>
          </a:p>
          <a:p>
            <a:pPr eaLnBrk="1" hangingPunct="1">
              <a:lnSpc>
                <a:spcPct val="80000"/>
              </a:lnSpc>
              <a:buNone/>
            </a:pPr>
            <a:r>
              <a:rPr lang="en-US" altLang="zh-CN" sz="2800" b="1" dirty="0">
                <a:solidFill>
                  <a:schemeClr val="bg1"/>
                </a:solidFill>
              </a:rPr>
              <a:t>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f(void);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 = 2;</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  //</a:t>
            </a:r>
            <a:r>
              <a:rPr lang="zh-CN" altLang="en-US" sz="2800" b="1" dirty="0">
                <a:solidFill>
                  <a:schemeClr val="bg1"/>
                </a:solidFill>
              </a:rPr>
              <a:t>全局对象被屏蔽后的强行访问</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 int a =3;cout&lt;&lt;a;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f(){cout&lt;&lt;a;int a = 4;cout&lt;&lt;a;}</a:t>
            </a:r>
            <a:endParaRPr lang="en-US" altLang="zh-CN" sz="2800" b="1" dirty="0">
              <a:solidFill>
                <a:schemeClr val="bg1"/>
              </a:solidFill>
            </a:endParaRPr>
          </a:p>
        </p:txBody>
      </p:sp>
      <p:sp>
        <p:nvSpPr>
          <p:cNvPr id="8909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idx="1"/>
          </p:nvPr>
        </p:nvSpPr>
        <p:spPr>
          <a:xfrm>
            <a:off x="1479550" y="765175"/>
            <a:ext cx="7053263" cy="6092825"/>
          </a:xfrm>
        </p:spPr>
        <p:txBody>
          <a:bodyPr vert="horz" wrap="square" lIns="91440" tIns="45720" rIns="91440" bIns="45720" anchor="t"/>
          <a:p>
            <a:pPr eaLnBrk="1" hangingPunct="1">
              <a:lnSpc>
                <a:spcPct val="80000"/>
              </a:lnSpc>
              <a:buNone/>
            </a:pPr>
            <a:r>
              <a:rPr lang="zh-CN" altLang="en-US" sz="2800" b="1" dirty="0">
                <a:solidFill>
                  <a:schemeClr val="bg1"/>
                </a:solidFill>
              </a:rPr>
              <a:t>例子</a:t>
            </a:r>
            <a:r>
              <a:rPr lang="en-US" altLang="zh-CN" sz="2800" b="1" dirty="0">
                <a:solidFill>
                  <a:schemeClr val="bg1"/>
                </a:solidFill>
              </a:rPr>
              <a:t>;//</a:t>
            </a:r>
            <a:r>
              <a:rPr lang="zh-CN" altLang="en-US" sz="2800" b="1" dirty="0">
                <a:solidFill>
                  <a:schemeClr val="bg1"/>
                </a:solidFill>
              </a:rPr>
              <a:t>类定义的作用域等同于变量</a:t>
            </a:r>
            <a:endParaRPr lang="zh-CN" altLang="en-US" sz="2800" b="1" dirty="0">
              <a:solidFill>
                <a:schemeClr val="bg1"/>
              </a:solidFill>
            </a:endParaRPr>
          </a:p>
          <a:p>
            <a:pPr eaLnBrk="1" hangingPunct="1">
              <a:lnSpc>
                <a:spcPct val="80000"/>
              </a:lnSpc>
              <a:buNone/>
            </a:pPr>
            <a:r>
              <a:rPr lang="en-US" altLang="zh-CN" sz="2800" b="1" dirty="0">
                <a:solidFill>
                  <a:schemeClr val="bg1"/>
                </a:solidFill>
              </a:rPr>
              <a:t>class A{ </a:t>
            </a:r>
            <a:r>
              <a:rPr lang="en-US" altLang="zh-CN" sz="2800" b="1" dirty="0">
                <a:solidFill>
                  <a:schemeClr val="bg1"/>
                </a:solidFill>
                <a:latin typeface="Arial" panose="020B0604020202020204" pitchFamily="34" charset="0"/>
              </a:rPr>
              <a:t>…</a:t>
            </a:r>
            <a:r>
              <a:rPr lang="en-US" altLang="zh-CN" sz="2800" b="1" dirty="0">
                <a:solidFill>
                  <a:schemeClr val="bg1"/>
                </a:solidFill>
              </a:rPr>
              <a:t> </a:t>
            </a:r>
            <a:r>
              <a:rPr lang="en-US" altLang="zh-CN" sz="2800" b="1" dirty="0">
                <a:solidFill>
                  <a:schemeClr val="bg1"/>
                </a:solidFill>
                <a:latin typeface="Arial" panose="020B0604020202020204" pitchFamily="34" charset="0"/>
              </a:rPr>
              <a:t>…</a:t>
            </a: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f()</a:t>
            </a:r>
            <a:endParaRPr lang="en-US" altLang="zh-CN" sz="2800" b="1" dirty="0">
              <a:solidFill>
                <a:schemeClr val="bg1"/>
              </a:solidFill>
            </a:endParaRPr>
          </a:p>
          <a:p>
            <a:pPr eaLnBrk="1" hangingPunct="1">
              <a:lnSpc>
                <a:spcPct val="80000"/>
              </a:lnSpc>
              <a:buNone/>
            </a:pPr>
            <a:r>
              <a:rPr lang="en-US" altLang="zh-CN" sz="2800" b="1" dirty="0">
                <a:solidFill>
                  <a:srgbClr val="FFC000"/>
                </a:solidFill>
              </a:rPr>
              <a:t>{ class B{</a:t>
            </a:r>
            <a:r>
              <a:rPr lang="en-US" altLang="zh-CN" sz="2800" b="1" dirty="0">
                <a:solidFill>
                  <a:srgbClr val="FFC000"/>
                </a:solidFill>
                <a:latin typeface="Arial" panose="020B0604020202020204" pitchFamily="34" charset="0"/>
              </a:rPr>
              <a:t>…</a:t>
            </a:r>
            <a:r>
              <a:rPr lang="en-US" altLang="zh-CN" sz="2800" b="1" dirty="0">
                <a:solidFill>
                  <a:srgbClr val="FFC000"/>
                </a:solidFill>
              </a:rPr>
              <a:t> </a:t>
            </a:r>
            <a:r>
              <a:rPr lang="en-US" altLang="zh-CN" sz="2800" b="1" dirty="0">
                <a:solidFill>
                  <a:srgbClr val="FFC000"/>
                </a:solidFill>
                <a:latin typeface="Arial" panose="020B0604020202020204" pitchFamily="34" charset="0"/>
              </a:rPr>
              <a:t>…</a:t>
            </a:r>
            <a:r>
              <a:rPr lang="en-US" altLang="zh-CN" sz="2800" b="1" dirty="0">
                <a:solidFill>
                  <a:srgbClr val="FFC000"/>
                </a:solidFill>
              </a:rPr>
              <a:t>};   </a:t>
            </a:r>
            <a:endParaRPr lang="en-US" altLang="zh-CN" sz="2800" b="1" dirty="0">
              <a:solidFill>
                <a:srgbClr val="FFC000"/>
              </a:solidFill>
            </a:endParaRPr>
          </a:p>
          <a:p>
            <a:pPr eaLnBrk="1" hangingPunct="1">
              <a:lnSpc>
                <a:spcPct val="80000"/>
              </a:lnSpc>
              <a:buNone/>
            </a:pPr>
            <a:r>
              <a:rPr lang="en-US" altLang="zh-CN" sz="2800" b="1" dirty="0">
                <a:solidFill>
                  <a:srgbClr val="FFC000"/>
                </a:solidFill>
              </a:rPr>
              <a:t>   A s;   B t;</a:t>
            </a:r>
            <a:endParaRPr lang="en-US" altLang="zh-CN" sz="2800" b="1" dirty="0">
              <a:solidFill>
                <a:srgbClr val="FFC000"/>
              </a:solidFill>
            </a:endParaRPr>
          </a:p>
          <a:p>
            <a:pPr eaLnBrk="1" hangingPunct="1">
              <a:lnSpc>
                <a:spcPct val="80000"/>
              </a:lnSpc>
              <a:buNone/>
            </a:pPr>
            <a:r>
              <a:rPr lang="en-US" altLang="zh-CN" sz="2800" b="1" dirty="0">
                <a:solidFill>
                  <a:srgbClr val="00CC00"/>
                </a:solidFill>
              </a:rPr>
              <a:t>   {class C{</a:t>
            </a:r>
            <a:r>
              <a:rPr lang="en-US" altLang="zh-CN" sz="2800" b="1" dirty="0">
                <a:solidFill>
                  <a:srgbClr val="00CC00"/>
                </a:solidFill>
                <a:latin typeface="Arial" panose="020B0604020202020204" pitchFamily="34" charset="0"/>
              </a:rPr>
              <a:t>…</a:t>
            </a:r>
            <a:r>
              <a:rPr lang="en-US" altLang="zh-CN" sz="2800" b="1" dirty="0">
                <a:solidFill>
                  <a:srgbClr val="00CC00"/>
                </a:solidFill>
              </a:rPr>
              <a:t> </a:t>
            </a:r>
            <a:r>
              <a:rPr lang="en-US" altLang="zh-CN" sz="2800" b="1" dirty="0">
                <a:solidFill>
                  <a:srgbClr val="00CC00"/>
                </a:solidFill>
                <a:latin typeface="Arial" panose="020B0604020202020204" pitchFamily="34" charset="0"/>
              </a:rPr>
              <a:t>…</a:t>
            </a:r>
            <a:r>
              <a:rPr lang="en-US" altLang="zh-CN" sz="2800" b="1" dirty="0">
                <a:solidFill>
                  <a:srgbClr val="00CC00"/>
                </a:solidFill>
              </a:rPr>
              <a:t>};</a:t>
            </a:r>
            <a:endParaRPr lang="en-US" altLang="zh-CN" sz="2800" b="1" dirty="0">
              <a:solidFill>
                <a:srgbClr val="00CC00"/>
              </a:solidFill>
            </a:endParaRPr>
          </a:p>
          <a:p>
            <a:pPr eaLnBrk="1" hangingPunct="1">
              <a:lnSpc>
                <a:spcPct val="80000"/>
              </a:lnSpc>
              <a:buNone/>
            </a:pPr>
            <a:r>
              <a:rPr lang="en-US" altLang="zh-CN" sz="2800" b="1" dirty="0">
                <a:solidFill>
                  <a:srgbClr val="00CC00"/>
                </a:solidFill>
              </a:rPr>
              <a:t>     A s; B t; C u;</a:t>
            </a:r>
            <a:endParaRPr lang="en-US" altLang="zh-CN" sz="2800" b="1" dirty="0">
              <a:solidFill>
                <a:srgbClr val="00CC00"/>
              </a:solidFill>
            </a:endParaRPr>
          </a:p>
          <a:p>
            <a:pPr eaLnBrk="1" hangingPunct="1">
              <a:lnSpc>
                <a:spcPct val="80000"/>
              </a:lnSpc>
              <a:buNone/>
            </a:pPr>
            <a:r>
              <a:rPr lang="en-US" altLang="zh-CN" sz="2800" b="1" dirty="0">
                <a:solidFill>
                  <a:srgbClr val="00CC00"/>
                </a:solidFill>
              </a:rPr>
              <a:t>    }</a:t>
            </a:r>
            <a:endParaRPr lang="en-US" altLang="zh-CN" sz="2800" b="1" dirty="0">
              <a:solidFill>
                <a:srgbClr val="00CC00"/>
              </a:solidFill>
            </a:endParaRPr>
          </a:p>
          <a:p>
            <a:pPr eaLnBrk="1" hangingPunct="1">
              <a:lnSpc>
                <a:spcPct val="80000"/>
              </a:lnSpc>
              <a:buNone/>
            </a:pPr>
            <a:r>
              <a:rPr lang="en-US" altLang="zh-CN" sz="2800" b="1" dirty="0">
                <a:solidFill>
                  <a:srgbClr val="FFC000"/>
                </a:solidFill>
              </a:rPr>
              <a:t>   A s; B t; C u;</a:t>
            </a:r>
            <a:endParaRPr lang="en-US" altLang="zh-CN" sz="2800" b="1" dirty="0">
              <a:solidFill>
                <a:srgbClr val="FFC000"/>
              </a:solidFill>
            </a:endParaRPr>
          </a:p>
          <a:p>
            <a:pPr eaLnBrk="1" hangingPunct="1">
              <a:lnSpc>
                <a:spcPct val="80000"/>
              </a:lnSpc>
              <a:buNone/>
            </a:pPr>
            <a:r>
              <a:rPr lang="en-US" altLang="zh-CN" sz="2800" b="1" dirty="0">
                <a:solidFill>
                  <a:srgbClr val="FFC000"/>
                </a:solidFill>
              </a:rPr>
              <a:t>}</a:t>
            </a:r>
            <a:endParaRPr lang="en-US" altLang="zh-CN" sz="2800" b="1" dirty="0">
              <a:solidFill>
                <a:srgbClr val="FFC000"/>
              </a:solidFill>
            </a:endParaRPr>
          </a:p>
          <a:p>
            <a:pPr eaLnBrk="1" hangingPunct="1">
              <a:lnSpc>
                <a:spcPct val="80000"/>
              </a:lnSpc>
              <a:buNone/>
            </a:pPr>
            <a:r>
              <a:rPr lang="en-US" altLang="zh-CN" sz="2800" b="1" dirty="0">
                <a:solidFill>
                  <a:schemeClr val="bg1"/>
                </a:solidFill>
              </a:rPr>
              <a:t>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 s; B t; C u;</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9011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91138" name="Rectangle 6"/>
          <p:cNvSpPr>
            <a:spLocks noGrp="1"/>
          </p:cNvSpPr>
          <p:nvPr>
            <p:ph idx="1"/>
          </p:nvPr>
        </p:nvSpPr>
        <p:spPr>
          <a:xfrm>
            <a:off x="1692275" y="1268413"/>
            <a:ext cx="7308850" cy="4752975"/>
          </a:xfrm>
        </p:spPr>
        <p:txBody>
          <a:bodyPr vert="horz" wrap="square" lIns="92075" tIns="46037" rIns="92075" bIns="46037" anchor="t"/>
          <a:p>
            <a:pPr eaLnBrk="1" hangingPunct="1">
              <a:lnSpc>
                <a:spcPct val="90000"/>
              </a:lnSpc>
              <a:buNone/>
            </a:pPr>
            <a:r>
              <a:rPr lang="zh-CN" altLang="en-US" b="1" dirty="0">
                <a:solidFill>
                  <a:srgbClr val="FFFF00"/>
                </a:solidFill>
                <a:latin typeface="黑体" panose="02010609060101010101" pitchFamily="49" charset="-122"/>
                <a:ea typeface="黑体" panose="02010609060101010101" pitchFamily="49" charset="-122"/>
              </a:rPr>
              <a:t>类定义作用域</a:t>
            </a:r>
            <a:r>
              <a:rPr lang="en-US" altLang="zh-CN" b="1" dirty="0">
                <a:solidFill>
                  <a:srgbClr val="FFFF00"/>
                </a:solidFill>
                <a:latin typeface="黑体" panose="02010609060101010101" pitchFamily="49" charset="-122"/>
                <a:ea typeface="黑体" panose="02010609060101010101" pitchFamily="49" charset="-122"/>
              </a:rPr>
              <a:t>:</a:t>
            </a:r>
            <a:endParaRPr lang="en-US" altLang="zh-CN" b="1" dirty="0">
              <a:solidFill>
                <a:srgbClr val="FFFF00"/>
              </a:solidFill>
              <a:latin typeface="黑体" panose="02010609060101010101" pitchFamily="49" charset="-122"/>
              <a:ea typeface="黑体" panose="02010609060101010101" pitchFamily="49" charset="-122"/>
            </a:endParaRPr>
          </a:p>
          <a:p>
            <a:pPr eaLnBrk="1" hangingPunct="1">
              <a:lnSpc>
                <a:spcPct val="90000"/>
              </a:lnSpc>
              <a:buNone/>
            </a:pPr>
            <a:r>
              <a:rPr lang="zh-CN" altLang="en-US" b="1" dirty="0">
                <a:solidFill>
                  <a:srgbClr val="FFFFFF"/>
                </a:solidFill>
                <a:latin typeface="Courier New" panose="02070309020205020404" pitchFamily="49" charset="0"/>
              </a:rPr>
              <a:t>从类定义结束开始，到从外面包围类定义的块结束</a:t>
            </a:r>
            <a:r>
              <a:rPr lang="en-US" altLang="zh-CN" b="1" dirty="0">
                <a:solidFill>
                  <a:srgbClr val="FFFFFF"/>
                </a:solidFill>
                <a:latin typeface="Courier New" panose="02070309020205020404" pitchFamily="49" charset="0"/>
              </a:rPr>
              <a:t>(</a:t>
            </a:r>
            <a:r>
              <a:rPr lang="zh-CN" altLang="en-US" b="1" dirty="0">
                <a:solidFill>
                  <a:srgbClr val="FFFFFF"/>
                </a:solidFill>
                <a:latin typeface="Courier New" panose="02070309020205020404" pitchFamily="49" charset="0"/>
              </a:rPr>
              <a:t>若类定义外无包围块，则结束于文件</a:t>
            </a:r>
            <a:r>
              <a:rPr lang="en-US" altLang="zh-CN" b="1" dirty="0">
                <a:solidFill>
                  <a:srgbClr val="FFFFFF"/>
                </a:solidFill>
                <a:latin typeface="Courier New" panose="02070309020205020404" pitchFamily="49" charset="0"/>
              </a:rPr>
              <a:t>)</a:t>
            </a:r>
            <a:endParaRPr lang="en-US" altLang="zh-CN" b="1" dirty="0">
              <a:solidFill>
                <a:srgbClr val="FFFFFF"/>
              </a:solidFill>
              <a:latin typeface="Courier New" panose="02070309020205020404" pitchFamily="49" charset="0"/>
            </a:endParaRPr>
          </a:p>
          <a:p>
            <a:pPr eaLnBrk="1" hangingPunct="1">
              <a:lnSpc>
                <a:spcPct val="90000"/>
              </a:lnSpc>
              <a:buNone/>
            </a:pPr>
            <a:r>
              <a:rPr lang="zh-CN" altLang="en-US" b="1" dirty="0">
                <a:solidFill>
                  <a:srgbClr val="FFFFFF"/>
                </a:solidFill>
                <a:latin typeface="Courier New" panose="02070309020205020404" pitchFamily="49" charset="0"/>
              </a:rPr>
              <a:t>使用类的程序员在类定义作用域下编程</a:t>
            </a:r>
            <a:endParaRPr lang="zh-CN" altLang="en-US" b="1" dirty="0">
              <a:solidFill>
                <a:srgbClr val="FFFFFF"/>
              </a:solidFill>
              <a:latin typeface="Courier New" panose="02070309020205020404" pitchFamily="49" charset="0"/>
            </a:endParaRPr>
          </a:p>
          <a:p>
            <a:pPr eaLnBrk="1" hangingPunct="1">
              <a:lnSpc>
                <a:spcPct val="90000"/>
              </a:lnSpc>
              <a:buNone/>
            </a:pPr>
            <a:endParaRPr lang="zh-CN" altLang="en-US" b="1" dirty="0">
              <a:solidFill>
                <a:srgbClr val="FFFFFF"/>
              </a:solidFill>
              <a:latin typeface="Courier New" panose="02070309020205020404" pitchFamily="49" charset="0"/>
            </a:endParaRPr>
          </a:p>
          <a:p>
            <a:pPr eaLnBrk="1" hangingPunct="1">
              <a:lnSpc>
                <a:spcPct val="90000"/>
              </a:lnSpc>
              <a:buNone/>
            </a:pPr>
            <a:r>
              <a:rPr lang="zh-CN" altLang="en-US" b="1" dirty="0">
                <a:solidFill>
                  <a:srgbClr val="FFFF00"/>
                </a:solidFill>
                <a:latin typeface="黑体" panose="02010609060101010101" pitchFamily="49" charset="-122"/>
                <a:ea typeface="黑体" panose="02010609060101010101" pitchFamily="49" charset="-122"/>
              </a:rPr>
              <a:t>类作用域</a:t>
            </a:r>
            <a:r>
              <a:rPr lang="en-US" altLang="zh-CN" b="1" dirty="0">
                <a:solidFill>
                  <a:srgbClr val="FFFF00"/>
                </a:solidFill>
                <a:latin typeface="黑体" panose="02010609060101010101" pitchFamily="49" charset="-122"/>
                <a:ea typeface="黑体" panose="02010609060101010101" pitchFamily="49" charset="-122"/>
              </a:rPr>
              <a:t>:</a:t>
            </a:r>
            <a:endParaRPr lang="en-US" altLang="zh-CN" b="1" dirty="0">
              <a:solidFill>
                <a:srgbClr val="FFFF00"/>
              </a:solidFill>
              <a:latin typeface="黑体" panose="02010609060101010101" pitchFamily="49" charset="-122"/>
              <a:ea typeface="黑体" panose="02010609060101010101" pitchFamily="49" charset="-122"/>
            </a:endParaRPr>
          </a:p>
          <a:p>
            <a:pPr eaLnBrk="1" hangingPunct="1">
              <a:lnSpc>
                <a:spcPct val="90000"/>
              </a:lnSpc>
              <a:buNone/>
            </a:pPr>
            <a:r>
              <a:rPr lang="zh-CN" altLang="en-US" b="1" dirty="0">
                <a:solidFill>
                  <a:srgbClr val="FFFFFF"/>
                </a:solidFill>
                <a:latin typeface="Courier New" panose="02070309020205020404" pitchFamily="49" charset="0"/>
              </a:rPr>
              <a:t>类定义内部及成员函数定义内部</a:t>
            </a:r>
            <a:endParaRPr lang="zh-CN" altLang="en-US" b="1" dirty="0">
              <a:solidFill>
                <a:srgbClr val="FFFFFF"/>
              </a:solidFill>
              <a:latin typeface="Courier New" panose="02070309020205020404" pitchFamily="49" charset="0"/>
            </a:endParaRPr>
          </a:p>
          <a:p>
            <a:pPr eaLnBrk="1" hangingPunct="1">
              <a:lnSpc>
                <a:spcPct val="90000"/>
              </a:lnSpc>
              <a:buNone/>
            </a:pPr>
            <a:r>
              <a:rPr lang="zh-CN" altLang="en-US" b="1" dirty="0">
                <a:solidFill>
                  <a:srgbClr val="FFFFFF"/>
                </a:solidFill>
                <a:latin typeface="Courier New" panose="02070309020205020404" pitchFamily="49" charset="0"/>
              </a:rPr>
              <a:t>实现类的程序员在类作用域下编程</a:t>
            </a:r>
            <a:endParaRPr lang="zh-CN" altLang="en-US" b="1" dirty="0">
              <a:solidFill>
                <a:srgbClr val="FFFFFF"/>
              </a:solidFill>
              <a:latin typeface="Courier New" panose="020703090202050204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92162" name="Rectangle 6"/>
          <p:cNvSpPr>
            <a:spLocks noGrp="1"/>
          </p:cNvSpPr>
          <p:nvPr>
            <p:ph idx="1"/>
          </p:nvPr>
        </p:nvSpPr>
        <p:spPr>
          <a:xfrm>
            <a:off x="539750" y="692150"/>
            <a:ext cx="8604250" cy="5905500"/>
          </a:xfrm>
        </p:spPr>
        <p:txBody>
          <a:bodyPr vert="horz" wrap="square" lIns="92075" tIns="46037" rIns="92075" bIns="46037" anchor="t"/>
          <a:p>
            <a:pPr marL="533400" indent="-533400" eaLnBrk="1" hangingPunct="1">
              <a:lnSpc>
                <a:spcPct val="80000"/>
              </a:lnSpc>
              <a:buNone/>
            </a:pPr>
            <a:r>
              <a:rPr lang="en-US" altLang="zh-CN" sz="2800" b="1" dirty="0">
                <a:solidFill>
                  <a:srgbClr val="FFFF00"/>
                </a:solidFill>
              </a:rPr>
              <a:t>class Date {</a:t>
            </a:r>
            <a:endParaRPr lang="en-US" altLang="zh-CN" sz="2800" b="1" dirty="0">
              <a:solidFill>
                <a:srgbClr val="FFFF00"/>
              </a:solidFill>
            </a:endParaRPr>
          </a:p>
          <a:p>
            <a:pPr marL="533400" indent="-533400" eaLnBrk="1" hangingPunct="1">
              <a:lnSpc>
                <a:spcPct val="80000"/>
              </a:lnSpc>
              <a:buNone/>
            </a:pPr>
            <a:r>
              <a:rPr lang="en-US" altLang="zh-CN" sz="2800" b="1" dirty="0">
                <a:solidFill>
                  <a:srgbClr val="FFFF00"/>
                </a:solidFill>
              </a:rPr>
              <a:t>    int year, month, day;</a:t>
            </a:r>
            <a:endParaRPr lang="en-US" altLang="zh-CN" sz="2800" b="1" dirty="0">
              <a:solidFill>
                <a:srgbClr val="FFFF00"/>
              </a:solidFill>
            </a:endParaRPr>
          </a:p>
          <a:p>
            <a:pPr marL="533400" indent="-533400" eaLnBrk="1" hangingPunct="1">
              <a:lnSpc>
                <a:spcPct val="80000"/>
              </a:lnSpc>
              <a:buNone/>
            </a:pPr>
            <a:r>
              <a:rPr lang="en-US" altLang="zh-CN" sz="2800" b="1" dirty="0">
                <a:solidFill>
                  <a:srgbClr val="FFFF00"/>
                </a:solidFill>
              </a:rPr>
              <a:t>    void  set ( int y, int m, int d )</a:t>
            </a:r>
            <a:r>
              <a:rPr lang="zh-CN" altLang="en-US" sz="2800" b="1" dirty="0">
                <a:solidFill>
                  <a:srgbClr val="FFFF00"/>
                </a:solidFill>
              </a:rPr>
              <a:t>；            </a:t>
            </a:r>
            <a:r>
              <a:rPr lang="en-US" altLang="zh-CN" sz="2800" b="1" dirty="0">
                <a:solidFill>
                  <a:srgbClr val="FFFF00"/>
                </a:solidFill>
              </a:rPr>
              <a:t>//… … … …7</a:t>
            </a:r>
            <a:endParaRPr lang="en-US" altLang="zh-CN" sz="2800" b="1" dirty="0">
              <a:solidFill>
                <a:srgbClr val="FFFF00"/>
              </a:solidFill>
            </a:endParaRPr>
          </a:p>
          <a:p>
            <a:pPr marL="533400" indent="-533400" eaLnBrk="1" hangingPunct="1">
              <a:lnSpc>
                <a:spcPct val="80000"/>
              </a:lnSpc>
              <a:buNone/>
            </a:pPr>
            <a:r>
              <a:rPr lang="en-US" altLang="zh-CN" sz="2800" b="1" dirty="0">
                <a:solidFill>
                  <a:srgbClr val="FFFF00"/>
                </a:solidFill>
              </a:rPr>
              <a:t>    bool  LeapYear ( );</a:t>
            </a:r>
            <a:r>
              <a:rPr lang="zh-CN" altLang="en-US" sz="2800" b="1" dirty="0">
                <a:solidFill>
                  <a:srgbClr val="FFFF00"/>
                </a:solidFill>
              </a:rPr>
              <a:t>                                </a:t>
            </a:r>
            <a:r>
              <a:rPr lang="en-US" altLang="zh-CN" sz="2800" b="1" dirty="0">
                <a:solidFill>
                  <a:srgbClr val="FFFF00"/>
                </a:solidFill>
              </a:rPr>
              <a:t>//… … … …11</a:t>
            </a:r>
            <a:endParaRPr lang="en-US" altLang="zh-CN" sz="2800" b="1" dirty="0">
              <a:solidFill>
                <a:srgbClr val="FFFF00"/>
              </a:solidFill>
            </a:endParaRPr>
          </a:p>
          <a:p>
            <a:pPr marL="533400" indent="-533400" eaLnBrk="1" hangingPunct="1">
              <a:lnSpc>
                <a:spcPct val="80000"/>
              </a:lnSpc>
              <a:buNone/>
            </a:pPr>
            <a:r>
              <a:rPr lang="en-US" altLang="zh-CN" sz="2800" b="1" dirty="0">
                <a:solidFill>
                  <a:srgbClr val="FFFF00"/>
                </a:solidFill>
              </a:rPr>
              <a:t>};  </a:t>
            </a:r>
            <a:endParaRPr lang="en-US" altLang="zh-CN" sz="2800" b="1" dirty="0">
              <a:solidFill>
                <a:srgbClr val="FFFF00"/>
              </a:solidFill>
            </a:endParaRPr>
          </a:p>
          <a:p>
            <a:pPr marL="533400" indent="-533400" eaLnBrk="1" hangingPunct="1">
              <a:lnSpc>
                <a:spcPct val="80000"/>
              </a:lnSpc>
              <a:buNone/>
            </a:pP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void </a:t>
            </a:r>
            <a:r>
              <a:rPr lang="en-US" altLang="zh-CN" sz="2800" b="1" dirty="0">
                <a:solidFill>
                  <a:srgbClr val="FFFF00"/>
                </a:solidFill>
              </a:rPr>
              <a:t>Date:: </a:t>
            </a:r>
            <a:r>
              <a:rPr lang="en-US" altLang="zh-CN" sz="2800" b="1" dirty="0">
                <a:solidFill>
                  <a:srgbClr val="FFFFFF"/>
                </a:solidFill>
              </a:rPr>
              <a:t>set ( int y, int m, int d ) {     </a:t>
            </a:r>
            <a:r>
              <a:rPr lang="en-US" altLang="zh-CN" sz="2800" b="1" dirty="0">
                <a:solidFill>
                  <a:srgbClr val="FFFF00"/>
                </a:solidFill>
              </a:rPr>
              <a:t>//7</a:t>
            </a:r>
            <a:endParaRPr lang="en-US" altLang="zh-CN" sz="2800" b="1" dirty="0">
              <a:solidFill>
                <a:srgbClr val="FFFF00"/>
              </a:solidFill>
            </a:endParaRPr>
          </a:p>
          <a:p>
            <a:pPr marL="533400" indent="-533400" eaLnBrk="1" hangingPunct="1">
              <a:lnSpc>
                <a:spcPct val="80000"/>
              </a:lnSpc>
              <a:buNone/>
            </a:pPr>
            <a:r>
              <a:rPr lang="en-US" altLang="zh-CN" sz="2800" b="1" dirty="0">
                <a:solidFill>
                  <a:srgbClr val="FFFFFF"/>
                </a:solidFill>
              </a:rPr>
              <a:t>       year=y; month=m; day=d;</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 </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bool  </a:t>
            </a:r>
            <a:r>
              <a:rPr lang="en-US" altLang="zh-CN" sz="2800" b="1" dirty="0">
                <a:solidFill>
                  <a:srgbClr val="FFFF00"/>
                </a:solidFill>
              </a:rPr>
              <a:t>Date::</a:t>
            </a:r>
            <a:r>
              <a:rPr lang="en-US" altLang="zh-CN" sz="2800" b="1" dirty="0">
                <a:solidFill>
                  <a:srgbClr val="FFFFFF"/>
                </a:solidFill>
              </a:rPr>
              <a:t>LeapYear ( ) </a:t>
            </a:r>
            <a:r>
              <a:rPr lang="en-US" altLang="zh-CN" sz="2800" b="1" dirty="0">
                <a:solidFill>
                  <a:schemeClr val="bg1"/>
                </a:solidFill>
              </a:rPr>
              <a:t>{</a:t>
            </a:r>
            <a:r>
              <a:rPr lang="en-US" altLang="zh-CN" sz="2800" b="1" dirty="0">
                <a:solidFill>
                  <a:srgbClr val="FFFF00"/>
                </a:solidFill>
              </a:rPr>
              <a:t>                      //11</a:t>
            </a:r>
            <a:endParaRPr lang="en-US" altLang="zh-CN" sz="2800" b="1" dirty="0">
              <a:solidFill>
                <a:srgbClr val="FFFF00"/>
              </a:solidFill>
            </a:endParaRPr>
          </a:p>
          <a:p>
            <a:pPr marL="533400" indent="-533400" eaLnBrk="1" hangingPunct="1">
              <a:lnSpc>
                <a:spcPct val="80000"/>
              </a:lnSpc>
              <a:buNone/>
            </a:pPr>
            <a:r>
              <a:rPr lang="zh-CN" altLang="en-US" sz="2800" b="1" dirty="0">
                <a:solidFill>
                  <a:srgbClr val="FFFFFF"/>
                </a:solidFill>
              </a:rPr>
              <a:t>      </a:t>
            </a:r>
            <a:r>
              <a:rPr lang="en-US" altLang="zh-CN" sz="2800" b="1" dirty="0">
                <a:solidFill>
                  <a:srgbClr val="FFFFFF"/>
                </a:solidFill>
              </a:rPr>
              <a:t>return ! ( year%400 ) || !(year%4) &amp;&amp; year%100;</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a:t>
            </a:r>
            <a:endParaRPr lang="en-US" altLang="zh-CN" sz="2800" b="1" dirty="0">
              <a:solidFill>
                <a:srgbClr val="FFFFFF"/>
              </a:solidFill>
            </a:endParaRPr>
          </a:p>
          <a:p>
            <a:pPr marL="533400" indent="-533400" eaLnBrk="1" hangingPunct="1">
              <a:lnSpc>
                <a:spcPct val="80000"/>
              </a:lnSpc>
              <a:buNone/>
            </a:pPr>
            <a:r>
              <a:rPr lang="en-US" altLang="zh-CN" sz="2800" b="1" dirty="0">
                <a:solidFill>
                  <a:schemeClr val="bg1"/>
                </a:solidFill>
              </a:rPr>
              <a:t>//</a:t>
            </a:r>
            <a:r>
              <a:rPr lang="zh-CN" altLang="en-US" sz="2800" b="1" dirty="0">
                <a:solidFill>
                  <a:schemeClr val="bg1"/>
                </a:solidFill>
              </a:rPr>
              <a:t>成员函数的</a:t>
            </a:r>
            <a:r>
              <a:rPr lang="en-US" altLang="zh-CN" sz="2800" b="1" dirty="0">
                <a:solidFill>
                  <a:schemeClr val="bg1"/>
                </a:solidFill>
              </a:rPr>
              <a:t>{}</a:t>
            </a:r>
            <a:r>
              <a:rPr lang="zh-CN" altLang="en-US" sz="2800" b="1" dirty="0">
                <a:solidFill>
                  <a:schemeClr val="bg1"/>
                </a:solidFill>
              </a:rPr>
              <a:t>外定义形式</a:t>
            </a:r>
            <a:endParaRPr lang="zh-CN" altLang="en-US" sz="2800" b="1" dirty="0">
              <a:solidFill>
                <a:schemeClr val="bg1"/>
              </a:solidFill>
            </a:endParaRPr>
          </a:p>
          <a:p>
            <a:pPr marL="533400" indent="-533400" eaLnBrk="1" hangingPunct="1">
              <a:lnSpc>
                <a:spcPct val="80000"/>
              </a:lnSpc>
              <a:buNone/>
            </a:pPr>
            <a:r>
              <a:rPr lang="en-US" altLang="zh-CN" sz="2800" b="1" dirty="0">
                <a:solidFill>
                  <a:schemeClr val="bg1"/>
                </a:solidFill>
              </a:rPr>
              <a:t>//</a:t>
            </a:r>
            <a:r>
              <a:rPr lang="zh-CN" altLang="en-US" sz="2800" b="1" dirty="0">
                <a:solidFill>
                  <a:schemeClr val="bg1"/>
                </a:solidFill>
              </a:rPr>
              <a:t>类体定义一目了然地增强可读性</a:t>
            </a:r>
            <a:r>
              <a:rPr lang="en-US" altLang="zh-CN" sz="2800" b="1" dirty="0">
                <a:solidFill>
                  <a:schemeClr val="bg1"/>
                </a:solidFill>
              </a:rPr>
              <a:t>//</a:t>
            </a:r>
            <a:r>
              <a:rPr lang="zh-CN" altLang="en-US" sz="2800" b="1" dirty="0">
                <a:solidFill>
                  <a:schemeClr val="bg1"/>
                </a:solidFill>
              </a:rPr>
              <a:t>类内类外的区别</a:t>
            </a:r>
            <a:endParaRPr lang="zh-CN" altLang="en-US" sz="2800" b="1" dirty="0">
              <a:solidFill>
                <a:schemeClr val="bg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idx="1"/>
          </p:nvPr>
        </p:nvSpPr>
        <p:spPr>
          <a:xfrm>
            <a:off x="323850" y="765175"/>
            <a:ext cx="8820150" cy="4608513"/>
          </a:xfrm>
        </p:spPr>
        <p:txBody>
          <a:bodyPr vert="horz" wrap="square" lIns="91440" tIns="45720" rIns="91440" bIns="45720" anchor="t"/>
          <a:p>
            <a:pPr eaLnBrk="1" hangingPunct="1">
              <a:buNone/>
            </a:pPr>
            <a:r>
              <a:rPr lang="en-US" altLang="zh-CN" sz="2800" b="1" dirty="0">
                <a:solidFill>
                  <a:schemeClr val="bg1"/>
                </a:solidFill>
              </a:rPr>
              <a:t>1</a:t>
            </a:r>
            <a:r>
              <a:rPr lang="zh-CN" altLang="en-US" sz="2800" b="1" dirty="0">
                <a:solidFill>
                  <a:schemeClr val="bg1"/>
                </a:solidFill>
              </a:rPr>
              <a:t>、何为内联函数？</a:t>
            </a:r>
            <a:endParaRPr lang="en-US" altLang="zh-CN" sz="2800" b="1" dirty="0">
              <a:solidFill>
                <a:schemeClr val="bg1"/>
              </a:solidFill>
            </a:endParaRPr>
          </a:p>
          <a:p>
            <a:pPr eaLnBrk="1" hangingPunct="1">
              <a:buNone/>
            </a:pPr>
            <a:r>
              <a:rPr lang="en-US" altLang="zh-CN" sz="2800" b="1" dirty="0">
                <a:solidFill>
                  <a:schemeClr val="bg1"/>
                </a:solidFill>
              </a:rPr>
              <a:t>   </a:t>
            </a:r>
            <a:r>
              <a:rPr lang="zh-CN" altLang="en-US" sz="2800" b="1" dirty="0">
                <a:solidFill>
                  <a:schemeClr val="bg1"/>
                </a:solidFill>
              </a:rPr>
              <a:t>（</a:t>
            </a:r>
            <a:r>
              <a:rPr lang="en-US" altLang="zh-CN" sz="2800" b="1" dirty="0">
                <a:solidFill>
                  <a:schemeClr val="bg1"/>
                </a:solidFill>
              </a:rPr>
              <a:t>1</a:t>
            </a:r>
            <a:r>
              <a:rPr lang="zh-CN" altLang="en-US" sz="2800" b="1" dirty="0">
                <a:solidFill>
                  <a:schemeClr val="bg1"/>
                </a:solidFill>
              </a:rPr>
              <a:t>）</a:t>
            </a:r>
            <a:r>
              <a:rPr lang="en-US" altLang="zh-CN" sz="2800" b="1" dirty="0">
                <a:solidFill>
                  <a:schemeClr val="bg1"/>
                </a:solidFill>
              </a:rPr>
              <a:t>inline</a:t>
            </a:r>
            <a:r>
              <a:rPr lang="zh-CN" altLang="en-US" sz="2800" b="1" dirty="0">
                <a:solidFill>
                  <a:schemeClr val="bg1"/>
                </a:solidFill>
              </a:rPr>
              <a:t>、调用之前</a:t>
            </a:r>
            <a:r>
              <a:rPr lang="en-US" altLang="zh-CN" sz="2800" b="1" dirty="0">
                <a:solidFill>
                  <a:schemeClr val="bg1"/>
                </a:solidFill>
              </a:rPr>
              <a:t>inline</a:t>
            </a:r>
            <a:r>
              <a:rPr lang="zh-CN" altLang="en-US" sz="2800" b="1" dirty="0">
                <a:solidFill>
                  <a:schemeClr val="bg1"/>
                </a:solidFill>
              </a:rPr>
              <a:t>显性定义或者声明</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2</a:t>
            </a:r>
            <a:r>
              <a:rPr lang="zh-CN" altLang="en-US" sz="2800" b="1" dirty="0">
                <a:solidFill>
                  <a:schemeClr val="bg1"/>
                </a:solidFill>
              </a:rPr>
              <a:t>）小的成员函数一般在类内定义，一般默认为内联函数）</a:t>
            </a:r>
            <a:endParaRPr lang="zh-CN" altLang="en-US" sz="2800" b="1" dirty="0">
              <a:solidFill>
                <a:schemeClr val="bg1"/>
              </a:solidFill>
            </a:endParaRPr>
          </a:p>
          <a:p>
            <a:pPr eaLnBrk="1" hangingPunct="1">
              <a:buNone/>
            </a:pPr>
            <a:r>
              <a:rPr lang="zh-CN" altLang="en-US" sz="2800" b="1" dirty="0">
                <a:solidFill>
                  <a:schemeClr val="bg1"/>
                </a:solidFill>
              </a:rPr>
              <a:t>   （</a:t>
            </a:r>
            <a:r>
              <a:rPr lang="en-US" altLang="zh-CN" sz="2800" b="1" dirty="0">
                <a:solidFill>
                  <a:schemeClr val="bg1"/>
                </a:solidFill>
              </a:rPr>
              <a:t>3</a:t>
            </a:r>
            <a:r>
              <a:rPr lang="zh-CN" altLang="en-US" sz="2800" b="1" dirty="0">
                <a:solidFill>
                  <a:schemeClr val="bg1"/>
                </a:solidFill>
              </a:rPr>
              <a:t>）复杂语句（循环、多分支）不允许（如出现，即使符合定义规则也不作为内联处理，但被多次包含也代码唯一）</a:t>
            </a:r>
            <a:endParaRPr lang="zh-CN" altLang="en-US" sz="2800" b="1" dirty="0">
              <a:solidFill>
                <a:schemeClr val="bg1"/>
              </a:solidFill>
            </a:endParaRPr>
          </a:p>
          <a:p>
            <a:pPr eaLnBrk="1" hangingPunct="1">
              <a:buNone/>
            </a:pPr>
            <a:r>
              <a:rPr lang="en-US" altLang="zh-CN" sz="2800" b="1" dirty="0">
                <a:solidFill>
                  <a:schemeClr val="bg1"/>
                </a:solidFill>
              </a:rPr>
              <a:t>2</a:t>
            </a:r>
            <a:r>
              <a:rPr lang="zh-CN" altLang="en-US" sz="2800" b="1" dirty="0">
                <a:solidFill>
                  <a:schemeClr val="bg1"/>
                </a:solidFill>
              </a:rPr>
              <a:t>、内联函数的目的是增强系统效率</a:t>
            </a:r>
            <a:endParaRPr lang="zh-CN" altLang="en-US" sz="2800" b="1" dirty="0">
              <a:solidFill>
                <a:schemeClr val="bg1"/>
              </a:solidFill>
            </a:endParaRPr>
          </a:p>
        </p:txBody>
      </p:sp>
      <p:sp>
        <p:nvSpPr>
          <p:cNvPr id="9318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4" name="矩形 3"/>
          <p:cNvSpPr/>
          <p:nvPr/>
        </p:nvSpPr>
        <p:spPr bwMode="auto">
          <a:xfrm>
            <a:off x="1187450" y="5732463"/>
            <a:ext cx="1008063" cy="720725"/>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椭圆 4"/>
          <p:cNvSpPr/>
          <p:nvPr/>
        </p:nvSpPr>
        <p:spPr bwMode="auto">
          <a:xfrm>
            <a:off x="2700338" y="5732463"/>
            <a:ext cx="1150938" cy="720725"/>
          </a:xfrm>
          <a:prstGeom prst="ellipse">
            <a:avLst/>
          </a:prstGeom>
          <a:solidFill>
            <a:srgbClr val="FF9933"/>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非内联</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7" name="直接箭头连接符 6"/>
          <p:cNvCxnSpPr>
            <a:stCxn id="4" idx="3"/>
            <a:endCxn id="5" idx="2"/>
          </p:cNvCxnSpPr>
          <p:nvPr/>
        </p:nvCxnSpPr>
        <p:spPr>
          <a:xfrm>
            <a:off x="2195513" y="6092825"/>
            <a:ext cx="504825" cy="0"/>
          </a:xfrm>
          <a:prstGeom prst="straightConnector1">
            <a:avLst/>
          </a:prstGeom>
          <a:ln w="9525" cap="flat" cmpd="sng">
            <a:solidFill>
              <a:schemeClr val="bg1"/>
            </a:solidFill>
            <a:prstDash val="solid"/>
            <a:round/>
            <a:headEnd type="none" w="med" len="med"/>
            <a:tailEnd type="arrow" w="med" len="med"/>
          </a:ln>
        </p:spPr>
      </p:cxnSp>
      <p:sp>
        <p:nvSpPr>
          <p:cNvPr id="8" name="矩形 7"/>
          <p:cNvSpPr/>
          <p:nvPr/>
        </p:nvSpPr>
        <p:spPr bwMode="auto">
          <a:xfrm>
            <a:off x="5651500" y="4724400"/>
            <a:ext cx="1008063" cy="720725"/>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椭圆 8"/>
          <p:cNvSpPr/>
          <p:nvPr/>
        </p:nvSpPr>
        <p:spPr bwMode="auto">
          <a:xfrm>
            <a:off x="7164388" y="4724400"/>
            <a:ext cx="1152525" cy="720725"/>
          </a:xfrm>
          <a:prstGeom prst="ellipse">
            <a:avLst/>
          </a:prstGeom>
          <a:solidFill>
            <a:srgbClr val="FFC000"/>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  内联</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10" name="直接箭头连接符 9"/>
          <p:cNvCxnSpPr>
            <a:stCxn id="8" idx="3"/>
            <a:endCxn id="9" idx="2"/>
          </p:cNvCxnSpPr>
          <p:nvPr/>
        </p:nvCxnSpPr>
        <p:spPr>
          <a:xfrm>
            <a:off x="6659563" y="5084763"/>
            <a:ext cx="504825" cy="0"/>
          </a:xfrm>
          <a:prstGeom prst="straightConnector1">
            <a:avLst/>
          </a:prstGeom>
          <a:ln w="9525" cap="flat" cmpd="sng">
            <a:solidFill>
              <a:schemeClr val="bg1"/>
            </a:solidFill>
            <a:prstDash val="solid"/>
            <a:round/>
            <a:headEnd type="none" w="med" len="med"/>
            <a:tailEnd type="arrow" w="med" len="med"/>
          </a:ln>
        </p:spPr>
      </p:cxnSp>
      <p:sp>
        <p:nvSpPr>
          <p:cNvPr id="11" name="矩形 10"/>
          <p:cNvSpPr/>
          <p:nvPr/>
        </p:nvSpPr>
        <p:spPr bwMode="auto">
          <a:xfrm>
            <a:off x="6227763" y="5805488"/>
            <a:ext cx="1439863" cy="1008063"/>
          </a:xfrm>
          <a:prstGeom prst="rect">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2" name="椭圆 11"/>
          <p:cNvSpPr/>
          <p:nvPr/>
        </p:nvSpPr>
        <p:spPr bwMode="auto">
          <a:xfrm>
            <a:off x="6372225" y="5949950"/>
            <a:ext cx="1152525" cy="719138"/>
          </a:xfrm>
          <a:prstGeom prst="ellipse">
            <a:avLst/>
          </a:prstGeom>
          <a:solidFill>
            <a:srgbClr val="FFC000"/>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  内联</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3" name="下箭头 12"/>
          <p:cNvSpPr/>
          <p:nvPr/>
        </p:nvSpPr>
        <p:spPr bwMode="auto">
          <a:xfrm>
            <a:off x="6804025" y="5373688"/>
            <a:ext cx="288925" cy="358775"/>
          </a:xfrm>
          <a:prstGeom prst="downArrow">
            <a:avLst/>
          </a:prstGeom>
          <a:solidFill>
            <a:schemeClr val="accent1"/>
          </a:solidFill>
          <a:ln w="9525" cap="flat" cmpd="sng" algn="ctr">
            <a:solidFill>
              <a:schemeClr val="bg1"/>
            </a:solidFill>
            <a:prstDash val="solid"/>
            <a:round/>
            <a:headEnd type="none" w="med" len="med"/>
            <a:tailEnd type="non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linds(horizontal)">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1" grpId="0" animBg="1"/>
      <p:bldP spid="12" grpId="0" animBg="1"/>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94210" name="Rectangle 6"/>
          <p:cNvSpPr>
            <a:spLocks noGrp="1"/>
          </p:cNvSpPr>
          <p:nvPr>
            <p:ph idx="1"/>
          </p:nvPr>
        </p:nvSpPr>
        <p:spPr>
          <a:xfrm>
            <a:off x="395288" y="908050"/>
            <a:ext cx="8497887" cy="5689600"/>
          </a:xfrm>
        </p:spPr>
        <p:txBody>
          <a:bodyPr vert="horz" wrap="square" lIns="92075" tIns="46037" rIns="92075" bIns="46037" anchor="t"/>
          <a:p>
            <a:pPr marL="533400" indent="-533400" eaLnBrk="1" hangingPunct="1">
              <a:lnSpc>
                <a:spcPct val="80000"/>
              </a:lnSpc>
              <a:buNone/>
            </a:pPr>
            <a:r>
              <a:rPr lang="en-US" altLang="zh-CN" sz="2800" b="1" dirty="0">
                <a:solidFill>
                  <a:srgbClr val="FFFFFF"/>
                </a:solidFill>
              </a:rPr>
              <a:t>class Date {</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int year, month, day;</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void  set ( int y, int m, int d ) {        // </a:t>
            </a:r>
            <a:r>
              <a:rPr lang="zh-CN" altLang="en-US" sz="2800" b="1" dirty="0">
                <a:solidFill>
                  <a:srgbClr val="FFFFFF"/>
                </a:solidFill>
              </a:rPr>
              <a:t>默认内联</a:t>
            </a:r>
            <a:endParaRPr lang="zh-CN" altLang="en-US" sz="2800" b="1" dirty="0">
              <a:solidFill>
                <a:srgbClr val="FFFFFF"/>
              </a:solidFill>
            </a:endParaRPr>
          </a:p>
          <a:p>
            <a:pPr marL="533400" indent="-533400" eaLnBrk="1" hangingPunct="1">
              <a:lnSpc>
                <a:spcPct val="80000"/>
              </a:lnSpc>
              <a:buNone/>
            </a:pPr>
            <a:r>
              <a:rPr lang="zh-CN" altLang="en-US" sz="2800" b="1" dirty="0">
                <a:solidFill>
                  <a:srgbClr val="FFFFFF"/>
                </a:solidFill>
              </a:rPr>
              <a:t>        </a:t>
            </a:r>
            <a:r>
              <a:rPr lang="en-US" altLang="zh-CN" sz="2800" b="1" dirty="0">
                <a:solidFill>
                  <a:srgbClr val="FFFFFF"/>
                </a:solidFill>
              </a:rPr>
              <a:t>year=y; month=m; day=d;</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 </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bool  isLeapYear ( );</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inline  bool  Date::isLeapYear ( ) {     // </a:t>
            </a:r>
            <a:r>
              <a:rPr lang="zh-CN" altLang="en-US" sz="2800" b="1" dirty="0">
                <a:solidFill>
                  <a:srgbClr val="FFFFFF"/>
                </a:solidFill>
              </a:rPr>
              <a:t>显式内联</a:t>
            </a:r>
            <a:endParaRPr lang="zh-CN" altLang="en-US" sz="2800" b="1" dirty="0">
              <a:solidFill>
                <a:srgbClr val="FFFFFF"/>
              </a:solidFill>
            </a:endParaRPr>
          </a:p>
          <a:p>
            <a:pPr marL="533400" indent="-533400" eaLnBrk="1" hangingPunct="1">
              <a:lnSpc>
                <a:spcPct val="80000"/>
              </a:lnSpc>
              <a:buNone/>
            </a:pPr>
            <a:r>
              <a:rPr lang="zh-CN" altLang="en-US" sz="2800" b="1" dirty="0">
                <a:solidFill>
                  <a:srgbClr val="FFFFFF"/>
                </a:solidFill>
              </a:rPr>
              <a:t>      </a:t>
            </a:r>
            <a:r>
              <a:rPr lang="en-US" altLang="zh-CN" sz="2800" b="1" dirty="0">
                <a:solidFill>
                  <a:srgbClr val="FFFFFF"/>
                </a:solidFill>
              </a:rPr>
              <a:t>return ! ( year%400 ) || !(year%4) &amp;&amp; year%100;</a:t>
            </a: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a:t>
            </a:r>
            <a:endParaRPr lang="en-US" altLang="zh-CN" sz="2800" b="1" dirty="0">
              <a:solidFill>
                <a:srgbClr val="FFFFFF"/>
              </a:solidFill>
            </a:endParaRPr>
          </a:p>
          <a:p>
            <a:pPr marL="533400" indent="-533400" eaLnBrk="1" hangingPunct="1">
              <a:lnSpc>
                <a:spcPct val="80000"/>
              </a:lnSpc>
              <a:buNone/>
            </a:pPr>
            <a:endParaRPr lang="en-US" altLang="zh-CN" sz="2800" b="1" dirty="0">
              <a:solidFill>
                <a:srgbClr val="FFFFFF"/>
              </a:solidFill>
            </a:endParaRPr>
          </a:p>
          <a:p>
            <a:pPr marL="533400" indent="-533400" eaLnBrk="1" hangingPunct="1">
              <a:lnSpc>
                <a:spcPct val="80000"/>
              </a:lnSpc>
              <a:buNone/>
            </a:pPr>
            <a:r>
              <a:rPr lang="en-US" altLang="zh-CN" sz="2800" b="1" dirty="0">
                <a:solidFill>
                  <a:srgbClr val="FFFFFF"/>
                </a:solidFill>
              </a:rPr>
              <a:t>   inline int  p(int k){return(k&gt;0?1:0);}  //</a:t>
            </a:r>
            <a:r>
              <a:rPr lang="zh-CN" altLang="en-US" sz="2800" b="1" dirty="0">
                <a:solidFill>
                  <a:srgbClr val="FFFFFF"/>
                </a:solidFill>
              </a:rPr>
              <a:t>显式内联</a:t>
            </a:r>
            <a:endParaRPr lang="zh-CN" altLang="en-US" sz="2800" b="1" dirty="0">
              <a:solidFill>
                <a:schemeClr val="bg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idx="1"/>
          </p:nvPr>
        </p:nvSpPr>
        <p:spPr>
          <a:xfrm>
            <a:off x="182563" y="765175"/>
            <a:ext cx="4389437" cy="5327650"/>
          </a:xfrm>
        </p:spPr>
        <p:txBody>
          <a:bodyPr vert="horz" wrap="square" lIns="91440" tIns="45720" rIns="91440" bIns="45720" anchor="t"/>
          <a:p>
            <a:pPr eaLnBrk="1" hangingPunct="1">
              <a:lnSpc>
                <a:spcPct val="80000"/>
              </a:lnSpc>
              <a:buNone/>
            </a:pPr>
            <a:r>
              <a:rPr lang="en-US" altLang="zh-CN" sz="2800" b="1" dirty="0">
                <a:solidFill>
                  <a:schemeClr val="bg1"/>
                </a:solidFill>
              </a:rPr>
              <a:t>//</a:t>
            </a:r>
            <a:r>
              <a:rPr lang="zh-CN" altLang="en-US" sz="2800" b="1" dirty="0">
                <a:solidFill>
                  <a:schemeClr val="bg1"/>
                </a:solidFill>
              </a:rPr>
              <a:t>例子</a:t>
            </a:r>
            <a:endParaRPr lang="zh-CN" altLang="en-US" sz="2800" b="1" dirty="0">
              <a:solidFill>
                <a:schemeClr val="bg1"/>
              </a:solidFill>
            </a:endParaRPr>
          </a:p>
          <a:p>
            <a:pPr eaLnBrk="1" hangingPunct="1">
              <a:lnSpc>
                <a:spcPct val="80000"/>
              </a:lnSpc>
              <a:buNone/>
            </a:pPr>
            <a:r>
              <a:rPr lang="zh-CN" altLang="en-US" sz="2800" b="1" u="sng" dirty="0">
                <a:solidFill>
                  <a:schemeClr val="bg1"/>
                </a:solidFill>
              </a:rPr>
              <a:t>文件名</a:t>
            </a:r>
            <a:r>
              <a:rPr lang="en-US" altLang="zh-CN" sz="2800" b="1" u="sng" dirty="0">
                <a:solidFill>
                  <a:schemeClr val="bg1"/>
                </a:solidFill>
              </a:rPr>
              <a:t>Student.h</a:t>
            </a:r>
            <a:endParaRPr lang="en-US" altLang="zh-CN" sz="2800" b="1" u="sng" dirty="0">
              <a:solidFill>
                <a:schemeClr val="bg1"/>
              </a:solidFill>
            </a:endParaRPr>
          </a:p>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p()</a:t>
            </a:r>
            <a:r>
              <a:rPr lang="zh-CN" altLang="en-US" sz="2800" b="1" dirty="0">
                <a:solidFill>
                  <a:schemeClr val="bg1"/>
                </a:solidFill>
              </a:rPr>
              <a:t>｛</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age = 19;</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cout&lt;&lt;age;</a:t>
            </a:r>
            <a:r>
              <a:rPr lang="zh-CN" altLang="en-US" sz="2800" b="1" dirty="0">
                <a:solidFill>
                  <a:schemeClr val="bg1"/>
                </a:solidFill>
              </a:rPr>
              <a:t>｝</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float score;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protected: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char name;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9523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95235" name="Rectangle 4"/>
          <p:cNvSpPr/>
          <p:nvPr/>
        </p:nvSpPr>
        <p:spPr>
          <a:xfrm>
            <a:off x="4211638" y="765175"/>
            <a:ext cx="4932362" cy="5400675"/>
          </a:xfrm>
          <a:prstGeom prst="rect">
            <a:avLst/>
          </a:prstGeom>
          <a:noFill/>
          <a:ln w="9525">
            <a:noFill/>
          </a:ln>
        </p:spPr>
        <p:txBody>
          <a:bodyPr anchor="t"/>
          <a:p>
            <a:pPr marL="342900" indent="-342900">
              <a:spcBef>
                <a:spcPct val="20000"/>
              </a:spcBef>
            </a:pPr>
            <a:r>
              <a:rPr lang="en-US" altLang="zh-CN" sz="3200" b="1" u="sng" dirty="0">
                <a:solidFill>
                  <a:srgbClr val="FFFF00"/>
                </a:solidFill>
                <a:latin typeface="Times New Roman" panose="02020603050405020304" pitchFamily="18" charset="0"/>
                <a:ea typeface="宋体" panose="02010600030101010101" pitchFamily="2" charset="-122"/>
              </a:rPr>
              <a:t>a.cpp</a:t>
            </a:r>
            <a:endParaRPr lang="en-US" altLang="zh-CN" sz="3200" b="1" u="sng"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solidFill>
                  <a:srgbClr val="FFFF00"/>
                </a:solidFill>
                <a:latin typeface="Times New Roman" panose="02020603050405020304" pitchFamily="18" charset="0"/>
                <a:ea typeface="宋体" panose="02010600030101010101" pitchFamily="2" charset="-122"/>
              </a:rPr>
              <a:t>#include </a:t>
            </a:r>
            <a:r>
              <a:rPr lang="en-US" altLang="zh-CN" sz="3200" b="1" dirty="0">
                <a:solidFill>
                  <a:srgbClr val="FFFF00"/>
                </a:solidFill>
                <a:latin typeface="Arial" panose="020B0604020202020204" pitchFamily="34" charset="0"/>
                <a:ea typeface="宋体" panose="02010600030101010101" pitchFamily="2" charset="-122"/>
              </a:rPr>
              <a:t>“</a:t>
            </a:r>
            <a:r>
              <a:rPr lang="en-US" altLang="zh-CN" sz="3200" b="1" dirty="0">
                <a:solidFill>
                  <a:srgbClr val="FFFF00"/>
                </a:solidFill>
                <a:latin typeface="Times New Roman" panose="02020603050405020304" pitchFamily="18" charset="0"/>
                <a:ea typeface="宋体" panose="02010600030101010101" pitchFamily="2" charset="-122"/>
              </a:rPr>
              <a:t>Student.h</a:t>
            </a:r>
            <a:r>
              <a:rPr lang="en-US" altLang="zh-CN" sz="3200" b="1" dirty="0">
                <a:solidFill>
                  <a:srgbClr val="FFFF00"/>
                </a:solidFill>
                <a:latin typeface="Arial" panose="020B0604020202020204" pitchFamily="34" charset="0"/>
                <a:ea typeface="宋体" panose="02010600030101010101" pitchFamily="2" charset="-122"/>
              </a:rPr>
              <a:t>”</a:t>
            </a:r>
            <a:endParaRPr lang="en-US" altLang="zh-CN"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solidFill>
                  <a:srgbClr val="FFFF00"/>
                </a:solidFill>
                <a:latin typeface="Times New Roman" panose="02020603050405020304" pitchFamily="18" charset="0"/>
                <a:ea typeface="宋体" panose="02010600030101010101" pitchFamily="2" charset="-122"/>
              </a:rPr>
              <a:t>main</a:t>
            </a:r>
            <a:r>
              <a:rPr lang="zh-CN" altLang="en-US" sz="3200" b="1" dirty="0">
                <a:solidFill>
                  <a:srgbClr val="FFFF00"/>
                </a:solidFill>
                <a:latin typeface="Times New Roman" panose="02020603050405020304" pitchFamily="18" charset="0"/>
                <a:ea typeface="宋体" panose="02010600030101010101" pitchFamily="2" charset="-122"/>
              </a:rPr>
              <a:t>（）</a:t>
            </a:r>
            <a:endParaRPr lang="zh-CN" altLang="en-US"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solidFill>
                  <a:srgbClr val="FFFF00"/>
                </a:solidFill>
                <a:latin typeface="Times New Roman" panose="02020603050405020304" pitchFamily="18" charset="0"/>
                <a:ea typeface="宋体" panose="02010600030101010101" pitchFamily="2" charset="-122"/>
              </a:rPr>
              <a:t>｛</a:t>
            </a:r>
            <a:r>
              <a:rPr lang="en-US" altLang="zh-CN" sz="3200" b="1" dirty="0">
                <a:solidFill>
                  <a:srgbClr val="FFFF00"/>
                </a:solidFill>
                <a:latin typeface="Times New Roman" panose="02020603050405020304" pitchFamily="18" charset="0"/>
                <a:ea typeface="宋体" panose="02010600030101010101" pitchFamily="2" charset="-122"/>
              </a:rPr>
              <a:t>Student a;    a.p();</a:t>
            </a:r>
            <a:r>
              <a:rPr lang="zh-CN" altLang="en-US" sz="3200" b="1" dirty="0">
                <a:solidFill>
                  <a:srgbClr val="FFFF00"/>
                </a:solidFill>
                <a:latin typeface="Times New Roman" panose="02020603050405020304" pitchFamily="18" charset="0"/>
                <a:ea typeface="宋体" panose="02010600030101010101" pitchFamily="2" charset="-122"/>
              </a:rPr>
              <a:t>｝</a:t>
            </a:r>
            <a:endParaRPr lang="zh-CN" altLang="en-US"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endParaRPr lang="zh-CN" altLang="en-US"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u="sng" dirty="0">
                <a:solidFill>
                  <a:srgbClr val="FFFF00"/>
                </a:solidFill>
                <a:latin typeface="Times New Roman" panose="02020603050405020304" pitchFamily="18" charset="0"/>
                <a:ea typeface="宋体" panose="02010600030101010101" pitchFamily="2" charset="-122"/>
              </a:rPr>
              <a:t>b.cpp</a:t>
            </a:r>
            <a:endParaRPr lang="en-US" altLang="zh-CN" sz="3200" b="1" u="sng"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solidFill>
                  <a:srgbClr val="FFFF00"/>
                </a:solidFill>
                <a:latin typeface="Times New Roman" panose="02020603050405020304" pitchFamily="18" charset="0"/>
                <a:ea typeface="宋体" panose="02010600030101010101" pitchFamily="2" charset="-122"/>
              </a:rPr>
              <a:t>#include </a:t>
            </a:r>
            <a:r>
              <a:rPr lang="en-US" altLang="zh-CN" sz="3200" b="1" dirty="0">
                <a:solidFill>
                  <a:srgbClr val="FFFF00"/>
                </a:solidFill>
                <a:latin typeface="Arial" panose="020B0604020202020204" pitchFamily="34" charset="0"/>
                <a:ea typeface="宋体" panose="02010600030101010101" pitchFamily="2" charset="-122"/>
              </a:rPr>
              <a:t>“</a:t>
            </a:r>
            <a:r>
              <a:rPr lang="en-US" altLang="zh-CN" sz="3200" b="1" dirty="0">
                <a:solidFill>
                  <a:srgbClr val="FFFF00"/>
                </a:solidFill>
                <a:latin typeface="Times New Roman" panose="02020603050405020304" pitchFamily="18" charset="0"/>
                <a:ea typeface="宋体" panose="02010600030101010101" pitchFamily="2" charset="-122"/>
              </a:rPr>
              <a:t>Student.h</a:t>
            </a:r>
            <a:r>
              <a:rPr lang="en-US" altLang="zh-CN" sz="3200" b="1" dirty="0">
                <a:solidFill>
                  <a:srgbClr val="FFFF00"/>
                </a:solidFill>
                <a:latin typeface="Arial" panose="020B0604020202020204" pitchFamily="34" charset="0"/>
                <a:ea typeface="宋体" panose="02010600030101010101" pitchFamily="2" charset="-122"/>
              </a:rPr>
              <a:t>”</a:t>
            </a:r>
            <a:endParaRPr lang="en-US" altLang="zh-CN"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solidFill>
                  <a:srgbClr val="FFFF00"/>
                </a:solidFill>
                <a:latin typeface="Times New Roman" panose="02020603050405020304" pitchFamily="18" charset="0"/>
                <a:ea typeface="宋体" panose="02010600030101010101" pitchFamily="2" charset="-122"/>
              </a:rPr>
              <a:t>void hh</a:t>
            </a:r>
            <a:r>
              <a:rPr lang="zh-CN" altLang="en-US" sz="3200" b="1" dirty="0">
                <a:solidFill>
                  <a:srgbClr val="FFFF00"/>
                </a:solidFill>
                <a:latin typeface="Times New Roman" panose="02020603050405020304" pitchFamily="18" charset="0"/>
                <a:ea typeface="宋体" panose="02010600030101010101" pitchFamily="2" charset="-122"/>
              </a:rPr>
              <a:t>（）</a:t>
            </a:r>
            <a:endParaRPr lang="zh-CN" altLang="en-US"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solidFill>
                  <a:srgbClr val="FFFF00"/>
                </a:solidFill>
                <a:latin typeface="Times New Roman" panose="02020603050405020304" pitchFamily="18" charset="0"/>
                <a:ea typeface="宋体" panose="02010600030101010101" pitchFamily="2" charset="-122"/>
              </a:rPr>
              <a:t>｛</a:t>
            </a:r>
            <a:r>
              <a:rPr lang="en-US" altLang="zh-CN" sz="3200" b="1" dirty="0">
                <a:solidFill>
                  <a:srgbClr val="FFFF00"/>
                </a:solidFill>
                <a:latin typeface="Times New Roman" panose="02020603050405020304" pitchFamily="18" charset="0"/>
                <a:ea typeface="宋体" panose="02010600030101010101" pitchFamily="2" charset="-122"/>
              </a:rPr>
              <a:t>Student a;   a.p();</a:t>
            </a:r>
            <a:r>
              <a:rPr lang="zh-CN" altLang="en-US" sz="3200" b="1" dirty="0">
                <a:solidFill>
                  <a:srgbClr val="FFFF00"/>
                </a:solidFill>
                <a:latin typeface="Times New Roman" panose="02020603050405020304" pitchFamily="18" charset="0"/>
                <a:ea typeface="宋体" panose="02010600030101010101" pitchFamily="2" charset="-122"/>
              </a:rPr>
              <a:t>｝</a:t>
            </a:r>
            <a:endParaRPr lang="zh-CN" altLang="en-US" sz="3200" b="1" dirty="0">
              <a:solidFill>
                <a:srgbClr val="FFFF00"/>
              </a:solidFill>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类定义和调用的分离</a:t>
            </a:r>
            <a:endParaRPr lang="zh-CN" altLang="en-US" sz="3200" b="1" dirty="0">
              <a:latin typeface="Times New Roman" panose="02020603050405020304" pitchFamily="18" charset="0"/>
              <a:ea typeface="宋体" panose="02010600030101010101" pitchFamily="2" charset="-122"/>
            </a:endParaRPr>
          </a:p>
        </p:txBody>
      </p:sp>
      <p:cxnSp>
        <p:nvCxnSpPr>
          <p:cNvPr id="95236" name="直接连接符 2"/>
          <p:cNvCxnSpPr/>
          <p:nvPr/>
        </p:nvCxnSpPr>
        <p:spPr>
          <a:xfrm>
            <a:off x="3635375" y="115888"/>
            <a:ext cx="0" cy="6553200"/>
          </a:xfrm>
          <a:prstGeom prst="line">
            <a:avLst/>
          </a:prstGeom>
          <a:ln w="9525" cap="flat" cmpd="sng">
            <a:solidFill>
              <a:schemeClr val="bg1"/>
            </a:solidFill>
            <a:prstDash val="solid"/>
            <a:round/>
            <a:headEnd type="none" w="med" len="med"/>
            <a:tailEnd type="none" w="med" len="med"/>
          </a:ln>
        </p:spPr>
      </p:cxnSp>
      <p:cxnSp>
        <p:nvCxnSpPr>
          <p:cNvPr id="95237" name="直接连接符 5"/>
          <p:cNvCxnSpPr/>
          <p:nvPr/>
        </p:nvCxnSpPr>
        <p:spPr>
          <a:xfrm>
            <a:off x="3635375" y="3357563"/>
            <a:ext cx="5508625" cy="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程序的文件机制</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grpSp>
        <p:nvGrpSpPr>
          <p:cNvPr id="96258" name="Group 58"/>
          <p:cNvGrpSpPr/>
          <p:nvPr/>
        </p:nvGrpSpPr>
        <p:grpSpPr>
          <a:xfrm>
            <a:off x="2755900" y="2030413"/>
            <a:ext cx="3348038" cy="2592387"/>
            <a:chOff x="3781" y="1859"/>
            <a:chExt cx="1503" cy="1160"/>
          </a:xfrm>
        </p:grpSpPr>
        <p:sp>
          <p:nvSpPr>
            <p:cNvPr id="96259" name="Rectangle 59"/>
            <p:cNvSpPr/>
            <p:nvPr/>
          </p:nvSpPr>
          <p:spPr>
            <a:xfrm>
              <a:off x="4227" y="1859"/>
              <a:ext cx="453"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main</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0" name="Rectangle 60"/>
            <p:cNvSpPr/>
            <p:nvPr/>
          </p:nvSpPr>
          <p:spPr>
            <a:xfrm>
              <a:off x="3781" y="2245"/>
              <a:ext cx="278"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f2</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1" name="Rectangle 61"/>
            <p:cNvSpPr/>
            <p:nvPr/>
          </p:nvSpPr>
          <p:spPr>
            <a:xfrm>
              <a:off x="4338" y="2245"/>
              <a:ext cx="278"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f1</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2" name="Rectangle 62"/>
            <p:cNvSpPr/>
            <p:nvPr/>
          </p:nvSpPr>
          <p:spPr>
            <a:xfrm>
              <a:off x="5007" y="2245"/>
              <a:ext cx="277"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f3</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3" name="Rectangle 63"/>
            <p:cNvSpPr/>
            <p:nvPr/>
          </p:nvSpPr>
          <p:spPr>
            <a:xfrm>
              <a:off x="3781" y="2825"/>
              <a:ext cx="278"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g1</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4" name="Rectangle 64"/>
            <p:cNvSpPr/>
            <p:nvPr/>
          </p:nvSpPr>
          <p:spPr>
            <a:xfrm>
              <a:off x="4227" y="2825"/>
              <a:ext cx="277"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g2</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5" name="Rectangle 65"/>
            <p:cNvSpPr/>
            <p:nvPr/>
          </p:nvSpPr>
          <p:spPr>
            <a:xfrm>
              <a:off x="4561" y="2825"/>
              <a:ext cx="277" cy="194"/>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h</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96266" name="Rectangle 66"/>
            <p:cNvSpPr/>
            <p:nvPr/>
          </p:nvSpPr>
          <p:spPr>
            <a:xfrm>
              <a:off x="4895" y="2632"/>
              <a:ext cx="278" cy="193"/>
            </a:xfrm>
            <a:prstGeom prst="rect">
              <a:avLst/>
            </a:prstGeom>
            <a:noFill/>
            <a:ln w="9525" cap="flat" cmpd="sng">
              <a:solidFill>
                <a:srgbClr val="FFFFFF"/>
              </a:solidFill>
              <a:prstDash val="solid"/>
              <a:miter/>
              <a:headEnd type="none" w="med" len="med"/>
              <a:tailEnd type="none" w="med" len="med"/>
            </a:ln>
          </p:spPr>
          <p:txBody>
            <a:bodyPr lIns="0" tIns="0" rIns="0" bIns="0" anchor="t"/>
            <a:p>
              <a:pPr algn="ctr" eaLnBrk="0" hangingPunct="0">
                <a:lnSpc>
                  <a:spcPct val="96000"/>
                </a:lnSpc>
              </a:pPr>
              <a:r>
                <a:rPr lang="en-US" altLang="zh-CN" sz="2000" dirty="0">
                  <a:solidFill>
                    <a:srgbClr val="FFFFFF"/>
                  </a:solidFill>
                  <a:latin typeface="Times New Roman" panose="02020603050405020304" pitchFamily="18" charset="0"/>
                  <a:ea typeface="宋体" panose="02010600030101010101" pitchFamily="2" charset="-122"/>
                </a:rPr>
                <a:t>p</a:t>
              </a:r>
              <a:endParaRPr lang="en-US" altLang="zh-CN" sz="2000" dirty="0">
                <a:solidFill>
                  <a:srgbClr val="FFFFFF"/>
                </a:solidFill>
                <a:latin typeface="Times New Roman" panose="02020603050405020304" pitchFamily="18" charset="0"/>
                <a:ea typeface="宋体" panose="02010600030101010101" pitchFamily="2" charset="-122"/>
              </a:endParaRPr>
            </a:p>
          </p:txBody>
        </p:sp>
        <p:sp>
          <p:nvSpPr>
            <p:cNvPr id="609347" name="Line 67"/>
            <p:cNvSpPr>
              <a:spLocks noChangeShapeType="1"/>
            </p:cNvSpPr>
            <p:nvPr/>
          </p:nvSpPr>
          <p:spPr bwMode="auto">
            <a:xfrm flipV="1">
              <a:off x="4004" y="2052"/>
              <a:ext cx="223" cy="193"/>
            </a:xfrm>
            <a:prstGeom prst="line">
              <a:avLst/>
            </a:prstGeom>
            <a:noFill/>
            <a:ln w="9525">
              <a:solidFill>
                <a:srgbClr val="FF0000"/>
              </a:solidFill>
              <a:round/>
              <a:headEnd type="triangle" w="sm" len="med"/>
              <a:tailEnd type="non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48" name="Line 68"/>
            <p:cNvSpPr>
              <a:spLocks noChangeShapeType="1"/>
            </p:cNvSpPr>
            <p:nvPr/>
          </p:nvSpPr>
          <p:spPr bwMode="auto">
            <a:xfrm>
              <a:off x="4450" y="2052"/>
              <a:ext cx="0" cy="193"/>
            </a:xfrm>
            <a:prstGeom prst="line">
              <a:avLst/>
            </a:prstGeom>
            <a:noFill/>
            <a:ln w="9525">
              <a:solidFill>
                <a:srgbClr val="FF0000"/>
              </a:solidFill>
              <a:round/>
              <a:headEnd type="none" w="sm" len="me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49" name="Line 69"/>
            <p:cNvSpPr>
              <a:spLocks noChangeShapeType="1"/>
            </p:cNvSpPr>
            <p:nvPr/>
          </p:nvSpPr>
          <p:spPr bwMode="auto">
            <a:xfrm>
              <a:off x="4672" y="2052"/>
              <a:ext cx="335" cy="193"/>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0" name="Line 70"/>
            <p:cNvSpPr>
              <a:spLocks noChangeShapeType="1"/>
            </p:cNvSpPr>
            <p:nvPr/>
          </p:nvSpPr>
          <p:spPr bwMode="auto">
            <a:xfrm>
              <a:off x="3893" y="2438"/>
              <a:ext cx="0" cy="387"/>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1" name="Line 71"/>
            <p:cNvSpPr>
              <a:spLocks noChangeShapeType="1"/>
            </p:cNvSpPr>
            <p:nvPr/>
          </p:nvSpPr>
          <p:spPr bwMode="auto">
            <a:xfrm>
              <a:off x="4004" y="2438"/>
              <a:ext cx="334" cy="387"/>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2" name="Line 72"/>
            <p:cNvSpPr>
              <a:spLocks noChangeShapeType="1"/>
            </p:cNvSpPr>
            <p:nvPr/>
          </p:nvSpPr>
          <p:spPr bwMode="auto">
            <a:xfrm flipH="1">
              <a:off x="4004" y="2438"/>
              <a:ext cx="334" cy="387"/>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3" name="Line 73"/>
            <p:cNvSpPr>
              <a:spLocks noChangeShapeType="1"/>
            </p:cNvSpPr>
            <p:nvPr/>
          </p:nvSpPr>
          <p:spPr bwMode="auto">
            <a:xfrm>
              <a:off x="4450" y="2438"/>
              <a:ext cx="0" cy="387"/>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4" name="Line 74"/>
            <p:cNvSpPr>
              <a:spLocks noChangeShapeType="1"/>
            </p:cNvSpPr>
            <p:nvPr/>
          </p:nvSpPr>
          <p:spPr bwMode="auto">
            <a:xfrm>
              <a:off x="4561" y="2438"/>
              <a:ext cx="111" cy="387"/>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5" name="Line 75"/>
            <p:cNvSpPr>
              <a:spLocks noChangeShapeType="1"/>
            </p:cNvSpPr>
            <p:nvPr/>
          </p:nvSpPr>
          <p:spPr bwMode="auto">
            <a:xfrm>
              <a:off x="4611" y="2438"/>
              <a:ext cx="294" cy="194"/>
            </a:xfrm>
            <a:prstGeom prst="line">
              <a:avLst/>
            </a:prstGeom>
            <a:noFill/>
            <a:ln w="9525">
              <a:solidFill>
                <a:srgbClr val="FF0000"/>
              </a:solidFill>
              <a:roun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6" name="Line 76"/>
            <p:cNvSpPr>
              <a:spLocks noChangeShapeType="1"/>
            </p:cNvSpPr>
            <p:nvPr/>
          </p:nvSpPr>
          <p:spPr bwMode="auto">
            <a:xfrm flipV="1">
              <a:off x="5007" y="2438"/>
              <a:ext cx="111" cy="194"/>
            </a:xfrm>
            <a:prstGeom prst="line">
              <a:avLst/>
            </a:prstGeom>
            <a:noFill/>
            <a:ln w="9525">
              <a:solidFill>
                <a:srgbClr val="FF0000"/>
              </a:solidFill>
              <a:round/>
              <a:headEnd type="none" w="sm" len="med"/>
              <a:tail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7" name="Line 77"/>
            <p:cNvSpPr>
              <a:spLocks noChangeShapeType="1"/>
            </p:cNvSpPr>
            <p:nvPr/>
          </p:nvSpPr>
          <p:spPr bwMode="auto">
            <a:xfrm>
              <a:off x="4617" y="2342"/>
              <a:ext cx="375" cy="0"/>
            </a:xfrm>
            <a:prstGeom prst="line">
              <a:avLst/>
            </a:prstGeom>
            <a:noFill/>
            <a:ln w="9525">
              <a:solidFill>
                <a:srgbClr val="FF0000"/>
              </a:solidFill>
              <a:round/>
              <a:headEnd type="triangle" w="sm"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sp>
        <p:nvSpPr>
          <p:cNvPr id="609358" name="Freeform 78"/>
          <p:cNvSpPr/>
          <p:nvPr/>
        </p:nvSpPr>
        <p:spPr bwMode="auto">
          <a:xfrm>
            <a:off x="3413125" y="1644650"/>
            <a:ext cx="3192463" cy="2917825"/>
          </a:xfrm>
          <a:custGeom>
            <a:avLst/>
            <a:gdLst>
              <a:gd name="T0" fmla="*/ 137 w 2011"/>
              <a:gd name="T1" fmla="*/ 91 h 1838"/>
              <a:gd name="T2" fmla="*/ 429 w 2011"/>
              <a:gd name="T3" fmla="*/ 0 h 1838"/>
              <a:gd name="T4" fmla="*/ 1005 w 2011"/>
              <a:gd name="T5" fmla="*/ 91 h 1838"/>
              <a:gd name="T6" fmla="*/ 1161 w 2011"/>
              <a:gd name="T7" fmla="*/ 173 h 1838"/>
              <a:gd name="T8" fmla="*/ 1243 w 2011"/>
              <a:gd name="T9" fmla="*/ 228 h 1838"/>
              <a:gd name="T10" fmla="*/ 1261 w 2011"/>
              <a:gd name="T11" fmla="*/ 265 h 1838"/>
              <a:gd name="T12" fmla="*/ 1334 w 2011"/>
              <a:gd name="T13" fmla="*/ 301 h 1838"/>
              <a:gd name="T14" fmla="*/ 1389 w 2011"/>
              <a:gd name="T15" fmla="*/ 338 h 1838"/>
              <a:gd name="T16" fmla="*/ 1453 w 2011"/>
              <a:gd name="T17" fmla="*/ 365 h 1838"/>
              <a:gd name="T18" fmla="*/ 1472 w 2011"/>
              <a:gd name="T19" fmla="*/ 384 h 1838"/>
              <a:gd name="T20" fmla="*/ 1572 w 2011"/>
              <a:gd name="T21" fmla="*/ 438 h 1838"/>
              <a:gd name="T22" fmla="*/ 1682 w 2011"/>
              <a:gd name="T23" fmla="*/ 502 h 1838"/>
              <a:gd name="T24" fmla="*/ 1737 w 2011"/>
              <a:gd name="T25" fmla="*/ 539 h 1838"/>
              <a:gd name="T26" fmla="*/ 1746 w 2011"/>
              <a:gd name="T27" fmla="*/ 576 h 1838"/>
              <a:gd name="T28" fmla="*/ 1837 w 2011"/>
              <a:gd name="T29" fmla="*/ 630 h 1838"/>
              <a:gd name="T30" fmla="*/ 1892 w 2011"/>
              <a:gd name="T31" fmla="*/ 731 h 1838"/>
              <a:gd name="T32" fmla="*/ 1974 w 2011"/>
              <a:gd name="T33" fmla="*/ 923 h 1838"/>
              <a:gd name="T34" fmla="*/ 1993 w 2011"/>
              <a:gd name="T35" fmla="*/ 960 h 1838"/>
              <a:gd name="T36" fmla="*/ 2011 w 2011"/>
              <a:gd name="T37" fmla="*/ 996 h 1838"/>
              <a:gd name="T38" fmla="*/ 1993 w 2011"/>
              <a:gd name="T39" fmla="*/ 1216 h 1838"/>
              <a:gd name="T40" fmla="*/ 1901 w 2011"/>
              <a:gd name="T41" fmla="*/ 1371 h 1838"/>
              <a:gd name="T42" fmla="*/ 1782 w 2011"/>
              <a:gd name="T43" fmla="*/ 1563 h 1838"/>
              <a:gd name="T44" fmla="*/ 1718 w 2011"/>
              <a:gd name="T45" fmla="*/ 1636 h 1838"/>
              <a:gd name="T46" fmla="*/ 1700 w 2011"/>
              <a:gd name="T47" fmla="*/ 1673 h 1838"/>
              <a:gd name="T48" fmla="*/ 1664 w 2011"/>
              <a:gd name="T49" fmla="*/ 1682 h 1838"/>
              <a:gd name="T50" fmla="*/ 1645 w 2011"/>
              <a:gd name="T51" fmla="*/ 1700 h 1838"/>
              <a:gd name="T52" fmla="*/ 1490 w 2011"/>
              <a:gd name="T53" fmla="*/ 1837 h 1838"/>
              <a:gd name="T54" fmla="*/ 1298 w 2011"/>
              <a:gd name="T55" fmla="*/ 1792 h 1838"/>
              <a:gd name="T56" fmla="*/ 1243 w 2011"/>
              <a:gd name="T57" fmla="*/ 1718 h 1838"/>
              <a:gd name="T58" fmla="*/ 1234 w 2011"/>
              <a:gd name="T59" fmla="*/ 1682 h 1838"/>
              <a:gd name="T60" fmla="*/ 1197 w 2011"/>
              <a:gd name="T61" fmla="*/ 1673 h 1838"/>
              <a:gd name="T62" fmla="*/ 1179 w 2011"/>
              <a:gd name="T63" fmla="*/ 1654 h 1838"/>
              <a:gd name="T64" fmla="*/ 1142 w 2011"/>
              <a:gd name="T65" fmla="*/ 1636 h 1838"/>
              <a:gd name="T66" fmla="*/ 1069 w 2011"/>
              <a:gd name="T67" fmla="*/ 1499 h 1838"/>
              <a:gd name="T68" fmla="*/ 1088 w 2011"/>
              <a:gd name="T69" fmla="*/ 1179 h 1838"/>
              <a:gd name="T70" fmla="*/ 1106 w 2011"/>
              <a:gd name="T71" fmla="*/ 1097 h 1838"/>
              <a:gd name="T72" fmla="*/ 1088 w 2011"/>
              <a:gd name="T73" fmla="*/ 749 h 1838"/>
              <a:gd name="T74" fmla="*/ 1005 w 2011"/>
              <a:gd name="T75" fmla="*/ 676 h 1838"/>
              <a:gd name="T76" fmla="*/ 329 w 2011"/>
              <a:gd name="T77" fmla="*/ 667 h 1838"/>
              <a:gd name="T78" fmla="*/ 192 w 2011"/>
              <a:gd name="T79" fmla="*/ 612 h 1838"/>
              <a:gd name="T80" fmla="*/ 118 w 2011"/>
              <a:gd name="T81" fmla="*/ 576 h 1838"/>
              <a:gd name="T82" fmla="*/ 64 w 2011"/>
              <a:gd name="T83" fmla="*/ 539 h 1838"/>
              <a:gd name="T84" fmla="*/ 54 w 2011"/>
              <a:gd name="T85" fmla="*/ 502 h 1838"/>
              <a:gd name="T86" fmla="*/ 36 w 2011"/>
              <a:gd name="T87" fmla="*/ 475 h 1838"/>
              <a:gd name="T88" fmla="*/ 0 w 2011"/>
              <a:gd name="T89" fmla="*/ 402 h 1838"/>
              <a:gd name="T90" fmla="*/ 18 w 2011"/>
              <a:gd name="T91" fmla="*/ 246 h 1838"/>
              <a:gd name="T92" fmla="*/ 54 w 2011"/>
              <a:gd name="T93" fmla="*/ 173 h 1838"/>
              <a:gd name="T94" fmla="*/ 82 w 2011"/>
              <a:gd name="T95" fmla="*/ 109 h 1838"/>
              <a:gd name="T96" fmla="*/ 137 w 2011"/>
              <a:gd name="T97" fmla="*/ 91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11" h="1838">
                <a:moveTo>
                  <a:pt x="137" y="91"/>
                </a:moveTo>
                <a:cubicBezTo>
                  <a:pt x="230" y="45"/>
                  <a:pt x="333" y="39"/>
                  <a:pt x="429" y="0"/>
                </a:cubicBezTo>
                <a:cubicBezTo>
                  <a:pt x="623" y="15"/>
                  <a:pt x="819" y="30"/>
                  <a:pt x="1005" y="91"/>
                </a:cubicBezTo>
                <a:cubicBezTo>
                  <a:pt x="1065" y="111"/>
                  <a:pt x="1098" y="158"/>
                  <a:pt x="1161" y="173"/>
                </a:cubicBezTo>
                <a:cubicBezTo>
                  <a:pt x="1185" y="198"/>
                  <a:pt x="1214" y="209"/>
                  <a:pt x="1243" y="228"/>
                </a:cubicBezTo>
                <a:cubicBezTo>
                  <a:pt x="1249" y="240"/>
                  <a:pt x="1250" y="256"/>
                  <a:pt x="1261" y="265"/>
                </a:cubicBezTo>
                <a:cubicBezTo>
                  <a:pt x="1282" y="282"/>
                  <a:pt x="1315" y="282"/>
                  <a:pt x="1334" y="301"/>
                </a:cubicBezTo>
                <a:cubicBezTo>
                  <a:pt x="1359" y="326"/>
                  <a:pt x="1351" y="322"/>
                  <a:pt x="1389" y="338"/>
                </a:cubicBezTo>
                <a:cubicBezTo>
                  <a:pt x="1424" y="353"/>
                  <a:pt x="1417" y="341"/>
                  <a:pt x="1453" y="365"/>
                </a:cubicBezTo>
                <a:cubicBezTo>
                  <a:pt x="1460" y="370"/>
                  <a:pt x="1464" y="379"/>
                  <a:pt x="1472" y="384"/>
                </a:cubicBezTo>
                <a:cubicBezTo>
                  <a:pt x="1507" y="405"/>
                  <a:pt x="1541" y="413"/>
                  <a:pt x="1572" y="438"/>
                </a:cubicBezTo>
                <a:cubicBezTo>
                  <a:pt x="1611" y="470"/>
                  <a:pt x="1630" y="489"/>
                  <a:pt x="1682" y="502"/>
                </a:cubicBezTo>
                <a:cubicBezTo>
                  <a:pt x="1697" y="518"/>
                  <a:pt x="1723" y="522"/>
                  <a:pt x="1737" y="539"/>
                </a:cubicBezTo>
                <a:cubicBezTo>
                  <a:pt x="1745" y="549"/>
                  <a:pt x="1738" y="566"/>
                  <a:pt x="1746" y="576"/>
                </a:cubicBezTo>
                <a:cubicBezTo>
                  <a:pt x="1750" y="581"/>
                  <a:pt x="1829" y="626"/>
                  <a:pt x="1837" y="630"/>
                </a:cubicBezTo>
                <a:cubicBezTo>
                  <a:pt x="1855" y="665"/>
                  <a:pt x="1875" y="696"/>
                  <a:pt x="1892" y="731"/>
                </a:cubicBezTo>
                <a:cubicBezTo>
                  <a:pt x="1904" y="805"/>
                  <a:pt x="1941" y="856"/>
                  <a:pt x="1974" y="923"/>
                </a:cubicBezTo>
                <a:cubicBezTo>
                  <a:pt x="1980" y="935"/>
                  <a:pt x="1987" y="948"/>
                  <a:pt x="1993" y="960"/>
                </a:cubicBezTo>
                <a:cubicBezTo>
                  <a:pt x="1999" y="972"/>
                  <a:pt x="2011" y="996"/>
                  <a:pt x="2011" y="996"/>
                </a:cubicBezTo>
                <a:cubicBezTo>
                  <a:pt x="2005" y="1069"/>
                  <a:pt x="2007" y="1144"/>
                  <a:pt x="1993" y="1216"/>
                </a:cubicBezTo>
                <a:cubicBezTo>
                  <a:pt x="1982" y="1274"/>
                  <a:pt x="1934" y="1324"/>
                  <a:pt x="1901" y="1371"/>
                </a:cubicBezTo>
                <a:cubicBezTo>
                  <a:pt x="1882" y="1451"/>
                  <a:pt x="1840" y="1508"/>
                  <a:pt x="1782" y="1563"/>
                </a:cubicBezTo>
                <a:cubicBezTo>
                  <a:pt x="1760" y="1607"/>
                  <a:pt x="1751" y="1605"/>
                  <a:pt x="1718" y="1636"/>
                </a:cubicBezTo>
                <a:cubicBezTo>
                  <a:pt x="1712" y="1648"/>
                  <a:pt x="1710" y="1664"/>
                  <a:pt x="1700" y="1673"/>
                </a:cubicBezTo>
                <a:cubicBezTo>
                  <a:pt x="1691" y="1681"/>
                  <a:pt x="1675" y="1677"/>
                  <a:pt x="1664" y="1682"/>
                </a:cubicBezTo>
                <a:cubicBezTo>
                  <a:pt x="1656" y="1686"/>
                  <a:pt x="1651" y="1694"/>
                  <a:pt x="1645" y="1700"/>
                </a:cubicBezTo>
                <a:cubicBezTo>
                  <a:pt x="1602" y="1787"/>
                  <a:pt x="1590" y="1812"/>
                  <a:pt x="1490" y="1837"/>
                </a:cubicBezTo>
                <a:cubicBezTo>
                  <a:pt x="1325" y="1826"/>
                  <a:pt x="1391" y="1838"/>
                  <a:pt x="1298" y="1792"/>
                </a:cubicBezTo>
                <a:cubicBezTo>
                  <a:pt x="1276" y="1769"/>
                  <a:pt x="1265" y="1741"/>
                  <a:pt x="1243" y="1718"/>
                </a:cubicBezTo>
                <a:cubicBezTo>
                  <a:pt x="1240" y="1706"/>
                  <a:pt x="1243" y="1691"/>
                  <a:pt x="1234" y="1682"/>
                </a:cubicBezTo>
                <a:cubicBezTo>
                  <a:pt x="1225" y="1673"/>
                  <a:pt x="1208" y="1679"/>
                  <a:pt x="1197" y="1673"/>
                </a:cubicBezTo>
                <a:cubicBezTo>
                  <a:pt x="1189" y="1669"/>
                  <a:pt x="1186" y="1659"/>
                  <a:pt x="1179" y="1654"/>
                </a:cubicBezTo>
                <a:cubicBezTo>
                  <a:pt x="1168" y="1646"/>
                  <a:pt x="1154" y="1642"/>
                  <a:pt x="1142" y="1636"/>
                </a:cubicBezTo>
                <a:cubicBezTo>
                  <a:pt x="1118" y="1588"/>
                  <a:pt x="1090" y="1550"/>
                  <a:pt x="1069" y="1499"/>
                </a:cubicBezTo>
                <a:cubicBezTo>
                  <a:pt x="1075" y="1392"/>
                  <a:pt x="1078" y="1285"/>
                  <a:pt x="1088" y="1179"/>
                </a:cubicBezTo>
                <a:cubicBezTo>
                  <a:pt x="1091" y="1151"/>
                  <a:pt x="1106" y="1125"/>
                  <a:pt x="1106" y="1097"/>
                </a:cubicBezTo>
                <a:cubicBezTo>
                  <a:pt x="1106" y="981"/>
                  <a:pt x="1100" y="865"/>
                  <a:pt x="1088" y="749"/>
                </a:cubicBezTo>
                <a:cubicBezTo>
                  <a:pt x="1086" y="728"/>
                  <a:pt x="1027" y="677"/>
                  <a:pt x="1005" y="676"/>
                </a:cubicBezTo>
                <a:cubicBezTo>
                  <a:pt x="780" y="667"/>
                  <a:pt x="554" y="670"/>
                  <a:pt x="329" y="667"/>
                </a:cubicBezTo>
                <a:cubicBezTo>
                  <a:pt x="282" y="652"/>
                  <a:pt x="237" y="633"/>
                  <a:pt x="192" y="612"/>
                </a:cubicBezTo>
                <a:cubicBezTo>
                  <a:pt x="167" y="601"/>
                  <a:pt x="118" y="576"/>
                  <a:pt x="118" y="576"/>
                </a:cubicBezTo>
                <a:cubicBezTo>
                  <a:pt x="103" y="560"/>
                  <a:pt x="78" y="556"/>
                  <a:pt x="64" y="539"/>
                </a:cubicBezTo>
                <a:cubicBezTo>
                  <a:pt x="56" y="529"/>
                  <a:pt x="59" y="514"/>
                  <a:pt x="54" y="502"/>
                </a:cubicBezTo>
                <a:cubicBezTo>
                  <a:pt x="50" y="492"/>
                  <a:pt x="41" y="485"/>
                  <a:pt x="36" y="475"/>
                </a:cubicBezTo>
                <a:cubicBezTo>
                  <a:pt x="23" y="451"/>
                  <a:pt x="0" y="402"/>
                  <a:pt x="0" y="402"/>
                </a:cubicBezTo>
                <a:cubicBezTo>
                  <a:pt x="6" y="350"/>
                  <a:pt x="6" y="297"/>
                  <a:pt x="18" y="246"/>
                </a:cubicBezTo>
                <a:cubicBezTo>
                  <a:pt x="24" y="220"/>
                  <a:pt x="45" y="198"/>
                  <a:pt x="54" y="173"/>
                </a:cubicBezTo>
                <a:cubicBezTo>
                  <a:pt x="59" y="159"/>
                  <a:pt x="73" y="118"/>
                  <a:pt x="82" y="109"/>
                </a:cubicBezTo>
                <a:cubicBezTo>
                  <a:pt x="102" y="88"/>
                  <a:pt x="115" y="91"/>
                  <a:pt x="137" y="91"/>
                </a:cubicBezTo>
                <a:close/>
              </a:path>
            </a:pathLst>
          </a:custGeom>
          <a:noFill/>
          <a:ln w="9525">
            <a:solidFill>
              <a:srgbClr val="FFFF00"/>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59" name="Freeform 79"/>
          <p:cNvSpPr/>
          <p:nvPr/>
        </p:nvSpPr>
        <p:spPr bwMode="auto">
          <a:xfrm>
            <a:off x="2279650" y="2454275"/>
            <a:ext cx="2965450" cy="2730500"/>
          </a:xfrm>
          <a:custGeom>
            <a:avLst/>
            <a:gdLst>
              <a:gd name="T0" fmla="*/ 0 w 1868"/>
              <a:gd name="T1" fmla="*/ 331 h 1720"/>
              <a:gd name="T2" fmla="*/ 37 w 1868"/>
              <a:gd name="T3" fmla="*/ 267 h 1720"/>
              <a:gd name="T4" fmla="*/ 46 w 1868"/>
              <a:gd name="T5" fmla="*/ 230 h 1720"/>
              <a:gd name="T6" fmla="*/ 83 w 1868"/>
              <a:gd name="T7" fmla="*/ 212 h 1720"/>
              <a:gd name="T8" fmla="*/ 192 w 1868"/>
              <a:gd name="T9" fmla="*/ 75 h 1720"/>
              <a:gd name="T10" fmla="*/ 202 w 1868"/>
              <a:gd name="T11" fmla="*/ 38 h 1720"/>
              <a:gd name="T12" fmla="*/ 485 w 1868"/>
              <a:gd name="T13" fmla="*/ 38 h 1720"/>
              <a:gd name="T14" fmla="*/ 622 w 1868"/>
              <a:gd name="T15" fmla="*/ 93 h 1720"/>
              <a:gd name="T16" fmla="*/ 778 w 1868"/>
              <a:gd name="T17" fmla="*/ 212 h 1720"/>
              <a:gd name="T18" fmla="*/ 796 w 1868"/>
              <a:gd name="T19" fmla="*/ 559 h 1720"/>
              <a:gd name="T20" fmla="*/ 851 w 1868"/>
              <a:gd name="T21" fmla="*/ 733 h 1720"/>
              <a:gd name="T22" fmla="*/ 1418 w 1868"/>
              <a:gd name="T23" fmla="*/ 952 h 1720"/>
              <a:gd name="T24" fmla="*/ 1610 w 1868"/>
              <a:gd name="T25" fmla="*/ 1007 h 1720"/>
              <a:gd name="T26" fmla="*/ 1783 w 1868"/>
              <a:gd name="T27" fmla="*/ 1099 h 1720"/>
              <a:gd name="T28" fmla="*/ 1838 w 1868"/>
              <a:gd name="T29" fmla="*/ 1163 h 1720"/>
              <a:gd name="T30" fmla="*/ 1838 w 1868"/>
              <a:gd name="T31" fmla="*/ 1528 h 1720"/>
              <a:gd name="T32" fmla="*/ 1820 w 1868"/>
              <a:gd name="T33" fmla="*/ 1547 h 1720"/>
              <a:gd name="T34" fmla="*/ 1747 w 1868"/>
              <a:gd name="T35" fmla="*/ 1583 h 1720"/>
              <a:gd name="T36" fmla="*/ 1701 w 1868"/>
              <a:gd name="T37" fmla="*/ 1620 h 1720"/>
              <a:gd name="T38" fmla="*/ 1628 w 1868"/>
              <a:gd name="T39" fmla="*/ 1629 h 1720"/>
              <a:gd name="T40" fmla="*/ 1354 w 1868"/>
              <a:gd name="T41" fmla="*/ 1720 h 1720"/>
              <a:gd name="T42" fmla="*/ 394 w 1868"/>
              <a:gd name="T43" fmla="*/ 1602 h 1720"/>
              <a:gd name="T44" fmla="*/ 293 w 1868"/>
              <a:gd name="T45" fmla="*/ 1547 h 1720"/>
              <a:gd name="T46" fmla="*/ 256 w 1868"/>
              <a:gd name="T47" fmla="*/ 1528 h 1720"/>
              <a:gd name="T48" fmla="*/ 220 w 1868"/>
              <a:gd name="T49" fmla="*/ 1510 h 1720"/>
              <a:gd name="T50" fmla="*/ 174 w 1868"/>
              <a:gd name="T51" fmla="*/ 1410 h 1720"/>
              <a:gd name="T52" fmla="*/ 83 w 1868"/>
              <a:gd name="T53" fmla="*/ 1236 h 1720"/>
              <a:gd name="T54" fmla="*/ 0 w 1868"/>
              <a:gd name="T55" fmla="*/ 331 h 1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68" h="1720">
                <a:moveTo>
                  <a:pt x="0" y="331"/>
                </a:moveTo>
                <a:cubicBezTo>
                  <a:pt x="11" y="309"/>
                  <a:pt x="27" y="290"/>
                  <a:pt x="37" y="267"/>
                </a:cubicBezTo>
                <a:cubicBezTo>
                  <a:pt x="42" y="255"/>
                  <a:pt x="38" y="240"/>
                  <a:pt x="46" y="230"/>
                </a:cubicBezTo>
                <a:cubicBezTo>
                  <a:pt x="55" y="219"/>
                  <a:pt x="71" y="218"/>
                  <a:pt x="83" y="212"/>
                </a:cubicBezTo>
                <a:cubicBezTo>
                  <a:pt x="113" y="152"/>
                  <a:pt x="131" y="105"/>
                  <a:pt x="192" y="75"/>
                </a:cubicBezTo>
                <a:cubicBezTo>
                  <a:pt x="195" y="63"/>
                  <a:pt x="191" y="44"/>
                  <a:pt x="202" y="38"/>
                </a:cubicBezTo>
                <a:cubicBezTo>
                  <a:pt x="272" y="0"/>
                  <a:pt x="436" y="33"/>
                  <a:pt x="485" y="38"/>
                </a:cubicBezTo>
                <a:cubicBezTo>
                  <a:pt x="575" y="63"/>
                  <a:pt x="529" y="46"/>
                  <a:pt x="622" y="93"/>
                </a:cubicBezTo>
                <a:cubicBezTo>
                  <a:pt x="681" y="123"/>
                  <a:pt x="718" y="183"/>
                  <a:pt x="778" y="212"/>
                </a:cubicBezTo>
                <a:cubicBezTo>
                  <a:pt x="854" y="364"/>
                  <a:pt x="821" y="155"/>
                  <a:pt x="796" y="559"/>
                </a:cubicBezTo>
                <a:cubicBezTo>
                  <a:pt x="807" y="632"/>
                  <a:pt x="800" y="684"/>
                  <a:pt x="851" y="733"/>
                </a:cubicBezTo>
                <a:cubicBezTo>
                  <a:pt x="942" y="921"/>
                  <a:pt x="1241" y="942"/>
                  <a:pt x="1418" y="952"/>
                </a:cubicBezTo>
                <a:cubicBezTo>
                  <a:pt x="1496" y="966"/>
                  <a:pt x="1542" y="974"/>
                  <a:pt x="1610" y="1007"/>
                </a:cubicBezTo>
                <a:cubicBezTo>
                  <a:pt x="1657" y="1057"/>
                  <a:pt x="1734" y="1052"/>
                  <a:pt x="1783" y="1099"/>
                </a:cubicBezTo>
                <a:cubicBezTo>
                  <a:pt x="1804" y="1119"/>
                  <a:pt x="1818" y="1142"/>
                  <a:pt x="1838" y="1163"/>
                </a:cubicBezTo>
                <a:cubicBezTo>
                  <a:pt x="1866" y="1331"/>
                  <a:pt x="1868" y="1295"/>
                  <a:pt x="1838" y="1528"/>
                </a:cubicBezTo>
                <a:cubicBezTo>
                  <a:pt x="1837" y="1537"/>
                  <a:pt x="1827" y="1542"/>
                  <a:pt x="1820" y="1547"/>
                </a:cubicBezTo>
                <a:cubicBezTo>
                  <a:pt x="1797" y="1561"/>
                  <a:pt x="1771" y="1571"/>
                  <a:pt x="1747" y="1583"/>
                </a:cubicBezTo>
                <a:cubicBezTo>
                  <a:pt x="1711" y="1601"/>
                  <a:pt x="1747" y="1607"/>
                  <a:pt x="1701" y="1620"/>
                </a:cubicBezTo>
                <a:cubicBezTo>
                  <a:pt x="1677" y="1626"/>
                  <a:pt x="1652" y="1626"/>
                  <a:pt x="1628" y="1629"/>
                </a:cubicBezTo>
                <a:cubicBezTo>
                  <a:pt x="1542" y="1671"/>
                  <a:pt x="1447" y="1700"/>
                  <a:pt x="1354" y="1720"/>
                </a:cubicBezTo>
                <a:cubicBezTo>
                  <a:pt x="1025" y="1708"/>
                  <a:pt x="708" y="1707"/>
                  <a:pt x="394" y="1602"/>
                </a:cubicBezTo>
                <a:cubicBezTo>
                  <a:pt x="342" y="1567"/>
                  <a:pt x="379" y="1590"/>
                  <a:pt x="293" y="1547"/>
                </a:cubicBezTo>
                <a:cubicBezTo>
                  <a:pt x="281" y="1541"/>
                  <a:pt x="268" y="1534"/>
                  <a:pt x="256" y="1528"/>
                </a:cubicBezTo>
                <a:cubicBezTo>
                  <a:pt x="244" y="1522"/>
                  <a:pt x="220" y="1510"/>
                  <a:pt x="220" y="1510"/>
                </a:cubicBezTo>
                <a:cubicBezTo>
                  <a:pt x="204" y="1478"/>
                  <a:pt x="194" y="1440"/>
                  <a:pt x="174" y="1410"/>
                </a:cubicBezTo>
                <a:cubicBezTo>
                  <a:pt x="131" y="1344"/>
                  <a:pt x="106" y="1317"/>
                  <a:pt x="83" y="1236"/>
                </a:cubicBezTo>
                <a:cubicBezTo>
                  <a:pt x="111" y="935"/>
                  <a:pt x="145" y="605"/>
                  <a:pt x="0" y="331"/>
                </a:cubicBezTo>
                <a:close/>
              </a:path>
            </a:pathLst>
          </a:custGeom>
          <a:noFill/>
          <a:ln w="9525">
            <a:solidFill>
              <a:srgbClr val="00FF00"/>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09360" name="Freeform 80"/>
          <p:cNvSpPr/>
          <p:nvPr/>
        </p:nvSpPr>
        <p:spPr bwMode="auto">
          <a:xfrm>
            <a:off x="3746500" y="2670175"/>
            <a:ext cx="1131888" cy="1092200"/>
          </a:xfrm>
          <a:custGeom>
            <a:avLst/>
            <a:gdLst>
              <a:gd name="T0" fmla="*/ 64 w 713"/>
              <a:gd name="T1" fmla="*/ 469 h 688"/>
              <a:gd name="T2" fmla="*/ 0 w 713"/>
              <a:gd name="T3" fmla="*/ 314 h 688"/>
              <a:gd name="T4" fmla="*/ 18 w 713"/>
              <a:gd name="T5" fmla="*/ 103 h 688"/>
              <a:gd name="T6" fmla="*/ 192 w 713"/>
              <a:gd name="T7" fmla="*/ 3 h 688"/>
              <a:gd name="T8" fmla="*/ 466 w 713"/>
              <a:gd name="T9" fmla="*/ 12 h 688"/>
              <a:gd name="T10" fmla="*/ 539 w 713"/>
              <a:gd name="T11" fmla="*/ 48 h 688"/>
              <a:gd name="T12" fmla="*/ 585 w 713"/>
              <a:gd name="T13" fmla="*/ 122 h 688"/>
              <a:gd name="T14" fmla="*/ 658 w 713"/>
              <a:gd name="T15" fmla="*/ 259 h 688"/>
              <a:gd name="T16" fmla="*/ 676 w 713"/>
              <a:gd name="T17" fmla="*/ 295 h 688"/>
              <a:gd name="T18" fmla="*/ 713 w 713"/>
              <a:gd name="T19" fmla="*/ 341 h 688"/>
              <a:gd name="T20" fmla="*/ 695 w 713"/>
              <a:gd name="T21" fmla="*/ 487 h 688"/>
              <a:gd name="T22" fmla="*/ 622 w 713"/>
              <a:gd name="T23" fmla="*/ 606 h 688"/>
              <a:gd name="T24" fmla="*/ 548 w 713"/>
              <a:gd name="T25" fmla="*/ 661 h 688"/>
              <a:gd name="T26" fmla="*/ 466 w 713"/>
              <a:gd name="T27" fmla="*/ 688 h 688"/>
              <a:gd name="T28" fmla="*/ 256 w 713"/>
              <a:gd name="T29" fmla="*/ 643 h 688"/>
              <a:gd name="T30" fmla="*/ 192 w 713"/>
              <a:gd name="T31" fmla="*/ 588 h 688"/>
              <a:gd name="T32" fmla="*/ 82 w 713"/>
              <a:gd name="T33" fmla="*/ 506 h 688"/>
              <a:gd name="T34" fmla="*/ 64 w 713"/>
              <a:gd name="T35" fmla="*/ 469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3" h="688">
                <a:moveTo>
                  <a:pt x="64" y="469"/>
                </a:moveTo>
                <a:cubicBezTo>
                  <a:pt x="46" y="413"/>
                  <a:pt x="33" y="363"/>
                  <a:pt x="0" y="314"/>
                </a:cubicBezTo>
                <a:cubicBezTo>
                  <a:pt x="6" y="244"/>
                  <a:pt x="8" y="173"/>
                  <a:pt x="18" y="103"/>
                </a:cubicBezTo>
                <a:cubicBezTo>
                  <a:pt x="28" y="34"/>
                  <a:pt x="142" y="9"/>
                  <a:pt x="192" y="3"/>
                </a:cubicBezTo>
                <a:cubicBezTo>
                  <a:pt x="283" y="6"/>
                  <a:pt x="375" y="0"/>
                  <a:pt x="466" y="12"/>
                </a:cubicBezTo>
                <a:cubicBezTo>
                  <a:pt x="493" y="15"/>
                  <a:pt x="539" y="48"/>
                  <a:pt x="539" y="48"/>
                </a:cubicBezTo>
                <a:cubicBezTo>
                  <a:pt x="552" y="102"/>
                  <a:pt x="559" y="83"/>
                  <a:pt x="585" y="122"/>
                </a:cubicBezTo>
                <a:cubicBezTo>
                  <a:pt x="612" y="164"/>
                  <a:pt x="636" y="215"/>
                  <a:pt x="658" y="259"/>
                </a:cubicBezTo>
                <a:cubicBezTo>
                  <a:pt x="664" y="271"/>
                  <a:pt x="667" y="286"/>
                  <a:pt x="676" y="295"/>
                </a:cubicBezTo>
                <a:cubicBezTo>
                  <a:pt x="703" y="322"/>
                  <a:pt x="690" y="307"/>
                  <a:pt x="713" y="341"/>
                </a:cubicBezTo>
                <a:cubicBezTo>
                  <a:pt x="707" y="390"/>
                  <a:pt x="705" y="439"/>
                  <a:pt x="695" y="487"/>
                </a:cubicBezTo>
                <a:cubicBezTo>
                  <a:pt x="690" y="509"/>
                  <a:pt x="637" y="584"/>
                  <a:pt x="622" y="606"/>
                </a:cubicBezTo>
                <a:cubicBezTo>
                  <a:pt x="605" y="631"/>
                  <a:pt x="575" y="651"/>
                  <a:pt x="548" y="661"/>
                </a:cubicBezTo>
                <a:cubicBezTo>
                  <a:pt x="521" y="671"/>
                  <a:pt x="466" y="688"/>
                  <a:pt x="466" y="688"/>
                </a:cubicBezTo>
                <a:cubicBezTo>
                  <a:pt x="381" y="677"/>
                  <a:pt x="326" y="678"/>
                  <a:pt x="256" y="643"/>
                </a:cubicBezTo>
                <a:cubicBezTo>
                  <a:pt x="235" y="621"/>
                  <a:pt x="217" y="605"/>
                  <a:pt x="192" y="588"/>
                </a:cubicBezTo>
                <a:cubicBezTo>
                  <a:pt x="166" y="534"/>
                  <a:pt x="140" y="520"/>
                  <a:pt x="82" y="506"/>
                </a:cubicBezTo>
                <a:cubicBezTo>
                  <a:pt x="60" y="483"/>
                  <a:pt x="64" y="496"/>
                  <a:pt x="64" y="469"/>
                </a:cubicBezTo>
                <a:close/>
              </a:path>
            </a:pathLst>
          </a:custGeom>
          <a:noFill/>
          <a:ln w="9525">
            <a:solidFill>
              <a:srgbClr val="0000FF"/>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6281" name="AutoShape 81"/>
          <p:cNvSpPr/>
          <p:nvPr/>
        </p:nvSpPr>
        <p:spPr>
          <a:xfrm>
            <a:off x="1476375" y="1555750"/>
            <a:ext cx="914400" cy="401638"/>
          </a:xfrm>
          <a:prstGeom prst="borderCallout1">
            <a:avLst>
              <a:gd name="adj1" fmla="val 28458"/>
              <a:gd name="adj2" fmla="val 108333"/>
              <a:gd name="adj3" fmla="val 333204"/>
              <a:gd name="adj4" fmla="val 250176"/>
            </a:avLst>
          </a:prstGeom>
          <a:solidFill>
            <a:srgbClr val="777777"/>
          </a:solidFill>
          <a:ln w="9525" cap="flat" cmpd="sng">
            <a:solidFill>
              <a:srgbClr val="FFFFFF"/>
            </a:solidFill>
            <a:prstDash val="solid"/>
            <a:miter/>
            <a:headEnd type="none" w="med" len="med"/>
            <a:tailEnd type="none" w="med" len="med"/>
          </a:ln>
        </p:spPr>
        <p:txBody>
          <a:bodyPr anchor="t"/>
          <a:p>
            <a:pPr algn="ctr" eaLnBrk="0" hangingPunct="0"/>
            <a:r>
              <a:rPr lang="zh-CN" altLang="en-US" sz="1800" dirty="0">
                <a:solidFill>
                  <a:srgbClr val="FFFFFF"/>
                </a:solidFill>
                <a:latin typeface="Times New Roman" panose="02020603050405020304" pitchFamily="18" charset="0"/>
                <a:ea typeface="宋体" panose="02010600030101010101" pitchFamily="2" charset="-122"/>
              </a:rPr>
              <a:t>文件１</a:t>
            </a:r>
            <a:endParaRPr lang="zh-CN" altLang="en-US" sz="1800" dirty="0">
              <a:solidFill>
                <a:srgbClr val="FFFFFF"/>
              </a:solidFill>
              <a:latin typeface="Times New Roman" panose="02020603050405020304" pitchFamily="18" charset="0"/>
              <a:ea typeface="宋体" panose="02010600030101010101" pitchFamily="2" charset="-122"/>
            </a:endParaRPr>
          </a:p>
        </p:txBody>
      </p:sp>
      <p:sp>
        <p:nvSpPr>
          <p:cNvPr id="96282" name="AutoShape 82"/>
          <p:cNvSpPr/>
          <p:nvPr/>
        </p:nvSpPr>
        <p:spPr>
          <a:xfrm>
            <a:off x="6467475" y="1484313"/>
            <a:ext cx="914400" cy="401637"/>
          </a:xfrm>
          <a:prstGeom prst="borderCallout1">
            <a:avLst>
              <a:gd name="adj1" fmla="val 28458"/>
              <a:gd name="adj2" fmla="val -8333"/>
              <a:gd name="adj3" fmla="val 207509"/>
              <a:gd name="adj4" fmla="val -67361"/>
            </a:avLst>
          </a:prstGeom>
          <a:solidFill>
            <a:srgbClr val="777777"/>
          </a:solidFill>
          <a:ln w="9525" cap="flat" cmpd="sng">
            <a:solidFill>
              <a:srgbClr val="FFFFFF"/>
            </a:solidFill>
            <a:prstDash val="solid"/>
            <a:miter/>
            <a:headEnd type="none" w="med" len="med"/>
            <a:tailEnd type="none" w="med" len="med"/>
          </a:ln>
        </p:spPr>
        <p:txBody>
          <a:bodyPr anchor="t"/>
          <a:p>
            <a:pPr algn="ctr" eaLnBrk="0" hangingPunct="0"/>
            <a:r>
              <a:rPr lang="zh-CN" altLang="en-US" sz="1800" dirty="0">
                <a:solidFill>
                  <a:srgbClr val="FFFFFF"/>
                </a:solidFill>
                <a:latin typeface="Times New Roman" panose="02020603050405020304" pitchFamily="18" charset="0"/>
                <a:ea typeface="宋体" panose="02010600030101010101" pitchFamily="2" charset="-122"/>
              </a:rPr>
              <a:t>文件２</a:t>
            </a:r>
            <a:endParaRPr lang="zh-CN" altLang="en-US" sz="1800" dirty="0">
              <a:solidFill>
                <a:srgbClr val="FFFFFF"/>
              </a:solidFill>
              <a:latin typeface="Times New Roman" panose="02020603050405020304" pitchFamily="18" charset="0"/>
              <a:ea typeface="宋体" panose="02010600030101010101" pitchFamily="2" charset="-122"/>
            </a:endParaRPr>
          </a:p>
        </p:txBody>
      </p:sp>
      <p:sp>
        <p:nvSpPr>
          <p:cNvPr id="96283" name="AutoShape 83"/>
          <p:cNvSpPr/>
          <p:nvPr/>
        </p:nvSpPr>
        <p:spPr>
          <a:xfrm>
            <a:off x="1660525" y="5300663"/>
            <a:ext cx="914400" cy="438150"/>
          </a:xfrm>
          <a:prstGeom prst="borderCallout1">
            <a:avLst>
              <a:gd name="adj1" fmla="val 26088"/>
              <a:gd name="adj2" fmla="val 108333"/>
              <a:gd name="adj3" fmla="val -72824"/>
              <a:gd name="adj4" fmla="val 116148"/>
            </a:avLst>
          </a:prstGeom>
          <a:solidFill>
            <a:srgbClr val="777777"/>
          </a:solidFill>
          <a:ln w="9525" cap="flat" cmpd="sng">
            <a:solidFill>
              <a:srgbClr val="FFFFFF"/>
            </a:solidFill>
            <a:prstDash val="solid"/>
            <a:miter/>
            <a:headEnd type="none" w="med" len="med"/>
            <a:tailEnd type="none" w="med" len="med"/>
          </a:ln>
        </p:spPr>
        <p:txBody>
          <a:bodyPr anchor="t"/>
          <a:p>
            <a:pPr algn="ctr" eaLnBrk="0" hangingPunct="0"/>
            <a:r>
              <a:rPr lang="zh-CN" altLang="en-US" sz="1800" dirty="0">
                <a:solidFill>
                  <a:srgbClr val="FFFFFF"/>
                </a:solidFill>
                <a:latin typeface="Times New Roman" panose="02020603050405020304" pitchFamily="18" charset="0"/>
                <a:ea typeface="宋体" panose="02010600030101010101" pitchFamily="2" charset="-122"/>
              </a:rPr>
              <a:t>文件３</a:t>
            </a:r>
            <a:endParaRPr lang="zh-CN" altLang="en-US" sz="1800" dirty="0">
              <a:solidFill>
                <a:srgbClr val="FFFFFF"/>
              </a:solidFill>
              <a:latin typeface="Times New Roman" panose="02020603050405020304" pitchFamily="18"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p:nvPr/>
        </p:nvSpPr>
        <p:spPr>
          <a:xfrm>
            <a:off x="-34925"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头文件的使用：使函数调用免于声明</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97282" name="Rectangle 30"/>
          <p:cNvSpPr/>
          <p:nvPr/>
        </p:nvSpPr>
        <p:spPr>
          <a:xfrm>
            <a:off x="0" y="1196975"/>
            <a:ext cx="1655763" cy="2987675"/>
          </a:xfrm>
          <a:prstGeom prst="rect">
            <a:avLst/>
          </a:prstGeom>
          <a:noFill/>
          <a:ln w="9525">
            <a:noFill/>
          </a:ln>
        </p:spPr>
        <p:txBody>
          <a:bodyPr lIns="92075" tIns="46037" rIns="92075" bIns="46037" anchor="t"/>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 abc.h</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f1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f2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f3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g1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g2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p ( );</a:t>
            </a:r>
            <a:endParaRPr lang="en-US" altLang="zh-CN" sz="2400" b="1" dirty="0">
              <a:solidFill>
                <a:srgbClr val="FFFFFF"/>
              </a:solidFill>
              <a:latin typeface="Times New Roman" panose="02020603050405020304" pitchFamily="18" charset="0"/>
              <a:ea typeface="宋体" panose="02010600030101010101" pitchFamily="2" charset="-122"/>
            </a:endParaRPr>
          </a:p>
          <a:p>
            <a:pPr marL="533400" indent="-533400">
              <a:spcBef>
                <a:spcPct val="20000"/>
              </a:spcBef>
            </a:pPr>
            <a:r>
              <a:rPr lang="en-US" altLang="zh-CN" sz="2400" b="1" dirty="0">
                <a:solidFill>
                  <a:srgbClr val="FFFFFF"/>
                </a:solidFill>
                <a:latin typeface="Times New Roman" panose="02020603050405020304" pitchFamily="18" charset="0"/>
                <a:ea typeface="宋体" panose="02010600030101010101" pitchFamily="2" charset="-122"/>
              </a:rPr>
              <a:t>void  h ( );</a:t>
            </a:r>
            <a:endParaRPr lang="en-US" altLang="zh-CN" sz="2400" b="1" dirty="0">
              <a:solidFill>
                <a:srgbClr val="FFFFFF"/>
              </a:solidFill>
              <a:latin typeface="Times New Roman" panose="02020603050405020304" pitchFamily="18" charset="0"/>
              <a:ea typeface="宋体" panose="02010600030101010101" pitchFamily="2" charset="-122"/>
            </a:endParaRPr>
          </a:p>
        </p:txBody>
      </p:sp>
      <p:sp>
        <p:nvSpPr>
          <p:cNvPr id="97283" name="Rectangle 32"/>
          <p:cNvSpPr/>
          <p:nvPr/>
        </p:nvSpPr>
        <p:spPr>
          <a:xfrm>
            <a:off x="2341563" y="1268413"/>
            <a:ext cx="2951162" cy="5256212"/>
          </a:xfrm>
          <a:prstGeom prst="rect">
            <a:avLst/>
          </a:prstGeom>
          <a:noFill/>
          <a:ln w="9525">
            <a:noFill/>
          </a:ln>
        </p:spPr>
        <p:txBody>
          <a:bodyPr lIns="92075" tIns="46037" rIns="92075" bIns="46037" anchor="t"/>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a1.cpp</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r>
              <a:rPr lang="en-US" altLang="zh-CN" sz="2400" b="1" i="1" dirty="0">
                <a:solidFill>
                  <a:srgbClr val="FFFFFF"/>
                </a:solidFill>
                <a:latin typeface="Courier New" panose="02070309020205020404" pitchFamily="49" charset="0"/>
                <a:ea typeface="宋体" panose="02010600030101010101" pitchFamily="2" charset="-122"/>
              </a:rPr>
              <a:t>include”abc.h”</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void f1()</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if(…){</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p();</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g1();</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else{</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g2();</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h();</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endParaRPr lang="en-US" altLang="zh-CN" sz="2400" b="1" dirty="0">
              <a:solidFill>
                <a:srgbClr val="FFFFFF"/>
              </a:solidFill>
              <a:latin typeface="Courier New" panose="02070309020205020404" pitchFamily="49" charset="0"/>
              <a:ea typeface="宋体" panose="02010600030101010101" pitchFamily="2" charset="-122"/>
            </a:endParaRPr>
          </a:p>
        </p:txBody>
      </p:sp>
      <p:sp>
        <p:nvSpPr>
          <p:cNvPr id="97284" name="Rectangle 34"/>
          <p:cNvSpPr/>
          <p:nvPr/>
        </p:nvSpPr>
        <p:spPr>
          <a:xfrm>
            <a:off x="5688013" y="1196975"/>
            <a:ext cx="3421062" cy="4787900"/>
          </a:xfrm>
          <a:prstGeom prst="rect">
            <a:avLst/>
          </a:prstGeom>
          <a:noFill/>
          <a:ln w="9525">
            <a:noFill/>
          </a:ln>
        </p:spPr>
        <p:txBody>
          <a:bodyPr lIns="92075" tIns="46037" rIns="92075" bIns="46037" anchor="t"/>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a2.cpp</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r>
              <a:rPr lang="en-US" altLang="zh-CN" sz="2400" b="1" i="1" dirty="0">
                <a:solidFill>
                  <a:srgbClr val="FFFFFF"/>
                </a:solidFill>
                <a:latin typeface="Courier New" panose="02070309020205020404" pitchFamily="49" charset="0"/>
                <a:ea typeface="宋体" panose="02010600030101010101" pitchFamily="2" charset="-122"/>
              </a:rPr>
              <a:t>include”abc.h”</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int main(){</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f1();</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f2();</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f3();</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void f3(){</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f1();</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void p(){</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  f3();</a:t>
            </a:r>
            <a:endParaRPr lang="en-US" altLang="zh-CN" sz="2400" b="1" dirty="0">
              <a:solidFill>
                <a:srgbClr val="FFFFFF"/>
              </a:solidFill>
              <a:latin typeface="Courier New" panose="02070309020205020404" pitchFamily="49" charset="0"/>
              <a:ea typeface="宋体" panose="02010600030101010101" pitchFamily="2" charset="-122"/>
            </a:endParaRPr>
          </a:p>
          <a:p>
            <a:pPr marL="533400" indent="-533400">
              <a:spcBef>
                <a:spcPct val="20000"/>
              </a:spcBef>
            </a:pPr>
            <a:r>
              <a:rPr lang="en-US" altLang="zh-CN" sz="2400" b="1" dirty="0">
                <a:solidFill>
                  <a:srgbClr val="FFFFFF"/>
                </a:solidFill>
                <a:latin typeface="Courier New" panose="02070309020205020404" pitchFamily="49" charset="0"/>
                <a:ea typeface="宋体" panose="02010600030101010101" pitchFamily="2" charset="-122"/>
              </a:rPr>
              <a:t>}//-------</a:t>
            </a:r>
            <a:endParaRPr lang="en-US" altLang="zh-CN" sz="2400" b="1" dirty="0">
              <a:solidFill>
                <a:srgbClr val="FFFFFF"/>
              </a:solidFill>
              <a:latin typeface="Courier New" panose="02070309020205020404" pitchFamily="49" charset="0"/>
              <a:ea typeface="宋体" panose="02010600030101010101" pitchFamily="2" charset="-122"/>
            </a:endParaRPr>
          </a:p>
        </p:txBody>
      </p:sp>
      <p:cxnSp>
        <p:nvCxnSpPr>
          <p:cNvPr id="97285" name="直接连接符 2"/>
          <p:cNvCxnSpPr/>
          <p:nvPr/>
        </p:nvCxnSpPr>
        <p:spPr>
          <a:xfrm>
            <a:off x="1908175" y="908050"/>
            <a:ext cx="0" cy="5616575"/>
          </a:xfrm>
          <a:prstGeom prst="line">
            <a:avLst/>
          </a:prstGeom>
          <a:ln w="9525" cap="flat" cmpd="sng">
            <a:solidFill>
              <a:schemeClr val="bg1"/>
            </a:solidFill>
            <a:prstDash val="solid"/>
            <a:round/>
            <a:headEnd type="none" w="med" len="med"/>
            <a:tailEnd type="none" w="med" len="med"/>
          </a:ln>
        </p:spPr>
      </p:cxnSp>
      <p:cxnSp>
        <p:nvCxnSpPr>
          <p:cNvPr id="97286" name="直接连接符 4"/>
          <p:cNvCxnSpPr/>
          <p:nvPr/>
        </p:nvCxnSpPr>
        <p:spPr>
          <a:xfrm>
            <a:off x="5292725" y="909638"/>
            <a:ext cx="0" cy="575945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p:nvPr/>
        </p:nvSpPr>
        <p:spPr>
          <a:xfrm>
            <a:off x="-34925"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界面头文件（上）</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98306" name="Rectangle 7"/>
          <p:cNvSpPr>
            <a:spLocks noGrp="1"/>
          </p:cNvSpPr>
          <p:nvPr>
            <p:ph idx="1"/>
          </p:nvPr>
        </p:nvSpPr>
        <p:spPr>
          <a:xfrm>
            <a:off x="1979613" y="1268413"/>
            <a:ext cx="6264275" cy="5113337"/>
          </a:xfrm>
        </p:spPr>
        <p:txBody>
          <a:bodyPr vert="horz" wrap="square" lIns="92075" tIns="46037" rIns="92075" bIns="46037" anchor="t"/>
          <a:p>
            <a:pPr eaLnBrk="1" hangingPunct="1">
              <a:lnSpc>
                <a:spcPct val="80000"/>
              </a:lnSpc>
              <a:buNone/>
            </a:pPr>
            <a:r>
              <a:rPr lang="en-US" altLang="zh-CN" sz="2800" b="1" dirty="0">
                <a:solidFill>
                  <a:srgbClr val="FFFFFF"/>
                </a:solidFill>
                <a:latin typeface="Courier New" panose="02070309020205020404" pitchFamily="49" charset="0"/>
              </a:rPr>
              <a:t>// a1.h  a1.cpp</a:t>
            </a:r>
            <a:r>
              <a:rPr lang="zh-CN" altLang="en-US" sz="2800" b="1" dirty="0">
                <a:solidFill>
                  <a:srgbClr val="FFFFFF"/>
                </a:solidFill>
                <a:latin typeface="Courier New" panose="02070309020205020404" pitchFamily="49" charset="0"/>
              </a:rPr>
              <a:t>提供的资源</a:t>
            </a:r>
            <a:endParaRPr lang="zh-CN" altLang="en-US" sz="2800" b="1" dirty="0">
              <a:solidFill>
                <a:srgbClr val="FFFFFF"/>
              </a:solidFill>
              <a:latin typeface="Courier New" panose="02070309020205020404" pitchFamily="49" charset="0"/>
            </a:endParaRPr>
          </a:p>
          <a:p>
            <a:pPr eaLnBrk="1" hangingPunct="1">
              <a:lnSpc>
                <a:spcPct val="80000"/>
              </a:lnSpc>
              <a:buNone/>
            </a:pPr>
            <a:r>
              <a:rPr lang="en-US" altLang="zh-CN" sz="2800" b="1" dirty="0">
                <a:solidFill>
                  <a:srgbClr val="FFFFFF"/>
                </a:solidFill>
                <a:latin typeface="Courier New" panose="02070309020205020404" pitchFamily="49" charset="0"/>
              </a:rPr>
              <a:t>void f1();</a:t>
            </a:r>
            <a:endParaRPr lang="en-US" altLang="zh-CN" sz="2800" b="1" dirty="0">
              <a:solidFill>
                <a:srgbClr val="FFFFFF"/>
              </a:solidFill>
              <a:latin typeface="Courier New" panose="02070309020205020404" pitchFamily="49" charset="0"/>
            </a:endParaRPr>
          </a:p>
          <a:p>
            <a:pPr eaLnBrk="1" hangingPunct="1">
              <a:lnSpc>
                <a:spcPct val="80000"/>
              </a:lnSpc>
              <a:buNone/>
            </a:pPr>
            <a:endParaRPr lang="en-US" altLang="zh-CN" sz="2800" b="1" dirty="0">
              <a:solidFill>
                <a:srgbClr val="FFFFFF"/>
              </a:solidFill>
              <a:latin typeface="Courier New" panose="02070309020205020404" pitchFamily="49" charset="0"/>
              <a:ea typeface="隶书" panose="02010509060101010101" pitchFamily="49" charset="-122"/>
            </a:endParaRPr>
          </a:p>
          <a:p>
            <a:pPr eaLnBrk="1" hangingPunct="1">
              <a:lnSpc>
                <a:spcPct val="80000"/>
              </a:lnSpc>
              <a:buNone/>
            </a:pPr>
            <a:r>
              <a:rPr lang="en-US" altLang="zh-CN" sz="2800" b="1" dirty="0">
                <a:solidFill>
                  <a:srgbClr val="FFFFFF"/>
                </a:solidFill>
                <a:latin typeface="Courier New" panose="02070309020205020404" pitchFamily="49" charset="0"/>
                <a:ea typeface="黑体" panose="02010609060101010101" pitchFamily="49" charset="-122"/>
              </a:rPr>
              <a:t>// a2.h</a:t>
            </a:r>
            <a:r>
              <a:rPr lang="zh-CN" altLang="en-US" sz="2800" b="1" dirty="0">
                <a:solidFill>
                  <a:srgbClr val="FFFFFF"/>
                </a:solidFill>
                <a:latin typeface="Courier New" panose="02070309020205020404" pitchFamily="49" charset="0"/>
                <a:ea typeface="黑体" panose="02010609060101010101" pitchFamily="49" charset="-122"/>
              </a:rPr>
              <a:t>　 </a:t>
            </a:r>
            <a:r>
              <a:rPr lang="en-US" altLang="zh-CN" sz="2800" b="1" dirty="0">
                <a:solidFill>
                  <a:srgbClr val="FFFFFF"/>
                </a:solidFill>
                <a:latin typeface="Courier New" panose="02070309020205020404" pitchFamily="49" charset="0"/>
                <a:ea typeface="黑体" panose="02010609060101010101" pitchFamily="49" charset="-122"/>
              </a:rPr>
              <a:t>a2.cpp</a:t>
            </a:r>
            <a:r>
              <a:rPr lang="zh-CN" altLang="en-US" sz="2800" b="1" dirty="0">
                <a:solidFill>
                  <a:srgbClr val="FFFFFF"/>
                </a:solidFill>
                <a:latin typeface="Courier New" panose="02070309020205020404" pitchFamily="49" charset="0"/>
              </a:rPr>
              <a:t>提供的资源</a:t>
            </a:r>
            <a:endParaRPr lang="zh-CN" altLang="en-US" sz="2800" b="1" dirty="0">
              <a:solidFill>
                <a:srgbClr val="FFFFFF"/>
              </a:solidFill>
              <a:latin typeface="Courier New" panose="02070309020205020404" pitchFamily="49" charset="0"/>
            </a:endParaRPr>
          </a:p>
          <a:p>
            <a:pPr eaLnBrk="1" hangingPunct="1">
              <a:lnSpc>
                <a:spcPct val="80000"/>
              </a:lnSpc>
              <a:buNone/>
            </a:pPr>
            <a:r>
              <a:rPr lang="en-US" altLang="zh-CN" sz="2800" b="1" dirty="0">
                <a:solidFill>
                  <a:srgbClr val="FFFFFF"/>
                </a:solidFill>
                <a:latin typeface="Courier New" panose="02070309020205020404" pitchFamily="49" charset="0"/>
              </a:rPr>
              <a:t>void p();</a:t>
            </a:r>
            <a:endParaRPr lang="en-US" altLang="zh-CN" sz="2800" b="1" dirty="0">
              <a:solidFill>
                <a:srgbClr val="FFFFFF"/>
              </a:solidFill>
              <a:latin typeface="Courier New" panose="02070309020205020404" pitchFamily="49" charset="0"/>
              <a:ea typeface="隶书" panose="02010509060101010101" pitchFamily="49" charset="-122"/>
            </a:endParaRPr>
          </a:p>
          <a:p>
            <a:pPr eaLnBrk="1" hangingPunct="1">
              <a:lnSpc>
                <a:spcPct val="80000"/>
              </a:lnSpc>
              <a:buNone/>
            </a:pPr>
            <a:endParaRPr lang="en-US" altLang="zh-CN" sz="2800" b="1" dirty="0">
              <a:solidFill>
                <a:srgbClr val="FFFFFF"/>
              </a:solidFill>
              <a:latin typeface="Courier New" panose="02070309020205020404" pitchFamily="49" charset="0"/>
              <a:ea typeface="隶书" panose="02010509060101010101" pitchFamily="49" charset="-122"/>
            </a:endParaRPr>
          </a:p>
          <a:p>
            <a:pPr eaLnBrk="1" hangingPunct="1">
              <a:lnSpc>
                <a:spcPct val="80000"/>
              </a:lnSpc>
              <a:buNone/>
            </a:pPr>
            <a:r>
              <a:rPr lang="en-US" altLang="zh-CN" sz="2800" b="1" dirty="0">
                <a:solidFill>
                  <a:srgbClr val="FFFFFF"/>
                </a:solidFill>
                <a:latin typeface="Courier New" panose="02070309020205020404" pitchFamily="49" charset="0"/>
                <a:ea typeface="隶书" panose="02010509060101010101" pitchFamily="49" charset="-122"/>
              </a:rPr>
              <a:t>// a3.h</a:t>
            </a:r>
            <a:r>
              <a:rPr lang="zh-CN" altLang="en-US" sz="2800" b="1" dirty="0">
                <a:solidFill>
                  <a:srgbClr val="FFFFFF"/>
                </a:solidFill>
                <a:latin typeface="Courier New" panose="02070309020205020404" pitchFamily="49" charset="0"/>
                <a:ea typeface="隶书" panose="02010509060101010101" pitchFamily="49" charset="-122"/>
              </a:rPr>
              <a:t>　 </a:t>
            </a:r>
            <a:r>
              <a:rPr lang="en-US" altLang="zh-CN" sz="2800" b="1" dirty="0">
                <a:solidFill>
                  <a:srgbClr val="FFFFFF"/>
                </a:solidFill>
                <a:latin typeface="Courier New" panose="02070309020205020404" pitchFamily="49" charset="0"/>
              </a:rPr>
              <a:t>a</a:t>
            </a:r>
            <a:r>
              <a:rPr lang="en-US" altLang="zh-CN" sz="2800" b="1" dirty="0">
                <a:solidFill>
                  <a:srgbClr val="FFFFFF"/>
                </a:solidFill>
                <a:latin typeface="Courier New" panose="02070309020205020404" pitchFamily="49" charset="0"/>
                <a:ea typeface="隶书" panose="02010509060101010101" pitchFamily="49" charset="-122"/>
              </a:rPr>
              <a:t>3</a:t>
            </a:r>
            <a:r>
              <a:rPr lang="en-US" altLang="zh-CN" sz="2800" b="1" dirty="0">
                <a:solidFill>
                  <a:srgbClr val="FFFFFF"/>
                </a:solidFill>
                <a:latin typeface="Courier New" panose="02070309020205020404" pitchFamily="49" charset="0"/>
              </a:rPr>
              <a:t>.cpp</a:t>
            </a:r>
            <a:r>
              <a:rPr lang="zh-CN" altLang="en-US" sz="2800" b="1" dirty="0">
                <a:solidFill>
                  <a:srgbClr val="FFFFFF"/>
                </a:solidFill>
                <a:latin typeface="Courier New" panose="02070309020205020404" pitchFamily="49" charset="0"/>
              </a:rPr>
              <a:t>提供的资源</a:t>
            </a:r>
            <a:endParaRPr lang="zh-CN" altLang="en-US" sz="2800" b="1" dirty="0">
              <a:solidFill>
                <a:srgbClr val="FFFFFF"/>
              </a:solidFill>
              <a:latin typeface="Courier New" panose="02070309020205020404" pitchFamily="49" charset="0"/>
              <a:ea typeface="隶书" panose="02010509060101010101" pitchFamily="49" charset="-122"/>
            </a:endParaRPr>
          </a:p>
          <a:p>
            <a:pPr eaLnBrk="1" hangingPunct="1">
              <a:lnSpc>
                <a:spcPct val="80000"/>
              </a:lnSpc>
              <a:buNone/>
            </a:pPr>
            <a:r>
              <a:rPr lang="en-US" altLang="zh-CN" sz="2800" b="1" dirty="0">
                <a:solidFill>
                  <a:srgbClr val="FFFFFF"/>
                </a:solidFill>
                <a:latin typeface="Courier New" panose="02070309020205020404" pitchFamily="49" charset="0"/>
              </a:rPr>
              <a:t>void g1();</a:t>
            </a:r>
            <a:endParaRPr lang="en-US" altLang="zh-CN" sz="2800" b="1" dirty="0">
              <a:solidFill>
                <a:srgbClr val="FFFFFF"/>
              </a:solidFill>
              <a:latin typeface="Courier New" panose="02070309020205020404" pitchFamily="49" charset="0"/>
            </a:endParaRPr>
          </a:p>
          <a:p>
            <a:pPr eaLnBrk="1" hangingPunct="1">
              <a:lnSpc>
                <a:spcPct val="80000"/>
              </a:lnSpc>
              <a:buNone/>
            </a:pPr>
            <a:r>
              <a:rPr lang="en-US" altLang="zh-CN" sz="2800" b="1" dirty="0">
                <a:solidFill>
                  <a:srgbClr val="FFFFFF"/>
                </a:solidFill>
                <a:latin typeface="Courier New" panose="02070309020205020404" pitchFamily="49" charset="0"/>
              </a:rPr>
              <a:t>void g2();</a:t>
            </a:r>
            <a:endParaRPr lang="en-US" altLang="zh-CN" sz="2800" b="1" dirty="0">
              <a:solidFill>
                <a:srgbClr val="FFFFFF"/>
              </a:solidFill>
              <a:latin typeface="Courier New" panose="02070309020205020404" pitchFamily="49" charset="0"/>
            </a:endParaRPr>
          </a:p>
          <a:p>
            <a:pPr eaLnBrk="1" hangingPunct="1">
              <a:lnSpc>
                <a:spcPct val="80000"/>
              </a:lnSpc>
              <a:buNone/>
            </a:pPr>
            <a:r>
              <a:rPr lang="en-US" altLang="zh-CN" sz="2800" b="1" dirty="0">
                <a:solidFill>
                  <a:srgbClr val="FFFFFF"/>
                </a:solidFill>
                <a:latin typeface="Courier New" panose="02070309020205020404" pitchFamily="49" charset="0"/>
              </a:rPr>
              <a:t>void f2();</a:t>
            </a:r>
            <a:endParaRPr lang="en-US" altLang="zh-CN" sz="2800" b="1" dirty="0">
              <a:solidFill>
                <a:srgbClr val="FFFFFF"/>
              </a:solidFill>
              <a:latin typeface="Courier New" panose="02070309020205020404" pitchFamily="49" charset="0"/>
            </a:endParaRPr>
          </a:p>
          <a:p>
            <a:pPr eaLnBrk="1" hangingPunct="1">
              <a:lnSpc>
                <a:spcPct val="80000"/>
              </a:lnSpc>
              <a:buNone/>
            </a:pPr>
            <a:r>
              <a:rPr lang="en-US" altLang="zh-CN" sz="2800" b="1" dirty="0">
                <a:solidFill>
                  <a:srgbClr val="FFFFFF"/>
                </a:solidFill>
                <a:latin typeface="Courier New" panose="02070309020205020404" pitchFamily="49" charset="0"/>
              </a:rPr>
              <a:t>void h();</a:t>
            </a:r>
            <a:r>
              <a:rPr lang="en-US" altLang="zh-CN" sz="2800" b="1" dirty="0">
                <a:solidFill>
                  <a:srgbClr val="FFFFFF"/>
                </a:solidFill>
                <a:latin typeface="Courier New" panose="02070309020205020404" pitchFamily="49" charset="0"/>
                <a:ea typeface="隶书" panose="02010509060101010101" pitchFamily="49" charset="-122"/>
              </a:rPr>
              <a:t> </a:t>
            </a:r>
            <a:endParaRPr lang="en-US" altLang="zh-CN" sz="2800" b="1" dirty="0">
              <a:solidFill>
                <a:srgbClr val="FFFFFF"/>
              </a:solidFill>
              <a:latin typeface="Courier New" panose="02070309020205020404" pitchFamily="49" charset="0"/>
              <a:ea typeface="隶书" panose="02010509060101010101" pitchFamily="49" charset="-122"/>
            </a:endParaRPr>
          </a:p>
        </p:txBody>
      </p:sp>
      <p:cxnSp>
        <p:nvCxnSpPr>
          <p:cNvPr id="98307" name="直接连接符 2"/>
          <p:cNvCxnSpPr/>
          <p:nvPr/>
        </p:nvCxnSpPr>
        <p:spPr>
          <a:xfrm>
            <a:off x="2051050" y="2205038"/>
            <a:ext cx="5113338" cy="0"/>
          </a:xfrm>
          <a:prstGeom prst="line">
            <a:avLst/>
          </a:prstGeom>
          <a:ln w="9525" cap="flat" cmpd="sng">
            <a:solidFill>
              <a:schemeClr val="bg1"/>
            </a:solidFill>
            <a:prstDash val="solid"/>
            <a:round/>
            <a:headEnd type="none" w="med" len="med"/>
            <a:tailEnd type="none" w="med" len="med"/>
          </a:ln>
        </p:spPr>
      </p:cxnSp>
      <p:cxnSp>
        <p:nvCxnSpPr>
          <p:cNvPr id="98308" name="直接连接符 4"/>
          <p:cNvCxnSpPr/>
          <p:nvPr/>
        </p:nvCxnSpPr>
        <p:spPr>
          <a:xfrm>
            <a:off x="1979613" y="3573463"/>
            <a:ext cx="5256212" cy="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p:nvPr/>
        </p:nvSpPr>
        <p:spPr>
          <a:xfrm>
            <a:off x="-34925"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界面头文件（下）</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99330" name="Rectangle 6"/>
          <p:cNvSpPr>
            <a:spLocks noGrp="1"/>
          </p:cNvSpPr>
          <p:nvPr>
            <p:ph idx="1"/>
          </p:nvPr>
        </p:nvSpPr>
        <p:spPr>
          <a:xfrm>
            <a:off x="2916238" y="908050"/>
            <a:ext cx="4464050" cy="5616575"/>
          </a:xfrm>
        </p:spPr>
        <p:txBody>
          <a:bodyPr vert="horz" wrap="square" lIns="92075" tIns="46037" rIns="92075" bIns="46037" anchor="t"/>
          <a:p>
            <a:pPr marL="533400" indent="-533400" eaLnBrk="1" hangingPunct="1">
              <a:lnSpc>
                <a:spcPct val="80000"/>
              </a:lnSpc>
              <a:buNone/>
            </a:pPr>
            <a:r>
              <a:rPr lang="en-US" altLang="zh-CN" sz="2800" b="1" dirty="0">
                <a:solidFill>
                  <a:srgbClr val="FFFFFF"/>
                </a:solidFill>
                <a:latin typeface="Courier New" panose="02070309020205020404" pitchFamily="49" charset="0"/>
              </a:rPr>
              <a:t>// s.cpp</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a:t>
            </a:r>
            <a:r>
              <a:rPr lang="en-US" altLang="zh-CN" sz="2800" b="1" i="1" dirty="0">
                <a:solidFill>
                  <a:srgbClr val="FFFFFF"/>
                </a:solidFill>
                <a:latin typeface="Courier New" panose="02070309020205020404" pitchFamily="49" charset="0"/>
              </a:rPr>
              <a:t>include”a2.h”</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a:t>
            </a:r>
            <a:r>
              <a:rPr lang="en-US" altLang="zh-CN" sz="2800" b="1" i="1" dirty="0">
                <a:solidFill>
                  <a:srgbClr val="FFFFFF"/>
                </a:solidFill>
                <a:latin typeface="Courier New" panose="02070309020205020404" pitchFamily="49" charset="0"/>
              </a:rPr>
              <a:t>include”a3.h”</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void s()</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if(…){</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p();</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g1();</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}else{</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g2();</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h();</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  }</a:t>
            </a:r>
            <a:endParaRPr lang="en-US" altLang="zh-CN" sz="2800" b="1" dirty="0">
              <a:solidFill>
                <a:srgbClr val="FFFFFF"/>
              </a:solidFill>
              <a:latin typeface="Courier New" panose="02070309020205020404" pitchFamily="49" charset="0"/>
            </a:endParaRPr>
          </a:p>
          <a:p>
            <a:pPr marL="533400" indent="-533400" eaLnBrk="1" hangingPunct="1">
              <a:lnSpc>
                <a:spcPct val="80000"/>
              </a:lnSpc>
              <a:buNone/>
            </a:pPr>
            <a:r>
              <a:rPr lang="en-US" altLang="zh-CN" sz="2800" b="1" dirty="0">
                <a:solidFill>
                  <a:srgbClr val="FFFFFF"/>
                </a:solidFill>
                <a:latin typeface="Courier New" panose="02070309020205020404" pitchFamily="49" charset="0"/>
              </a:rPr>
              <a:t>}</a:t>
            </a:r>
            <a:endParaRPr lang="en-US" altLang="zh-CN" sz="2800" b="1" dirty="0">
              <a:solidFill>
                <a:srgbClr val="FFFFFF"/>
              </a:solidFill>
              <a:latin typeface="Courier New" panose="020703090202050204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idx="1"/>
          </p:nvPr>
        </p:nvSpPr>
        <p:spPr>
          <a:xfrm>
            <a:off x="182563" y="765175"/>
            <a:ext cx="3094037" cy="5327650"/>
          </a:xfrm>
        </p:spPr>
        <p:txBody>
          <a:bodyPr vert="horz" wrap="square" lIns="91440" tIns="45720" rIns="91440" bIns="45720" anchor="t"/>
          <a:p>
            <a:pPr eaLnBrk="1" hangingPunct="1">
              <a:buNone/>
            </a:pPr>
            <a:r>
              <a:rPr lang="zh-CN" altLang="en-US" sz="2800" b="1" dirty="0">
                <a:solidFill>
                  <a:schemeClr val="bg1"/>
                </a:solidFill>
              </a:rPr>
              <a:t>例子（上）</a:t>
            </a:r>
            <a:endParaRPr lang="zh-CN" altLang="en-US" sz="2800" b="1" dirty="0">
              <a:solidFill>
                <a:schemeClr val="bg1"/>
              </a:solidFill>
            </a:endParaRPr>
          </a:p>
          <a:p>
            <a:pPr eaLnBrk="1" hangingPunct="1">
              <a:buNone/>
            </a:pPr>
            <a:r>
              <a:rPr lang="zh-CN" altLang="en-US" sz="2800" b="1" u="sng" dirty="0">
                <a:solidFill>
                  <a:schemeClr val="bg1"/>
                </a:solidFill>
              </a:rPr>
              <a:t>文件：</a:t>
            </a:r>
            <a:r>
              <a:rPr lang="en-US" altLang="zh-CN" sz="2800" b="1" u="sng" dirty="0">
                <a:solidFill>
                  <a:schemeClr val="bg1"/>
                </a:solidFill>
              </a:rPr>
              <a:t>Student.h</a:t>
            </a:r>
            <a:endParaRPr lang="en-US" altLang="zh-CN" sz="2800" b="1" u="sng" dirty="0">
              <a:solidFill>
                <a:schemeClr val="bg1"/>
              </a:solidFill>
            </a:endParaRPr>
          </a:p>
          <a:p>
            <a:pPr eaLnBrk="1" hangingPunct="1">
              <a:buNone/>
            </a:pPr>
            <a:endParaRPr lang="en-US" altLang="zh-CN" sz="2800" b="1" u="sng" dirty="0">
              <a:solidFill>
                <a:schemeClr val="bg1"/>
              </a:solidFill>
            </a:endParaRPr>
          </a:p>
          <a:p>
            <a:pPr eaLnBrk="1" hangingPunct="1">
              <a:buNone/>
            </a:pPr>
            <a:r>
              <a:rPr lang="en-US" altLang="zh-CN" sz="2800" b="1" dirty="0">
                <a:solidFill>
                  <a:schemeClr val="bg1"/>
                </a:solidFill>
              </a:rPr>
              <a:t>class Student{</a:t>
            </a:r>
            <a:endParaRPr lang="en-US" altLang="zh-CN" sz="2800" b="1" dirty="0">
              <a:solidFill>
                <a:schemeClr val="bg1"/>
              </a:solidFill>
            </a:endParaRPr>
          </a:p>
          <a:p>
            <a:pPr eaLnBrk="1" hangingPunct="1">
              <a:buNone/>
            </a:pPr>
            <a:r>
              <a:rPr lang="en-US" altLang="zh-CN" sz="2800" b="1" dirty="0">
                <a:solidFill>
                  <a:schemeClr val="bg1"/>
                </a:solidFill>
              </a:rPr>
              <a:t>  public:</a:t>
            </a:r>
            <a:endParaRPr lang="en-US" altLang="zh-CN" sz="2800" b="1" dirty="0">
              <a:solidFill>
                <a:schemeClr val="bg1"/>
              </a:solidFill>
            </a:endParaRPr>
          </a:p>
          <a:p>
            <a:pPr eaLnBrk="1" hangingPunct="1">
              <a:buNone/>
            </a:pPr>
            <a:r>
              <a:rPr lang="en-US" altLang="zh-CN" sz="2800" b="1" dirty="0">
                <a:solidFill>
                  <a:schemeClr val="bg1"/>
                </a:solidFill>
              </a:rPr>
              <a:t>       void p(void);</a:t>
            </a:r>
            <a:endParaRPr lang="en-US" altLang="zh-CN" sz="2800" b="1" dirty="0">
              <a:solidFill>
                <a:schemeClr val="bg1"/>
              </a:solidFill>
            </a:endParaRPr>
          </a:p>
          <a:p>
            <a:pPr eaLnBrk="1" hangingPunct="1">
              <a:buNone/>
            </a:pPr>
            <a:r>
              <a:rPr lang="en-US" altLang="zh-CN" sz="2800" b="1" dirty="0">
                <a:solidFill>
                  <a:schemeClr val="bg1"/>
                </a:solidFill>
              </a:rPr>
              <a:t>       float score;</a:t>
            </a:r>
            <a:endParaRPr lang="en-US" altLang="zh-CN" sz="2800" b="1" dirty="0">
              <a:solidFill>
                <a:schemeClr val="bg1"/>
              </a:solidFill>
            </a:endParaRPr>
          </a:p>
          <a:p>
            <a:pPr eaLnBrk="1" hangingPunct="1">
              <a:buNone/>
            </a:pPr>
            <a:r>
              <a:rPr lang="en-US" altLang="zh-CN" sz="2800" b="1" dirty="0">
                <a:solidFill>
                  <a:schemeClr val="bg1"/>
                </a:solidFill>
              </a:rPr>
              <a:t>protected:</a:t>
            </a:r>
            <a:endParaRPr lang="en-US" altLang="zh-CN" sz="2800" b="1" dirty="0">
              <a:solidFill>
                <a:schemeClr val="bg1"/>
              </a:solidFill>
            </a:endParaRPr>
          </a:p>
          <a:p>
            <a:pPr eaLnBrk="1" hangingPunct="1">
              <a:buNone/>
            </a:pPr>
            <a:r>
              <a:rPr lang="en-US" altLang="zh-CN" sz="2800" b="1" dirty="0">
                <a:solidFill>
                  <a:schemeClr val="bg1"/>
                </a:solidFill>
              </a:rPr>
              <a:t>        char name;</a:t>
            </a:r>
            <a:endParaRPr lang="en-US" altLang="zh-CN" sz="2800" b="1" dirty="0">
              <a:solidFill>
                <a:schemeClr val="bg1"/>
              </a:solidFill>
            </a:endParaRPr>
          </a:p>
          <a:p>
            <a:pPr eaLnBrk="1" hangingPunct="1">
              <a:buNone/>
            </a:pPr>
            <a:r>
              <a:rPr lang="en-US" altLang="zh-CN" sz="2800" b="1" dirty="0">
                <a:solidFill>
                  <a:schemeClr val="bg1"/>
                </a:solidFill>
              </a:rPr>
              <a:t>        int age;</a:t>
            </a:r>
            <a:endParaRPr lang="en-US" altLang="zh-CN" sz="2800" b="1" dirty="0">
              <a:solidFill>
                <a:schemeClr val="bg1"/>
              </a:solidFill>
            </a:endParaRPr>
          </a:p>
          <a:p>
            <a:pPr eaLnBrk="1" hangingPunct="1">
              <a:buNone/>
            </a:pPr>
            <a:r>
              <a:rPr lang="en-US" altLang="zh-CN" sz="2800" b="1" dirty="0">
                <a:solidFill>
                  <a:schemeClr val="bg1"/>
                </a:solidFill>
              </a:rPr>
              <a:t>};</a:t>
            </a:r>
            <a:endParaRPr lang="en-US" altLang="zh-CN" sz="2800" b="1" dirty="0">
              <a:solidFill>
                <a:schemeClr val="bg1"/>
              </a:solidFill>
            </a:endParaRPr>
          </a:p>
        </p:txBody>
      </p:sp>
      <p:sp>
        <p:nvSpPr>
          <p:cNvPr id="10035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0355" name="Rectangle 4"/>
          <p:cNvSpPr/>
          <p:nvPr/>
        </p:nvSpPr>
        <p:spPr>
          <a:xfrm>
            <a:off x="4211638" y="765175"/>
            <a:ext cx="4932362" cy="5400675"/>
          </a:xfrm>
          <a:prstGeom prst="rect">
            <a:avLst/>
          </a:prstGeom>
          <a:noFill/>
          <a:ln w="9525">
            <a:noFill/>
          </a:ln>
        </p:spPr>
        <p:txBody>
          <a:bodyPr anchor="t"/>
          <a:p>
            <a:pPr marL="342900" indent="-342900">
              <a:spcBef>
                <a:spcPct val="20000"/>
              </a:spcBef>
            </a:pPr>
            <a:r>
              <a:rPr lang="zh-CN" altLang="en-US" sz="3200" b="1" u="sng" dirty="0">
                <a:latin typeface="Times New Roman" panose="02020603050405020304" pitchFamily="18" charset="0"/>
                <a:ea typeface="宋体" panose="02010600030101010101" pitchFamily="2" charset="-122"/>
              </a:rPr>
              <a:t>文件：</a:t>
            </a:r>
            <a:r>
              <a:rPr lang="en-US" altLang="zh-CN" sz="3200" b="1" u="sng" dirty="0">
                <a:latin typeface="Times New Roman" panose="02020603050405020304" pitchFamily="18" charset="0"/>
                <a:ea typeface="宋体" panose="02010600030101010101" pitchFamily="2" charset="-122"/>
              </a:rPr>
              <a:t>Student.cpp</a:t>
            </a: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#include “Student.h”</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void Student</a:t>
            </a:r>
            <a:r>
              <a:rPr lang="en-US" altLang="zh-CN" sz="3200" b="1" dirty="0">
                <a:solidFill>
                  <a:srgbClr val="FF3300"/>
                </a:solidFill>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p(){</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cout&lt;&lt;age</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cxnSp>
        <p:nvCxnSpPr>
          <p:cNvPr id="100356" name="直接连接符 2"/>
          <p:cNvCxnSpPr/>
          <p:nvPr/>
        </p:nvCxnSpPr>
        <p:spPr>
          <a:xfrm>
            <a:off x="3419475" y="260350"/>
            <a:ext cx="73025" cy="6481763"/>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idx="1"/>
          </p:nvPr>
        </p:nvSpPr>
        <p:spPr>
          <a:xfrm>
            <a:off x="182563" y="333375"/>
            <a:ext cx="5541962" cy="6092825"/>
          </a:xfrm>
        </p:spPr>
        <p:txBody>
          <a:bodyPr vert="horz" wrap="square" lIns="91440" tIns="45720" rIns="91440" bIns="45720" anchor="t"/>
          <a:p>
            <a:pPr eaLnBrk="1" hangingPunct="1">
              <a:buNone/>
            </a:pPr>
            <a:r>
              <a:rPr lang="en-US" altLang="zh-CN" b="1" dirty="0">
                <a:solidFill>
                  <a:schemeClr val="bg1"/>
                </a:solidFill>
              </a:rPr>
              <a:t>//</a:t>
            </a:r>
            <a:r>
              <a:rPr lang="zh-CN" altLang="en-US" b="1" dirty="0">
                <a:solidFill>
                  <a:schemeClr val="bg1"/>
                </a:solidFill>
              </a:rPr>
              <a:t>例子（下）</a:t>
            </a:r>
            <a:endParaRPr lang="zh-CN" altLang="en-US" b="1" dirty="0">
              <a:solidFill>
                <a:schemeClr val="bg1"/>
              </a:solidFill>
            </a:endParaRPr>
          </a:p>
          <a:p>
            <a:pPr eaLnBrk="1" hangingPunct="1">
              <a:buNone/>
            </a:pPr>
            <a:r>
              <a:rPr lang="zh-CN" altLang="en-US" b="1" u="sng" dirty="0">
                <a:solidFill>
                  <a:schemeClr val="bg1"/>
                </a:solidFill>
              </a:rPr>
              <a:t>文件：</a:t>
            </a:r>
            <a:r>
              <a:rPr lang="en-US" altLang="zh-CN" b="1" u="sng" dirty="0">
                <a:solidFill>
                  <a:schemeClr val="bg1"/>
                </a:solidFill>
              </a:rPr>
              <a:t>aa.cpp</a:t>
            </a:r>
            <a:endParaRPr lang="en-US" altLang="zh-CN" b="1" u="sng" dirty="0">
              <a:solidFill>
                <a:schemeClr val="bg1"/>
              </a:solidFill>
            </a:endParaRPr>
          </a:p>
          <a:p>
            <a:pPr eaLnBrk="1" hangingPunct="1">
              <a:buNone/>
            </a:pPr>
            <a:endParaRPr lang="en-US" altLang="zh-CN" b="1" u="sng" dirty="0">
              <a:solidFill>
                <a:schemeClr val="bg1"/>
              </a:solidFill>
            </a:endParaRPr>
          </a:p>
          <a:p>
            <a:pPr eaLnBrk="1" hangingPunct="1">
              <a:buNone/>
            </a:pPr>
            <a:r>
              <a:rPr lang="en-US" altLang="zh-CN" b="1" u="sng" dirty="0">
                <a:solidFill>
                  <a:schemeClr val="bg1"/>
                </a:solidFill>
              </a:rPr>
              <a:t>#include </a:t>
            </a:r>
            <a:r>
              <a:rPr lang="zh-CN" altLang="en-US" b="1" u="sng" dirty="0">
                <a:solidFill>
                  <a:schemeClr val="bg1"/>
                </a:solidFill>
              </a:rPr>
              <a:t>“</a:t>
            </a:r>
            <a:r>
              <a:rPr lang="en-US" altLang="zh-CN" b="1" u="sng" dirty="0">
                <a:solidFill>
                  <a:schemeClr val="bg1"/>
                </a:solidFill>
              </a:rPr>
              <a:t>student.h</a:t>
            </a:r>
            <a:r>
              <a:rPr lang="zh-CN" altLang="en-US" b="1" u="sng" dirty="0">
                <a:solidFill>
                  <a:schemeClr val="bg1"/>
                </a:solidFill>
              </a:rPr>
              <a:t>”</a:t>
            </a:r>
            <a:endParaRPr lang="en-US" altLang="zh-CN" b="1" u="sng" dirty="0">
              <a:solidFill>
                <a:schemeClr val="bg1"/>
              </a:solidFill>
            </a:endParaRPr>
          </a:p>
          <a:p>
            <a:pPr eaLnBrk="1" hangingPunct="1">
              <a:buNone/>
            </a:pPr>
            <a:r>
              <a:rPr lang="en-US" altLang="zh-CN" b="1" dirty="0">
                <a:solidFill>
                  <a:schemeClr val="bg1"/>
                </a:solidFill>
              </a:rPr>
              <a:t>void main()</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  Student a;</a:t>
            </a:r>
            <a:endParaRPr lang="en-US" altLang="zh-CN" b="1" dirty="0">
              <a:solidFill>
                <a:schemeClr val="bg1"/>
              </a:solidFill>
            </a:endParaRPr>
          </a:p>
          <a:p>
            <a:pPr eaLnBrk="1" hangingPunct="1">
              <a:buNone/>
            </a:pPr>
            <a:r>
              <a:rPr lang="en-US" altLang="zh-CN" b="1" dirty="0">
                <a:solidFill>
                  <a:schemeClr val="bg1"/>
                </a:solidFill>
              </a:rPr>
              <a:t>  a.score=80;</a:t>
            </a:r>
            <a:endParaRPr lang="en-US" altLang="zh-CN" b="1" dirty="0">
              <a:solidFill>
                <a:schemeClr val="bg1"/>
              </a:solidFill>
            </a:endParaRPr>
          </a:p>
          <a:p>
            <a:pPr eaLnBrk="1" hangingPunct="1">
              <a:buNone/>
            </a:pPr>
            <a:r>
              <a:rPr lang="en-US" altLang="zh-CN" b="1" dirty="0">
                <a:solidFill>
                  <a:schemeClr val="bg1"/>
                </a:solidFill>
              </a:rPr>
              <a:t>  cout&lt;&lt;a.score;</a:t>
            </a:r>
            <a:endParaRPr lang="en-US" altLang="zh-CN" b="1" dirty="0">
              <a:solidFill>
                <a:schemeClr val="bg1"/>
              </a:solidFill>
            </a:endParaRPr>
          </a:p>
          <a:p>
            <a:pPr eaLnBrk="1" hangingPunct="1">
              <a:buNone/>
            </a:pPr>
            <a:r>
              <a:rPr lang="en-US" altLang="zh-CN" b="1" dirty="0">
                <a:solidFill>
                  <a:schemeClr val="bg1"/>
                </a:solidFill>
              </a:rPr>
              <a:t>  a.p();</a:t>
            </a:r>
            <a:endParaRPr lang="en-US" altLang="zh-CN" b="1" dirty="0">
              <a:solidFill>
                <a:schemeClr val="bg1"/>
              </a:solidFill>
            </a:endParaRPr>
          </a:p>
          <a:p>
            <a:pPr eaLnBrk="1" hangingPunct="1">
              <a:buNone/>
            </a:pPr>
            <a:r>
              <a:rPr lang="en-US" altLang="zh-CN" b="1" dirty="0">
                <a:solidFill>
                  <a:schemeClr val="bg1"/>
                </a:solidFill>
              </a:rPr>
              <a:t>}//</a:t>
            </a:r>
            <a:r>
              <a:rPr lang="zh-CN" altLang="en-US" b="1" dirty="0">
                <a:solidFill>
                  <a:schemeClr val="bg1"/>
                </a:solidFill>
              </a:rPr>
              <a:t>类机制保证了接口的屏蔽性</a:t>
            </a:r>
            <a:endParaRPr lang="zh-CN" altLang="en-US" b="1" dirty="0">
              <a:solidFill>
                <a:schemeClr val="bg1"/>
              </a:solidFill>
            </a:endParaRPr>
          </a:p>
        </p:txBody>
      </p:sp>
      <p:sp>
        <p:nvSpPr>
          <p:cNvPr id="10137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1379" name="Rectangle 4"/>
          <p:cNvSpPr/>
          <p:nvPr/>
        </p:nvSpPr>
        <p:spPr>
          <a:xfrm>
            <a:off x="5653088" y="765175"/>
            <a:ext cx="3455987" cy="6092825"/>
          </a:xfrm>
          <a:prstGeom prst="rect">
            <a:avLst/>
          </a:prstGeom>
          <a:noFill/>
          <a:ln w="9525">
            <a:noFill/>
          </a:ln>
        </p:spPr>
        <p:txBody>
          <a:bodyPr anchor="t"/>
          <a:p>
            <a:pPr marL="342900" indent="-342900">
              <a:lnSpc>
                <a:spcPct val="90000"/>
              </a:lnSpc>
              <a:spcBef>
                <a:spcPct val="20000"/>
              </a:spcBef>
            </a:pPr>
            <a:r>
              <a:rPr lang="zh-CN" altLang="en-US" sz="2800" b="1" u="sng" dirty="0">
                <a:latin typeface="Times New Roman" panose="02020603050405020304" pitchFamily="18" charset="0"/>
                <a:ea typeface="宋体" panose="02010600030101010101" pitchFamily="2" charset="-122"/>
              </a:rPr>
              <a:t>文件：</a:t>
            </a:r>
            <a:r>
              <a:rPr lang="en-US" altLang="zh-CN" sz="2800" b="1" u="sng" dirty="0">
                <a:latin typeface="Times New Roman" panose="02020603050405020304" pitchFamily="18" charset="0"/>
                <a:ea typeface="宋体" panose="02010600030101010101" pitchFamily="2" charset="-122"/>
              </a:rPr>
              <a:t>bb.cpp</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#include "student.h</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void f()</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a.score=90;</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a.p();</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cxnSp>
        <p:nvCxnSpPr>
          <p:cNvPr id="101380" name="直接连接符 2"/>
          <p:cNvCxnSpPr/>
          <p:nvPr/>
        </p:nvCxnSpPr>
        <p:spPr>
          <a:xfrm>
            <a:off x="5651500" y="765175"/>
            <a:ext cx="0" cy="554355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idx="1"/>
          </p:nvPr>
        </p:nvSpPr>
        <p:spPr>
          <a:xfrm>
            <a:off x="2268538" y="765175"/>
            <a:ext cx="6407150" cy="5327650"/>
          </a:xfrm>
        </p:spPr>
        <p:txBody>
          <a:bodyPr vert="horz" wrap="square" lIns="91440" tIns="45720" rIns="91440" bIns="45720" anchor="t"/>
          <a:p>
            <a:pPr eaLnBrk="1" hangingPunct="1">
              <a:buNone/>
            </a:pPr>
            <a:r>
              <a:rPr lang="en-US" altLang="zh-CN" sz="2800" b="1" dirty="0">
                <a:solidFill>
                  <a:schemeClr val="bg1"/>
                </a:solidFill>
              </a:rPr>
              <a:t>//</a:t>
            </a:r>
            <a:r>
              <a:rPr lang="zh-CN" altLang="en-US" sz="2800" b="1" dirty="0">
                <a:solidFill>
                  <a:schemeClr val="bg1"/>
                </a:solidFill>
              </a:rPr>
              <a:t>例子（上）      </a:t>
            </a:r>
            <a:r>
              <a:rPr lang="zh-CN" altLang="en-US" sz="2800" b="1" u="sng" dirty="0">
                <a:solidFill>
                  <a:schemeClr val="bg1"/>
                </a:solidFill>
              </a:rPr>
              <a:t>文件：</a:t>
            </a:r>
            <a:r>
              <a:rPr lang="en-US" altLang="zh-CN" sz="2800" b="1" u="sng" dirty="0">
                <a:solidFill>
                  <a:schemeClr val="bg1"/>
                </a:solidFill>
              </a:rPr>
              <a:t>Student.h</a:t>
            </a:r>
            <a:endParaRPr lang="en-US" altLang="zh-CN" sz="2800" b="1" u="sng" dirty="0">
              <a:solidFill>
                <a:schemeClr val="bg1"/>
              </a:solidFill>
            </a:endParaRPr>
          </a:p>
          <a:p>
            <a:pPr eaLnBrk="1" hangingPunct="1">
              <a:buNone/>
            </a:pPr>
            <a:r>
              <a:rPr lang="en-US" altLang="zh-CN" sz="2800" b="1" dirty="0">
                <a:solidFill>
                  <a:schemeClr val="bg1"/>
                </a:solidFill>
              </a:rPr>
              <a:t>class Student{</a:t>
            </a:r>
            <a:endParaRPr lang="en-US" altLang="zh-CN" sz="2800" b="1" dirty="0">
              <a:solidFill>
                <a:schemeClr val="bg1"/>
              </a:solidFill>
            </a:endParaRPr>
          </a:p>
          <a:p>
            <a:pPr eaLnBrk="1" hangingPunct="1">
              <a:buNone/>
            </a:pPr>
            <a:r>
              <a:rPr lang="en-US" altLang="zh-CN" sz="2800" b="1" dirty="0">
                <a:solidFill>
                  <a:schemeClr val="bg1"/>
                </a:solidFill>
              </a:rPr>
              <a:t>  public:</a:t>
            </a:r>
            <a:endParaRPr lang="en-US" altLang="zh-CN" sz="2800" b="1" dirty="0">
              <a:solidFill>
                <a:schemeClr val="bg1"/>
              </a:solidFill>
            </a:endParaRPr>
          </a:p>
          <a:p>
            <a:pPr eaLnBrk="1" hangingPunct="1">
              <a:buNone/>
            </a:pPr>
            <a:r>
              <a:rPr lang="en-US" altLang="zh-CN" sz="2800" b="1" dirty="0">
                <a:solidFill>
                  <a:schemeClr val="bg1"/>
                </a:solidFill>
              </a:rPr>
              <a:t>       void p(void);</a:t>
            </a:r>
            <a:endParaRPr lang="en-US" altLang="zh-CN" sz="2800" b="1" dirty="0">
              <a:solidFill>
                <a:schemeClr val="bg1"/>
              </a:solidFill>
            </a:endParaRPr>
          </a:p>
          <a:p>
            <a:pPr eaLnBrk="1" hangingPunct="1">
              <a:buNone/>
            </a:pPr>
            <a:r>
              <a:rPr lang="en-US" altLang="zh-CN" sz="2800" b="1" dirty="0">
                <a:solidFill>
                  <a:schemeClr val="bg1"/>
                </a:solidFill>
              </a:rPr>
              <a:t>       float score;</a:t>
            </a:r>
            <a:endParaRPr lang="en-US" altLang="zh-CN" sz="2800" b="1" dirty="0">
              <a:solidFill>
                <a:schemeClr val="bg1"/>
              </a:solidFill>
            </a:endParaRPr>
          </a:p>
          <a:p>
            <a:pPr eaLnBrk="1" hangingPunct="1">
              <a:buNone/>
            </a:pPr>
            <a:r>
              <a:rPr lang="en-US" altLang="zh-CN" sz="2800" b="1" dirty="0">
                <a:solidFill>
                  <a:schemeClr val="bg1"/>
                </a:solidFill>
              </a:rPr>
              <a:t>protected:</a:t>
            </a:r>
            <a:endParaRPr lang="en-US" altLang="zh-CN" sz="2800" b="1" dirty="0">
              <a:solidFill>
                <a:schemeClr val="bg1"/>
              </a:solidFill>
            </a:endParaRPr>
          </a:p>
          <a:p>
            <a:pPr eaLnBrk="1" hangingPunct="1">
              <a:buNone/>
            </a:pPr>
            <a:r>
              <a:rPr lang="en-US" altLang="zh-CN" sz="2800" b="1" dirty="0">
                <a:solidFill>
                  <a:schemeClr val="bg1"/>
                </a:solidFill>
              </a:rPr>
              <a:t>        char name;</a:t>
            </a:r>
            <a:endParaRPr lang="en-US" altLang="zh-CN" sz="2800" b="1" dirty="0">
              <a:solidFill>
                <a:schemeClr val="bg1"/>
              </a:solidFill>
            </a:endParaRPr>
          </a:p>
          <a:p>
            <a:pPr eaLnBrk="1" hangingPunct="1">
              <a:buNone/>
            </a:pPr>
            <a:r>
              <a:rPr lang="en-US" altLang="zh-CN" sz="2800" b="1" dirty="0">
                <a:solidFill>
                  <a:schemeClr val="bg1"/>
                </a:solidFill>
              </a:rPr>
              <a:t>        int age;</a:t>
            </a:r>
            <a:endParaRPr lang="en-US" altLang="zh-CN" sz="2800" b="1" dirty="0">
              <a:solidFill>
                <a:schemeClr val="bg1"/>
              </a:solidFill>
            </a:endParaRPr>
          </a:p>
          <a:p>
            <a:pPr eaLnBrk="1" hangingPunct="1">
              <a:buNone/>
            </a:pPr>
            <a:r>
              <a:rPr lang="en-US" altLang="zh-CN" sz="2800" b="1" dirty="0">
                <a:solidFill>
                  <a:schemeClr val="bg1"/>
                </a:solidFill>
              </a:rPr>
              <a:t>};</a:t>
            </a:r>
            <a:endParaRPr lang="en-US" altLang="zh-CN" sz="2800" b="1" dirty="0">
              <a:solidFill>
                <a:schemeClr val="bg1"/>
              </a:solidFill>
            </a:endParaRPr>
          </a:p>
          <a:p>
            <a:pPr eaLnBrk="1" hangingPunct="1">
              <a:buNone/>
            </a:pPr>
            <a:r>
              <a:rPr lang="en-US" altLang="zh-CN" sz="2800" b="1" dirty="0">
                <a:solidFill>
                  <a:schemeClr val="bg1"/>
                </a:solidFill>
              </a:rPr>
              <a:t>void Student</a:t>
            </a:r>
            <a:r>
              <a:rPr lang="en-US" altLang="zh-CN" sz="2800" b="1" dirty="0">
                <a:solidFill>
                  <a:srgbClr val="FF3300"/>
                </a:solidFill>
              </a:rPr>
              <a:t>::</a:t>
            </a:r>
            <a:r>
              <a:rPr lang="en-US" altLang="zh-CN" sz="2800" b="1" dirty="0">
                <a:solidFill>
                  <a:schemeClr val="bg1"/>
                </a:solidFill>
              </a:rPr>
              <a:t>p(){</a:t>
            </a:r>
            <a:endParaRPr lang="en-US" altLang="zh-CN" sz="2800" b="1" dirty="0">
              <a:solidFill>
                <a:schemeClr val="bg1"/>
              </a:solidFill>
            </a:endParaRPr>
          </a:p>
          <a:p>
            <a:pPr eaLnBrk="1" hangingPunct="1">
              <a:buNone/>
            </a:pPr>
            <a:r>
              <a:rPr lang="en-US" altLang="zh-CN" sz="2800" b="1" dirty="0">
                <a:solidFill>
                  <a:schemeClr val="bg1"/>
                </a:solidFill>
              </a:rPr>
              <a:t>     cout&lt;&lt;age</a:t>
            </a:r>
            <a:endParaRPr lang="en-US" altLang="zh-CN" sz="2800" b="1" dirty="0">
              <a:solidFill>
                <a:schemeClr val="bg1"/>
              </a:solidFill>
            </a:endParaRPr>
          </a:p>
          <a:p>
            <a:pPr eaLnBrk="1" hangingPunct="1">
              <a:buNone/>
            </a:pPr>
            <a:r>
              <a:rPr lang="en-US" altLang="zh-CN" sz="2800" b="1" dirty="0">
                <a:solidFill>
                  <a:schemeClr val="bg1"/>
                </a:solidFill>
              </a:rPr>
              <a:t>}//</a:t>
            </a:r>
            <a:r>
              <a:rPr lang="zh-CN" altLang="en-US" sz="2800" b="1" dirty="0">
                <a:solidFill>
                  <a:schemeClr val="bg1"/>
                </a:solidFill>
              </a:rPr>
              <a:t>成员函数的实现直接放在了</a:t>
            </a:r>
            <a:r>
              <a:rPr lang="en-US" altLang="zh-CN" sz="2800" b="1" dirty="0">
                <a:solidFill>
                  <a:schemeClr val="bg1"/>
                </a:solidFill>
              </a:rPr>
              <a:t>h</a:t>
            </a:r>
            <a:r>
              <a:rPr lang="zh-CN" altLang="en-US" sz="2800" b="1" dirty="0">
                <a:solidFill>
                  <a:schemeClr val="bg1"/>
                </a:solidFill>
              </a:rPr>
              <a:t>文件中</a:t>
            </a:r>
            <a:endParaRPr lang="zh-CN" altLang="en-US" sz="2800" b="1" dirty="0">
              <a:solidFill>
                <a:schemeClr val="bg1"/>
              </a:solidFill>
            </a:endParaRPr>
          </a:p>
          <a:p>
            <a:pPr eaLnBrk="1" hangingPunct="1">
              <a:buNone/>
            </a:pPr>
            <a:endParaRPr lang="en-US" altLang="zh-CN" sz="2800" b="1" dirty="0">
              <a:solidFill>
                <a:schemeClr val="bg1"/>
              </a:solidFill>
            </a:endParaRPr>
          </a:p>
        </p:txBody>
      </p:sp>
      <p:sp>
        <p:nvSpPr>
          <p:cNvPr id="10240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a:spLocks noGrp="1"/>
          </p:cNvSpPr>
          <p:nvPr>
            <p:ph idx="1"/>
          </p:nvPr>
        </p:nvSpPr>
        <p:spPr>
          <a:xfrm>
            <a:off x="182563" y="765175"/>
            <a:ext cx="4029075" cy="6092825"/>
          </a:xfrm>
        </p:spPr>
        <p:txBody>
          <a:bodyPr vert="horz" wrap="square" lIns="91440" tIns="45720" rIns="91440" bIns="45720" anchor="t"/>
          <a:p>
            <a:pPr eaLnBrk="1" hangingPunct="1">
              <a:buNone/>
            </a:pPr>
            <a:r>
              <a:rPr lang="zh-CN" altLang="en-US" b="1" dirty="0">
                <a:solidFill>
                  <a:schemeClr val="bg1"/>
                </a:solidFill>
              </a:rPr>
              <a:t>例子（下）</a:t>
            </a:r>
            <a:endParaRPr lang="zh-CN" altLang="en-US" b="1" dirty="0">
              <a:solidFill>
                <a:schemeClr val="bg1"/>
              </a:solidFill>
            </a:endParaRPr>
          </a:p>
          <a:p>
            <a:pPr eaLnBrk="1" hangingPunct="1">
              <a:buNone/>
            </a:pPr>
            <a:r>
              <a:rPr lang="zh-CN" altLang="en-US" b="1" u="sng" dirty="0">
                <a:solidFill>
                  <a:schemeClr val="bg1"/>
                </a:solidFill>
              </a:rPr>
              <a:t>文件：</a:t>
            </a:r>
            <a:r>
              <a:rPr lang="en-US" altLang="zh-CN" b="1" u="sng" dirty="0">
                <a:solidFill>
                  <a:schemeClr val="bg1"/>
                </a:solidFill>
              </a:rPr>
              <a:t>aa.cpp</a:t>
            </a:r>
            <a:r>
              <a:rPr lang="en-US" altLang="zh-CN" b="1" dirty="0">
                <a:solidFill>
                  <a:schemeClr val="bg1"/>
                </a:solidFill>
              </a:rPr>
              <a:t>                  </a:t>
            </a:r>
            <a:endParaRPr lang="en-US" altLang="zh-CN" b="1" dirty="0">
              <a:solidFill>
                <a:schemeClr val="bg1"/>
              </a:solidFill>
            </a:endParaRPr>
          </a:p>
          <a:p>
            <a:pPr eaLnBrk="1" hangingPunct="1">
              <a:buNone/>
            </a:pPr>
            <a:r>
              <a:rPr lang="en-US" altLang="zh-CN" b="1" dirty="0">
                <a:solidFill>
                  <a:schemeClr val="bg1"/>
                </a:solidFill>
              </a:rPr>
              <a:t>#include "student.h</a:t>
            </a:r>
            <a:r>
              <a:rPr lang="en-US" altLang="zh-CN" b="1" dirty="0">
                <a:solidFill>
                  <a:schemeClr val="bg1"/>
                </a:solidFill>
                <a:latin typeface="Arial" panose="020B0604020202020204" pitchFamily="34" charset="0"/>
              </a:rPr>
              <a:t>“</a:t>
            </a:r>
            <a:r>
              <a:rPr lang="en-US" altLang="zh-CN" b="1" dirty="0">
                <a:solidFill>
                  <a:schemeClr val="bg1"/>
                </a:solidFill>
              </a:rPr>
              <a:t>                   </a:t>
            </a:r>
            <a:endParaRPr lang="en-US" altLang="zh-CN" b="1" dirty="0">
              <a:solidFill>
                <a:schemeClr val="bg1"/>
              </a:solidFill>
            </a:endParaRPr>
          </a:p>
          <a:p>
            <a:pPr eaLnBrk="1" hangingPunct="1">
              <a:buNone/>
            </a:pPr>
            <a:r>
              <a:rPr lang="en-US" altLang="zh-CN" b="1" dirty="0">
                <a:solidFill>
                  <a:schemeClr val="bg1"/>
                </a:solidFill>
              </a:rPr>
              <a:t>void main()</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  Student a;</a:t>
            </a:r>
            <a:endParaRPr lang="en-US" altLang="zh-CN" b="1" dirty="0">
              <a:solidFill>
                <a:schemeClr val="bg1"/>
              </a:solidFill>
            </a:endParaRPr>
          </a:p>
          <a:p>
            <a:pPr eaLnBrk="1" hangingPunct="1">
              <a:buNone/>
            </a:pPr>
            <a:r>
              <a:rPr lang="en-US" altLang="zh-CN" b="1" dirty="0">
                <a:solidFill>
                  <a:schemeClr val="bg1"/>
                </a:solidFill>
              </a:rPr>
              <a:t>  a.score=80;</a:t>
            </a:r>
            <a:endParaRPr lang="en-US" altLang="zh-CN" b="1" dirty="0">
              <a:solidFill>
                <a:schemeClr val="bg1"/>
              </a:solidFill>
            </a:endParaRPr>
          </a:p>
          <a:p>
            <a:pPr eaLnBrk="1" hangingPunct="1">
              <a:buNone/>
            </a:pPr>
            <a:r>
              <a:rPr lang="en-US" altLang="zh-CN" b="1" dirty="0">
                <a:solidFill>
                  <a:schemeClr val="bg1"/>
                </a:solidFill>
              </a:rPr>
              <a:t>  cout&lt;&lt;a.scor;</a:t>
            </a:r>
            <a:endParaRPr lang="en-US" altLang="zh-CN" b="1" dirty="0">
              <a:solidFill>
                <a:schemeClr val="bg1"/>
              </a:solidFill>
            </a:endParaRPr>
          </a:p>
          <a:p>
            <a:pPr eaLnBrk="1" hangingPunct="1">
              <a:buNone/>
            </a:pPr>
            <a:r>
              <a:rPr lang="en-US" altLang="zh-CN" b="1" dirty="0">
                <a:solidFill>
                  <a:schemeClr val="bg1"/>
                </a:solidFill>
              </a:rPr>
              <a:t>  a.p();</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10342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3427" name="Rectangle 4"/>
          <p:cNvSpPr/>
          <p:nvPr/>
        </p:nvSpPr>
        <p:spPr>
          <a:xfrm>
            <a:off x="4500563" y="765175"/>
            <a:ext cx="4460875" cy="6092825"/>
          </a:xfrm>
          <a:prstGeom prst="rect">
            <a:avLst/>
          </a:prstGeom>
          <a:noFill/>
          <a:ln w="9525">
            <a:noFill/>
          </a:ln>
        </p:spPr>
        <p:txBody>
          <a:bodyPr anchor="t"/>
          <a:p>
            <a:pPr marL="342900" indent="-342900">
              <a:lnSpc>
                <a:spcPct val="90000"/>
              </a:lnSpc>
              <a:spcBef>
                <a:spcPct val="20000"/>
              </a:spcBef>
            </a:pPr>
            <a:r>
              <a:rPr lang="zh-CN" altLang="en-US" sz="2800" b="1" u="sng" dirty="0">
                <a:latin typeface="Times New Roman" panose="02020603050405020304" pitchFamily="18" charset="0"/>
                <a:ea typeface="宋体" panose="02010600030101010101" pitchFamily="2" charset="-122"/>
              </a:rPr>
              <a:t>文件：</a:t>
            </a:r>
            <a:r>
              <a:rPr lang="en-US" altLang="zh-CN" sz="2800" b="1" u="sng" dirty="0">
                <a:latin typeface="Times New Roman" panose="02020603050405020304" pitchFamily="18" charset="0"/>
                <a:ea typeface="宋体" panose="02010600030101010101" pitchFamily="2" charset="-122"/>
              </a:rPr>
              <a:t>bb.cpp</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#include "student.h</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void f()</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a.score=90;</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a.p();</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提示</a:t>
            </a:r>
            <a:r>
              <a:rPr lang="en-US" altLang="zh-CN" sz="2800" b="1" dirty="0">
                <a:latin typeface="Times New Roman" panose="02020603050405020304" pitchFamily="18" charset="0"/>
                <a:ea typeface="宋体" panose="02010600030101010101" pitchFamily="2" charset="-122"/>
              </a:rPr>
              <a:t>void Student::p()</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被重复定义</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举例身份证核查的唯一性</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3" name="椭圆 2"/>
          <p:cNvSpPr/>
          <p:nvPr/>
        </p:nvSpPr>
        <p:spPr bwMode="auto">
          <a:xfrm>
            <a:off x="5581650" y="2924175"/>
            <a:ext cx="1511300" cy="1009650"/>
          </a:xfrm>
          <a:prstGeom prst="ellipse">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类的函数</a:t>
            </a:r>
            <a:endParaRPr kumimoji="1" lang="en-US" altLang="zh-CN"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      this</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圆角矩形 4"/>
          <p:cNvSpPr/>
          <p:nvPr/>
        </p:nvSpPr>
        <p:spPr bwMode="auto">
          <a:xfrm>
            <a:off x="7453313" y="1341438"/>
            <a:ext cx="1439863" cy="792163"/>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对象一</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圆角矩形 8"/>
          <p:cNvSpPr/>
          <p:nvPr/>
        </p:nvSpPr>
        <p:spPr bwMode="auto">
          <a:xfrm>
            <a:off x="7453313" y="2276475"/>
            <a:ext cx="1439863" cy="792163"/>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对象二</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0" name="圆角矩形 9"/>
          <p:cNvSpPr/>
          <p:nvPr/>
        </p:nvSpPr>
        <p:spPr bwMode="auto">
          <a:xfrm>
            <a:off x="7453313" y="4365625"/>
            <a:ext cx="1439863" cy="792163"/>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对象</a:t>
            </a:r>
            <a:r>
              <a:rPr kumimoji="1" lang="en-US" altLang="zh-CN"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N</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TextBox 5"/>
          <p:cNvSpPr txBox="1"/>
          <p:nvPr/>
        </p:nvSpPr>
        <p:spPr>
          <a:xfrm>
            <a:off x="1835150" y="5661025"/>
            <a:ext cx="4968875" cy="461963"/>
          </a:xfrm>
          <a:prstGeom prst="rect">
            <a:avLst/>
          </a:prstGeom>
          <a:noFill/>
        </p:spPr>
        <p:txBody>
          <a:bodyPr>
            <a:spAutoFit/>
          </a:bodyPr>
          <a:lstStyle/>
          <a:p>
            <a:pPr marR="0" algn="just" defTabSz="914400">
              <a:buClrTx/>
              <a:buSzTx/>
              <a:buFontTx/>
              <a:defRPr/>
            </a:pP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内部定义：</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 </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const</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this = &amp;</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对象</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X </a:t>
            </a:r>
            <a:endPar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8" name="TextBox 7"/>
          <p:cNvSpPr txBox="1"/>
          <p:nvPr/>
        </p:nvSpPr>
        <p:spPr>
          <a:xfrm>
            <a:off x="107950" y="765175"/>
            <a:ext cx="4968875" cy="3786188"/>
          </a:xfrm>
          <a:prstGeom prst="rect">
            <a:avLst/>
          </a:prstGeom>
          <a:noFill/>
        </p:spPr>
        <p:txBody>
          <a:bodyPr>
            <a:spAutoFit/>
          </a:bodyPr>
          <a:lstStyle/>
          <a:p>
            <a:pPr marR="0" algn="just" defTabSz="914400">
              <a:buClrTx/>
              <a:buSzTx/>
              <a:buFontTx/>
              <a:defRPr/>
            </a:pP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成员函数不属于对象</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Class student {</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int</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age;</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public</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void p()</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age = 20</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a.p</a:t>
            </a: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p</a:t>
            </a: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里面的代码如何知道调用者是谁？</a:t>
            </a:r>
            <a:endParaRPr kumimoji="1" lang="en-US" altLang="zh-CN"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函数里面没有任何机制。</a:t>
            </a:r>
            <a:endParaRPr kumimoji="1" lang="zh-CN" altLang="en-US" sz="24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idx="1"/>
          </p:nvPr>
        </p:nvSpPr>
        <p:spPr>
          <a:xfrm>
            <a:off x="182563" y="549275"/>
            <a:ext cx="3094037" cy="6192838"/>
          </a:xfrm>
        </p:spPr>
        <p:txBody>
          <a:bodyPr vert="horz" wrap="square" lIns="91440" tIns="45720" rIns="91440" bIns="45720" anchor="t"/>
          <a:p>
            <a:pPr eaLnBrk="1" hangingPunct="1">
              <a:buNone/>
            </a:pPr>
            <a:r>
              <a:rPr lang="en-US" altLang="zh-CN" b="1" u="sng" dirty="0">
                <a:solidFill>
                  <a:schemeClr val="bg1"/>
                </a:solidFill>
              </a:rPr>
              <a:t>Student.h</a:t>
            </a:r>
            <a:endParaRPr lang="en-US" altLang="zh-CN" b="1" u="sng" dirty="0">
              <a:solidFill>
                <a:schemeClr val="bg1"/>
              </a:solidFill>
            </a:endParaRPr>
          </a:p>
          <a:p>
            <a:pPr eaLnBrk="1" hangingPunct="1">
              <a:buNone/>
            </a:pPr>
            <a:endParaRPr lang="en-US" altLang="zh-CN" b="1" u="sng" dirty="0">
              <a:solidFill>
                <a:schemeClr val="bg1"/>
              </a:solidFill>
            </a:endParaRPr>
          </a:p>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public:</a:t>
            </a:r>
            <a:endParaRPr lang="en-US" altLang="zh-CN" b="1" dirty="0">
              <a:solidFill>
                <a:schemeClr val="bg1"/>
              </a:solidFill>
            </a:endParaRPr>
          </a:p>
          <a:p>
            <a:pPr eaLnBrk="1" hangingPunct="1">
              <a:buNone/>
            </a:pPr>
            <a:r>
              <a:rPr lang="en-US" altLang="zh-CN" b="1" dirty="0">
                <a:solidFill>
                  <a:schemeClr val="bg1"/>
                </a:solidFill>
              </a:rPr>
              <a:t>       void p(void);</a:t>
            </a:r>
            <a:endParaRPr lang="en-US" altLang="zh-CN" b="1" dirty="0">
              <a:solidFill>
                <a:schemeClr val="bg1"/>
              </a:solidFill>
            </a:endParaRPr>
          </a:p>
          <a:p>
            <a:pPr eaLnBrk="1" hangingPunct="1">
              <a:buNone/>
            </a:pPr>
            <a:r>
              <a:rPr lang="en-US" altLang="zh-CN" b="1" dirty="0">
                <a:solidFill>
                  <a:schemeClr val="bg1"/>
                </a:solidFill>
              </a:rPr>
              <a:t>       float score;</a:t>
            </a:r>
            <a:endParaRPr lang="en-US" altLang="zh-CN" b="1" dirty="0">
              <a:solidFill>
                <a:schemeClr val="bg1"/>
              </a:solidFill>
            </a:endParaRPr>
          </a:p>
          <a:p>
            <a:pPr eaLnBrk="1" hangingPunct="1">
              <a:buNone/>
            </a:pPr>
            <a:r>
              <a:rPr lang="en-US" altLang="zh-CN" b="1" dirty="0">
                <a:solidFill>
                  <a:schemeClr val="bg1"/>
                </a:solidFill>
              </a:rPr>
              <a:t>protected:</a:t>
            </a:r>
            <a:endParaRPr lang="en-US" altLang="zh-CN" b="1" dirty="0">
              <a:solidFill>
                <a:schemeClr val="bg1"/>
              </a:solidFill>
            </a:endParaRPr>
          </a:p>
          <a:p>
            <a:pPr eaLnBrk="1" hangingPunct="1">
              <a:buNone/>
            </a:pPr>
            <a:r>
              <a:rPr lang="en-US" altLang="zh-CN" b="1" dirty="0">
                <a:solidFill>
                  <a:schemeClr val="bg1"/>
                </a:solidFill>
              </a:rPr>
              <a:t>        char name;</a:t>
            </a:r>
            <a:endParaRPr lang="en-US" altLang="zh-CN" b="1" dirty="0">
              <a:solidFill>
                <a:schemeClr val="bg1"/>
              </a:solidFill>
            </a:endParaRPr>
          </a:p>
          <a:p>
            <a:pPr eaLnBrk="1" hangingPunct="1">
              <a:buNone/>
            </a:pPr>
            <a:r>
              <a:rPr lang="en-US" altLang="zh-CN" b="1" dirty="0">
                <a:solidFill>
                  <a:schemeClr val="bg1"/>
                </a:solidFill>
              </a:rPr>
              <a:t>        int age;</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10547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5475" name="Rectangle 4"/>
          <p:cNvSpPr/>
          <p:nvPr/>
        </p:nvSpPr>
        <p:spPr>
          <a:xfrm>
            <a:off x="4175125" y="765175"/>
            <a:ext cx="5292725" cy="5543550"/>
          </a:xfrm>
          <a:prstGeom prst="rect">
            <a:avLst/>
          </a:prstGeom>
          <a:noFill/>
          <a:ln w="9525">
            <a:noFill/>
          </a:ln>
        </p:spPr>
        <p:txBody>
          <a:bodyPr anchor="t"/>
          <a:p>
            <a:pPr marL="342900" indent="-342900">
              <a:spcBef>
                <a:spcPct val="20000"/>
              </a:spcBef>
            </a:pPr>
            <a:r>
              <a:rPr lang="en-US" altLang="zh-CN" sz="3200" b="1" u="sng" dirty="0">
                <a:latin typeface="Times New Roman" panose="02020603050405020304" pitchFamily="18" charset="0"/>
                <a:ea typeface="宋体" panose="02010600030101010101" pitchFamily="2" charset="-122"/>
              </a:rPr>
              <a:t>Student.cpp</a:t>
            </a: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#include "student.h"</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void Student</a:t>
            </a:r>
            <a:r>
              <a:rPr lang="en-US" altLang="zh-CN" sz="3200" b="1" dirty="0">
                <a:solidFill>
                  <a:srgbClr val="FF3300"/>
                </a:solidFill>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p()</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age=5;//</a:t>
            </a:r>
            <a:r>
              <a:rPr lang="zh-CN" altLang="en-US" sz="3200" b="1" dirty="0">
                <a:latin typeface="Times New Roman" panose="02020603050405020304" pitchFamily="18" charset="0"/>
                <a:ea typeface="宋体" panose="02010600030101010101" pitchFamily="2" charset="-122"/>
              </a:rPr>
              <a:t>默认前缀</a:t>
            </a:r>
            <a:r>
              <a:rPr lang="en-US" altLang="zh-CN" sz="3200" b="1" dirty="0">
                <a:latin typeface="Times New Roman" panose="02020603050405020304" pitchFamily="18" charset="0"/>
                <a:ea typeface="宋体" panose="02010600030101010101" pitchFamily="2" charset="-122"/>
              </a:rPr>
              <a:t>this</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this-&gt;age=5; </a:t>
            </a:r>
            <a:r>
              <a:rPr lang="zh-CN" altLang="en-US" sz="3200" b="1" dirty="0">
                <a:latin typeface="Times New Roman" panose="02020603050405020304" pitchFamily="18" charset="0"/>
                <a:ea typeface="宋体" panose="02010600030101010101" pitchFamily="2" charset="-122"/>
              </a:rPr>
              <a:t>等价</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cout&lt;&lt;this;</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this = new Student;//</a:t>
            </a:r>
            <a:r>
              <a:rPr lang="zh-CN" altLang="en-US" sz="3200" b="1" dirty="0">
                <a:latin typeface="Times New Roman" panose="02020603050405020304" pitchFamily="18" charset="0"/>
                <a:ea typeface="宋体" panose="02010600030101010101" pitchFamily="2" charset="-122"/>
              </a:rPr>
              <a:t>错误</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}//this</a:t>
            </a:r>
            <a:r>
              <a:rPr lang="zh-CN" altLang="en-US" sz="3200" b="1" dirty="0">
                <a:latin typeface="Times New Roman" panose="02020603050405020304" pitchFamily="18" charset="0"/>
                <a:ea typeface="宋体" panose="02010600030101010101" pitchFamily="2" charset="-122"/>
              </a:rPr>
              <a:t>是个指针常量</a:t>
            </a:r>
            <a:endParaRPr lang="zh-CN" altLang="en-US" sz="3200" b="1" dirty="0">
              <a:latin typeface="Times New Roman" panose="02020603050405020304" pitchFamily="18"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idx="1"/>
          </p:nvPr>
        </p:nvSpPr>
        <p:spPr>
          <a:xfrm>
            <a:off x="182563" y="115888"/>
            <a:ext cx="3416300" cy="6192837"/>
          </a:xfrm>
        </p:spPr>
        <p:txBody>
          <a:bodyPr vert="horz" wrap="square" lIns="91440" tIns="45720" rIns="91440" bIns="45720" anchor="t"/>
          <a:p>
            <a:pPr eaLnBrk="1" hangingPunct="1">
              <a:buNone/>
            </a:pPr>
            <a:r>
              <a:rPr lang="zh-CN" altLang="en-US" b="1" dirty="0">
                <a:solidFill>
                  <a:schemeClr val="bg1"/>
                </a:solidFill>
              </a:rPr>
              <a:t>例子（上）</a:t>
            </a:r>
            <a:endParaRPr lang="zh-CN" altLang="en-US" b="1" dirty="0">
              <a:solidFill>
                <a:schemeClr val="bg1"/>
              </a:solidFill>
            </a:endParaRPr>
          </a:p>
          <a:p>
            <a:pPr eaLnBrk="1" hangingPunct="1">
              <a:buNone/>
            </a:pPr>
            <a:r>
              <a:rPr lang="en-US" altLang="zh-CN" b="1" u="sng" dirty="0">
                <a:solidFill>
                  <a:schemeClr val="bg1"/>
                </a:solidFill>
              </a:rPr>
              <a:t>Student.h</a:t>
            </a:r>
            <a:endParaRPr lang="en-US" altLang="zh-CN" b="1" u="sng" dirty="0">
              <a:solidFill>
                <a:schemeClr val="bg1"/>
              </a:solidFill>
            </a:endParaRPr>
          </a:p>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public:</a:t>
            </a:r>
            <a:endParaRPr lang="en-US" altLang="zh-CN" b="1" dirty="0">
              <a:solidFill>
                <a:schemeClr val="bg1"/>
              </a:solidFill>
            </a:endParaRPr>
          </a:p>
          <a:p>
            <a:pPr eaLnBrk="1" hangingPunct="1">
              <a:buNone/>
            </a:pPr>
            <a:r>
              <a:rPr lang="en-US" altLang="zh-CN" b="1" dirty="0">
                <a:solidFill>
                  <a:schemeClr val="bg1"/>
                </a:solidFill>
              </a:rPr>
              <a:t>       void p(void);</a:t>
            </a:r>
            <a:endParaRPr lang="en-US" altLang="zh-CN" b="1" dirty="0">
              <a:solidFill>
                <a:schemeClr val="bg1"/>
              </a:solidFill>
            </a:endParaRPr>
          </a:p>
          <a:p>
            <a:pPr eaLnBrk="1" hangingPunct="1">
              <a:buNone/>
            </a:pPr>
            <a:r>
              <a:rPr lang="en-US" altLang="zh-CN" b="1" dirty="0">
                <a:solidFill>
                  <a:schemeClr val="bg1"/>
                </a:solidFill>
              </a:rPr>
              <a:t>       float score;</a:t>
            </a:r>
            <a:endParaRPr lang="en-US" altLang="zh-CN" b="1" dirty="0">
              <a:solidFill>
                <a:schemeClr val="bg1"/>
              </a:solidFill>
            </a:endParaRPr>
          </a:p>
          <a:p>
            <a:pPr eaLnBrk="1" hangingPunct="1">
              <a:buNone/>
            </a:pPr>
            <a:r>
              <a:rPr lang="en-US" altLang="zh-CN" b="1" dirty="0">
                <a:solidFill>
                  <a:schemeClr val="bg1"/>
                </a:solidFill>
              </a:rPr>
              <a:t>protected:</a:t>
            </a:r>
            <a:endParaRPr lang="en-US" altLang="zh-CN" b="1" dirty="0">
              <a:solidFill>
                <a:schemeClr val="bg1"/>
              </a:solidFill>
            </a:endParaRPr>
          </a:p>
          <a:p>
            <a:pPr eaLnBrk="1" hangingPunct="1">
              <a:buNone/>
            </a:pPr>
            <a:r>
              <a:rPr lang="en-US" altLang="zh-CN" b="1" dirty="0">
                <a:solidFill>
                  <a:schemeClr val="bg1"/>
                </a:solidFill>
              </a:rPr>
              <a:t>        char name;</a:t>
            </a:r>
            <a:endParaRPr lang="en-US" altLang="zh-CN" b="1" dirty="0">
              <a:solidFill>
                <a:schemeClr val="bg1"/>
              </a:solidFill>
            </a:endParaRPr>
          </a:p>
          <a:p>
            <a:pPr eaLnBrk="1" hangingPunct="1">
              <a:buNone/>
            </a:pPr>
            <a:r>
              <a:rPr lang="en-US" altLang="zh-CN" b="1" dirty="0">
                <a:solidFill>
                  <a:schemeClr val="bg1"/>
                </a:solidFill>
              </a:rPr>
              <a:t>        int age;</a:t>
            </a:r>
            <a:endParaRPr lang="en-US" altLang="zh-CN" b="1" dirty="0">
              <a:solidFill>
                <a:schemeClr val="bg1"/>
              </a:solidFill>
            </a:endParaRPr>
          </a:p>
          <a:p>
            <a:pPr eaLnBrk="1" hangingPunct="1">
              <a:buNone/>
            </a:pPr>
            <a:r>
              <a:rPr lang="en-US" altLang="zh-CN" b="1" dirty="0">
                <a:solidFill>
                  <a:schemeClr val="bg1"/>
                </a:solidFill>
              </a:rPr>
              <a:t>        void x(){/*11*/}</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10649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6499" name="Rectangle 4"/>
          <p:cNvSpPr/>
          <p:nvPr/>
        </p:nvSpPr>
        <p:spPr>
          <a:xfrm>
            <a:off x="4392613" y="404813"/>
            <a:ext cx="5292725" cy="5543550"/>
          </a:xfrm>
          <a:prstGeom prst="rect">
            <a:avLst/>
          </a:prstGeom>
          <a:noFill/>
          <a:ln w="9525">
            <a:noFill/>
          </a:ln>
        </p:spPr>
        <p:txBody>
          <a:bodyPr anchor="t"/>
          <a:p>
            <a:pPr marL="342900" indent="-342900">
              <a:spcBef>
                <a:spcPct val="20000"/>
              </a:spcBef>
            </a:pPr>
            <a:r>
              <a:rPr lang="en-US" altLang="zh-CN" sz="3200" b="1" u="sng" dirty="0">
                <a:latin typeface="Times New Roman" panose="02020603050405020304" pitchFamily="18" charset="0"/>
                <a:ea typeface="宋体" panose="02010600030101010101" pitchFamily="2" charset="-122"/>
              </a:rPr>
              <a:t>Student.cpp</a:t>
            </a: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#include "student.h"</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void x(){/*22222*/}</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void Student</a:t>
            </a:r>
            <a:r>
              <a:rPr lang="en-US" altLang="zh-CN" sz="3200" b="1" dirty="0">
                <a:solidFill>
                  <a:srgbClr val="FF3300"/>
                </a:solidFill>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p()</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i="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int age = 1;  </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age=5;</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this-&gt;age=5;</a:t>
            </a:r>
            <a:r>
              <a:rPr lang="en-US" altLang="zh-CN" sz="3200" b="1" i="1" dirty="0">
                <a:latin typeface="Times New Roman" panose="02020603050405020304" pitchFamily="18" charset="0"/>
                <a:ea typeface="宋体" panose="02010600030101010101" pitchFamily="2" charset="-122"/>
              </a:rPr>
              <a:t> //this</a:t>
            </a:r>
            <a:r>
              <a:rPr lang="zh-CN" altLang="en-US" sz="3200" b="1" i="1" dirty="0">
                <a:latin typeface="Times New Roman" panose="02020603050405020304" pitchFamily="18" charset="0"/>
                <a:ea typeface="宋体" panose="02010600030101010101" pitchFamily="2" charset="-122"/>
              </a:rPr>
              <a:t>必需</a:t>
            </a:r>
            <a:endParaRPr lang="en-US" altLang="zh-CN" sz="3200" b="1" i="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i="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Student::age = 5;</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x();</a:t>
            </a:r>
            <a:r>
              <a:rPr lang="zh-CN" altLang="en-US" sz="3200" b="1" dirty="0">
                <a:latin typeface="Times New Roman" panose="02020603050405020304" pitchFamily="18" charset="0"/>
                <a:ea typeface="宋体" panose="02010600030101010101" pitchFamily="2" charset="-122"/>
              </a:rPr>
              <a:t> </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::x();</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cxnSp>
        <p:nvCxnSpPr>
          <p:cNvPr id="106500" name="直接连接符 2"/>
          <p:cNvCxnSpPr/>
          <p:nvPr/>
        </p:nvCxnSpPr>
        <p:spPr>
          <a:xfrm>
            <a:off x="3598863" y="0"/>
            <a:ext cx="0" cy="6742113"/>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07522" name="Rectangle 4"/>
          <p:cNvSpPr/>
          <p:nvPr/>
        </p:nvSpPr>
        <p:spPr>
          <a:xfrm>
            <a:off x="3059113" y="765175"/>
            <a:ext cx="6084887" cy="5543550"/>
          </a:xfrm>
          <a:prstGeom prst="rect">
            <a:avLst/>
          </a:prstGeom>
          <a:noFill/>
          <a:ln w="9525">
            <a:noFill/>
          </a:ln>
        </p:spPr>
        <p:txBody>
          <a:bodyPr anchor="t"/>
          <a:p>
            <a:pPr marL="342900" indent="-342900">
              <a:spcBef>
                <a:spcPct val="20000"/>
              </a:spcBef>
            </a:pPr>
            <a:r>
              <a:rPr lang="zh-CN" altLang="en-US" sz="3200" b="1" dirty="0">
                <a:latin typeface="Times New Roman" panose="02020603050405020304" pitchFamily="18" charset="0"/>
                <a:ea typeface="宋体" panose="02010600030101010101" pitchFamily="2" charset="-122"/>
              </a:rPr>
              <a:t>例子（下）</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u="sng" dirty="0">
                <a:latin typeface="Times New Roman" panose="02020603050405020304" pitchFamily="18" charset="0"/>
                <a:ea typeface="宋体" panose="02010600030101010101" pitchFamily="2" charset="-122"/>
              </a:rPr>
              <a:t>a.cpp</a:t>
            </a:r>
            <a:endParaRPr lang="en-US" altLang="zh-CN" sz="3200" b="1" u="sng"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#include </a:t>
            </a:r>
            <a:r>
              <a:rPr lang="en-US" altLang="zh-CN" sz="3200" b="1" dirty="0">
                <a:latin typeface="Arial" panose="020B0604020202020204" pitchFamily="34"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Student.h"</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void main()</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Student a;</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a.p();</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this-&gt;score = 5;//</a:t>
            </a:r>
            <a:r>
              <a:rPr lang="zh-CN" altLang="en-US" sz="3200" b="1" dirty="0">
                <a:latin typeface="Times New Roman" panose="02020603050405020304" pitchFamily="18" charset="0"/>
                <a:ea typeface="宋体" panose="02010600030101010101" pitchFamily="2" charset="-122"/>
              </a:rPr>
              <a:t>错误</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成员函数专用</a:t>
            </a:r>
            <a:endParaRPr lang="en-US" altLang="zh-CN" sz="3200" b="1" dirty="0">
              <a:latin typeface="Times New Roman" panose="02020603050405020304" pitchFamily="18"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8258" name="Rectangle 2"/>
          <p:cNvSpPr>
            <a:spLocks noGrp="1"/>
          </p:cNvSpPr>
          <p:nvPr>
            <p:ph idx="1"/>
          </p:nvPr>
        </p:nvSpPr>
        <p:spPr>
          <a:xfrm>
            <a:off x="323850" y="765175"/>
            <a:ext cx="8820150" cy="6092825"/>
          </a:xfrm>
        </p:spPr>
        <p:txBody>
          <a:bodyPr vert="horz" wrap="square" lIns="91440" tIns="45720" rIns="91440" bIns="45720" anchor="t"/>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r>
              <a:rPr lang="zh-CN" altLang="en-US" sz="2800" b="1" dirty="0">
                <a:solidFill>
                  <a:schemeClr val="bg1"/>
                </a:solidFill>
              </a:rPr>
              <a:t>常成员函数不允许改变对象状态的语句出现</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void p(const int a) const { cout&lt;&lt;age&lt;&lt;a; … …;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r(int k) {</a:t>
            </a:r>
            <a:r>
              <a:rPr lang="en-US" altLang="zh-CN" sz="2800" b="1" dirty="0">
                <a:solidFill>
                  <a:srgbClr val="FFFF00"/>
                </a:solidFill>
              </a:rPr>
              <a:t>age=k; … …;</a:t>
            </a: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f(int k) const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&amp;q(){return(age); …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protected: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s()const{a</a:t>
            </a:r>
            <a:r>
              <a:rPr lang="en-US" altLang="zh-CN" sz="2800" b="1" dirty="0">
                <a:solidFill>
                  <a:srgbClr val="FFFF00"/>
                </a:solidFill>
              </a:rPr>
              <a:t>ge++</a:t>
            </a:r>
            <a:r>
              <a:rPr lang="en-US" altLang="zh-CN" sz="2800" b="1" dirty="0">
                <a:solidFill>
                  <a:schemeClr val="bg1"/>
                </a:solidFill>
              </a:rPr>
              <a:t>; … …;</a:t>
            </a:r>
            <a:r>
              <a:rPr lang="en-US" altLang="zh-CN" sz="2800" b="1" dirty="0">
                <a:solidFill>
                  <a:srgbClr val="FFFF00"/>
                </a:solidFill>
              </a:rPr>
              <a:t>r(5)</a:t>
            </a: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Student::f(int k) const {return(age</a:t>
            </a:r>
            <a:r>
              <a:rPr lang="zh-CN" altLang="en-US" sz="2800" b="1" dirty="0">
                <a:solidFill>
                  <a:schemeClr val="bg1"/>
                </a:solidFill>
              </a:rPr>
              <a:t>＋</a:t>
            </a:r>
            <a:r>
              <a:rPr lang="en-US" altLang="zh-CN" sz="2800" b="1" dirty="0">
                <a:solidFill>
                  <a:schemeClr val="bg1"/>
                </a:solidFill>
              </a:rPr>
              <a:t>k); …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r>
              <a:rPr lang="en-US" altLang="zh-CN" sz="2800" b="1" dirty="0">
                <a:solidFill>
                  <a:srgbClr val="FFFF00"/>
                </a:solidFill>
              </a:rPr>
              <a:t>//</a:t>
            </a:r>
            <a:r>
              <a:rPr lang="zh-CN" altLang="en-US" sz="2800" b="1" dirty="0">
                <a:solidFill>
                  <a:srgbClr val="FFFF00"/>
                </a:solidFill>
              </a:rPr>
              <a:t>此时</a:t>
            </a:r>
            <a:r>
              <a:rPr lang="en-US" altLang="zh-CN" sz="2800" b="1" dirty="0">
                <a:solidFill>
                  <a:srgbClr val="FFFF00"/>
                </a:solidFill>
              </a:rPr>
              <a:t>this</a:t>
            </a:r>
            <a:r>
              <a:rPr lang="zh-CN" altLang="en-US" sz="2800" b="1" dirty="0">
                <a:solidFill>
                  <a:srgbClr val="FFFF00"/>
                </a:solidFill>
              </a:rPr>
              <a:t>是指向常量的指针常量</a:t>
            </a:r>
            <a:endParaRPr lang="en-US" altLang="zh-CN" sz="2800" b="1" dirty="0">
              <a:solidFill>
                <a:srgbClr val="FFFF00"/>
              </a:solidFill>
            </a:endParaRPr>
          </a:p>
          <a:p>
            <a:pPr eaLnBrk="1" hangingPunct="1">
              <a:lnSpc>
                <a:spcPct val="80000"/>
              </a:lnSpc>
              <a:buNone/>
            </a:pPr>
            <a:r>
              <a:rPr lang="en-US" altLang="zh-CN" sz="2800" b="1" dirty="0">
                <a:solidFill>
                  <a:srgbClr val="FFFF00"/>
                </a:solidFill>
              </a:rPr>
              <a:t>//</a:t>
            </a:r>
            <a:r>
              <a:rPr lang="zh-CN" altLang="en-US" sz="2800" b="1" dirty="0">
                <a:solidFill>
                  <a:srgbClr val="FFFF00"/>
                </a:solidFill>
              </a:rPr>
              <a:t>意义：</a:t>
            </a:r>
            <a:r>
              <a:rPr lang="en-US" altLang="zh-CN" sz="2800" b="1" dirty="0">
                <a:solidFill>
                  <a:srgbClr val="FFFF00"/>
                </a:solidFill>
              </a:rPr>
              <a:t>1</a:t>
            </a:r>
            <a:r>
              <a:rPr lang="zh-CN" altLang="en-US" sz="2800" b="1" dirty="0">
                <a:solidFill>
                  <a:srgbClr val="FFFF00"/>
                </a:solidFill>
              </a:rPr>
              <a:t>、契约意志   </a:t>
            </a:r>
            <a:r>
              <a:rPr lang="en-US" altLang="zh-CN" sz="2800" b="1" dirty="0">
                <a:solidFill>
                  <a:srgbClr val="FFFF00"/>
                </a:solidFill>
              </a:rPr>
              <a:t>2</a:t>
            </a:r>
            <a:r>
              <a:rPr lang="zh-CN" altLang="en-US" sz="2800" b="1" dirty="0">
                <a:solidFill>
                  <a:srgbClr val="FFFF00"/>
                </a:solidFill>
              </a:rPr>
              <a:t>、反向抑错（针对团队</a:t>
            </a:r>
            <a:r>
              <a:rPr lang="en-US" altLang="zh-CN" sz="2800" b="1" dirty="0">
                <a:solidFill>
                  <a:srgbClr val="FFFF00"/>
                </a:solidFill>
              </a:rPr>
              <a:t>&amp;</a:t>
            </a:r>
            <a:r>
              <a:rPr lang="zh-CN" altLang="en-US" sz="2800" b="1" dirty="0">
                <a:solidFill>
                  <a:srgbClr val="FFFF00"/>
                </a:solidFill>
              </a:rPr>
              <a:t>时间）</a:t>
            </a:r>
            <a:endParaRPr lang="en-US" altLang="zh-CN" sz="2800" b="1" dirty="0">
              <a:solidFill>
                <a:srgbClr val="FFFF00"/>
              </a:solidFill>
            </a:endParaRPr>
          </a:p>
          <a:p>
            <a:pPr eaLnBrk="1" hangingPunct="1">
              <a:lnSpc>
                <a:spcPct val="80000"/>
              </a:lnSpc>
              <a:buNone/>
            </a:pPr>
            <a:r>
              <a:rPr lang="en-US" altLang="zh-CN" sz="2800" b="1" dirty="0">
                <a:solidFill>
                  <a:srgbClr val="FFFF00"/>
                </a:solidFill>
              </a:rPr>
              <a:t>    </a:t>
            </a:r>
            <a:r>
              <a:rPr lang="zh-CN" altLang="en-US" sz="2800" b="1" dirty="0">
                <a:solidFill>
                  <a:srgbClr val="FFFF00"/>
                </a:solidFill>
              </a:rPr>
              <a:t>例子：</a:t>
            </a:r>
            <a:r>
              <a:rPr lang="en-US" altLang="zh-CN" sz="2800" b="1" dirty="0">
                <a:solidFill>
                  <a:srgbClr val="FFFF00"/>
                </a:solidFill>
              </a:rPr>
              <a:t>1000</a:t>
            </a:r>
            <a:r>
              <a:rPr lang="zh-CN" altLang="en-US" sz="2800" b="1" dirty="0">
                <a:solidFill>
                  <a:srgbClr val="FFFF00"/>
                </a:solidFill>
              </a:rPr>
              <a:t>间会议室，按照名单去布置，错了亮红灯</a:t>
            </a:r>
            <a:r>
              <a:rPr lang="en-US" altLang="zh-CN" sz="2800" b="1" dirty="0">
                <a:solidFill>
                  <a:srgbClr val="FFFF00"/>
                </a:solidFill>
              </a:rPr>
              <a:t>         </a:t>
            </a:r>
            <a:r>
              <a:rPr lang="zh-CN" altLang="en-US" sz="2800" b="1" dirty="0">
                <a:solidFill>
                  <a:srgbClr val="FFFF00"/>
                </a:solidFill>
              </a:rPr>
              <a:t>    </a:t>
            </a:r>
            <a:endParaRPr lang="zh-CN" altLang="en-US" sz="2800" b="1" dirty="0">
              <a:solidFill>
                <a:srgbClr val="FFFF00"/>
              </a:solidFill>
            </a:endParaRPr>
          </a:p>
        </p:txBody>
      </p:sp>
      <p:sp>
        <p:nvSpPr>
          <p:cNvPr id="10854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08258">
                                            <p:txEl>
                                              <p:charRg st="321" end="341"/>
                                            </p:txEl>
                                          </p:spTgt>
                                        </p:tgtEl>
                                        <p:attrNameLst>
                                          <p:attrName>style.visibility</p:attrName>
                                        </p:attrNameLst>
                                      </p:cBhvr>
                                      <p:to>
                                        <p:strVal val="visible"/>
                                      </p:to>
                                    </p:set>
                                    <p:animEffect transition="in" filter="box(in)">
                                      <p:cBhvr>
                                        <p:cTn id="7" dur="500"/>
                                        <p:tgtEl>
                                          <p:spTgt spid="608258">
                                            <p:txEl>
                                              <p:charRg st="321" end="3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08258">
                                            <p:txEl>
                                              <p:charRg st="341" end="371"/>
                                            </p:txEl>
                                          </p:spTgt>
                                        </p:tgtEl>
                                        <p:attrNameLst>
                                          <p:attrName>style.visibility</p:attrName>
                                        </p:attrNameLst>
                                      </p:cBhvr>
                                      <p:to>
                                        <p:strVal val="visible"/>
                                      </p:to>
                                    </p:set>
                                    <p:animEffect transition="in" filter="box(in)">
                                      <p:cBhvr>
                                        <p:cTn id="12" dur="500"/>
                                        <p:tgtEl>
                                          <p:spTgt spid="608258">
                                            <p:txEl>
                                              <p:charRg st="341" end="37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08258">
                                            <p:txEl>
                                              <p:charRg st="371" end="414"/>
                                            </p:txEl>
                                          </p:spTgt>
                                        </p:tgtEl>
                                        <p:attrNameLst>
                                          <p:attrName>style.visibility</p:attrName>
                                        </p:attrNameLst>
                                      </p:cBhvr>
                                      <p:to>
                                        <p:strVal val="visible"/>
                                      </p:to>
                                    </p:set>
                                    <p:animEffect transition="in" filter="box(in)">
                                      <p:cBhvr>
                                        <p:cTn id="17" dur="500"/>
                                        <p:tgtEl>
                                          <p:spTgt spid="608258">
                                            <p:txEl>
                                              <p:charRg st="371" end="4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idx="1"/>
          </p:nvPr>
        </p:nvSpPr>
        <p:spPr>
          <a:xfrm>
            <a:off x="323850" y="477838"/>
            <a:ext cx="8820150" cy="6092825"/>
          </a:xfrm>
        </p:spPr>
        <p:txBody>
          <a:bodyPr vert="horz" wrap="square" lIns="91440" tIns="45720" rIns="91440" bIns="45720" anchor="t"/>
          <a:p>
            <a:pPr eaLnBrk="1" hangingPunct="1">
              <a:lnSpc>
                <a:spcPct val="90000"/>
              </a:lnSpc>
              <a:buNone/>
            </a:pPr>
            <a:r>
              <a:rPr lang="en-US" altLang="zh-CN" b="1" dirty="0">
                <a:solidFill>
                  <a:schemeClr val="bg1"/>
                </a:solidFill>
              </a:rPr>
              <a:t>class Student{</a:t>
            </a:r>
            <a:endParaRPr lang="en-US" altLang="zh-CN" b="1" dirty="0">
              <a:solidFill>
                <a:schemeClr val="bg1"/>
              </a:solidFill>
            </a:endParaRPr>
          </a:p>
          <a:p>
            <a:pPr eaLnBrk="1" hangingPunct="1">
              <a:lnSpc>
                <a:spcPct val="90000"/>
              </a:lnSpc>
              <a:buNone/>
            </a:pPr>
            <a:r>
              <a:rPr lang="en-US" altLang="zh-CN" b="1" dirty="0">
                <a:solidFill>
                  <a:schemeClr val="bg1"/>
                </a:solidFill>
              </a:rPr>
              <a:t>  public://</a:t>
            </a:r>
            <a:endParaRPr lang="en-US" altLang="zh-CN" b="1" dirty="0">
              <a:solidFill>
                <a:schemeClr val="bg1"/>
              </a:solidFill>
            </a:endParaRPr>
          </a:p>
          <a:p>
            <a:pPr eaLnBrk="1" hangingPunct="1">
              <a:lnSpc>
                <a:spcPct val="90000"/>
              </a:lnSpc>
              <a:buNone/>
            </a:pPr>
            <a:r>
              <a:rPr lang="en-US" altLang="zh-CN" b="1" dirty="0">
                <a:solidFill>
                  <a:schemeClr val="bg1"/>
                </a:solidFill>
              </a:rPr>
              <a:t>      void p(const int a) const { cout&lt;&lt;age&lt;&lt;a; }</a:t>
            </a:r>
            <a:endParaRPr lang="en-US" altLang="zh-CN" b="1" dirty="0">
              <a:solidFill>
                <a:schemeClr val="bg1"/>
              </a:solidFill>
            </a:endParaRPr>
          </a:p>
          <a:p>
            <a:pPr eaLnBrk="1" hangingPunct="1">
              <a:lnSpc>
                <a:spcPct val="90000"/>
              </a:lnSpc>
              <a:buNone/>
            </a:pPr>
            <a:r>
              <a:rPr lang="en-US" altLang="zh-CN" b="1" dirty="0">
                <a:solidFill>
                  <a:schemeClr val="bg1"/>
                </a:solidFill>
              </a:rPr>
              <a:t>      void r(int k) {age=k;}</a:t>
            </a:r>
            <a:endParaRPr lang="en-US" altLang="zh-CN" b="1" dirty="0">
              <a:solidFill>
                <a:schemeClr val="bg1"/>
              </a:solidFill>
            </a:endParaRPr>
          </a:p>
          <a:p>
            <a:pPr eaLnBrk="1" hangingPunct="1">
              <a:lnSpc>
                <a:spcPct val="90000"/>
              </a:lnSpc>
              <a:buNone/>
            </a:pPr>
            <a:r>
              <a:rPr lang="en-US" altLang="zh-CN" b="1" dirty="0">
                <a:solidFill>
                  <a:schemeClr val="bg1"/>
                </a:solidFill>
              </a:rPr>
              <a:t>protected:</a:t>
            </a:r>
            <a:endParaRPr lang="en-US" altLang="zh-CN" b="1" dirty="0">
              <a:solidFill>
                <a:schemeClr val="bg1"/>
              </a:solidFill>
            </a:endParaRPr>
          </a:p>
          <a:p>
            <a:pPr eaLnBrk="1" hangingPunct="1">
              <a:lnSpc>
                <a:spcPct val="90000"/>
              </a:lnSpc>
              <a:buNone/>
            </a:pPr>
            <a:r>
              <a:rPr lang="en-US" altLang="zh-CN" b="1" dirty="0">
                <a:solidFill>
                  <a:schemeClr val="bg1"/>
                </a:solidFill>
              </a:rPr>
              <a:t>      int age;</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void f(const Student &amp; a){</a:t>
            </a:r>
            <a:endParaRPr lang="en-US" altLang="zh-CN" b="1" dirty="0">
              <a:solidFill>
                <a:schemeClr val="bg1"/>
              </a:solidFill>
            </a:endParaRPr>
          </a:p>
          <a:p>
            <a:pPr eaLnBrk="1" hangingPunct="1">
              <a:lnSpc>
                <a:spcPct val="90000"/>
              </a:lnSpc>
              <a:buNone/>
            </a:pPr>
            <a:r>
              <a:rPr lang="en-US" altLang="zh-CN" b="1" dirty="0">
                <a:solidFill>
                  <a:schemeClr val="bg1"/>
                </a:solidFill>
              </a:rPr>
              <a:t>    a.p(5);//</a:t>
            </a:r>
            <a:r>
              <a:rPr lang="zh-CN" altLang="en-US" b="1" dirty="0">
                <a:solidFill>
                  <a:schemeClr val="bg1"/>
                </a:solidFill>
              </a:rPr>
              <a:t>正确    </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a.r(5);//</a:t>
            </a:r>
            <a:r>
              <a:rPr lang="zh-CN" altLang="en-US" b="1" dirty="0">
                <a:solidFill>
                  <a:schemeClr val="bg1"/>
                </a:solidFill>
              </a:rPr>
              <a:t>错误    权限被放大，常量指针不能传递给非常量指针     </a:t>
            </a:r>
            <a:endParaRPr lang="zh-CN" altLang="en-US" b="1" dirty="0">
              <a:solidFill>
                <a:schemeClr val="bg1"/>
              </a:solidFill>
            </a:endParaRPr>
          </a:p>
          <a:p>
            <a:pPr eaLnBrk="1" hangingPunct="1">
              <a:lnSpc>
                <a:spcPct val="90000"/>
              </a:lnSpc>
              <a:buNone/>
            </a:pPr>
            <a:r>
              <a:rPr lang="en-US" altLang="zh-CN" b="1" dirty="0">
                <a:solidFill>
                  <a:schemeClr val="bg1"/>
                </a:solidFill>
              </a:rPr>
              <a:t>}//</a:t>
            </a:r>
            <a:r>
              <a:rPr lang="zh-CN" altLang="en-US" b="1" dirty="0">
                <a:solidFill>
                  <a:schemeClr val="bg1"/>
                </a:solidFill>
              </a:rPr>
              <a:t>常量对象调用成员函数</a:t>
            </a:r>
            <a:endParaRPr lang="en-US" altLang="zh-CN" b="1" dirty="0">
              <a:solidFill>
                <a:schemeClr val="bg1"/>
              </a:solidFill>
            </a:endParaRPr>
          </a:p>
        </p:txBody>
      </p:sp>
      <p:sp>
        <p:nvSpPr>
          <p:cNvPr id="10957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Grp="1"/>
          </p:cNvSpPr>
          <p:nvPr>
            <p:ph idx="1"/>
          </p:nvPr>
        </p:nvSpPr>
        <p:spPr>
          <a:xfrm>
            <a:off x="182563" y="765175"/>
            <a:ext cx="3741737" cy="5976938"/>
          </a:xfrm>
        </p:spPr>
        <p:txBody>
          <a:bodyPr vert="horz" wrap="square" lIns="91440" tIns="45720" rIns="91440" bIns="45720" anchor="t"/>
          <a:p>
            <a:pPr eaLnBrk="1" hangingPunct="1">
              <a:lnSpc>
                <a:spcPct val="80000"/>
              </a:lnSpc>
              <a:buNone/>
            </a:pPr>
            <a:r>
              <a:rPr lang="zh-CN" altLang="en-US" sz="2800" b="1" dirty="0">
                <a:solidFill>
                  <a:schemeClr val="bg1"/>
                </a:solidFill>
              </a:rPr>
              <a:t>例子：我是谁</a:t>
            </a:r>
            <a:endParaRPr lang="zh-CN" altLang="en-US" sz="2800" b="1" dirty="0">
              <a:solidFill>
                <a:schemeClr val="bg1"/>
              </a:solidFill>
            </a:endParaRPr>
          </a:p>
          <a:p>
            <a:pPr eaLnBrk="1" hangingPunct="1">
              <a:lnSpc>
                <a:spcPct val="80000"/>
              </a:lnSpc>
              <a:buNone/>
            </a:pPr>
            <a:r>
              <a:rPr lang="en-US" altLang="zh-CN" sz="2800" b="1" u="sng" dirty="0">
                <a:solidFill>
                  <a:schemeClr val="bg1"/>
                </a:solidFill>
              </a:rPr>
              <a:t>Student.h</a:t>
            </a:r>
            <a:endParaRPr lang="en-US" altLang="zh-CN" sz="2800" b="1" u="sng" dirty="0">
              <a:solidFill>
                <a:schemeClr val="bg1"/>
              </a:solidFill>
            </a:endParaRPr>
          </a:p>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*p(void);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&amp;q(void);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score;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private: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char name;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11059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10595" name="Rectangle 4"/>
          <p:cNvSpPr/>
          <p:nvPr/>
        </p:nvSpPr>
        <p:spPr>
          <a:xfrm>
            <a:off x="3995738" y="765175"/>
            <a:ext cx="5256212" cy="5543550"/>
          </a:xfrm>
          <a:prstGeom prst="rect">
            <a:avLst/>
          </a:prstGeom>
          <a:noFill/>
          <a:ln w="9525">
            <a:noFill/>
          </a:ln>
        </p:spPr>
        <p:txBody>
          <a:bodyPr anchor="t"/>
          <a:p>
            <a:pPr marL="342900" indent="-342900">
              <a:spcBef>
                <a:spcPct val="20000"/>
              </a:spcBef>
            </a:pPr>
            <a:r>
              <a:rPr lang="en-US" altLang="zh-CN" sz="2800" b="1" u="sng" dirty="0">
                <a:latin typeface="Times New Roman" panose="02020603050405020304" pitchFamily="18" charset="0"/>
                <a:ea typeface="宋体" panose="02010600030101010101" pitchFamily="2" charset="-122"/>
              </a:rPr>
              <a:t>Student.cpp</a:t>
            </a:r>
            <a:endParaRPr lang="en-US" altLang="zh-CN" sz="2800" b="1" u="sng"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#include "student.h"</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Student  *Student</a:t>
            </a:r>
            <a:r>
              <a:rPr lang="en-US" altLang="zh-CN" sz="2800" b="1" dirty="0">
                <a:solidFill>
                  <a:srgbClr val="FF3300"/>
                </a:solidFill>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p()</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age=age+2;   return(this);}</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Student  &amp;Student</a:t>
            </a:r>
            <a:r>
              <a:rPr lang="en-US" altLang="zh-CN" sz="2800" b="1" dirty="0">
                <a:solidFill>
                  <a:srgbClr val="FF3300"/>
                </a:solidFill>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q()</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age=age+2;   return(*this);}</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Student a;</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(a.p())-&gt;score =80.5;</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(a.q()).score = 93;</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idx="1"/>
          </p:nvPr>
        </p:nvSpPr>
        <p:spPr>
          <a:xfrm>
            <a:off x="2054225" y="765175"/>
            <a:ext cx="6189663" cy="6092825"/>
          </a:xfrm>
        </p:spPr>
        <p:txBody>
          <a:bodyPr vert="horz" wrap="square" lIns="91440" tIns="45720" rIns="91440" bIns="45720" anchor="t"/>
          <a:p>
            <a:pPr eaLnBrk="1" hangingPunct="1">
              <a:buNone/>
            </a:pPr>
            <a:r>
              <a:rPr lang="en-US" altLang="zh-CN" b="1" dirty="0">
                <a:solidFill>
                  <a:schemeClr val="bg1"/>
                </a:solidFill>
              </a:rPr>
              <a:t>Student.h</a:t>
            </a:r>
            <a:endParaRPr lang="en-US" altLang="zh-CN" b="1" dirty="0">
              <a:solidFill>
                <a:schemeClr val="bg1"/>
              </a:solidFill>
            </a:endParaRPr>
          </a:p>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public:</a:t>
            </a:r>
            <a:endParaRPr lang="en-US" altLang="zh-CN" b="1" dirty="0">
              <a:solidFill>
                <a:schemeClr val="bg1"/>
              </a:solidFill>
            </a:endParaRPr>
          </a:p>
          <a:p>
            <a:pPr eaLnBrk="1" hangingPunct="1">
              <a:buNone/>
            </a:pPr>
            <a:r>
              <a:rPr lang="en-US" altLang="zh-CN" b="1" dirty="0">
                <a:solidFill>
                  <a:schemeClr val="bg1"/>
                </a:solidFill>
              </a:rPr>
              <a:t> float q(void)</a:t>
            </a:r>
            <a:r>
              <a:rPr lang="zh-CN" altLang="en-US" b="1" dirty="0">
                <a:solidFill>
                  <a:schemeClr val="bg1"/>
                </a:solidFill>
              </a:rPr>
              <a:t>；</a:t>
            </a:r>
            <a:endParaRPr lang="zh-CN" altLang="en-US" b="1" dirty="0">
              <a:solidFill>
                <a:schemeClr val="bg1"/>
              </a:solidFill>
            </a:endParaRPr>
          </a:p>
          <a:p>
            <a:pPr eaLnBrk="1" hangingPunct="1">
              <a:buNone/>
            </a:pPr>
            <a:r>
              <a:rPr lang="zh-CN" altLang="en-US" b="1" dirty="0">
                <a:solidFill>
                  <a:schemeClr val="bg1"/>
                </a:solidFill>
              </a:rPr>
              <a:t> </a:t>
            </a:r>
            <a:r>
              <a:rPr lang="en-US" altLang="zh-CN" b="1" dirty="0">
                <a:solidFill>
                  <a:schemeClr val="bg1"/>
                </a:solidFill>
              </a:rPr>
              <a:t>float score;</a:t>
            </a:r>
            <a:endParaRPr lang="en-US" altLang="zh-CN" b="1" dirty="0">
              <a:solidFill>
                <a:schemeClr val="bg1"/>
              </a:solidFill>
            </a:endParaRPr>
          </a:p>
          <a:p>
            <a:pPr eaLnBrk="1" hangingPunct="1">
              <a:buNone/>
            </a:pPr>
            <a:r>
              <a:rPr lang="en-US" altLang="zh-CN" b="1" dirty="0">
                <a:solidFill>
                  <a:schemeClr val="bg1"/>
                </a:solidFill>
              </a:rPr>
              <a:t>  protected:</a:t>
            </a:r>
            <a:endParaRPr lang="en-US" altLang="zh-CN" b="1" dirty="0">
              <a:solidFill>
                <a:schemeClr val="bg1"/>
              </a:solidFill>
            </a:endParaRPr>
          </a:p>
          <a:p>
            <a:pPr eaLnBrk="1" hangingPunct="1">
              <a:buNone/>
            </a:pPr>
            <a:r>
              <a:rPr lang="en-US" altLang="zh-CN" b="1" dirty="0">
                <a:solidFill>
                  <a:schemeClr val="bg1"/>
                </a:solidFill>
              </a:rPr>
              <a:t>     float m;</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lnSpc>
                <a:spcPct val="80000"/>
              </a:lnSpc>
              <a:buNone/>
            </a:pPr>
            <a:r>
              <a:rPr lang="en-US" altLang="zh-CN" sz="2800" b="1" dirty="0">
                <a:solidFill>
                  <a:srgbClr val="FFFF00"/>
                </a:solidFill>
              </a:rPr>
              <a:t>int Student; </a:t>
            </a:r>
            <a:r>
              <a:rPr lang="zh-CN" altLang="en-US" sz="2800" b="1" dirty="0">
                <a:solidFill>
                  <a:srgbClr val="FFFF00"/>
                </a:solidFill>
              </a:rPr>
              <a:t>允许重名</a:t>
            </a:r>
            <a:r>
              <a:rPr lang="en-US" altLang="zh-CN" sz="2800" b="1" dirty="0">
                <a:solidFill>
                  <a:srgbClr val="FFFF00"/>
                </a:solidFill>
              </a:rPr>
              <a:t>,</a:t>
            </a:r>
            <a:r>
              <a:rPr lang="zh-CN" altLang="en-US" sz="2800" b="1" dirty="0">
                <a:solidFill>
                  <a:srgbClr val="FFFF00"/>
                </a:solidFill>
              </a:rPr>
              <a:t>但不提倡</a:t>
            </a:r>
            <a:endParaRPr lang="zh-CN" altLang="en-US" sz="2800" b="1" dirty="0">
              <a:solidFill>
                <a:srgbClr val="FFFF00"/>
              </a:solidFill>
            </a:endParaRPr>
          </a:p>
          <a:p>
            <a:pPr eaLnBrk="1" hangingPunct="1">
              <a:lnSpc>
                <a:spcPct val="80000"/>
              </a:lnSpc>
              <a:buNone/>
            </a:pPr>
            <a:r>
              <a:rPr lang="en-US" altLang="zh-CN" sz="2800" b="1" dirty="0">
                <a:solidFill>
                  <a:srgbClr val="FFFF00"/>
                </a:solidFill>
              </a:rPr>
              <a:t>class Student a;</a:t>
            </a:r>
            <a:endParaRPr lang="en-US" altLang="zh-CN" sz="2800" b="1" dirty="0">
              <a:solidFill>
                <a:srgbClr val="FFFF00"/>
              </a:solidFill>
            </a:endParaRPr>
          </a:p>
          <a:p>
            <a:pPr eaLnBrk="1" hangingPunct="1">
              <a:buNone/>
            </a:pPr>
            <a:endParaRPr lang="en-US" altLang="zh-CN" b="1" dirty="0">
              <a:solidFill>
                <a:schemeClr val="bg1"/>
              </a:solidFill>
            </a:endParaRPr>
          </a:p>
        </p:txBody>
      </p:sp>
      <p:sp>
        <p:nvSpPr>
          <p:cNvPr id="111618" name="Rectangle 3"/>
          <p:cNvSpPr/>
          <p:nvPr/>
        </p:nvSpPr>
        <p:spPr>
          <a:xfrm>
            <a:off x="-6842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idx="1"/>
          </p:nvPr>
        </p:nvSpPr>
        <p:spPr>
          <a:xfrm>
            <a:off x="323850" y="0"/>
            <a:ext cx="3671888" cy="6786563"/>
          </a:xfrm>
        </p:spPr>
        <p:txBody>
          <a:bodyPr vert="horz" wrap="square" lIns="91440" tIns="45720" rIns="91440" bIns="45720" anchor="t"/>
          <a:p>
            <a:pPr eaLnBrk="1" hangingPunct="1">
              <a:buNone/>
            </a:pPr>
            <a:r>
              <a:rPr lang="zh-CN" altLang="en-US" b="1" dirty="0">
                <a:solidFill>
                  <a:schemeClr val="bg1"/>
                </a:solidFill>
              </a:rPr>
              <a:t>例子（上）</a:t>
            </a:r>
            <a:endParaRPr lang="zh-CN" altLang="en-US" b="1" dirty="0">
              <a:solidFill>
                <a:schemeClr val="bg1"/>
              </a:solidFill>
            </a:endParaRPr>
          </a:p>
          <a:p>
            <a:pPr eaLnBrk="1" hangingPunct="1">
              <a:buNone/>
            </a:pPr>
            <a:r>
              <a:rPr lang="zh-CN" altLang="en-US" b="1" dirty="0">
                <a:solidFill>
                  <a:schemeClr val="bg1"/>
                </a:solidFill>
              </a:rPr>
              <a:t>－栈</a:t>
            </a:r>
            <a:r>
              <a:rPr lang="en-US" altLang="zh-CN" b="1" dirty="0">
                <a:solidFill>
                  <a:schemeClr val="bg1"/>
                </a:solidFill>
              </a:rPr>
              <a:t>(</a:t>
            </a:r>
            <a:r>
              <a:rPr lang="zh-CN" altLang="en-US" b="1" dirty="0">
                <a:solidFill>
                  <a:schemeClr val="bg1"/>
                </a:solidFill>
              </a:rPr>
              <a:t>容器</a:t>
            </a:r>
            <a:r>
              <a:rPr lang="en-US" altLang="zh-CN" b="1" dirty="0">
                <a:solidFill>
                  <a:schemeClr val="bg1"/>
                </a:solidFill>
              </a:rPr>
              <a:t>)</a:t>
            </a:r>
            <a:endParaRPr lang="en-US" altLang="zh-CN" b="1" dirty="0">
              <a:solidFill>
                <a:schemeClr val="bg1"/>
              </a:solidFill>
            </a:endParaRPr>
          </a:p>
          <a:p>
            <a:pPr eaLnBrk="1" hangingPunct="1">
              <a:buNone/>
            </a:pPr>
            <a:r>
              <a:rPr lang="en-US" altLang="zh-CN" b="1" u="sng" dirty="0">
                <a:solidFill>
                  <a:schemeClr val="bg1"/>
                </a:solidFill>
              </a:rPr>
              <a:t>Stack.h</a:t>
            </a:r>
            <a:endParaRPr lang="en-US" altLang="zh-CN" b="1" u="sng" dirty="0">
              <a:solidFill>
                <a:schemeClr val="bg1"/>
              </a:solidFill>
            </a:endParaRPr>
          </a:p>
          <a:p>
            <a:pPr eaLnBrk="1" hangingPunct="1">
              <a:buNone/>
            </a:pPr>
            <a:r>
              <a:rPr lang="en-US" altLang="zh-CN" b="1" dirty="0">
                <a:solidFill>
                  <a:schemeClr val="bg1"/>
                </a:solidFill>
              </a:rPr>
              <a:t>class NODE{</a:t>
            </a:r>
            <a:r>
              <a:rPr lang="en-US" altLang="zh-CN" b="1" dirty="0">
                <a:solidFill>
                  <a:schemeClr val="bg1"/>
                </a:solidFill>
                <a:latin typeface="Arial" panose="020B0604020202020204" pitchFamily="34" charset="0"/>
              </a:rPr>
              <a:t>…</a:t>
            </a: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class Stack{</a:t>
            </a:r>
            <a:endParaRPr lang="en-US" altLang="zh-CN" b="1" dirty="0">
              <a:solidFill>
                <a:schemeClr val="bg1"/>
              </a:solidFill>
            </a:endParaRPr>
          </a:p>
          <a:p>
            <a:pPr eaLnBrk="1" hangingPunct="1">
              <a:buNone/>
            </a:pPr>
            <a:r>
              <a:rPr lang="en-US" altLang="zh-CN" b="1" dirty="0">
                <a:solidFill>
                  <a:schemeClr val="bg1"/>
                </a:solidFill>
              </a:rPr>
              <a:t>public:</a:t>
            </a:r>
            <a:endParaRPr lang="en-US" altLang="zh-CN" b="1" dirty="0">
              <a:solidFill>
                <a:schemeClr val="bg1"/>
              </a:solidFill>
            </a:endParaRPr>
          </a:p>
          <a:p>
            <a:pPr eaLnBrk="1" hangingPunct="1">
              <a:buNone/>
            </a:pPr>
            <a:r>
              <a:rPr lang="en-US" altLang="zh-CN" b="1" dirty="0">
                <a:solidFill>
                  <a:schemeClr val="bg1"/>
                </a:solidFill>
              </a:rPr>
              <a:t>   void put(NODE );</a:t>
            </a:r>
            <a:endParaRPr lang="en-US" altLang="zh-CN" b="1" dirty="0">
              <a:solidFill>
                <a:schemeClr val="bg1"/>
              </a:solidFill>
            </a:endParaRPr>
          </a:p>
          <a:p>
            <a:pPr eaLnBrk="1" hangingPunct="1">
              <a:buNone/>
            </a:pPr>
            <a:r>
              <a:rPr lang="en-US" altLang="zh-CN" b="1" dirty="0">
                <a:solidFill>
                  <a:schemeClr val="bg1"/>
                </a:solidFill>
              </a:rPr>
              <a:t>    NODE get( )</a:t>
            </a:r>
            <a:r>
              <a:rPr lang="zh-CN" altLang="en-US"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private:</a:t>
            </a:r>
            <a:endParaRPr lang="en-US" altLang="zh-CN" b="1" dirty="0">
              <a:solidFill>
                <a:schemeClr val="bg1"/>
              </a:solidFill>
            </a:endParaRPr>
          </a:p>
          <a:p>
            <a:pPr eaLnBrk="1" hangingPunct="1">
              <a:buNone/>
            </a:pPr>
            <a:r>
              <a:rPr lang="en-US" altLang="zh-CN" b="1" dirty="0">
                <a:solidFill>
                  <a:schemeClr val="bg1"/>
                </a:solidFill>
              </a:rPr>
              <a:t>   NODE *head; </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a:t>
            </a:r>
            <a:r>
              <a:rPr lang="zh-CN" altLang="en-US" b="1" dirty="0">
                <a:solidFill>
                  <a:schemeClr val="bg1"/>
                </a:solidFill>
              </a:rPr>
              <a:t>画内存图</a:t>
            </a:r>
            <a:endParaRPr lang="zh-CN" altLang="en-US" b="1" dirty="0">
              <a:solidFill>
                <a:schemeClr val="bg1"/>
              </a:solidFill>
            </a:endParaRPr>
          </a:p>
        </p:txBody>
      </p:sp>
      <p:sp>
        <p:nvSpPr>
          <p:cNvPr id="112642" name="Rectangle 4"/>
          <p:cNvSpPr/>
          <p:nvPr/>
        </p:nvSpPr>
        <p:spPr>
          <a:xfrm>
            <a:off x="4211638" y="476250"/>
            <a:ext cx="4897437" cy="6381750"/>
          </a:xfrm>
          <a:prstGeom prst="rect">
            <a:avLst/>
          </a:prstGeom>
          <a:noFill/>
          <a:ln w="9525">
            <a:noFill/>
          </a:ln>
        </p:spPr>
        <p:txBody>
          <a:bodyPr anchor="t"/>
          <a:p>
            <a:pPr marL="342900" indent="-342900">
              <a:lnSpc>
                <a:spcPct val="80000"/>
              </a:lnSpc>
              <a:spcBef>
                <a:spcPct val="20000"/>
              </a:spcBef>
            </a:pPr>
            <a:r>
              <a:rPr lang="en-US" altLang="zh-CN" sz="2800" b="1" u="sng" dirty="0">
                <a:latin typeface="Times New Roman" panose="02020603050405020304" pitchFamily="18" charset="0"/>
                <a:ea typeface="宋体" panose="02010600030101010101" pitchFamily="2" charset="-122"/>
              </a:rPr>
              <a:t>Stack.cpp</a:t>
            </a:r>
            <a:endParaRPr lang="en-US" altLang="zh-CN" sz="2800" b="1" u="sng"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Stack::</a:t>
            </a:r>
            <a:r>
              <a:rPr lang="en-US" altLang="zh-CN" sz="2800" b="1" dirty="0">
                <a:latin typeface="Times New Roman" panose="02020603050405020304" pitchFamily="18" charset="0"/>
                <a:ea typeface="宋体" panose="02010600030101010101" pitchFamily="2" charset="-122"/>
              </a:rPr>
              <a:t>put</a:t>
            </a:r>
            <a:r>
              <a:rPr lang="en-US"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NODE</a:t>
            </a:r>
            <a:r>
              <a:rPr lang="en-US" altLang="en-US" sz="2800" b="1" dirty="0">
                <a:latin typeface="Times New Roman" panose="02020603050405020304" pitchFamily="18" charset="0"/>
                <a:ea typeface="宋体" panose="02010600030101010101" pitchFamily="2" charset="-122"/>
              </a:rPr>
              <a:t> i){</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NODE *p=new NODE;</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p = i;</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p-&gt;next = head;</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head = 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NODE</a:t>
            </a:r>
            <a:r>
              <a:rPr lang="en-US" altLang="en-US" sz="2800" b="1" dirty="0">
                <a:latin typeface="Times New Roman" panose="02020603050405020304" pitchFamily="18" charset="0"/>
                <a:ea typeface="宋体" panose="02010600030101010101" pitchFamily="2" charset="-122"/>
              </a:rPr>
              <a:t> Stack::</a:t>
            </a:r>
            <a:r>
              <a:rPr lang="en-US" altLang="zh-CN" sz="2800" b="1" dirty="0">
                <a:latin typeface="Times New Roman" panose="02020603050405020304" pitchFamily="18" charset="0"/>
                <a:ea typeface="宋体" panose="02010600030101010101" pitchFamily="2" charset="-122"/>
              </a:rPr>
              <a:t>get</a:t>
            </a: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NODE </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q = head</a:t>
            </a:r>
            <a:r>
              <a:rPr lang="zh-CN"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NODE p = </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head;</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head = head-&gt;next;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delete q;</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return(p);</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idx="1"/>
          </p:nvPr>
        </p:nvSpPr>
        <p:spPr>
          <a:xfrm>
            <a:off x="2411413" y="620713"/>
            <a:ext cx="5473700" cy="5949950"/>
          </a:xfrm>
        </p:spPr>
        <p:txBody>
          <a:bodyPr vert="horz" wrap="square" lIns="91440" tIns="45720" rIns="91440" bIns="45720" anchor="t"/>
          <a:p>
            <a:pPr eaLnBrk="1" hangingPunct="1">
              <a:buNone/>
            </a:pPr>
            <a:r>
              <a:rPr lang="zh-CN" altLang="en-US" b="1" dirty="0">
                <a:solidFill>
                  <a:schemeClr val="bg1"/>
                </a:solidFill>
              </a:rPr>
              <a:t>例子（下）－栈</a:t>
            </a:r>
            <a:r>
              <a:rPr lang="en-US" altLang="zh-CN" b="1" dirty="0">
                <a:solidFill>
                  <a:schemeClr val="bg1"/>
                </a:solidFill>
              </a:rPr>
              <a:t>(</a:t>
            </a:r>
            <a:r>
              <a:rPr lang="zh-CN" altLang="en-US" b="1" dirty="0">
                <a:solidFill>
                  <a:schemeClr val="bg1"/>
                </a:solidFill>
              </a:rPr>
              <a:t>容器</a:t>
            </a: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#include </a:t>
            </a:r>
            <a:r>
              <a:rPr lang="en-US" altLang="zh-CN" b="1" dirty="0">
                <a:solidFill>
                  <a:schemeClr val="bg1"/>
                </a:solidFill>
                <a:latin typeface="Arial" panose="020B0604020202020204" pitchFamily="34" charset="0"/>
              </a:rPr>
              <a:t>“</a:t>
            </a:r>
            <a:r>
              <a:rPr lang="en-US" altLang="zh-CN" b="1" dirty="0">
                <a:solidFill>
                  <a:schemeClr val="bg1"/>
                </a:solidFill>
              </a:rPr>
              <a:t>Stack.h</a:t>
            </a:r>
            <a:r>
              <a:rPr lang="en-US" altLang="zh-CN" b="1" dirty="0">
                <a:solidFill>
                  <a:schemeClr val="bg1"/>
                </a:solidFill>
                <a:latin typeface="Arial" panose="020B0604020202020204" pitchFamily="34" charset="0"/>
              </a:rPr>
              <a:t>”</a:t>
            </a:r>
            <a:endParaRPr lang="en-US" altLang="zh-CN" b="1" dirty="0">
              <a:solidFill>
                <a:schemeClr val="bg1"/>
              </a:solidFill>
            </a:endParaRPr>
          </a:p>
          <a:p>
            <a:pPr eaLnBrk="1" hangingPunct="1">
              <a:buNone/>
            </a:pPr>
            <a:r>
              <a:rPr lang="en-US" altLang="zh-CN" b="1" dirty="0">
                <a:solidFill>
                  <a:schemeClr val="bg1"/>
                </a:solidFill>
              </a:rPr>
              <a:t>Stack  a;</a:t>
            </a:r>
            <a:endParaRPr lang="en-US" altLang="zh-CN" b="1" dirty="0">
              <a:solidFill>
                <a:schemeClr val="bg1"/>
              </a:solidFill>
            </a:endParaRPr>
          </a:p>
          <a:p>
            <a:pPr eaLnBrk="1" hangingPunct="1">
              <a:buNone/>
            </a:pPr>
            <a:r>
              <a:rPr lang="en-US" altLang="zh-CN" b="1" dirty="0">
                <a:solidFill>
                  <a:schemeClr val="bg1"/>
                </a:solidFill>
              </a:rPr>
              <a:t>Node s</a:t>
            </a:r>
            <a:r>
              <a:rPr lang="zh-CN" altLang="en-US" b="1" dirty="0">
                <a:solidFill>
                  <a:schemeClr val="bg1"/>
                </a:solidFill>
              </a:rPr>
              <a:t>，</a:t>
            </a:r>
            <a:r>
              <a:rPr lang="en-US" altLang="zh-CN" b="1" dirty="0">
                <a:solidFill>
                  <a:schemeClr val="bg1"/>
                </a:solidFill>
              </a:rPr>
              <a:t>t</a:t>
            </a:r>
            <a:r>
              <a:rPr lang="zh-CN" altLang="en-US"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 …;</a:t>
            </a:r>
            <a:endParaRPr lang="en-US" altLang="zh-CN" b="1" dirty="0">
              <a:solidFill>
                <a:schemeClr val="bg1"/>
              </a:solidFill>
            </a:endParaRPr>
          </a:p>
          <a:p>
            <a:pPr eaLnBrk="1" hangingPunct="1">
              <a:buNone/>
            </a:pPr>
            <a:r>
              <a:rPr lang="en-US" altLang="zh-CN" b="1" dirty="0">
                <a:solidFill>
                  <a:schemeClr val="bg1"/>
                </a:solidFill>
              </a:rPr>
              <a:t>a.put(s)</a:t>
            </a:r>
            <a:endParaRPr lang="en-US" altLang="zh-CN" b="1" dirty="0">
              <a:solidFill>
                <a:schemeClr val="bg1"/>
              </a:solidFill>
            </a:endParaRPr>
          </a:p>
          <a:p>
            <a:pPr eaLnBrk="1" hangingPunct="1">
              <a:buNone/>
            </a:pPr>
            <a:r>
              <a:rPr lang="en-US" altLang="zh-CN" b="1" dirty="0">
                <a:solidFill>
                  <a:schemeClr val="bg1"/>
                </a:solidFill>
              </a:rPr>
              <a:t>a.put(t);</a:t>
            </a:r>
            <a:endParaRPr lang="en-US" altLang="zh-CN" b="1" dirty="0">
              <a:solidFill>
                <a:schemeClr val="bg1"/>
              </a:solidFill>
            </a:endParaRPr>
          </a:p>
          <a:p>
            <a:pPr eaLnBrk="1" hangingPunct="1">
              <a:buNone/>
            </a:pPr>
            <a:r>
              <a:rPr lang="en-US" altLang="zh-CN" b="1" dirty="0">
                <a:solidFill>
                  <a:schemeClr val="bg1"/>
                </a:solidFill>
                <a:latin typeface="Arial" panose="020B0604020202020204" pitchFamily="34" charset="0"/>
              </a:rPr>
              <a:t>…</a:t>
            </a:r>
            <a:r>
              <a:rPr lang="en-US" altLang="zh-CN" b="1" dirty="0">
                <a:solidFill>
                  <a:schemeClr val="bg1"/>
                </a:solidFill>
              </a:rPr>
              <a:t> </a:t>
            </a:r>
            <a:r>
              <a:rPr lang="en-US" altLang="zh-CN" b="1" dirty="0">
                <a:solidFill>
                  <a:schemeClr val="bg1"/>
                </a:solidFill>
                <a:latin typeface="Arial" panose="020B0604020202020204" pitchFamily="34" charset="0"/>
              </a:rPr>
              <a:t>…</a:t>
            </a:r>
            <a:r>
              <a:rPr lang="zh-CN" altLang="en-US" b="1" dirty="0">
                <a:solidFill>
                  <a:schemeClr val="bg1"/>
                </a:solidFill>
                <a:latin typeface="Arial" panose="020B0604020202020204" pitchFamily="34" charset="0"/>
              </a:rPr>
              <a:t>；</a:t>
            </a:r>
            <a:endParaRPr lang="en-US" altLang="zh-CN" b="1" dirty="0">
              <a:solidFill>
                <a:schemeClr val="bg1"/>
              </a:solidFill>
            </a:endParaRPr>
          </a:p>
          <a:p>
            <a:pPr eaLnBrk="1" hangingPunct="1">
              <a:buNone/>
            </a:pPr>
            <a:r>
              <a:rPr lang="en-US" altLang="zh-CN" b="1" dirty="0">
                <a:solidFill>
                  <a:schemeClr val="bg1"/>
                </a:solidFill>
              </a:rPr>
              <a:t>t = a.get();</a:t>
            </a:r>
            <a:endParaRPr lang="en-US" altLang="zh-CN" b="1" dirty="0">
              <a:solidFill>
                <a:schemeClr val="bg1"/>
              </a:solidFill>
            </a:endParaRPr>
          </a:p>
          <a:p>
            <a:pPr eaLnBrk="1" hangingPunct="1">
              <a:buNone/>
            </a:pPr>
            <a:r>
              <a:rPr lang="en-US" altLang="zh-CN" b="1" dirty="0">
                <a:solidFill>
                  <a:schemeClr val="bg1"/>
                </a:solidFill>
                <a:latin typeface="Arial" panose="020B0604020202020204" pitchFamily="34" charset="0"/>
              </a:rPr>
              <a:t>…</a:t>
            </a:r>
            <a:r>
              <a:rPr lang="en-US" altLang="zh-CN" b="1" dirty="0">
                <a:solidFill>
                  <a:schemeClr val="bg1"/>
                </a:solidFill>
              </a:rPr>
              <a:t> </a:t>
            </a:r>
            <a:r>
              <a:rPr lang="en-US" altLang="zh-CN" b="1" dirty="0">
                <a:solidFill>
                  <a:schemeClr val="bg1"/>
                </a:solidFill>
                <a:latin typeface="Arial" panose="020B0604020202020204" pitchFamily="34" charset="0"/>
              </a:rPr>
              <a:t>…</a:t>
            </a:r>
            <a:r>
              <a:rPr lang="zh-CN" altLang="en-US" b="1" dirty="0">
                <a:solidFill>
                  <a:schemeClr val="bg1"/>
                </a:solidFill>
                <a:latin typeface="Arial" panose="020B0604020202020204" pitchFamily="34" charset="0"/>
              </a:rPr>
              <a:t>；</a:t>
            </a:r>
            <a:endParaRPr lang="en-US" altLang="zh-CN" b="1" dirty="0">
              <a:solidFill>
                <a:schemeClr val="bg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idx="1"/>
          </p:nvPr>
        </p:nvSpPr>
        <p:spPr>
          <a:xfrm>
            <a:off x="2700338" y="765175"/>
            <a:ext cx="5184775" cy="6092825"/>
          </a:xfrm>
        </p:spPr>
        <p:txBody>
          <a:bodyPr vert="horz" wrap="square" lIns="91440" tIns="45720" rIns="91440" bIns="45720" anchor="t"/>
          <a:p>
            <a:pPr eaLnBrk="1" hangingPunct="1">
              <a:buNone/>
            </a:pPr>
            <a:r>
              <a:rPr lang="en-US" altLang="zh-CN" sz="3600" b="1" dirty="0">
                <a:solidFill>
                  <a:schemeClr val="bg1"/>
                </a:solidFill>
              </a:rPr>
              <a:t>void print(int i){</a:t>
            </a:r>
            <a:endParaRPr lang="en-US" altLang="zh-CN" sz="3600" b="1" dirty="0">
              <a:solidFill>
                <a:schemeClr val="bg1"/>
              </a:solidFill>
            </a:endParaRPr>
          </a:p>
          <a:p>
            <a:pPr eaLnBrk="1" hangingPunct="1">
              <a:buNone/>
            </a:pPr>
            <a:r>
              <a:rPr lang="en-US" altLang="zh-CN" sz="3600" b="1" dirty="0">
                <a:solidFill>
                  <a:schemeClr val="bg1"/>
                </a:solidFill>
              </a:rPr>
              <a:t>   printf(</a:t>
            </a:r>
            <a:r>
              <a:rPr lang="en-US" altLang="zh-CN" sz="3600" b="1" dirty="0">
                <a:solidFill>
                  <a:schemeClr val="bg1"/>
                </a:solidFill>
                <a:latin typeface="Arial" panose="020B0604020202020204" pitchFamily="34" charset="0"/>
              </a:rPr>
              <a:t>“</a:t>
            </a:r>
            <a:r>
              <a:rPr lang="en-US" altLang="zh-CN" sz="3600" b="1" dirty="0">
                <a:solidFill>
                  <a:schemeClr val="bg1"/>
                </a:solidFill>
              </a:rPr>
              <a:t>%d</a:t>
            </a:r>
            <a:r>
              <a:rPr lang="en-US" altLang="zh-CN" sz="3600" b="1" dirty="0">
                <a:solidFill>
                  <a:schemeClr val="bg1"/>
                </a:solidFill>
                <a:latin typeface="Arial" panose="020B0604020202020204" pitchFamily="34" charset="0"/>
              </a:rPr>
              <a:t>”</a:t>
            </a:r>
            <a:r>
              <a:rPr lang="en-US" altLang="zh-CN" sz="3600" b="1" dirty="0">
                <a:solidFill>
                  <a:schemeClr val="bg1"/>
                </a:solidFill>
              </a:rPr>
              <a:t>,i);</a:t>
            </a:r>
            <a:endParaRPr lang="en-US" altLang="zh-CN" sz="3600" b="1" dirty="0">
              <a:solidFill>
                <a:schemeClr val="bg1"/>
              </a:solidFill>
            </a:endParaRPr>
          </a:p>
          <a:p>
            <a:pPr eaLnBrk="1" hangingPunct="1">
              <a:buNone/>
            </a:pPr>
            <a:r>
              <a:rPr lang="en-US" altLang="zh-CN" sz="3600" b="1" dirty="0">
                <a:solidFill>
                  <a:schemeClr val="bg1"/>
                </a:solidFill>
              </a:rPr>
              <a:t>}</a:t>
            </a:r>
            <a:endParaRPr lang="en-US" altLang="zh-CN" sz="3600" b="1" dirty="0">
              <a:solidFill>
                <a:schemeClr val="bg1"/>
              </a:solidFill>
            </a:endParaRPr>
          </a:p>
          <a:p>
            <a:pPr eaLnBrk="1" hangingPunct="1">
              <a:buNone/>
            </a:pPr>
            <a:r>
              <a:rPr lang="en-US" altLang="zh-CN" sz="3600" b="1" dirty="0">
                <a:solidFill>
                  <a:schemeClr val="bg1"/>
                </a:solidFill>
              </a:rPr>
              <a:t>void print1(char i){</a:t>
            </a:r>
            <a:endParaRPr lang="en-US" altLang="zh-CN" sz="3600" b="1" dirty="0">
              <a:solidFill>
                <a:schemeClr val="bg1"/>
              </a:solidFill>
            </a:endParaRPr>
          </a:p>
          <a:p>
            <a:pPr eaLnBrk="1" hangingPunct="1">
              <a:buNone/>
            </a:pPr>
            <a:r>
              <a:rPr lang="en-US" altLang="zh-CN" sz="3600" b="1" dirty="0">
                <a:solidFill>
                  <a:schemeClr val="bg1"/>
                </a:solidFill>
              </a:rPr>
              <a:t>  printf(</a:t>
            </a:r>
            <a:r>
              <a:rPr lang="en-US" altLang="zh-CN" sz="3600" b="1" dirty="0">
                <a:solidFill>
                  <a:schemeClr val="bg1"/>
                </a:solidFill>
                <a:latin typeface="Arial" panose="020B0604020202020204" pitchFamily="34" charset="0"/>
              </a:rPr>
              <a:t>“</a:t>
            </a:r>
            <a:r>
              <a:rPr lang="en-US" altLang="zh-CN" sz="3600" b="1" dirty="0">
                <a:solidFill>
                  <a:schemeClr val="bg1"/>
                </a:solidFill>
              </a:rPr>
              <a:t>%c</a:t>
            </a:r>
            <a:r>
              <a:rPr lang="en-US" altLang="zh-CN" sz="3600" b="1" dirty="0">
                <a:solidFill>
                  <a:schemeClr val="bg1"/>
                </a:solidFill>
                <a:latin typeface="Arial" panose="020B0604020202020204" pitchFamily="34" charset="0"/>
              </a:rPr>
              <a:t>”</a:t>
            </a:r>
            <a:r>
              <a:rPr lang="en-US" altLang="zh-CN" sz="3600" b="1" dirty="0">
                <a:solidFill>
                  <a:schemeClr val="bg1"/>
                </a:solidFill>
              </a:rPr>
              <a:t>,i);</a:t>
            </a:r>
            <a:endParaRPr lang="en-US" altLang="zh-CN" sz="3600" b="1" dirty="0">
              <a:solidFill>
                <a:schemeClr val="bg1"/>
              </a:solidFill>
            </a:endParaRPr>
          </a:p>
          <a:p>
            <a:pPr eaLnBrk="1" hangingPunct="1">
              <a:buNone/>
            </a:pPr>
            <a:r>
              <a:rPr lang="en-US" altLang="zh-CN" sz="3600" b="1" dirty="0">
                <a:solidFill>
                  <a:schemeClr val="bg1"/>
                </a:solidFill>
              </a:rPr>
              <a:t>}</a:t>
            </a:r>
            <a:endParaRPr lang="en-US" altLang="zh-CN" sz="3600" b="1" dirty="0">
              <a:solidFill>
                <a:schemeClr val="bg1"/>
              </a:solidFill>
            </a:endParaRPr>
          </a:p>
          <a:p>
            <a:pPr eaLnBrk="1" hangingPunct="1">
              <a:buNone/>
            </a:pPr>
            <a:endParaRPr lang="en-US" altLang="zh-CN" sz="3600" b="1" dirty="0">
              <a:solidFill>
                <a:schemeClr val="bg1"/>
              </a:solidFill>
            </a:endParaRPr>
          </a:p>
          <a:p>
            <a:pPr eaLnBrk="1" hangingPunct="1">
              <a:buNone/>
            </a:pPr>
            <a:r>
              <a:rPr lang="en-US" altLang="zh-CN" sz="3600" b="1" dirty="0">
                <a:solidFill>
                  <a:schemeClr val="bg1"/>
                </a:solidFill>
              </a:rPr>
              <a:t>print(9);    print1(</a:t>
            </a:r>
            <a:r>
              <a:rPr lang="en-US" altLang="zh-CN" sz="3600" b="1" dirty="0">
                <a:solidFill>
                  <a:schemeClr val="bg1"/>
                </a:solidFill>
                <a:latin typeface="Arial" panose="020B0604020202020204" pitchFamily="34" charset="0"/>
              </a:rPr>
              <a:t>‘</a:t>
            </a:r>
            <a:r>
              <a:rPr lang="en-US" altLang="zh-CN" sz="3600" b="1" dirty="0">
                <a:solidFill>
                  <a:schemeClr val="bg1"/>
                </a:solidFill>
              </a:rPr>
              <a:t>a</a:t>
            </a:r>
            <a:r>
              <a:rPr lang="en-US" altLang="zh-CN" sz="3600" b="1" dirty="0">
                <a:solidFill>
                  <a:schemeClr val="bg1"/>
                </a:solidFill>
                <a:latin typeface="Arial" panose="020B0604020202020204" pitchFamily="34" charset="0"/>
              </a:rPr>
              <a:t>’</a:t>
            </a:r>
            <a:r>
              <a:rPr lang="en-US" altLang="zh-CN" sz="3600" b="1" dirty="0">
                <a:solidFill>
                  <a:schemeClr val="bg1"/>
                </a:solidFill>
              </a:rPr>
              <a:t>);</a:t>
            </a:r>
            <a:endParaRPr lang="en-US" altLang="zh-CN" sz="3600" b="1" dirty="0">
              <a:solidFill>
                <a:schemeClr val="bg1"/>
              </a:solidFill>
            </a:endParaRPr>
          </a:p>
        </p:txBody>
      </p:sp>
      <p:sp>
        <p:nvSpPr>
          <p:cNvPr id="11469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114691" name="直接连接符 2"/>
          <p:cNvCxnSpPr/>
          <p:nvPr/>
        </p:nvCxnSpPr>
        <p:spPr>
          <a:xfrm>
            <a:off x="755650" y="5157788"/>
            <a:ext cx="7993063" cy="0"/>
          </a:xfrm>
          <a:prstGeom prst="line">
            <a:avLst/>
          </a:prstGeom>
          <a:ln w="9525" cap="flat" cmpd="sng">
            <a:solidFill>
              <a:schemeClr val="bg1"/>
            </a:solidFill>
            <a:prstDash val="solid"/>
            <a:round/>
            <a:headEnd type="none" w="med" len="med"/>
            <a:tailEnd type="none" w="med" len="med"/>
          </a:ln>
        </p:spPr>
      </p:cxnSp>
      <p:sp>
        <p:nvSpPr>
          <p:cNvPr id="4" name="TextBox 3"/>
          <p:cNvSpPr txBox="1"/>
          <p:nvPr/>
        </p:nvSpPr>
        <p:spPr>
          <a:xfrm>
            <a:off x="250825" y="1844675"/>
            <a:ext cx="1225550" cy="1385888"/>
          </a:xfrm>
          <a:prstGeom prst="rect">
            <a:avLst/>
          </a:prstGeom>
          <a:noFill/>
        </p:spPr>
        <p:txBody>
          <a:bodyPr>
            <a:spAutoFit/>
          </a:bodyPr>
          <a:lstStyle/>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生</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产</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者</a:t>
            </a:r>
            <a:endPar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7" name="TextBox 6"/>
          <p:cNvSpPr txBox="1"/>
          <p:nvPr/>
        </p:nvSpPr>
        <p:spPr>
          <a:xfrm>
            <a:off x="250825" y="5356225"/>
            <a:ext cx="1225550" cy="1385888"/>
          </a:xfrm>
          <a:prstGeom prst="rect">
            <a:avLst/>
          </a:prstGeom>
          <a:noFill/>
        </p:spPr>
        <p:txBody>
          <a:bodyPr>
            <a:spAutoFit/>
          </a:bodyPr>
          <a:lstStyle/>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消</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费</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者</a:t>
            </a:r>
            <a:endPar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idx="1"/>
          </p:nvPr>
        </p:nvSpPr>
        <p:spPr>
          <a:xfrm>
            <a:off x="2847975" y="765175"/>
            <a:ext cx="4460875" cy="6092825"/>
          </a:xfrm>
        </p:spPr>
        <p:txBody>
          <a:bodyPr vert="horz" wrap="square" lIns="91440" tIns="45720" rIns="91440" bIns="45720" anchor="t"/>
          <a:p>
            <a:pPr eaLnBrk="1" hangingPunct="1">
              <a:buNone/>
            </a:pPr>
            <a:r>
              <a:rPr lang="en-US" altLang="zh-CN" b="1" dirty="0">
                <a:solidFill>
                  <a:schemeClr val="bg1"/>
                </a:solidFill>
              </a:rPr>
              <a:t>void print(X i){</a:t>
            </a:r>
            <a:endParaRPr lang="en-US" altLang="zh-CN" b="1" dirty="0">
              <a:solidFill>
                <a:schemeClr val="bg1"/>
              </a:solidFill>
            </a:endParaRPr>
          </a:p>
          <a:p>
            <a:pPr eaLnBrk="1" hangingPunct="1">
              <a:buNone/>
            </a:pPr>
            <a:r>
              <a:rPr lang="en-US" altLang="zh-CN" b="1" dirty="0">
                <a:solidFill>
                  <a:schemeClr val="bg1"/>
                </a:solidFill>
              </a:rPr>
              <a:t>  if(X == int)</a:t>
            </a:r>
            <a:endParaRPr lang="en-US" altLang="zh-CN" b="1" dirty="0">
              <a:solidFill>
                <a:schemeClr val="bg1"/>
              </a:solidFill>
            </a:endParaRPr>
          </a:p>
          <a:p>
            <a:pPr eaLnBrk="1" hangingPunct="1">
              <a:buNone/>
            </a:pPr>
            <a:r>
              <a:rPr lang="en-US" altLang="zh-CN" b="1" dirty="0">
                <a:solidFill>
                  <a:schemeClr val="bg1"/>
                </a:solidFill>
              </a:rPr>
              <a:t>     printf(</a:t>
            </a:r>
            <a:r>
              <a:rPr lang="en-US" altLang="zh-CN" b="1" dirty="0">
                <a:solidFill>
                  <a:schemeClr val="bg1"/>
                </a:solidFill>
                <a:latin typeface="Arial" panose="020B0604020202020204" pitchFamily="34" charset="0"/>
              </a:rPr>
              <a:t>“</a:t>
            </a:r>
            <a:r>
              <a:rPr lang="en-US" altLang="zh-CN" b="1" dirty="0">
                <a:solidFill>
                  <a:schemeClr val="bg1"/>
                </a:solidFill>
              </a:rPr>
              <a:t>%d</a:t>
            </a:r>
            <a:r>
              <a:rPr lang="en-US" altLang="zh-CN" b="1" dirty="0">
                <a:solidFill>
                  <a:schemeClr val="bg1"/>
                </a:solidFill>
                <a:latin typeface="Arial" panose="020B0604020202020204" pitchFamily="34" charset="0"/>
              </a:rPr>
              <a:t>”</a:t>
            </a:r>
            <a:r>
              <a:rPr lang="en-US" altLang="zh-CN" b="1" dirty="0">
                <a:solidFill>
                  <a:schemeClr val="bg1"/>
                </a:solidFill>
              </a:rPr>
              <a:t>,i);</a:t>
            </a:r>
            <a:endParaRPr lang="en-US" altLang="zh-CN" b="1" dirty="0">
              <a:solidFill>
                <a:schemeClr val="bg1"/>
              </a:solidFill>
            </a:endParaRPr>
          </a:p>
          <a:p>
            <a:pPr eaLnBrk="1" hangingPunct="1">
              <a:buNone/>
            </a:pPr>
            <a:r>
              <a:rPr lang="en-US" altLang="zh-CN" b="1" dirty="0">
                <a:solidFill>
                  <a:schemeClr val="bg1"/>
                </a:solidFill>
              </a:rPr>
              <a:t>  if(X == char)</a:t>
            </a:r>
            <a:endParaRPr lang="en-US" altLang="zh-CN" b="1" dirty="0">
              <a:solidFill>
                <a:schemeClr val="bg1"/>
              </a:solidFill>
            </a:endParaRPr>
          </a:p>
          <a:p>
            <a:pPr eaLnBrk="1" hangingPunct="1">
              <a:buNone/>
            </a:pPr>
            <a:r>
              <a:rPr lang="en-US" altLang="zh-CN" b="1" dirty="0">
                <a:solidFill>
                  <a:schemeClr val="bg1"/>
                </a:solidFill>
              </a:rPr>
              <a:t>     printf(</a:t>
            </a:r>
            <a:r>
              <a:rPr lang="en-US" altLang="zh-CN" b="1" dirty="0">
                <a:solidFill>
                  <a:schemeClr val="bg1"/>
                </a:solidFill>
                <a:latin typeface="Arial" panose="020B0604020202020204" pitchFamily="34" charset="0"/>
              </a:rPr>
              <a:t>“</a:t>
            </a:r>
            <a:r>
              <a:rPr lang="en-US" altLang="zh-CN" b="1" dirty="0">
                <a:solidFill>
                  <a:schemeClr val="bg1"/>
                </a:solidFill>
              </a:rPr>
              <a:t>%c</a:t>
            </a:r>
            <a:r>
              <a:rPr lang="en-US" altLang="zh-CN" b="1" dirty="0">
                <a:solidFill>
                  <a:schemeClr val="bg1"/>
                </a:solidFill>
                <a:latin typeface="Arial" panose="020B0604020202020204" pitchFamily="34" charset="0"/>
              </a:rPr>
              <a:t>”</a:t>
            </a:r>
            <a:r>
              <a:rPr lang="en-US" altLang="zh-CN" b="1" dirty="0">
                <a:solidFill>
                  <a:schemeClr val="bg1"/>
                </a:solidFill>
              </a:rPr>
              <a:t>,i);</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r>
              <a:rPr lang="en-US" altLang="zh-CN" b="1" dirty="0">
                <a:solidFill>
                  <a:schemeClr val="bg1"/>
                </a:solidFill>
              </a:rPr>
              <a:t>print(9);</a:t>
            </a:r>
            <a:endParaRPr lang="en-US" altLang="zh-CN" b="1" dirty="0">
              <a:solidFill>
                <a:schemeClr val="bg1"/>
              </a:solidFill>
            </a:endParaRPr>
          </a:p>
          <a:p>
            <a:pPr eaLnBrk="1" hangingPunct="1">
              <a:buNone/>
            </a:pPr>
            <a:r>
              <a:rPr lang="en-US" altLang="zh-CN" b="1" dirty="0">
                <a:solidFill>
                  <a:schemeClr val="bg1"/>
                </a:solidFill>
              </a:rPr>
              <a:t>print(</a:t>
            </a:r>
            <a:r>
              <a:rPr lang="en-US" altLang="zh-CN" b="1" dirty="0">
                <a:solidFill>
                  <a:schemeClr val="bg1"/>
                </a:solidFill>
                <a:latin typeface="Arial" panose="020B0604020202020204" pitchFamily="34" charset="0"/>
              </a:rPr>
              <a:t>‘</a:t>
            </a:r>
            <a:r>
              <a:rPr lang="en-US" altLang="zh-CN" b="1" dirty="0">
                <a:solidFill>
                  <a:schemeClr val="bg1"/>
                </a:solidFill>
              </a:rPr>
              <a:t>a</a:t>
            </a:r>
            <a:r>
              <a:rPr lang="en-US" altLang="zh-CN" b="1" dirty="0">
                <a:solidFill>
                  <a:schemeClr val="bg1"/>
                </a:solidFill>
                <a:latin typeface="Arial" panose="020B0604020202020204" pitchFamily="34" charset="0"/>
              </a:rPr>
              <a:t>’</a:t>
            </a: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a:t>
            </a:r>
            <a:r>
              <a:rPr lang="zh-CN" altLang="en-US" b="1" dirty="0">
                <a:solidFill>
                  <a:schemeClr val="bg1"/>
                </a:solidFill>
              </a:rPr>
              <a:t>这是人们希望的方式</a:t>
            </a:r>
            <a:endParaRPr lang="zh-CN" altLang="en-US" b="1" dirty="0">
              <a:solidFill>
                <a:schemeClr val="bg1"/>
              </a:solidFill>
            </a:endParaRPr>
          </a:p>
        </p:txBody>
      </p:sp>
      <p:sp>
        <p:nvSpPr>
          <p:cNvPr id="11571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cxnSp>
        <p:nvCxnSpPr>
          <p:cNvPr id="115715" name="直接连接符 2"/>
          <p:cNvCxnSpPr/>
          <p:nvPr/>
        </p:nvCxnSpPr>
        <p:spPr>
          <a:xfrm>
            <a:off x="250825" y="4868863"/>
            <a:ext cx="8353425" cy="0"/>
          </a:xfrm>
          <a:prstGeom prst="line">
            <a:avLst/>
          </a:prstGeom>
          <a:ln w="9525" cap="flat" cmpd="sng">
            <a:solidFill>
              <a:schemeClr val="bg1"/>
            </a:solidFill>
            <a:prstDash val="solid"/>
            <a:round/>
            <a:headEnd type="none" w="med" len="med"/>
            <a:tailEnd type="none" w="med" len="med"/>
          </a:ln>
        </p:spPr>
      </p:cxnSp>
      <p:sp>
        <p:nvSpPr>
          <p:cNvPr id="6" name="TextBox 5"/>
          <p:cNvSpPr txBox="1"/>
          <p:nvPr/>
        </p:nvSpPr>
        <p:spPr>
          <a:xfrm>
            <a:off x="250825" y="1844675"/>
            <a:ext cx="1225550" cy="1385888"/>
          </a:xfrm>
          <a:prstGeom prst="rect">
            <a:avLst/>
          </a:prstGeom>
          <a:noFill/>
        </p:spPr>
        <p:txBody>
          <a:bodyPr>
            <a:spAutoFit/>
          </a:bodyPr>
          <a:lstStyle/>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生</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产</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者</a:t>
            </a:r>
            <a:endPar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7" name="TextBox 6"/>
          <p:cNvSpPr txBox="1"/>
          <p:nvPr/>
        </p:nvSpPr>
        <p:spPr>
          <a:xfrm>
            <a:off x="250825" y="5356225"/>
            <a:ext cx="1225550" cy="1385888"/>
          </a:xfrm>
          <a:prstGeom prst="rect">
            <a:avLst/>
          </a:prstGeom>
          <a:noFill/>
        </p:spPr>
        <p:txBody>
          <a:bodyPr>
            <a:spAutoFit/>
          </a:bodyPr>
          <a:lstStyle/>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消</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费</a:t>
            </a:r>
            <a:endParaRPr kumimoji="1" lang="en-US" altLang="zh-CN"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者</a:t>
            </a:r>
            <a:endParaRPr kumimoji="1" lang="zh-CN" altLang="en-US" sz="2800"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p:cNvSpPr>
          <p:nvPr>
            <p:ph idx="1"/>
          </p:nvPr>
        </p:nvSpPr>
        <p:spPr>
          <a:xfrm>
            <a:off x="827088" y="908050"/>
            <a:ext cx="4752975" cy="5761038"/>
          </a:xfrm>
        </p:spPr>
        <p:txBody>
          <a:bodyPr vert="horz" wrap="square" lIns="91440" tIns="45720" rIns="91440" bIns="45720" anchor="t"/>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void p(int);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void p(float);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p(6.2);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p(int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cout&lt;&lt;1;</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p(float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1673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16739" name="Rectangle 5"/>
          <p:cNvSpPr/>
          <p:nvPr/>
        </p:nvSpPr>
        <p:spPr>
          <a:xfrm>
            <a:off x="5724525" y="549275"/>
            <a:ext cx="3095625" cy="630872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B 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p(B 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2"/>
          <p:cNvSpPr>
            <a:spLocks noGrp="1"/>
          </p:cNvSpPr>
          <p:nvPr>
            <p:ph idx="1"/>
          </p:nvPr>
        </p:nvSpPr>
        <p:spPr>
          <a:xfrm>
            <a:off x="827088" y="908050"/>
            <a:ext cx="7632700" cy="5761038"/>
          </a:xfrm>
        </p:spPr>
        <p:txBody>
          <a:bodyPr vert="horz" wrap="square" lIns="91440" tIns="45720" rIns="91440" bIns="45720" anchor="t"/>
          <a:p>
            <a:pPr eaLnBrk="1" hangingPunct="1">
              <a:lnSpc>
                <a:spcPct val="80000"/>
              </a:lnSpc>
              <a:buNone/>
            </a:pPr>
            <a:r>
              <a:rPr lang="zh-CN" altLang="en-US" sz="2400" b="1" dirty="0">
                <a:solidFill>
                  <a:schemeClr val="bg1"/>
                </a:solidFill>
              </a:rPr>
              <a:t>重载依据：</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1</a:t>
            </a:r>
            <a:r>
              <a:rPr lang="zh-CN" altLang="en-US" sz="2400" b="1" dirty="0">
                <a:solidFill>
                  <a:schemeClr val="bg1"/>
                </a:solidFill>
              </a:rPr>
              <a:t>、参数类型（</a:t>
            </a:r>
            <a:r>
              <a:rPr lang="en-US" altLang="zh-CN" sz="2400" b="1" dirty="0">
                <a:solidFill>
                  <a:schemeClr val="bg1"/>
                </a:solidFill>
              </a:rPr>
              <a:t>const</a:t>
            </a:r>
            <a:r>
              <a:rPr lang="zh-CN" altLang="en-US" sz="2400" b="1" dirty="0">
                <a:solidFill>
                  <a:schemeClr val="bg1"/>
                </a:solidFill>
              </a:rPr>
              <a:t>引用和</a:t>
            </a:r>
            <a:r>
              <a:rPr lang="en-US" altLang="zh-CN" sz="2400" b="1" dirty="0">
                <a:solidFill>
                  <a:schemeClr val="bg1"/>
                </a:solidFill>
              </a:rPr>
              <a:t>const</a:t>
            </a:r>
            <a:r>
              <a:rPr lang="zh-CN" altLang="en-US" sz="2400" b="1" dirty="0">
                <a:solidFill>
                  <a:schemeClr val="bg1"/>
                </a:solidFill>
              </a:rPr>
              <a:t>指针）</a:t>
            </a:r>
            <a:endParaRPr lang="en-US" altLang="zh-CN" sz="2400" b="1" dirty="0">
              <a:solidFill>
                <a:schemeClr val="bg1"/>
              </a:solidFill>
            </a:endParaRPr>
          </a:p>
          <a:p>
            <a:pPr eaLnBrk="1" hangingPunct="1">
              <a:lnSpc>
                <a:spcPct val="80000"/>
              </a:lnSpc>
              <a:buNone/>
            </a:pPr>
            <a:r>
              <a:rPr lang="en-US" altLang="zh-CN" sz="2400" b="1" dirty="0">
                <a:solidFill>
                  <a:schemeClr val="bg1"/>
                </a:solidFill>
              </a:rPr>
              <a:t>2</a:t>
            </a:r>
            <a:r>
              <a:rPr lang="zh-CN" altLang="en-US" sz="2400" b="1" dirty="0">
                <a:solidFill>
                  <a:schemeClr val="bg1"/>
                </a:solidFill>
              </a:rPr>
              <a:t>、参数个数</a:t>
            </a:r>
            <a:endParaRPr lang="zh-CN" altLang="en-US" sz="2400" b="1" dirty="0">
              <a:solidFill>
                <a:schemeClr val="bg1"/>
              </a:solidFill>
            </a:endParaRPr>
          </a:p>
          <a:p>
            <a:pPr eaLnBrk="1" hangingPunct="1">
              <a:lnSpc>
                <a:spcPct val="80000"/>
              </a:lnSpc>
              <a:buNone/>
            </a:pPr>
            <a:r>
              <a:rPr lang="en-US" altLang="zh-CN" sz="2400" b="1" dirty="0">
                <a:solidFill>
                  <a:schemeClr val="bg1"/>
                </a:solidFill>
              </a:rPr>
              <a:t>3</a:t>
            </a:r>
            <a:r>
              <a:rPr lang="zh-CN" altLang="en-US" sz="2400" b="1" dirty="0">
                <a:solidFill>
                  <a:schemeClr val="bg1"/>
                </a:solidFill>
              </a:rPr>
              <a:t>、参数顺序</a:t>
            </a:r>
            <a:endParaRPr lang="en-US" altLang="zh-CN" sz="2400" b="1" dirty="0">
              <a:solidFill>
                <a:schemeClr val="bg1"/>
              </a:solidFill>
            </a:endParaRPr>
          </a:p>
          <a:p>
            <a:pPr eaLnBrk="1" hangingPunct="1">
              <a:lnSpc>
                <a:spcPct val="80000"/>
              </a:lnSpc>
              <a:buNone/>
            </a:pPr>
            <a:r>
              <a:rPr lang="en-US" altLang="zh-CN" sz="2400" b="1" dirty="0">
                <a:solidFill>
                  <a:schemeClr val="bg1"/>
                </a:solidFill>
              </a:rPr>
              <a:t>4</a:t>
            </a:r>
            <a:r>
              <a:rPr lang="zh-CN" altLang="en-US" sz="2400" b="1" dirty="0">
                <a:solidFill>
                  <a:schemeClr val="bg1"/>
                </a:solidFill>
              </a:rPr>
              <a:t>、常成员函数</a:t>
            </a:r>
            <a:endParaRPr lang="en-US" altLang="zh-CN" sz="2400" b="1" dirty="0">
              <a:solidFill>
                <a:schemeClr val="bg1"/>
              </a:solidFill>
            </a:endParaRPr>
          </a:p>
          <a:p>
            <a:pPr eaLnBrk="1" hangingPunct="1">
              <a:lnSpc>
                <a:spcPct val="80000"/>
              </a:lnSpc>
              <a:buNone/>
            </a:pPr>
            <a:endParaRPr lang="zh-CN" altLang="en-US" sz="2400" b="1" dirty="0">
              <a:solidFill>
                <a:schemeClr val="bg1"/>
              </a:solidFill>
            </a:endParaRPr>
          </a:p>
          <a:p>
            <a:pPr eaLnBrk="1" hangingPunct="1">
              <a:lnSpc>
                <a:spcPct val="80000"/>
              </a:lnSpc>
              <a:buNone/>
            </a:pPr>
            <a:r>
              <a:rPr lang="zh-CN" altLang="en-US" sz="2400" b="1" dirty="0">
                <a:solidFill>
                  <a:schemeClr val="bg1"/>
                </a:solidFill>
              </a:rPr>
              <a:t>说明：</a:t>
            </a:r>
            <a:endParaRPr lang="en-US" altLang="zh-CN" sz="2400" b="1" dirty="0">
              <a:solidFill>
                <a:schemeClr val="bg1"/>
              </a:solidFill>
            </a:endParaRPr>
          </a:p>
          <a:p>
            <a:pPr eaLnBrk="1" hangingPunct="1">
              <a:lnSpc>
                <a:spcPct val="80000"/>
              </a:lnSpc>
              <a:buNone/>
            </a:pPr>
            <a:r>
              <a:rPr lang="en-US" altLang="zh-CN" sz="2400" b="1" dirty="0">
                <a:solidFill>
                  <a:schemeClr val="bg1"/>
                </a:solidFill>
              </a:rPr>
              <a:t>1</a:t>
            </a:r>
            <a:r>
              <a:rPr lang="zh-CN" altLang="en-US" sz="2400" b="1" dirty="0">
                <a:solidFill>
                  <a:schemeClr val="bg1"/>
                </a:solidFill>
              </a:rPr>
              <a:t>、返回值类型不能够作为重载依据</a:t>
            </a:r>
            <a:endParaRPr lang="zh-CN" altLang="en-US" sz="2400" b="1" dirty="0">
              <a:solidFill>
                <a:schemeClr val="bg1"/>
              </a:solidFill>
            </a:endParaRPr>
          </a:p>
          <a:p>
            <a:pPr eaLnBrk="1" hangingPunct="1">
              <a:lnSpc>
                <a:spcPct val="80000"/>
              </a:lnSpc>
              <a:buNone/>
            </a:pPr>
            <a:r>
              <a:rPr lang="en-US" altLang="zh-CN" sz="2400" b="1" dirty="0">
                <a:solidFill>
                  <a:schemeClr val="bg1"/>
                </a:solidFill>
              </a:rPr>
              <a:t>2</a:t>
            </a:r>
            <a:r>
              <a:rPr lang="zh-CN" altLang="en-US" sz="2400" b="1" dirty="0">
                <a:solidFill>
                  <a:schemeClr val="bg1"/>
                </a:solidFill>
              </a:rPr>
              <a:t>、要求同一个作用域</a:t>
            </a:r>
            <a:endParaRPr lang="zh-CN" altLang="en-US" sz="2400" b="1" dirty="0">
              <a:solidFill>
                <a:schemeClr val="bg1"/>
              </a:solidFill>
            </a:endParaRPr>
          </a:p>
        </p:txBody>
      </p:sp>
      <p:sp>
        <p:nvSpPr>
          <p:cNvPr id="11776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18786" name="Rectangle 4"/>
          <p:cNvSpPr/>
          <p:nvPr/>
        </p:nvSpPr>
        <p:spPr>
          <a:xfrm>
            <a:off x="468313" y="333375"/>
            <a:ext cx="2660650" cy="62642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p(A</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p(B</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B 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p(x,y);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p(y,x);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a,B 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p(B b,A 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参数类型顺序</a:t>
            </a:r>
            <a:endParaRPr lang="zh-CN" altLang="en-US" sz="2400" b="1" dirty="0">
              <a:latin typeface="Times New Roman" panose="02020603050405020304" pitchFamily="18" charset="0"/>
              <a:ea typeface="宋体" panose="02010600030101010101" pitchFamily="2" charset="-122"/>
            </a:endParaRPr>
          </a:p>
        </p:txBody>
      </p:sp>
      <p:sp>
        <p:nvSpPr>
          <p:cNvPr id="118787" name="Rectangle 6"/>
          <p:cNvSpPr/>
          <p:nvPr/>
        </p:nvSpPr>
        <p:spPr>
          <a:xfrm>
            <a:off x="5651500" y="477838"/>
            <a:ext cx="2660650" cy="5472112"/>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p(A,B);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void p(B);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B 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p(x,y);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a,B 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p(B 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参数个数</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19810" name="Rectangle 4"/>
          <p:cNvSpPr/>
          <p:nvPr/>
        </p:nvSpPr>
        <p:spPr>
          <a:xfrm>
            <a:off x="468313" y="549275"/>
            <a:ext cx="3024187" cy="62642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const *s){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常量指针重载</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const A x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p(&amp;x);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y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p(&amp;y);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400" b="1" dirty="0">
              <a:latin typeface="Times New Roman" panose="02020603050405020304" pitchFamily="18" charset="0"/>
              <a:ea typeface="宋体" panose="02010600030101010101" pitchFamily="2" charset="-122"/>
            </a:endParaRPr>
          </a:p>
        </p:txBody>
      </p:sp>
      <p:sp>
        <p:nvSpPr>
          <p:cNvPr id="119811" name="Rectangle 4"/>
          <p:cNvSpPr/>
          <p:nvPr/>
        </p:nvSpPr>
        <p:spPr>
          <a:xfrm>
            <a:off x="6015038" y="476250"/>
            <a:ext cx="2949575" cy="62642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const &amp;s){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&amp;s){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常引用重载</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const A x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y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0834" name="Rectangle 4"/>
          <p:cNvSpPr/>
          <p:nvPr/>
        </p:nvSpPr>
        <p:spPr>
          <a:xfrm>
            <a:off x="3419475" y="739775"/>
            <a:ext cx="5329238" cy="62642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A{</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B{</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const 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p(A 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值传递 不是空间权限传递</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不构成重载</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const A x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 y =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p(y);</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1858" name="Rectangle 8"/>
          <p:cNvSpPr>
            <a:spLocks noGrp="1"/>
          </p:cNvSpPr>
          <p:nvPr>
            <p:ph idx="1"/>
          </p:nvPr>
        </p:nvSpPr>
        <p:spPr>
          <a:xfrm>
            <a:off x="182563" y="333375"/>
            <a:ext cx="3236912" cy="6524625"/>
          </a:xfrm>
        </p:spPr>
        <p:txBody>
          <a:bodyPr vert="horz" wrap="square" lIns="91440" tIns="45720" rIns="91440" bIns="45720" anchor="t"/>
          <a:p>
            <a:pPr eaLnBrk="1" hangingPunct="1">
              <a:lnSpc>
                <a:spcPct val="90000"/>
              </a:lnSpc>
              <a:buNone/>
            </a:pPr>
            <a:r>
              <a:rPr lang="zh-CN" altLang="en-US" sz="2400" b="1" dirty="0">
                <a:solidFill>
                  <a:schemeClr val="bg1"/>
                </a:solidFill>
              </a:rPr>
              <a:t>例子－成员函数重载</a:t>
            </a:r>
            <a:endParaRPr lang="zh-CN" altLang="en-US" sz="2400" b="1" dirty="0">
              <a:solidFill>
                <a:schemeClr val="bg1"/>
              </a:solidFill>
            </a:endParaRPr>
          </a:p>
          <a:p>
            <a:pPr eaLnBrk="1" hangingPunct="1">
              <a:lnSpc>
                <a:spcPct val="90000"/>
              </a:lnSpc>
              <a:buNone/>
            </a:pPr>
            <a:r>
              <a:rPr lang="en-US" altLang="zh-CN" sz="2400" b="1" u="sng" dirty="0">
                <a:solidFill>
                  <a:schemeClr val="bg1"/>
                </a:solidFill>
              </a:rPr>
              <a:t>Student.h</a:t>
            </a:r>
            <a:endParaRPr lang="en-US" altLang="zh-CN" sz="2400" b="1" u="sng" dirty="0">
              <a:solidFill>
                <a:schemeClr val="bg1"/>
              </a:solidFill>
            </a:endParaRPr>
          </a:p>
          <a:p>
            <a:pPr eaLnBrk="1" hangingPunct="1">
              <a:lnSpc>
                <a:spcPct val="9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void q(void)</a:t>
            </a:r>
            <a:r>
              <a:rPr lang="zh-CN" altLang="en-US" sz="2400" b="1" dirty="0">
                <a:solidFill>
                  <a:schemeClr val="bg1"/>
                </a:solidFill>
              </a:rPr>
              <a:t>；</a:t>
            </a:r>
            <a:endParaRPr lang="zh-CN" altLang="en-US" sz="2400" b="1" dirty="0">
              <a:solidFill>
                <a:schemeClr val="bg1"/>
              </a:solidFill>
            </a:endParaRPr>
          </a:p>
          <a:p>
            <a:pPr eaLnBrk="1" hangingPunct="1">
              <a:lnSpc>
                <a:spcPct val="90000"/>
              </a:lnSpc>
              <a:buNone/>
            </a:pPr>
            <a:r>
              <a:rPr lang="zh-CN" altLang="en-US" sz="2400" b="1" dirty="0">
                <a:solidFill>
                  <a:schemeClr val="bg1"/>
                </a:solidFill>
              </a:rPr>
              <a:t> </a:t>
            </a:r>
            <a:r>
              <a:rPr lang="en-US" altLang="zh-CN" sz="2400" b="1" dirty="0">
                <a:solidFill>
                  <a:schemeClr val="bg1"/>
                </a:solidFill>
              </a:rPr>
              <a:t>void q(int a);</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float score;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protected:</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float m;</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Student::q(){</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en-US" altLang="zh-CN" sz="2400" b="1" dirty="0">
                <a:solidFill>
                  <a:schemeClr val="bg1"/>
                </a:solidFill>
              </a:rPr>
              <a:t>aaaaaa</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Student::q(int a){</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en-US" altLang="zh-CN" sz="2400" b="1" dirty="0">
                <a:solidFill>
                  <a:schemeClr val="bg1"/>
                </a:solidFill>
              </a:rPr>
              <a:t>bbbbbb</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endParaRPr lang="en-US" altLang="zh-CN" sz="2400" b="1" dirty="0">
              <a:solidFill>
                <a:schemeClr val="bg1"/>
              </a:solidFill>
            </a:endParaRPr>
          </a:p>
        </p:txBody>
      </p:sp>
      <p:sp>
        <p:nvSpPr>
          <p:cNvPr id="121859" name="Rectangle 9"/>
          <p:cNvSpPr/>
          <p:nvPr/>
        </p:nvSpPr>
        <p:spPr>
          <a:xfrm>
            <a:off x="5148263" y="836613"/>
            <a:ext cx="3744912" cy="5616575"/>
          </a:xfrm>
          <a:prstGeom prst="rect">
            <a:avLst/>
          </a:prstGeom>
          <a:noFill/>
          <a:ln w="9525">
            <a:noFill/>
          </a:ln>
        </p:spPr>
        <p:txBody>
          <a:bodyPr anchor="t"/>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#include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Student.h</a:t>
            </a:r>
            <a:r>
              <a:rPr lang="en-US" altLang="zh-CN" sz="2800" b="1" dirty="0">
                <a:latin typeface="Arial" panose="020B0604020202020204" pitchFamily="34"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aa.cpp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a.q(2);</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2882" name="Rectangle 3"/>
          <p:cNvSpPr>
            <a:spLocks noGrp="1"/>
          </p:cNvSpPr>
          <p:nvPr>
            <p:ph idx="1"/>
          </p:nvPr>
        </p:nvSpPr>
        <p:spPr>
          <a:xfrm>
            <a:off x="182563" y="315913"/>
            <a:ext cx="3741737" cy="6858000"/>
          </a:xfrm>
        </p:spPr>
        <p:txBody>
          <a:bodyPr vert="horz" wrap="square" lIns="91440" tIns="45720" rIns="91440" bIns="45720" anchor="t"/>
          <a:p>
            <a:pPr eaLnBrk="1" hangingPunct="1">
              <a:lnSpc>
                <a:spcPct val="80000"/>
              </a:lnSpc>
              <a:buNone/>
            </a:pPr>
            <a:r>
              <a:rPr lang="zh-CN" altLang="en-US" sz="2600" b="1" dirty="0">
                <a:solidFill>
                  <a:schemeClr val="bg1"/>
                </a:solidFill>
              </a:rPr>
              <a:t>例子－成员函数重载</a:t>
            </a:r>
            <a:endParaRPr lang="zh-CN" altLang="en-US" sz="2600" b="1" dirty="0">
              <a:solidFill>
                <a:schemeClr val="bg1"/>
              </a:solidFill>
            </a:endParaRPr>
          </a:p>
          <a:p>
            <a:pPr eaLnBrk="1" hangingPunct="1">
              <a:lnSpc>
                <a:spcPct val="80000"/>
              </a:lnSpc>
              <a:buNone/>
            </a:pPr>
            <a:r>
              <a:rPr lang="en-US" altLang="zh-CN" sz="2600" b="1" dirty="0">
                <a:solidFill>
                  <a:schemeClr val="bg1"/>
                </a:solidFill>
              </a:rPr>
              <a:t>class A{</a:t>
            </a:r>
            <a:r>
              <a:rPr lang="en-US" altLang="zh-CN" sz="2600" b="1" dirty="0">
                <a:solidFill>
                  <a:schemeClr val="bg1"/>
                </a:solidFill>
                <a:latin typeface="Arial" panose="020B0604020202020204" pitchFamily="34" charset="0"/>
              </a:rPr>
              <a:t>…</a:t>
            </a:r>
            <a:r>
              <a:rPr lang="en-US" altLang="zh-CN" sz="2600" b="1" dirty="0">
                <a:solidFill>
                  <a:schemeClr val="bg1"/>
                </a:solidFill>
              </a:rPr>
              <a:t>};</a:t>
            </a:r>
            <a:endParaRPr lang="en-US" altLang="zh-CN" sz="2600" b="1" dirty="0">
              <a:solidFill>
                <a:schemeClr val="bg1"/>
              </a:solidFill>
            </a:endParaRPr>
          </a:p>
          <a:p>
            <a:pPr eaLnBrk="1" hangingPunct="1">
              <a:lnSpc>
                <a:spcPct val="80000"/>
              </a:lnSpc>
              <a:buNone/>
            </a:pPr>
            <a:r>
              <a:rPr lang="en-US" altLang="zh-CN" sz="2600" b="1" dirty="0">
                <a:solidFill>
                  <a:schemeClr val="bg1"/>
                </a:solidFill>
              </a:rPr>
              <a:t>class B{</a:t>
            </a:r>
            <a:r>
              <a:rPr lang="en-US" altLang="zh-CN" sz="2600" b="1" dirty="0">
                <a:solidFill>
                  <a:schemeClr val="bg1"/>
                </a:solidFill>
                <a:latin typeface="Arial" panose="020B0604020202020204" pitchFamily="34" charset="0"/>
              </a:rPr>
              <a:t>…</a:t>
            </a:r>
            <a:r>
              <a:rPr lang="en-US" altLang="zh-CN" sz="2600" b="1" dirty="0">
                <a:solidFill>
                  <a:schemeClr val="bg1"/>
                </a:solidFill>
              </a:rPr>
              <a:t>};</a:t>
            </a:r>
            <a:endParaRPr lang="en-US" altLang="zh-CN" sz="2600" b="1" dirty="0">
              <a:solidFill>
                <a:schemeClr val="bg1"/>
              </a:solidFill>
            </a:endParaRPr>
          </a:p>
          <a:p>
            <a:pPr eaLnBrk="1" hangingPunct="1">
              <a:lnSpc>
                <a:spcPct val="80000"/>
              </a:lnSpc>
              <a:buNone/>
            </a:pPr>
            <a:r>
              <a:rPr lang="en-US" altLang="zh-CN" sz="2600" b="1" dirty="0">
                <a:solidFill>
                  <a:schemeClr val="bg1"/>
                </a:solidFill>
              </a:rPr>
              <a:t>class C{</a:t>
            </a:r>
            <a:r>
              <a:rPr lang="en-US" altLang="zh-CN" sz="2600" b="1" dirty="0">
                <a:solidFill>
                  <a:schemeClr val="bg1"/>
                </a:solidFill>
                <a:latin typeface="Arial" panose="020B0604020202020204" pitchFamily="34" charset="0"/>
              </a:rPr>
              <a:t>…</a:t>
            </a:r>
            <a:r>
              <a:rPr lang="en-US" altLang="zh-CN" sz="2600" b="1" dirty="0">
                <a:solidFill>
                  <a:schemeClr val="bg1"/>
                </a:solidFill>
              </a:rPr>
              <a:t>};</a:t>
            </a:r>
            <a:endParaRPr lang="en-US" altLang="zh-CN" sz="2600" b="1" dirty="0">
              <a:solidFill>
                <a:schemeClr val="bg1"/>
              </a:solidFill>
            </a:endParaRPr>
          </a:p>
          <a:p>
            <a:pPr eaLnBrk="1" hangingPunct="1">
              <a:lnSpc>
                <a:spcPct val="80000"/>
              </a:lnSpc>
              <a:buNone/>
            </a:pPr>
            <a:r>
              <a:rPr lang="en-US" altLang="zh-CN" sz="2600" b="1" dirty="0">
                <a:solidFill>
                  <a:schemeClr val="bg1"/>
                </a:solidFill>
              </a:rPr>
              <a:t>class Student{</a:t>
            </a:r>
            <a:endParaRPr lang="en-US" altLang="zh-CN" sz="2600" b="1" dirty="0">
              <a:solidFill>
                <a:schemeClr val="bg1"/>
              </a:solidFill>
            </a:endParaRPr>
          </a:p>
          <a:p>
            <a:pPr eaLnBrk="1" hangingPunct="1">
              <a:lnSpc>
                <a:spcPct val="80000"/>
              </a:lnSpc>
              <a:buNone/>
            </a:pPr>
            <a:r>
              <a:rPr lang="en-US" altLang="zh-CN" sz="2600" b="1" dirty="0">
                <a:solidFill>
                  <a:schemeClr val="bg1"/>
                </a:solidFill>
              </a:rPr>
              <a:t>public:</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float q(A)</a:t>
            </a:r>
            <a:r>
              <a:rPr lang="zh-CN" altLang="en-US" sz="2600" b="1" dirty="0">
                <a:solidFill>
                  <a:schemeClr val="bg1"/>
                </a:solidFill>
              </a:rPr>
              <a:t>；</a:t>
            </a:r>
            <a:endParaRPr lang="zh-CN" altLang="en-US" sz="2600" b="1" dirty="0">
              <a:solidFill>
                <a:schemeClr val="bg1"/>
              </a:solidFill>
            </a:endParaRPr>
          </a:p>
          <a:p>
            <a:pPr eaLnBrk="1" hangingPunct="1">
              <a:lnSpc>
                <a:spcPct val="80000"/>
              </a:lnSpc>
              <a:buNone/>
            </a:pPr>
            <a:r>
              <a:rPr lang="zh-CN" altLang="en-US" sz="2600" b="1" dirty="0">
                <a:solidFill>
                  <a:schemeClr val="bg1"/>
                </a:solidFill>
              </a:rPr>
              <a:t> </a:t>
            </a:r>
            <a:r>
              <a:rPr lang="en-US" altLang="zh-CN" sz="2600" b="1" dirty="0">
                <a:solidFill>
                  <a:schemeClr val="bg1"/>
                </a:solidFill>
              </a:rPr>
              <a:t>float q(B);</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float q(A,B)</a:t>
            </a:r>
            <a:r>
              <a:rPr lang="zh-CN" altLang="en-US" sz="2600" b="1" dirty="0">
                <a:solidFill>
                  <a:schemeClr val="bg1"/>
                </a:solidFill>
              </a:rPr>
              <a:t>；</a:t>
            </a:r>
            <a:endParaRPr lang="zh-CN" altLang="en-US" sz="2600" b="1" dirty="0">
              <a:solidFill>
                <a:schemeClr val="bg1"/>
              </a:solidFill>
            </a:endParaRPr>
          </a:p>
          <a:p>
            <a:pPr eaLnBrk="1" hangingPunct="1">
              <a:lnSpc>
                <a:spcPct val="80000"/>
              </a:lnSpc>
              <a:buNone/>
            </a:pPr>
            <a:r>
              <a:rPr lang="zh-CN" altLang="en-US" sz="2600" b="1" dirty="0">
                <a:solidFill>
                  <a:schemeClr val="bg1"/>
                </a:solidFill>
              </a:rPr>
              <a:t> </a:t>
            </a:r>
            <a:r>
              <a:rPr lang="en-US" altLang="zh-CN" sz="2600" b="1" dirty="0">
                <a:solidFill>
                  <a:schemeClr val="bg1"/>
                </a:solidFill>
              </a:rPr>
              <a:t>float q(B,A);</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float score;</a:t>
            </a:r>
            <a:endParaRPr lang="en-US" altLang="zh-CN" sz="2600" b="1" dirty="0">
              <a:solidFill>
                <a:schemeClr val="bg1"/>
              </a:solidFill>
            </a:endParaRPr>
          </a:p>
          <a:p>
            <a:pPr eaLnBrk="1" hangingPunct="1">
              <a:lnSpc>
                <a:spcPct val="80000"/>
              </a:lnSpc>
              <a:buNone/>
            </a:pPr>
            <a:r>
              <a:rPr lang="en-US" altLang="zh-CN" sz="2600" b="1" dirty="0">
                <a:solidFill>
                  <a:schemeClr val="bg1"/>
                </a:solidFill>
              </a:rPr>
              <a:t>};</a:t>
            </a:r>
            <a:endParaRPr lang="en-US" altLang="zh-CN" sz="2600" b="1" dirty="0">
              <a:solidFill>
                <a:schemeClr val="bg1"/>
              </a:solidFill>
            </a:endParaRPr>
          </a:p>
          <a:p>
            <a:pPr eaLnBrk="1" hangingPunct="1">
              <a:lnSpc>
                <a:spcPct val="80000"/>
              </a:lnSpc>
              <a:buNone/>
            </a:pPr>
            <a:r>
              <a:rPr lang="en-US" altLang="zh-CN" sz="2600" b="1" dirty="0">
                <a:solidFill>
                  <a:schemeClr val="bg1"/>
                </a:solidFill>
              </a:rPr>
              <a:t>float Student::q(A a){</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cout&lt;&lt;</a:t>
            </a:r>
            <a:r>
              <a:rPr lang="en-US" altLang="zh-CN" sz="2600" b="1" dirty="0">
                <a:solidFill>
                  <a:schemeClr val="bg1"/>
                </a:solidFill>
                <a:latin typeface="Arial" panose="020B0604020202020204" pitchFamily="34" charset="0"/>
              </a:rPr>
              <a:t>“</a:t>
            </a:r>
            <a:r>
              <a:rPr lang="en-US" altLang="zh-CN" sz="2600" b="1" dirty="0">
                <a:solidFill>
                  <a:schemeClr val="bg1"/>
                </a:solidFill>
              </a:rPr>
              <a:t>aaaaaa</a:t>
            </a:r>
            <a:r>
              <a:rPr lang="en-US" altLang="zh-CN" sz="2600" b="1" dirty="0">
                <a:solidFill>
                  <a:schemeClr val="bg1"/>
                </a:solidFill>
                <a:latin typeface="Arial" panose="020B0604020202020204" pitchFamily="34" charset="0"/>
              </a:rPr>
              <a:t>”</a:t>
            </a:r>
            <a:r>
              <a:rPr lang="en-US" altLang="zh-CN" sz="2600" b="1" dirty="0">
                <a:solidFill>
                  <a:schemeClr val="bg1"/>
                </a:solidFill>
              </a:rPr>
              <a:t>;   }</a:t>
            </a:r>
            <a:endParaRPr lang="en-US" altLang="zh-CN" sz="2600" b="1" dirty="0">
              <a:solidFill>
                <a:schemeClr val="bg1"/>
              </a:solidFill>
            </a:endParaRPr>
          </a:p>
          <a:p>
            <a:pPr eaLnBrk="1" hangingPunct="1">
              <a:lnSpc>
                <a:spcPct val="80000"/>
              </a:lnSpc>
              <a:buNone/>
            </a:pPr>
            <a:r>
              <a:rPr lang="en-US" altLang="zh-CN" sz="2600" b="1" dirty="0">
                <a:solidFill>
                  <a:schemeClr val="bg1"/>
                </a:solidFill>
              </a:rPr>
              <a:t>float Student::q(B a){</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cout&lt;&lt;</a:t>
            </a:r>
            <a:r>
              <a:rPr lang="en-US" altLang="zh-CN" sz="2600" b="1" dirty="0">
                <a:solidFill>
                  <a:schemeClr val="bg1"/>
                </a:solidFill>
                <a:latin typeface="Arial" panose="020B0604020202020204" pitchFamily="34" charset="0"/>
              </a:rPr>
              <a:t>“</a:t>
            </a:r>
            <a:r>
              <a:rPr lang="en-US" altLang="zh-CN" sz="2600" b="1" dirty="0">
                <a:solidFill>
                  <a:schemeClr val="bg1"/>
                </a:solidFill>
              </a:rPr>
              <a:t>bbbbbb</a:t>
            </a:r>
            <a:r>
              <a:rPr lang="en-US" altLang="zh-CN" sz="2600" b="1" dirty="0">
                <a:solidFill>
                  <a:schemeClr val="bg1"/>
                </a:solidFill>
                <a:latin typeface="Arial" panose="020B0604020202020204" pitchFamily="34" charset="0"/>
              </a:rPr>
              <a:t>”</a:t>
            </a:r>
            <a:r>
              <a:rPr lang="en-US" altLang="zh-CN" sz="2600" b="1" dirty="0">
                <a:solidFill>
                  <a:schemeClr val="bg1"/>
                </a:solidFill>
              </a:rPr>
              <a:t>;   }</a:t>
            </a:r>
            <a:endParaRPr lang="en-US" altLang="zh-CN" sz="2600" b="1" dirty="0">
              <a:solidFill>
                <a:schemeClr val="bg1"/>
              </a:solidFill>
            </a:endParaRPr>
          </a:p>
        </p:txBody>
      </p:sp>
      <p:sp>
        <p:nvSpPr>
          <p:cNvPr id="122883" name="Rectangle 4"/>
          <p:cNvSpPr/>
          <p:nvPr/>
        </p:nvSpPr>
        <p:spPr>
          <a:xfrm>
            <a:off x="4932363" y="620713"/>
            <a:ext cx="4211637" cy="5616575"/>
          </a:xfrm>
          <a:prstGeom prst="rect">
            <a:avLst/>
          </a:prstGeom>
          <a:noFill/>
          <a:ln w="9525">
            <a:noFill/>
          </a:ln>
        </p:spPr>
        <p:txBody>
          <a:bodyPr anchor="t"/>
          <a:p>
            <a:pPr marL="342900" indent="-342900">
              <a:spcBef>
                <a:spcPct val="20000"/>
              </a:spcBef>
            </a:pPr>
            <a:r>
              <a:rPr lang="en-US" altLang="zh-CN" sz="2800" b="1" dirty="0">
                <a:latin typeface="Times New Roman" panose="02020603050405020304" pitchFamily="18" charset="0"/>
                <a:ea typeface="宋体" panose="02010600030101010101" pitchFamily="2" charset="-122"/>
              </a:rPr>
              <a:t>float Student::q(A a,B b){</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cout&lt;&lt;</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cccccc</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float Student::q(B a,A b){</a:t>
            </a:r>
            <a:endParaRPr lang="en-US" altLang="zh-CN" sz="28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2800" b="1" dirty="0">
                <a:latin typeface="Times New Roman" panose="02020603050405020304" pitchFamily="18" charset="0"/>
                <a:ea typeface="宋体" panose="02010600030101010101" pitchFamily="2" charset="-122"/>
              </a:rPr>
              <a:t>    cout&lt;&lt;</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ddddddd</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 ObjectA; B ObjectB;</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Student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a.q(ObjectA);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a.q(ObjectB);</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a.q(ObjectA, ObjectB);</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a.q(ObjectB,ObjectA);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3906" name="Rectangle 8"/>
          <p:cNvSpPr>
            <a:spLocks noGrp="1"/>
          </p:cNvSpPr>
          <p:nvPr>
            <p:ph idx="1"/>
          </p:nvPr>
        </p:nvSpPr>
        <p:spPr>
          <a:xfrm>
            <a:off x="182563" y="333375"/>
            <a:ext cx="3381375" cy="6524625"/>
          </a:xfrm>
        </p:spPr>
        <p:txBody>
          <a:bodyPr vert="horz" wrap="square" lIns="91440" tIns="45720" rIns="91440" bIns="45720" anchor="t"/>
          <a:p>
            <a:pPr eaLnBrk="1" hangingPunct="1">
              <a:lnSpc>
                <a:spcPct val="90000"/>
              </a:lnSpc>
              <a:buNone/>
            </a:pPr>
            <a:r>
              <a:rPr lang="zh-CN" altLang="en-US" sz="2400" b="1" dirty="0">
                <a:solidFill>
                  <a:schemeClr val="bg1"/>
                </a:solidFill>
              </a:rPr>
              <a:t>例子－成员函数重载</a:t>
            </a:r>
            <a:endParaRPr lang="zh-CN" altLang="en-US" sz="2400" b="1" dirty="0">
              <a:solidFill>
                <a:schemeClr val="bg1"/>
              </a:solidFill>
            </a:endParaRPr>
          </a:p>
          <a:p>
            <a:pPr eaLnBrk="1" hangingPunct="1">
              <a:lnSpc>
                <a:spcPct val="90000"/>
              </a:lnSpc>
              <a:buNone/>
            </a:pPr>
            <a:r>
              <a:rPr lang="en-US" altLang="zh-CN" sz="2400" b="1" u="sng" dirty="0">
                <a:solidFill>
                  <a:schemeClr val="bg1"/>
                </a:solidFill>
              </a:rPr>
              <a:t>Student.h</a:t>
            </a:r>
            <a:endParaRPr lang="en-US" altLang="zh-CN" sz="2400" b="1" u="sng" dirty="0">
              <a:solidFill>
                <a:schemeClr val="bg1"/>
              </a:solidFill>
            </a:endParaRPr>
          </a:p>
          <a:p>
            <a:pPr eaLnBrk="1" hangingPunct="1">
              <a:lnSpc>
                <a:spcPct val="9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void q(void)</a:t>
            </a:r>
            <a:r>
              <a:rPr lang="zh-CN" altLang="en-US" sz="2400" b="1" dirty="0">
                <a:solidFill>
                  <a:schemeClr val="bg1"/>
                </a:solidFill>
              </a:rPr>
              <a:t>；</a:t>
            </a:r>
            <a:endParaRPr lang="zh-CN" altLang="en-US" sz="2400" b="1" dirty="0">
              <a:solidFill>
                <a:schemeClr val="bg1"/>
              </a:solidFill>
            </a:endParaRPr>
          </a:p>
          <a:p>
            <a:pPr eaLnBrk="1" hangingPunct="1">
              <a:lnSpc>
                <a:spcPct val="90000"/>
              </a:lnSpc>
              <a:buNone/>
            </a:pPr>
            <a:r>
              <a:rPr lang="zh-CN" altLang="en-US" sz="2400" b="1" dirty="0">
                <a:solidFill>
                  <a:schemeClr val="bg1"/>
                </a:solidFill>
              </a:rPr>
              <a:t>    </a:t>
            </a:r>
            <a:r>
              <a:rPr lang="en-US" altLang="zh-CN" sz="2400" b="1" dirty="0">
                <a:solidFill>
                  <a:schemeClr val="bg1"/>
                </a:solidFill>
              </a:rPr>
              <a:t>void q(void)const;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float score;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protected:</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float m;</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Student::q(){</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en-US" altLang="zh-CN" sz="2400" b="1" dirty="0">
                <a:solidFill>
                  <a:schemeClr val="bg1"/>
                </a:solidFill>
              </a:rPr>
              <a:t>aaaaaa</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Student::q() const {</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en-US" altLang="zh-CN" sz="2400" b="1" dirty="0">
                <a:solidFill>
                  <a:schemeClr val="bg1"/>
                </a:solidFill>
              </a:rPr>
              <a:t>bbbbbb</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endParaRPr lang="en-US" altLang="zh-CN" sz="2400" b="1" dirty="0">
              <a:solidFill>
                <a:schemeClr val="bg1"/>
              </a:solidFill>
            </a:endParaRPr>
          </a:p>
        </p:txBody>
      </p:sp>
      <p:sp>
        <p:nvSpPr>
          <p:cNvPr id="123907" name="Rectangle 9"/>
          <p:cNvSpPr/>
          <p:nvPr/>
        </p:nvSpPr>
        <p:spPr>
          <a:xfrm>
            <a:off x="5148263" y="836613"/>
            <a:ext cx="3995737" cy="5616575"/>
          </a:xfrm>
          <a:prstGeom prst="rect">
            <a:avLst/>
          </a:prstGeom>
          <a:noFill/>
          <a:ln w="9525">
            <a:noFill/>
          </a:ln>
        </p:spPr>
        <p:txBody>
          <a:bodyPr anchor="t"/>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#include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Student.h</a:t>
            </a:r>
            <a:r>
              <a:rPr lang="en-US" altLang="zh-CN" sz="2800" b="1" dirty="0">
                <a:latin typeface="Arial" panose="020B0604020202020204" pitchFamily="34"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aa.cpp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Student a;//</a:t>
            </a:r>
            <a:r>
              <a:rPr lang="zh-CN" altLang="en-US" sz="2800" b="1" dirty="0">
                <a:latin typeface="Times New Roman" panose="02020603050405020304" pitchFamily="18" charset="0"/>
                <a:ea typeface="宋体" panose="02010600030101010101" pitchFamily="2" charset="-122"/>
              </a:rPr>
              <a:t>需要初始化</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a.q();</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Student const b =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b.q();//</a:t>
            </a:r>
            <a:r>
              <a:rPr lang="zh-CN" altLang="en-US" sz="2800" b="1" dirty="0">
                <a:latin typeface="Times New Roman" panose="02020603050405020304" pitchFamily="18" charset="0"/>
                <a:ea typeface="宋体" panose="02010600030101010101" pitchFamily="2" charset="-122"/>
              </a:rPr>
              <a:t>常对象调用</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普通函数不存在时均调用常成员函数</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函数重载</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4930" name="Rectangle 3"/>
          <p:cNvSpPr>
            <a:spLocks noGrp="1"/>
          </p:cNvSpPr>
          <p:nvPr>
            <p:ph idx="1"/>
          </p:nvPr>
        </p:nvSpPr>
        <p:spPr>
          <a:xfrm>
            <a:off x="250825" y="963613"/>
            <a:ext cx="3741738" cy="5129212"/>
          </a:xfrm>
        </p:spPr>
        <p:txBody>
          <a:bodyPr vert="horz" wrap="square" lIns="91440" tIns="45720" rIns="91440" bIns="45720" anchor="t"/>
          <a:p>
            <a:pPr eaLnBrk="1" hangingPunct="1">
              <a:lnSpc>
                <a:spcPct val="80000"/>
              </a:lnSpc>
              <a:buNone/>
            </a:pPr>
            <a:r>
              <a:rPr lang="en-US" altLang="zh-CN" sz="2400" b="1" dirty="0">
                <a:solidFill>
                  <a:schemeClr val="bg1"/>
                </a:solidFill>
              </a:rPr>
              <a:t>#include "stdafx.h"</a:t>
            </a:r>
            <a:endParaRPr lang="en-US" altLang="zh-CN" sz="2400" b="1" dirty="0">
              <a:solidFill>
                <a:schemeClr val="bg1"/>
              </a:solidFill>
            </a:endParaRPr>
          </a:p>
          <a:p>
            <a:pPr eaLnBrk="1" hangingPunct="1">
              <a:lnSpc>
                <a:spcPct val="80000"/>
              </a:lnSpc>
              <a:buNone/>
            </a:pPr>
            <a:r>
              <a:rPr lang="en-US" altLang="zh-CN" sz="2400" b="1" dirty="0">
                <a:solidFill>
                  <a:schemeClr val="bg1"/>
                </a:solidFill>
              </a:rPr>
              <a:t>#include "iostream.h"</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p(double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cout&lt;&lt;"aaaaaaaaaa";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p(int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cout&lt;&lt;"bbbbbbbbbbb";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p(char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cout&lt;&lt;"cccccccccc";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p('a'); p(10);p(10.9);</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24931" name="Rectangle 5"/>
          <p:cNvSpPr/>
          <p:nvPr/>
        </p:nvSpPr>
        <p:spPr>
          <a:xfrm>
            <a:off x="4716463" y="1052513"/>
            <a:ext cx="3741737" cy="5129212"/>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"stdafx.h"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"iostream.h"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p(double 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cout&lt;&lt;"aaaaaaaaaa";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p(int a)</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cout&lt;&lt;"bbbbbbbbbbb";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p(10);p(10.9); p('a');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首先严格匹配</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其次相容类型匹配</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最后用户定义类型转换</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  尽量避免类型相容二义性</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400" b="1" dirty="0">
                <a:latin typeface="Times New Roman" panose="02020603050405020304" pitchFamily="18" charset="0"/>
                <a:ea typeface="宋体" panose="02010600030101010101" pitchFamily="2" charset="-122"/>
              </a:rPr>
              <a:t>名称压轧技术实现原理</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函数默认参数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5954" name="Rectangle 3"/>
          <p:cNvSpPr>
            <a:spLocks noGrp="1"/>
          </p:cNvSpPr>
          <p:nvPr>
            <p:ph idx="1"/>
          </p:nvPr>
        </p:nvSpPr>
        <p:spPr>
          <a:xfrm>
            <a:off x="182563" y="765175"/>
            <a:ext cx="3813175" cy="6092825"/>
          </a:xfrm>
        </p:spPr>
        <p:txBody>
          <a:bodyPr vert="horz" wrap="square" lIns="91440" tIns="45720" rIns="91440" bIns="45720" anchor="t"/>
          <a:p>
            <a:pPr eaLnBrk="1" hangingPunct="1">
              <a:buNone/>
            </a:pPr>
            <a:r>
              <a:rPr lang="en-US" altLang="zh-CN" b="1" dirty="0">
                <a:solidFill>
                  <a:schemeClr val="bg1"/>
                </a:solidFill>
              </a:rPr>
              <a:t>A * x(int i){</a:t>
            </a:r>
            <a:endParaRPr lang="en-US" altLang="zh-CN" b="1" dirty="0">
              <a:solidFill>
                <a:schemeClr val="bg1"/>
              </a:solidFill>
            </a:endParaRPr>
          </a:p>
          <a:p>
            <a:pPr eaLnBrk="1" hangingPunct="1">
              <a:buNone/>
            </a:pPr>
            <a:r>
              <a:rPr lang="en-US" altLang="zh-CN" b="1" dirty="0">
                <a:solidFill>
                  <a:schemeClr val="bg1"/>
                </a:solidFill>
              </a:rPr>
              <a:t>  return(new A[i]) ;</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r>
              <a:rPr lang="en-US" altLang="zh-CN" b="1" dirty="0">
                <a:solidFill>
                  <a:schemeClr val="bg1"/>
                </a:solidFill>
              </a:rPr>
              <a:t>A *x(int i = 30){</a:t>
            </a:r>
            <a:endParaRPr lang="en-US" altLang="zh-CN" b="1" dirty="0">
              <a:solidFill>
                <a:schemeClr val="bg1"/>
              </a:solidFill>
            </a:endParaRPr>
          </a:p>
          <a:p>
            <a:pPr eaLnBrk="1" hangingPunct="1">
              <a:buNone/>
            </a:pPr>
            <a:r>
              <a:rPr lang="en-US" altLang="zh-CN" b="1" dirty="0">
                <a:solidFill>
                  <a:schemeClr val="bg1"/>
                </a:solidFill>
              </a:rPr>
              <a:t>  return(new A[i]) ;</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r>
              <a:rPr lang="en-US" altLang="zh-CN" b="1" dirty="0">
                <a:solidFill>
                  <a:schemeClr val="bg1"/>
                </a:solidFill>
              </a:rPr>
              <a:t>A *p=x();</a:t>
            </a:r>
            <a:endParaRPr lang="en-US" altLang="zh-CN" b="1" dirty="0">
              <a:solidFill>
                <a:schemeClr val="bg1"/>
              </a:solidFill>
            </a:endParaRPr>
          </a:p>
          <a:p>
            <a:pPr eaLnBrk="1" hangingPunct="1">
              <a:buNone/>
            </a:pPr>
            <a:r>
              <a:rPr lang="en-US" altLang="zh-CN" b="1" dirty="0">
                <a:solidFill>
                  <a:schemeClr val="bg1"/>
                </a:solidFill>
              </a:rPr>
              <a:t>A *q=x(31);</a:t>
            </a:r>
            <a:endParaRPr lang="en-US" altLang="zh-CN" b="1" dirty="0">
              <a:solidFill>
                <a:schemeClr val="bg1"/>
              </a:solidFill>
            </a:endParaRPr>
          </a:p>
        </p:txBody>
      </p:sp>
      <p:sp>
        <p:nvSpPr>
          <p:cNvPr id="125955" name="Rectangle 5"/>
          <p:cNvSpPr/>
          <p:nvPr/>
        </p:nvSpPr>
        <p:spPr>
          <a:xfrm>
            <a:off x="4283075" y="836613"/>
            <a:ext cx="4681538" cy="5400675"/>
          </a:xfrm>
          <a:prstGeom prst="rect">
            <a:avLst/>
          </a:prstGeom>
          <a:noFill/>
          <a:ln w="9525">
            <a:noFill/>
          </a:ln>
        </p:spPr>
        <p:txBody>
          <a:bodyPr anchor="t"/>
          <a:p>
            <a:pPr marL="342900" indent="-342900">
              <a:spcBef>
                <a:spcPct val="20000"/>
              </a:spcBef>
            </a:pP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latin typeface="Times New Roman" panose="02020603050405020304" pitchFamily="18" charset="0"/>
                <a:ea typeface="宋体" panose="02010600030101010101" pitchFamily="2" charset="-122"/>
              </a:rPr>
              <a:t>声明形式</a:t>
            </a:r>
            <a:r>
              <a:rPr lang="en-US" altLang="zh-CN" sz="3200" b="1" dirty="0">
                <a:latin typeface="Times New Roman" panose="02020603050405020304" pitchFamily="18" charset="0"/>
                <a:ea typeface="宋体" panose="02010600030101010101" pitchFamily="2" charset="-122"/>
              </a:rPr>
              <a:t>A *x(int = 28);</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zh-CN" altLang="en-US" sz="3200" b="1" dirty="0">
                <a:latin typeface="Times New Roman" panose="02020603050405020304" pitchFamily="18" charset="0"/>
                <a:ea typeface="宋体" panose="02010600030101010101" pitchFamily="2" charset="-122"/>
              </a:rPr>
              <a:t>默认从右端开始设置，匹配从左端开始。</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int x(int i=10,int j)//</a:t>
            </a:r>
            <a:r>
              <a:rPr lang="zh-CN" altLang="en-US" sz="3200" b="1" dirty="0">
                <a:latin typeface="Times New Roman" panose="02020603050405020304" pitchFamily="18" charset="0"/>
                <a:ea typeface="宋体" panose="02010600030101010101" pitchFamily="2" charset="-122"/>
              </a:rPr>
              <a:t>错误</a:t>
            </a:r>
            <a:endParaRPr lang="zh-CN" altLang="en-US"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{for(;i&gt;j;i--)</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cout&lt;&lt;</a:t>
            </a:r>
            <a:r>
              <a:rPr lang="en-US" altLang="zh-CN" sz="3200" b="1" dirty="0">
                <a:latin typeface="Arial" panose="020B0604020202020204" pitchFamily="34"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函数默认参数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6978" name="Rectangle 3"/>
          <p:cNvSpPr>
            <a:spLocks noGrp="1"/>
          </p:cNvSpPr>
          <p:nvPr>
            <p:ph idx="1"/>
          </p:nvPr>
        </p:nvSpPr>
        <p:spPr>
          <a:xfrm>
            <a:off x="182563" y="765175"/>
            <a:ext cx="8782050" cy="6092825"/>
          </a:xfrm>
        </p:spPr>
        <p:txBody>
          <a:bodyPr vert="horz" wrap="square" lIns="91440" tIns="45720" rIns="91440" bIns="45720" anchor="t"/>
          <a:p>
            <a:pPr eaLnBrk="1" hangingPunct="1">
              <a:lnSpc>
                <a:spcPct val="90000"/>
              </a:lnSpc>
              <a:buNone/>
            </a:pPr>
            <a:r>
              <a:rPr lang="en-US" altLang="zh-CN" b="1" dirty="0">
                <a:solidFill>
                  <a:schemeClr val="bg1"/>
                </a:solidFill>
              </a:rPr>
              <a:t>int x(int i,int j=11,int k=12)</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     cout&lt;&lt;i&lt;&lt;j&lt;&lt;k;</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void main()</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  x();             //</a:t>
            </a:r>
            <a:r>
              <a:rPr lang="zh-CN" altLang="en-US" b="1" dirty="0">
                <a:solidFill>
                  <a:schemeClr val="bg1"/>
                </a:solidFill>
              </a:rPr>
              <a:t>错误</a:t>
            </a:r>
            <a:endParaRPr lang="zh-CN" altLang="en-US" b="1" dirty="0">
              <a:solidFill>
                <a:schemeClr val="bg1"/>
              </a:solidFill>
            </a:endParaRPr>
          </a:p>
          <a:p>
            <a:pPr eaLnBrk="1" hangingPunct="1">
              <a:lnSpc>
                <a:spcPct val="90000"/>
              </a:lnSpc>
              <a:buNone/>
            </a:pPr>
            <a:r>
              <a:rPr lang="zh-CN" altLang="en-US" b="1" dirty="0">
                <a:solidFill>
                  <a:schemeClr val="bg1"/>
                </a:solidFill>
              </a:rPr>
              <a:t>  </a:t>
            </a:r>
            <a:r>
              <a:rPr lang="en-US" altLang="zh-CN" b="1" dirty="0">
                <a:solidFill>
                  <a:schemeClr val="bg1"/>
                </a:solidFill>
              </a:rPr>
              <a:t>x(1);           //</a:t>
            </a:r>
            <a:r>
              <a:rPr lang="zh-CN" altLang="en-US" b="1" dirty="0">
                <a:solidFill>
                  <a:schemeClr val="bg1"/>
                </a:solidFill>
              </a:rPr>
              <a:t>输出结果：</a:t>
            </a:r>
            <a:r>
              <a:rPr lang="en-US" altLang="zh-CN" b="1" dirty="0">
                <a:solidFill>
                  <a:schemeClr val="bg1"/>
                </a:solidFill>
              </a:rPr>
              <a:t>1 11 12</a:t>
            </a:r>
            <a:endParaRPr lang="en-US" altLang="zh-CN" b="1" dirty="0">
              <a:solidFill>
                <a:schemeClr val="bg1"/>
              </a:solidFill>
            </a:endParaRPr>
          </a:p>
          <a:p>
            <a:pPr eaLnBrk="1" hangingPunct="1">
              <a:lnSpc>
                <a:spcPct val="90000"/>
              </a:lnSpc>
              <a:buNone/>
            </a:pPr>
            <a:r>
              <a:rPr lang="en-US" altLang="zh-CN" b="1" dirty="0">
                <a:solidFill>
                  <a:schemeClr val="bg1"/>
                </a:solidFill>
              </a:rPr>
              <a:t>  x(1,2);       //</a:t>
            </a:r>
            <a:r>
              <a:rPr lang="zh-CN" altLang="en-US" b="1" dirty="0">
                <a:solidFill>
                  <a:schemeClr val="bg1"/>
                </a:solidFill>
              </a:rPr>
              <a:t>输出结果：</a:t>
            </a:r>
            <a:r>
              <a:rPr lang="en-US" altLang="zh-CN" b="1" dirty="0">
                <a:solidFill>
                  <a:schemeClr val="bg1"/>
                </a:solidFill>
              </a:rPr>
              <a:t>1 2 12</a:t>
            </a:r>
            <a:endParaRPr lang="en-US" altLang="zh-CN" b="1" dirty="0">
              <a:solidFill>
                <a:schemeClr val="bg1"/>
              </a:solidFill>
            </a:endParaRPr>
          </a:p>
          <a:p>
            <a:pPr eaLnBrk="1" hangingPunct="1">
              <a:lnSpc>
                <a:spcPct val="90000"/>
              </a:lnSpc>
              <a:buNone/>
            </a:pPr>
            <a:r>
              <a:rPr lang="en-US" altLang="zh-CN" b="1" dirty="0">
                <a:solidFill>
                  <a:schemeClr val="bg1"/>
                </a:solidFill>
              </a:rPr>
              <a:t>  x(1,2,3);   //</a:t>
            </a:r>
            <a:r>
              <a:rPr lang="zh-CN" altLang="en-US" b="1" dirty="0">
                <a:solidFill>
                  <a:schemeClr val="bg1"/>
                </a:solidFill>
              </a:rPr>
              <a:t>输出结果：</a:t>
            </a:r>
            <a:r>
              <a:rPr lang="en-US" altLang="zh-CN" b="1" dirty="0">
                <a:solidFill>
                  <a:schemeClr val="bg1"/>
                </a:solidFill>
              </a:rPr>
              <a:t>1 2 3</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endParaRPr lang="en-US" altLang="zh-CN" b="1" dirty="0">
              <a:solidFill>
                <a:schemeClr val="bg1"/>
              </a:solidFill>
            </a:endParaRPr>
          </a:p>
          <a:p>
            <a:pPr eaLnBrk="1" hangingPunct="1">
              <a:lnSpc>
                <a:spcPct val="90000"/>
              </a:lnSpc>
              <a:buNone/>
            </a:pPr>
            <a:endParaRPr lang="en-US" altLang="zh-CN" b="1" dirty="0">
              <a:solidFill>
                <a:schemeClr val="bg1"/>
              </a:solidFill>
            </a:endParaRPr>
          </a:p>
        </p:txBody>
      </p:sp>
      <p:sp>
        <p:nvSpPr>
          <p:cNvPr id="126979" name="Rectangle 4"/>
          <p:cNvSpPr/>
          <p:nvPr/>
        </p:nvSpPr>
        <p:spPr>
          <a:xfrm>
            <a:off x="5148263" y="836613"/>
            <a:ext cx="3744912" cy="5616575"/>
          </a:xfrm>
          <a:prstGeom prst="rect">
            <a:avLst/>
          </a:prstGeom>
          <a:noFill/>
          <a:ln w="9525">
            <a:noFill/>
          </a:ln>
        </p:spPr>
        <p:txBody>
          <a:bodyPr anchor="t"/>
          <a:p>
            <a:pPr marL="342900" indent="-342900">
              <a:lnSpc>
                <a:spcPct val="80000"/>
              </a:lnSpc>
              <a:spcBef>
                <a:spcPct val="20000"/>
              </a:spcBef>
            </a:pPr>
            <a:endParaRPr lang="zh-CN" altLang="zh-CN"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函数默认参数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8002" name="Rectangle 3"/>
          <p:cNvSpPr>
            <a:spLocks noGrp="1"/>
          </p:cNvSpPr>
          <p:nvPr>
            <p:ph idx="1"/>
          </p:nvPr>
        </p:nvSpPr>
        <p:spPr>
          <a:xfrm>
            <a:off x="182563" y="765175"/>
            <a:ext cx="8782050" cy="6092825"/>
          </a:xfrm>
        </p:spPr>
        <p:txBody>
          <a:bodyPr vert="horz" wrap="square" lIns="91440" tIns="45720" rIns="91440" bIns="45720" anchor="t"/>
          <a:p>
            <a:pPr eaLnBrk="1" hangingPunct="1">
              <a:lnSpc>
                <a:spcPct val="80000"/>
              </a:lnSpc>
              <a:buNone/>
            </a:pPr>
            <a:r>
              <a:rPr lang="en-US" altLang="zh-CN" sz="2800" b="1" dirty="0">
                <a:solidFill>
                  <a:schemeClr val="bg1"/>
                </a:solidFill>
              </a:rPr>
              <a:t>void x(int i=10)</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cout&lt;&lt;i&lt;&lt;"11111";</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x()</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cout&lt;&lt;"22222";</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x();</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zh-CN" altLang="en-US" sz="2800" b="1" dirty="0">
                <a:solidFill>
                  <a:schemeClr val="bg1"/>
                </a:solidFill>
              </a:rPr>
              <a:t>二义性</a:t>
            </a:r>
            <a:endParaRPr lang="zh-CN" altLang="en-US" sz="2800" b="1" dirty="0">
              <a:solidFill>
                <a:schemeClr val="bg1"/>
              </a:solidFill>
            </a:endParaRPr>
          </a:p>
        </p:txBody>
      </p:sp>
      <p:sp>
        <p:nvSpPr>
          <p:cNvPr id="128003" name="Rectangle 4"/>
          <p:cNvSpPr/>
          <p:nvPr/>
        </p:nvSpPr>
        <p:spPr>
          <a:xfrm>
            <a:off x="5148263" y="836613"/>
            <a:ext cx="3744912" cy="5616575"/>
          </a:xfrm>
          <a:prstGeom prst="rect">
            <a:avLst/>
          </a:prstGeom>
          <a:noFill/>
          <a:ln w="9525">
            <a:noFill/>
          </a:ln>
        </p:spPr>
        <p:txBody>
          <a:bodyPr anchor="t"/>
          <a:p>
            <a:pPr marL="342900" indent="-342900">
              <a:lnSpc>
                <a:spcPct val="80000"/>
              </a:lnSpc>
              <a:spcBef>
                <a:spcPct val="20000"/>
              </a:spcBef>
            </a:pPr>
            <a:endParaRPr lang="zh-CN" altLang="zh-CN" sz="2800" dirty="0">
              <a:latin typeface="Times New Roman" panose="02020603050405020304" pitchFamily="18" charset="0"/>
              <a:ea typeface="宋体" panose="02010600030101010101" pitchFamily="2" charset="-122"/>
            </a:endParaRPr>
          </a:p>
        </p:txBody>
      </p:sp>
      <p:sp>
        <p:nvSpPr>
          <p:cNvPr id="225285" name="AutoShape 5"/>
          <p:cNvSpPr>
            <a:spLocks noChangeArrowheads="1"/>
          </p:cNvSpPr>
          <p:nvPr/>
        </p:nvSpPr>
        <p:spPr bwMode="auto">
          <a:xfrm>
            <a:off x="3924300" y="2133600"/>
            <a:ext cx="4895850" cy="1008063"/>
          </a:xfrm>
          <a:prstGeom prst="wedgeRectCallout">
            <a:avLst>
              <a:gd name="adj1" fmla="val -70361"/>
              <a:gd name="adj2" fmla="val 298347"/>
            </a:avLst>
          </a:prstGeom>
          <a:solidFill>
            <a:schemeClr val="accent1"/>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注意依靠参数个数进行重载函数中默认参数造成改变参数个数的效果</a:t>
            </a:r>
            <a:endParaRPr kumimoji="1" lang="zh-CN" altLang="en-US"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函数默认参数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29026" name="Rectangle 3"/>
          <p:cNvSpPr>
            <a:spLocks noGrp="1"/>
          </p:cNvSpPr>
          <p:nvPr>
            <p:ph idx="1"/>
          </p:nvPr>
        </p:nvSpPr>
        <p:spPr>
          <a:xfrm>
            <a:off x="2700338" y="1052513"/>
            <a:ext cx="5543550" cy="5257800"/>
          </a:xfrm>
        </p:spPr>
        <p:txBody>
          <a:bodyPr vert="horz" wrap="square" lIns="91440" tIns="45720" rIns="91440" bIns="45720" anchor="t"/>
          <a:p>
            <a:pPr eaLnBrk="1" hangingPunct="1">
              <a:lnSpc>
                <a:spcPct val="90000"/>
              </a:lnSpc>
              <a:buNone/>
            </a:pPr>
            <a:r>
              <a:rPr lang="en-US" altLang="zh-CN" sz="2400" b="1" dirty="0">
                <a:solidFill>
                  <a:schemeClr val="bg1"/>
                </a:solidFill>
              </a:rPr>
              <a:t>void p(Date birthday,int age)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a:t>
            </a:r>
            <a:r>
              <a:rPr lang="en-US" altLang="zh-CN" sz="2400" b="1" dirty="0">
                <a:solidFill>
                  <a:schemeClr val="bg1"/>
                </a:solidFill>
                <a:latin typeface="Arial" panose="020B0604020202020204" pitchFamily="34" charset="0"/>
              </a:rPr>
              <a:t>…</a:t>
            </a:r>
            <a:r>
              <a:rPr lang="en-US" altLang="zh-CN" sz="2400" b="1" dirty="0">
                <a:solidFill>
                  <a:schemeClr val="bg1"/>
                </a:solidFill>
              </a:rPr>
              <a:t> </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i="1" dirty="0">
                <a:solidFill>
                  <a:srgbClr val="FFFF00"/>
                </a:solidFill>
              </a:rPr>
              <a:t>void p(Date birthday,int</a:t>
            </a:r>
            <a:r>
              <a:rPr lang="zh-CN" altLang="en-US" sz="2400" b="1" i="1" dirty="0">
                <a:solidFill>
                  <a:srgbClr val="FFFF00"/>
                </a:solidFill>
              </a:rPr>
              <a:t>）</a:t>
            </a:r>
            <a:endParaRPr lang="zh-CN" altLang="en-US" sz="2400" b="1" i="1" dirty="0">
              <a:solidFill>
                <a:srgbClr val="FFFF00"/>
              </a:solidFill>
            </a:endParaRPr>
          </a:p>
          <a:p>
            <a:pPr eaLnBrk="1" hangingPunct="1">
              <a:lnSpc>
                <a:spcPct val="90000"/>
              </a:lnSpc>
              <a:buNone/>
            </a:pPr>
            <a:r>
              <a:rPr lang="zh-CN" altLang="en-US" sz="2400" b="1" i="1" dirty="0">
                <a:solidFill>
                  <a:srgbClr val="FFFF00"/>
                </a:solidFill>
              </a:rPr>
              <a:t> </a:t>
            </a:r>
            <a:r>
              <a:rPr lang="en-US" altLang="zh-CN" sz="2400" b="1" i="1" dirty="0">
                <a:solidFill>
                  <a:srgbClr val="FFFF00"/>
                </a:solidFill>
              </a:rPr>
              <a:t>{	</a:t>
            </a:r>
            <a:r>
              <a:rPr lang="en-US" altLang="zh-CN" sz="2400" b="1" i="1" dirty="0">
                <a:solidFill>
                  <a:srgbClr val="FFFF00"/>
                </a:solidFill>
                <a:latin typeface="Arial" panose="020B0604020202020204" pitchFamily="34" charset="0"/>
              </a:rPr>
              <a:t>…</a:t>
            </a:r>
            <a:r>
              <a:rPr lang="en-US" altLang="zh-CN" sz="2400" b="1" i="1" dirty="0">
                <a:solidFill>
                  <a:srgbClr val="FFFF00"/>
                </a:solidFill>
              </a:rPr>
              <a:t> </a:t>
            </a:r>
            <a:r>
              <a:rPr lang="en-US" altLang="zh-CN" sz="2400" b="1" i="1" dirty="0">
                <a:solidFill>
                  <a:srgbClr val="FFFF00"/>
                </a:solidFill>
                <a:latin typeface="Arial" panose="020B0604020202020204" pitchFamily="34" charset="0"/>
              </a:rPr>
              <a:t>…</a:t>
            </a:r>
            <a:r>
              <a:rPr lang="en-US" altLang="zh-CN" sz="2400" b="1" i="1" dirty="0">
                <a:solidFill>
                  <a:srgbClr val="FFFF00"/>
                </a:solidFill>
              </a:rPr>
              <a:t>}</a:t>
            </a:r>
            <a:endParaRPr lang="en-US" altLang="zh-CN" sz="2400" b="1" i="1" dirty="0">
              <a:solidFill>
                <a:srgbClr val="FFFF00"/>
              </a:solidFill>
            </a:endParaRPr>
          </a:p>
          <a:p>
            <a:pPr eaLnBrk="1" hangingPunct="1">
              <a:lnSpc>
                <a:spcPct val="90000"/>
              </a:lnSpc>
              <a:buNone/>
            </a:pPr>
            <a:r>
              <a:rPr lang="en-US" altLang="zh-CN" sz="2400" b="1" dirty="0">
                <a:solidFill>
                  <a:schemeClr val="bg1"/>
                </a:solidFill>
              </a:rPr>
              <a:t>main(){</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p(Date,int);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Date a;</a:t>
            </a:r>
            <a:endParaRPr lang="en-US" altLang="zh-CN" sz="2400" b="1" dirty="0">
              <a:solidFill>
                <a:schemeClr val="bg1"/>
              </a:solidFill>
            </a:endParaRPr>
          </a:p>
          <a:p>
            <a:pPr eaLnBrk="1" hangingPunct="1">
              <a:lnSpc>
                <a:spcPct val="90000"/>
              </a:lnSpc>
              <a:buNone/>
            </a:pPr>
            <a:r>
              <a:rPr lang="en-US" altLang="zh-CN" sz="2400" b="1" dirty="0">
                <a:solidFill>
                  <a:schemeClr val="bg1"/>
                </a:solidFill>
              </a:rPr>
              <a:t>p(a,20);//</a:t>
            </a:r>
            <a:r>
              <a:rPr lang="zh-CN" altLang="en-US" sz="2400" b="1" dirty="0">
                <a:solidFill>
                  <a:schemeClr val="bg1"/>
                </a:solidFill>
              </a:rPr>
              <a:t>不管省略与否必须给出</a:t>
            </a:r>
            <a:endParaRPr lang="zh-CN" altLang="en-US"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i="1" dirty="0">
                <a:solidFill>
                  <a:srgbClr val="FFFF00"/>
                </a:solidFill>
              </a:rPr>
              <a:t>//</a:t>
            </a:r>
            <a:r>
              <a:rPr lang="zh-CN" altLang="en-US" sz="2400" b="1" i="1" dirty="0">
                <a:solidFill>
                  <a:srgbClr val="FFFF00"/>
                </a:solidFill>
              </a:rPr>
              <a:t>函数定义中的形参名称省略</a:t>
            </a:r>
            <a:endParaRPr lang="zh-CN" altLang="en-US" sz="2400" b="1" i="1" dirty="0">
              <a:solidFill>
                <a:srgbClr val="FFFF00"/>
              </a:solidFill>
            </a:endParaRPr>
          </a:p>
          <a:p>
            <a:pPr eaLnBrk="1" hangingPunct="1">
              <a:lnSpc>
                <a:spcPct val="90000"/>
              </a:lnSpc>
              <a:buNone/>
            </a:pPr>
            <a:r>
              <a:rPr lang="en-US" altLang="zh-CN" sz="2400" b="1" i="1" dirty="0">
                <a:solidFill>
                  <a:srgbClr val="FFFF00"/>
                </a:solidFill>
              </a:rPr>
              <a:t>//</a:t>
            </a:r>
            <a:r>
              <a:rPr lang="zh-CN" altLang="en-US" sz="2400" b="1" i="1" dirty="0">
                <a:solidFill>
                  <a:srgbClr val="FFFF00"/>
                </a:solidFill>
              </a:rPr>
              <a:t>一般是因为参数信息重叠而引起类的</a:t>
            </a:r>
            <a:endParaRPr lang="zh-CN" altLang="en-US" sz="2400" b="1" i="1" dirty="0">
              <a:solidFill>
                <a:srgbClr val="FFFF00"/>
              </a:solidFill>
            </a:endParaRPr>
          </a:p>
          <a:p>
            <a:pPr eaLnBrk="1" hangingPunct="1">
              <a:lnSpc>
                <a:spcPct val="90000"/>
              </a:lnSpc>
              <a:buNone/>
            </a:pPr>
            <a:r>
              <a:rPr lang="en-US" altLang="zh-CN" sz="2400" b="1" i="1" dirty="0">
                <a:solidFill>
                  <a:srgbClr val="FFFF00"/>
                </a:solidFill>
              </a:rPr>
              <a:t>//</a:t>
            </a:r>
            <a:r>
              <a:rPr lang="zh-CN" altLang="en-US" sz="2400" b="1" i="1" dirty="0">
                <a:solidFill>
                  <a:srgbClr val="FFFF00"/>
                </a:solidFill>
              </a:rPr>
              <a:t>重新定义  但避免调用的修改</a:t>
            </a:r>
            <a:endParaRPr lang="zh-CN" altLang="en-US" sz="2400" b="1" i="1" dirty="0">
              <a:solidFill>
                <a:srgbClr val="FFFF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2"/>
          <p:cNvSpPr>
            <a:spLocks noGrp="1"/>
          </p:cNvSpPr>
          <p:nvPr>
            <p:ph idx="1"/>
          </p:nvPr>
        </p:nvSpPr>
        <p:spPr>
          <a:xfrm>
            <a:off x="1333500" y="908050"/>
            <a:ext cx="7559675" cy="5876925"/>
          </a:xfrm>
        </p:spPr>
        <p:txBody>
          <a:bodyPr vert="horz" wrap="square" lIns="91440" tIns="45720" rIns="91440" bIns="45720" anchor="t"/>
          <a:p>
            <a:pPr eaLnBrk="1" hangingPunct="1">
              <a:lnSpc>
                <a:spcPct val="90000"/>
              </a:lnSpc>
              <a:buNone/>
            </a:pPr>
            <a:r>
              <a:rPr lang="en-US" altLang="zh-CN" sz="2800" b="1" dirty="0">
                <a:solidFill>
                  <a:schemeClr val="bg1"/>
                </a:solidFill>
              </a:rPr>
              <a:t>void swap(int &amp;a,int &amp;b)</a:t>
            </a:r>
            <a:endParaRPr lang="en-US" altLang="zh-CN" sz="2800" b="1" dirty="0">
              <a:solidFill>
                <a:schemeClr val="bg1"/>
              </a:solidFill>
            </a:endParaRPr>
          </a:p>
          <a:p>
            <a:pPr eaLnBrk="1" hangingPunct="1">
              <a:lnSpc>
                <a:spcPct val="90000"/>
              </a:lnSpc>
              <a:buNone/>
            </a:pPr>
            <a:r>
              <a:rPr lang="en-US" altLang="zh-CN" sz="2800" b="1" dirty="0">
                <a:solidFill>
                  <a:schemeClr val="bg1"/>
                </a:solidFill>
              </a:rPr>
              <a:t>{</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int temp=a;</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a=b;</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b=temp;</a:t>
            </a:r>
            <a:endParaRPr lang="en-US" altLang="zh-CN" sz="2800" b="1" dirty="0">
              <a:solidFill>
                <a:schemeClr val="bg1"/>
              </a:solidFill>
            </a:endParaRPr>
          </a:p>
          <a:p>
            <a:pPr eaLnBrk="1" hangingPunct="1">
              <a:lnSpc>
                <a:spcPct val="90000"/>
              </a:lnSpc>
              <a:buNone/>
            </a:pPr>
            <a:r>
              <a:rPr lang="en-US" altLang="zh-CN" sz="2800" b="1" dirty="0">
                <a:solidFill>
                  <a:schemeClr val="bg1"/>
                </a:solidFill>
              </a:rPr>
              <a:t>}</a:t>
            </a:r>
            <a:endParaRPr lang="en-US" altLang="zh-CN" sz="2800" b="1" dirty="0">
              <a:solidFill>
                <a:schemeClr val="bg1"/>
              </a:solidFill>
            </a:endParaRPr>
          </a:p>
          <a:p>
            <a:pPr eaLnBrk="1" hangingPunct="1">
              <a:lnSpc>
                <a:spcPct val="90000"/>
              </a:lnSpc>
              <a:buNone/>
            </a:pPr>
            <a:r>
              <a:rPr lang="en-US" altLang="zh-CN" sz="2800" b="1" dirty="0">
                <a:solidFill>
                  <a:schemeClr val="bg1"/>
                </a:solidFill>
              </a:rPr>
              <a:t>void swap(float &amp;a,float &amp;b)</a:t>
            </a:r>
            <a:endParaRPr lang="en-US" altLang="zh-CN" sz="2800" b="1" dirty="0">
              <a:solidFill>
                <a:schemeClr val="bg1"/>
              </a:solidFill>
            </a:endParaRPr>
          </a:p>
          <a:p>
            <a:pPr eaLnBrk="1" hangingPunct="1">
              <a:lnSpc>
                <a:spcPct val="90000"/>
              </a:lnSpc>
              <a:buNone/>
            </a:pPr>
            <a:r>
              <a:rPr lang="en-US" altLang="zh-CN" sz="2800" b="1" dirty="0">
                <a:solidFill>
                  <a:schemeClr val="bg1"/>
                </a:solidFill>
              </a:rPr>
              <a:t>{</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float temp=a;</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a=b;</a:t>
            </a:r>
            <a:endParaRPr lang="en-US" altLang="zh-CN" sz="2800" b="1" dirty="0">
              <a:solidFill>
                <a:schemeClr val="bg1"/>
              </a:solidFill>
            </a:endParaRPr>
          </a:p>
          <a:p>
            <a:pPr eaLnBrk="1" hangingPunct="1">
              <a:lnSpc>
                <a:spcPct val="90000"/>
              </a:lnSpc>
              <a:buNone/>
            </a:pPr>
            <a:r>
              <a:rPr lang="en-US" altLang="zh-CN" sz="2800" b="1" dirty="0">
                <a:solidFill>
                  <a:schemeClr val="bg1"/>
                </a:solidFill>
              </a:rPr>
              <a:t> b=temp;</a:t>
            </a:r>
            <a:endParaRPr lang="en-US" altLang="zh-CN" sz="2800" b="1" dirty="0">
              <a:solidFill>
                <a:schemeClr val="bg1"/>
              </a:solidFill>
            </a:endParaRPr>
          </a:p>
          <a:p>
            <a:pPr eaLnBrk="1" hangingPunct="1">
              <a:lnSpc>
                <a:spcPct val="90000"/>
              </a:lnSpc>
              <a:buNone/>
            </a:pPr>
            <a:r>
              <a:rPr lang="en-US" altLang="zh-CN" sz="2800" b="1" dirty="0">
                <a:solidFill>
                  <a:schemeClr val="bg1"/>
                </a:solidFill>
              </a:rPr>
              <a:t>}//</a:t>
            </a:r>
            <a:r>
              <a:rPr lang="zh-CN" altLang="en-US" sz="2800" b="1" dirty="0">
                <a:solidFill>
                  <a:schemeClr val="bg1"/>
                </a:solidFill>
              </a:rPr>
              <a:t>重载的代码完全一样  仅仅是被操作类型不同</a:t>
            </a:r>
            <a:endParaRPr lang="zh-CN" altLang="en-US" sz="2800" b="1" dirty="0">
              <a:solidFill>
                <a:schemeClr val="bg1"/>
              </a:solidFill>
            </a:endParaRPr>
          </a:p>
        </p:txBody>
      </p:sp>
      <p:sp>
        <p:nvSpPr>
          <p:cNvPr id="13005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Rectangle 2"/>
          <p:cNvSpPr>
            <a:spLocks noGrp="1"/>
          </p:cNvSpPr>
          <p:nvPr>
            <p:ph idx="1"/>
          </p:nvPr>
        </p:nvSpPr>
        <p:spPr>
          <a:xfrm>
            <a:off x="1333500" y="908050"/>
            <a:ext cx="5902325" cy="5400675"/>
          </a:xfrm>
        </p:spPr>
        <p:txBody>
          <a:bodyPr vert="horz" wrap="square" lIns="91440" tIns="45720" rIns="91440" bIns="45720" anchor="t"/>
          <a:p>
            <a:pPr eaLnBrk="1" hangingPunct="1">
              <a:buNone/>
            </a:pPr>
            <a:r>
              <a:rPr lang="en-US" altLang="zh-CN" b="1" dirty="0">
                <a:solidFill>
                  <a:schemeClr val="bg1"/>
                </a:solidFill>
              </a:rPr>
              <a:t>void swap(X &amp;a,X &amp;b)</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 X temp=a;</a:t>
            </a:r>
            <a:endParaRPr lang="en-US" altLang="zh-CN" b="1" dirty="0">
              <a:solidFill>
                <a:schemeClr val="bg1"/>
              </a:solidFill>
            </a:endParaRPr>
          </a:p>
          <a:p>
            <a:pPr eaLnBrk="1" hangingPunct="1">
              <a:buNone/>
            </a:pPr>
            <a:r>
              <a:rPr lang="en-US" altLang="zh-CN" b="1" dirty="0">
                <a:solidFill>
                  <a:schemeClr val="bg1"/>
                </a:solidFill>
              </a:rPr>
              <a:t> a=b;</a:t>
            </a:r>
            <a:endParaRPr lang="en-US" altLang="zh-CN" b="1" dirty="0">
              <a:solidFill>
                <a:schemeClr val="bg1"/>
              </a:solidFill>
            </a:endParaRPr>
          </a:p>
          <a:p>
            <a:pPr eaLnBrk="1" hangingPunct="1">
              <a:buNone/>
            </a:pPr>
            <a:r>
              <a:rPr lang="en-US" altLang="zh-CN" b="1" dirty="0">
                <a:solidFill>
                  <a:schemeClr val="bg1"/>
                </a:solidFill>
              </a:rPr>
              <a:t> b=temp;</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r>
              <a:rPr lang="en-US" altLang="zh-CN" b="1" dirty="0">
                <a:solidFill>
                  <a:schemeClr val="bg1"/>
                </a:solidFill>
              </a:rPr>
              <a:t>X = </a:t>
            </a:r>
            <a:r>
              <a:rPr lang="zh-CN" altLang="en-US" b="1" dirty="0">
                <a:solidFill>
                  <a:schemeClr val="bg1"/>
                </a:solidFill>
              </a:rPr>
              <a:t>？</a:t>
            </a:r>
            <a:endParaRPr lang="en-US" altLang="zh-CN" b="1" dirty="0">
              <a:solidFill>
                <a:schemeClr val="bg1"/>
              </a:solidFill>
            </a:endParaRPr>
          </a:p>
        </p:txBody>
      </p:sp>
      <p:sp>
        <p:nvSpPr>
          <p:cNvPr id="13107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2"/>
          <p:cNvSpPr>
            <a:spLocks noGrp="1"/>
          </p:cNvSpPr>
          <p:nvPr>
            <p:ph idx="1"/>
          </p:nvPr>
        </p:nvSpPr>
        <p:spPr>
          <a:xfrm>
            <a:off x="1333500" y="908050"/>
            <a:ext cx="7702550" cy="5400675"/>
          </a:xfrm>
        </p:spPr>
        <p:txBody>
          <a:bodyPr vert="horz" wrap="square" lIns="91440" tIns="45720" rIns="91440" bIns="45720" anchor="t"/>
          <a:p>
            <a:pPr eaLnBrk="1" hangingPunct="1">
              <a:lnSpc>
                <a:spcPct val="90000"/>
              </a:lnSpc>
              <a:buNone/>
            </a:pPr>
            <a:r>
              <a:rPr lang="en-US" altLang="zh-CN" b="1" dirty="0">
                <a:solidFill>
                  <a:schemeClr val="bg1"/>
                </a:solidFill>
              </a:rPr>
              <a:t>#define T float</a:t>
            </a:r>
            <a:endParaRPr lang="en-US" altLang="zh-CN" b="1" dirty="0">
              <a:solidFill>
                <a:schemeClr val="bg1"/>
              </a:solidFill>
            </a:endParaRPr>
          </a:p>
          <a:p>
            <a:pPr eaLnBrk="1" hangingPunct="1">
              <a:lnSpc>
                <a:spcPct val="90000"/>
              </a:lnSpc>
              <a:buNone/>
            </a:pPr>
            <a:r>
              <a:rPr lang="en-US" altLang="zh-CN" b="1" dirty="0">
                <a:solidFill>
                  <a:schemeClr val="bg1"/>
                </a:solidFill>
              </a:rPr>
              <a:t>typedef float T;</a:t>
            </a:r>
            <a:endParaRPr lang="en-US" altLang="zh-CN" b="1" dirty="0">
              <a:solidFill>
                <a:schemeClr val="bg1"/>
              </a:solidFill>
            </a:endParaRPr>
          </a:p>
          <a:p>
            <a:pPr eaLnBrk="1" hangingPunct="1">
              <a:lnSpc>
                <a:spcPct val="90000"/>
              </a:lnSpc>
              <a:buNone/>
            </a:pPr>
            <a:r>
              <a:rPr lang="en-US" altLang="zh-CN" b="1" dirty="0">
                <a:solidFill>
                  <a:schemeClr val="bg1"/>
                </a:solidFill>
              </a:rPr>
              <a:t>void swap(T &amp;a,T &amp;b)</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 T temp=a;</a:t>
            </a:r>
            <a:endParaRPr lang="en-US" altLang="zh-CN" b="1" dirty="0">
              <a:solidFill>
                <a:schemeClr val="bg1"/>
              </a:solidFill>
            </a:endParaRPr>
          </a:p>
          <a:p>
            <a:pPr eaLnBrk="1" hangingPunct="1">
              <a:lnSpc>
                <a:spcPct val="90000"/>
              </a:lnSpc>
              <a:buNone/>
            </a:pPr>
            <a:r>
              <a:rPr lang="en-US" altLang="zh-CN" b="1" dirty="0">
                <a:solidFill>
                  <a:schemeClr val="bg1"/>
                </a:solidFill>
              </a:rPr>
              <a:t> a=b;</a:t>
            </a:r>
            <a:endParaRPr lang="en-US" altLang="zh-CN" b="1" dirty="0">
              <a:solidFill>
                <a:schemeClr val="bg1"/>
              </a:solidFill>
            </a:endParaRPr>
          </a:p>
          <a:p>
            <a:pPr eaLnBrk="1" hangingPunct="1">
              <a:lnSpc>
                <a:spcPct val="90000"/>
              </a:lnSpc>
              <a:buNone/>
            </a:pPr>
            <a:r>
              <a:rPr lang="en-US" altLang="zh-CN" b="1" dirty="0">
                <a:solidFill>
                  <a:schemeClr val="bg1"/>
                </a:solidFill>
              </a:rPr>
              <a:t> b=temp;</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a:t>
            </a:r>
            <a:r>
              <a:rPr lang="zh-CN" altLang="en-US" b="1" dirty="0">
                <a:solidFill>
                  <a:schemeClr val="bg1"/>
                </a:solidFill>
              </a:rPr>
              <a:t>固化的过死；不能在调用时再给出类型</a:t>
            </a:r>
            <a:endParaRPr lang="zh-CN" altLang="en-US" b="1" dirty="0">
              <a:solidFill>
                <a:schemeClr val="bg1"/>
              </a:solidFill>
            </a:endParaRPr>
          </a:p>
          <a:p>
            <a:pPr eaLnBrk="1" hangingPunct="1">
              <a:lnSpc>
                <a:spcPct val="90000"/>
              </a:lnSpc>
              <a:buNone/>
            </a:pPr>
            <a:r>
              <a:rPr lang="en-US" altLang="zh-CN" b="1" dirty="0">
                <a:solidFill>
                  <a:schemeClr val="bg1"/>
                </a:solidFill>
              </a:rPr>
              <a:t>//</a:t>
            </a:r>
            <a:r>
              <a:rPr lang="zh-CN" altLang="en-US" b="1" dirty="0">
                <a:solidFill>
                  <a:schemeClr val="bg1"/>
                </a:solidFill>
              </a:rPr>
              <a:t>泛类型</a:t>
            </a:r>
            <a:r>
              <a:rPr lang="en-US" altLang="zh-CN" b="1" dirty="0">
                <a:solidFill>
                  <a:schemeClr val="bg1"/>
                </a:solidFill>
              </a:rPr>
              <a:t>T</a:t>
            </a:r>
            <a:r>
              <a:rPr lang="zh-CN" altLang="en-US" b="1" dirty="0">
                <a:solidFill>
                  <a:schemeClr val="bg1"/>
                </a:solidFill>
              </a:rPr>
              <a:t>的表示不支持</a:t>
            </a:r>
            <a:endParaRPr lang="zh-CN" altLang="en-US" b="1" dirty="0">
              <a:solidFill>
                <a:schemeClr val="bg1"/>
              </a:solidFill>
            </a:endParaRPr>
          </a:p>
        </p:txBody>
      </p:sp>
      <p:sp>
        <p:nvSpPr>
          <p:cNvPr id="13209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2"/>
          <p:cNvSpPr>
            <a:spLocks noGrp="1"/>
          </p:cNvSpPr>
          <p:nvPr>
            <p:ph idx="1"/>
          </p:nvPr>
        </p:nvSpPr>
        <p:spPr>
          <a:xfrm>
            <a:off x="1619250" y="692150"/>
            <a:ext cx="7524750" cy="5949950"/>
          </a:xfrm>
        </p:spPr>
        <p:txBody>
          <a:bodyPr vert="horz" wrap="square" lIns="91440" tIns="45720" rIns="91440" bIns="45720" anchor="t"/>
          <a:p>
            <a:pPr eaLnBrk="1" hangingPunct="1">
              <a:lnSpc>
                <a:spcPct val="80000"/>
              </a:lnSpc>
              <a:buNone/>
            </a:pPr>
            <a:r>
              <a:rPr lang="en-US" altLang="zh-CN" sz="2400" b="1" dirty="0">
                <a:solidFill>
                  <a:schemeClr val="bg1"/>
                </a:solidFill>
              </a:rPr>
              <a:t>template &lt;class T&gt;//class</a:t>
            </a:r>
            <a:r>
              <a:rPr lang="zh-CN" altLang="en-US" sz="2400" b="1" dirty="0">
                <a:solidFill>
                  <a:schemeClr val="bg1"/>
                </a:solidFill>
              </a:rPr>
              <a:t>可以用</a:t>
            </a:r>
            <a:r>
              <a:rPr lang="en-US" altLang="zh-CN" sz="2400" b="1" dirty="0">
                <a:solidFill>
                  <a:schemeClr val="bg1"/>
                </a:solidFill>
              </a:rPr>
              <a:t>typename</a:t>
            </a:r>
            <a:r>
              <a:rPr lang="zh-CN" altLang="en-US" sz="2400" b="1" dirty="0">
                <a:solidFill>
                  <a:schemeClr val="bg1"/>
                </a:solidFill>
              </a:rPr>
              <a:t>代替</a:t>
            </a:r>
            <a:endParaRPr lang="zh-CN" altLang="en-US" sz="2400" b="1" dirty="0">
              <a:solidFill>
                <a:schemeClr val="bg1"/>
              </a:solidFill>
            </a:endParaRPr>
          </a:p>
          <a:p>
            <a:pPr eaLnBrk="1" hangingPunct="1">
              <a:lnSpc>
                <a:spcPct val="80000"/>
              </a:lnSpc>
              <a:buNone/>
            </a:pPr>
            <a:r>
              <a:rPr lang="en-US" altLang="zh-CN" sz="2400" b="1" dirty="0">
                <a:solidFill>
                  <a:schemeClr val="bg1"/>
                </a:solidFill>
              </a:rPr>
              <a:t>void swap(T &amp;a,T &amp;b)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 temp=a;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b=temp;</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a=1,b=2;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swap(a,b);                      //</a:t>
            </a:r>
            <a:r>
              <a:rPr lang="zh-CN" altLang="en-US" sz="2400" b="1" dirty="0">
                <a:solidFill>
                  <a:schemeClr val="bg1"/>
                </a:solidFill>
              </a:rPr>
              <a:t>查找函数实例</a:t>
            </a:r>
            <a:r>
              <a:rPr lang="en-US" altLang="zh-CN" sz="2400" b="1" dirty="0">
                <a:solidFill>
                  <a:schemeClr val="bg1"/>
                </a:solidFill>
              </a:rPr>
              <a:t> cout&lt;&lt;a&lt;&lt;b&lt;&lt;endl;      //T = int;//</a:t>
            </a:r>
            <a:r>
              <a:rPr lang="zh-CN" altLang="en-US" sz="2400" b="1" dirty="0">
                <a:solidFill>
                  <a:schemeClr val="bg1"/>
                </a:solidFill>
              </a:rPr>
              <a:t>反向推演；实例化</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i=5.1,j=5.2;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swap(i,j);                        //T = float;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cout&lt;&lt;i&lt;&lt;j&lt;&lt;endl;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*p=&amp;a,*q=&amp;b;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swap(p,q);                      //T = int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cout&lt;&lt;*p&lt;&lt;*q&lt;&lt;endl;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3312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2"/>
          <p:cNvSpPr>
            <a:spLocks noGrp="1"/>
          </p:cNvSpPr>
          <p:nvPr>
            <p:ph idx="1"/>
          </p:nvPr>
        </p:nvSpPr>
        <p:spPr>
          <a:xfrm>
            <a:off x="2268538" y="549275"/>
            <a:ext cx="6875462" cy="6308725"/>
          </a:xfrm>
        </p:spPr>
        <p:txBody>
          <a:bodyPr vert="horz" wrap="square" lIns="91440" tIns="45720" rIns="91440" bIns="45720" anchor="t"/>
          <a:p>
            <a:pPr eaLnBrk="1" hangingPunct="1">
              <a:lnSpc>
                <a:spcPct val="80000"/>
              </a:lnSpc>
              <a:buNone/>
            </a:pPr>
            <a:r>
              <a:rPr lang="en-US" altLang="zh-CN" sz="2400" b="1" dirty="0">
                <a:solidFill>
                  <a:schemeClr val="bg1"/>
                </a:solidFill>
              </a:rPr>
              <a:t>template &lt;typename T&gt;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swap(T &amp;a,T &amp;b)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 temp=a;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b=temp;</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a=1,b=2;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cout&lt;&lt;a&lt;&lt;b&lt;&lt;endl;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swap(b,a);//</a:t>
            </a:r>
            <a:r>
              <a:rPr lang="zh-CN" altLang="en-US" sz="2400" b="1" dirty="0">
                <a:solidFill>
                  <a:schemeClr val="bg1"/>
                </a:solidFill>
              </a:rPr>
              <a:t>不再生成函数</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float i=5.1,j=5.2;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swap(a,j);//</a:t>
            </a:r>
            <a:r>
              <a:rPr lang="zh-CN" altLang="en-US" sz="2400" b="1" dirty="0">
                <a:solidFill>
                  <a:schemeClr val="bg1"/>
                </a:solidFill>
              </a:rPr>
              <a:t>错误    必须严格匹配   导致推演错误</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cout&lt;&lt;i&lt;&lt;j&lt;&lt;endl;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swap(j,a);//</a:t>
            </a:r>
            <a:r>
              <a:rPr lang="zh-CN" altLang="en-US" sz="2400" b="1" dirty="0">
                <a:solidFill>
                  <a:schemeClr val="bg1"/>
                </a:solidFill>
              </a:rPr>
              <a:t>导致推演错误</a:t>
            </a:r>
            <a:endParaRPr lang="zh-CN" altLang="en-US"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34146" name="Rectangle 3"/>
          <p:cNvSpPr/>
          <p:nvPr/>
        </p:nvSpPr>
        <p:spPr>
          <a:xfrm>
            <a:off x="-252412" y="-100012"/>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387076" name="Rectangle 4"/>
          <p:cNvSpPr/>
          <p:nvPr/>
        </p:nvSpPr>
        <p:spPr>
          <a:xfrm>
            <a:off x="323850" y="692150"/>
            <a:ext cx="4176713" cy="5949950"/>
          </a:xfrm>
          <a:prstGeom prst="rect">
            <a:avLst/>
          </a:prstGeom>
          <a:noFill/>
          <a:ln w="9525">
            <a:noFill/>
          </a:ln>
        </p:spPr>
        <p:txBody>
          <a:bodyPr anchor="t"/>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template &lt;typename T&gt;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swap(T &amp;a,T &amp;b)</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T temp=a;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a=b;</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b=temp;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int a=1; int b=2;</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FF00"/>
                </a:solidFill>
                <a:latin typeface="Times New Roman" panose="02020603050405020304" pitchFamily="18" charset="0"/>
                <a:ea typeface="宋体" panose="02010600030101010101" pitchFamily="2" charset="-122"/>
              </a:rPr>
              <a:t>swap&lt;int&gt;(a,b);//</a:t>
            </a:r>
            <a:r>
              <a:rPr lang="zh-CN" altLang="en-US" sz="2800" b="1" dirty="0">
                <a:solidFill>
                  <a:srgbClr val="FFFF00"/>
                </a:solidFill>
                <a:latin typeface="Times New Roman" panose="02020603050405020304" pitchFamily="18" charset="0"/>
                <a:ea typeface="宋体" panose="02010600030101010101" pitchFamily="2" charset="-122"/>
              </a:rPr>
              <a:t>显式</a:t>
            </a:r>
            <a:endParaRPr lang="zh-CN" altLang="en-US"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solidFill>
                  <a:srgbClr val="FFFF00"/>
                </a:solidFill>
                <a:latin typeface="Times New Roman" panose="02020603050405020304" pitchFamily="18" charset="0"/>
                <a:ea typeface="宋体" panose="02010600030101010101" pitchFamily="2" charset="-122"/>
              </a:rPr>
              <a:t>swap(a,b);//</a:t>
            </a:r>
            <a:r>
              <a:rPr lang="zh-CN" altLang="en-US" sz="2800" b="1" dirty="0">
                <a:solidFill>
                  <a:srgbClr val="FFFF00"/>
                </a:solidFill>
                <a:latin typeface="Times New Roman" panose="02020603050405020304" pitchFamily="18" charset="0"/>
                <a:ea typeface="宋体" panose="02010600030101010101" pitchFamily="2" charset="-122"/>
              </a:rPr>
              <a:t>隐式</a:t>
            </a:r>
            <a:endParaRPr lang="zh-CN" altLang="en-US"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cout&lt;&lt;a&lt;&lt;b&lt;&lt;endl;</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135171" name="Rectangle 7"/>
          <p:cNvSpPr>
            <a:spLocks noGrp="1"/>
          </p:cNvSpPr>
          <p:nvPr>
            <p:ph idx="1"/>
          </p:nvPr>
        </p:nvSpPr>
        <p:spPr>
          <a:xfrm>
            <a:off x="4859338" y="765175"/>
            <a:ext cx="4284662" cy="5949950"/>
          </a:xfrm>
        </p:spPr>
        <p:txBody>
          <a:bodyPr vert="horz" wrap="square" lIns="91440" tIns="45720" rIns="91440" bIns="45720" anchor="t"/>
          <a:p>
            <a:pPr eaLnBrk="1" hangingPunct="1">
              <a:lnSpc>
                <a:spcPct val="80000"/>
              </a:lnSpc>
              <a:buNone/>
            </a:pPr>
            <a:r>
              <a:rPr lang="en-US" altLang="zh-CN" sz="2400" b="1" dirty="0">
                <a:solidFill>
                  <a:schemeClr val="bg1"/>
                </a:solidFill>
              </a:rPr>
              <a:t>template &lt;typename T&gt;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T add(T a,T 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 temp=a+b;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return(temp);</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a=1,b=2;</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cout&lt;&lt;add(a,b);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float i=5.1,j=5.2;</a:t>
            </a:r>
            <a:endParaRPr lang="en-US" altLang="zh-CN" sz="2400" b="1" dirty="0">
              <a:solidFill>
                <a:schemeClr val="bg1"/>
              </a:solidFill>
            </a:endParaRPr>
          </a:p>
          <a:p>
            <a:pPr eaLnBrk="1" hangingPunct="1">
              <a:lnSpc>
                <a:spcPct val="80000"/>
              </a:lnSpc>
              <a:buNone/>
            </a:pPr>
            <a:r>
              <a:rPr lang="en-US" altLang="zh-CN" sz="2400" b="1" dirty="0">
                <a:solidFill>
                  <a:srgbClr val="FF3300"/>
                </a:solidFill>
              </a:rPr>
              <a:t>	cout&lt;&lt;add&lt;int&gt;(a,j); </a:t>
            </a:r>
            <a:endParaRPr lang="en-US" altLang="zh-CN" sz="2400" b="1" dirty="0">
              <a:solidFill>
                <a:srgbClr val="FF3300"/>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红色部分正确，</a:t>
            </a:r>
            <a:r>
              <a:rPr lang="en-US" altLang="zh-CN" sz="2400" b="1" dirty="0">
                <a:solidFill>
                  <a:schemeClr val="bg1"/>
                </a:solidFill>
              </a:rPr>
              <a:t>int</a:t>
            </a:r>
            <a:r>
              <a:rPr lang="zh-CN" altLang="en-US" sz="2400" b="1" dirty="0">
                <a:solidFill>
                  <a:schemeClr val="bg1"/>
                </a:solidFill>
              </a:rPr>
              <a:t>类型已经显式确定，</a:t>
            </a:r>
            <a:r>
              <a:rPr lang="en-US" altLang="zh-CN" sz="2400" b="1" dirty="0">
                <a:solidFill>
                  <a:schemeClr val="bg1"/>
                </a:solidFill>
              </a:rPr>
              <a:t>float</a:t>
            </a:r>
            <a:r>
              <a:rPr lang="zh-CN" altLang="en-US" sz="2400" b="1" dirty="0">
                <a:solidFill>
                  <a:schemeClr val="bg1"/>
                </a:solidFill>
              </a:rPr>
              <a:t>类型被强制转换</a:t>
            </a:r>
            <a:endParaRPr lang="zh-CN" altLang="en-US" sz="2400" b="1" dirty="0">
              <a:solidFill>
                <a:schemeClr val="bg1"/>
              </a:solidFill>
            </a:endParaRPr>
          </a:p>
          <a:p>
            <a:pPr eaLnBrk="1" hangingPunct="1">
              <a:lnSpc>
                <a:spcPct val="80000"/>
              </a:lnSpc>
              <a:buNone/>
            </a:pPr>
            <a:endParaRPr lang="en-US" altLang="zh-CN" sz="24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387076"/>
                                        </p:tgtEl>
                                        <p:attrNameLst>
                                          <p:attrName>style.visibility</p:attrName>
                                        </p:attrNameLst>
                                      </p:cBhvr>
                                      <p:to>
                                        <p:strVal val="visible"/>
                                      </p:to>
                                    </p:set>
                                    <p:animEffect transition="in" filter="wheel(4)">
                                      <p:cBhvr>
                                        <p:cTn id="7" dur="2000"/>
                                        <p:tgtEl>
                                          <p:spTgt spid="387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36194" name="Rectangle 4"/>
          <p:cNvSpPr>
            <a:spLocks noGrp="1"/>
          </p:cNvSpPr>
          <p:nvPr>
            <p:ph idx="1"/>
          </p:nvPr>
        </p:nvSpPr>
        <p:spPr>
          <a:xfrm>
            <a:off x="1331913" y="765175"/>
            <a:ext cx="7416800" cy="6092825"/>
          </a:xfrm>
        </p:spPr>
        <p:txBody>
          <a:bodyPr vert="horz" wrap="square" lIns="91440" tIns="45720" rIns="91440" bIns="45720" anchor="t"/>
          <a:p>
            <a:pPr eaLnBrk="1" hangingPunct="1">
              <a:lnSpc>
                <a:spcPct val="80000"/>
              </a:lnSpc>
              <a:buNone/>
            </a:pPr>
            <a:r>
              <a:rPr lang="en-US" altLang="zh-CN" sz="2800" b="1" dirty="0">
                <a:solidFill>
                  <a:schemeClr val="bg1"/>
                </a:solidFill>
              </a:rPr>
              <a:t>template &lt;typename S</a:t>
            </a:r>
            <a:r>
              <a:rPr lang="zh-CN" altLang="en-US" sz="2800" b="1" dirty="0">
                <a:solidFill>
                  <a:schemeClr val="bg1"/>
                </a:solidFill>
              </a:rPr>
              <a:t>，</a:t>
            </a:r>
            <a:r>
              <a:rPr lang="en-US" altLang="zh-CN" sz="2800" b="1" dirty="0">
                <a:solidFill>
                  <a:schemeClr val="bg1"/>
                </a:solidFill>
              </a:rPr>
              <a:t>typename T=int&gt;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S add(T a,T 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T temp=a+b;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return(temp);</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a=1,b=2;</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float i=5.1,j=5.2;</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cout&lt;&lt;add&lt;int,int&gt;(i,j);</a:t>
            </a:r>
            <a:endParaRPr lang="en-US" altLang="zh-CN" sz="2800" b="1" dirty="0">
              <a:solidFill>
                <a:schemeClr val="bg1"/>
              </a:solidFill>
            </a:endParaRPr>
          </a:p>
          <a:p>
            <a:pPr eaLnBrk="1" hangingPunct="1">
              <a:lnSpc>
                <a:spcPct val="80000"/>
              </a:lnSpc>
              <a:buNone/>
            </a:pPr>
            <a:r>
              <a:rPr lang="en-US" altLang="zh-CN" sz="2800" b="1" dirty="0">
                <a:solidFill>
                  <a:srgbClr val="FF3300"/>
                </a:solidFill>
              </a:rPr>
              <a:t>	</a:t>
            </a:r>
            <a:r>
              <a:rPr lang="en-US" altLang="zh-CN" sz="2800" b="1" dirty="0">
                <a:solidFill>
                  <a:schemeClr val="bg1"/>
                </a:solidFill>
              </a:rPr>
              <a:t>cout&lt;&lt;add&lt;int&gt;(a,j);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t>
            </a:r>
            <a:endParaRPr lang="en-US" altLang="zh-CN" sz="2800" b="1" dirty="0">
              <a:solidFill>
                <a:schemeClr val="bg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Rectangle 2"/>
          <p:cNvSpPr>
            <a:spLocks noGrp="1"/>
          </p:cNvSpPr>
          <p:nvPr>
            <p:ph idx="1"/>
          </p:nvPr>
        </p:nvSpPr>
        <p:spPr>
          <a:xfrm>
            <a:off x="2268538" y="549275"/>
            <a:ext cx="6696075" cy="6308725"/>
          </a:xfrm>
        </p:spPr>
        <p:txBody>
          <a:bodyPr vert="horz" wrap="square" lIns="91440" tIns="45720" rIns="91440" bIns="45720" anchor="t"/>
          <a:p>
            <a:pPr eaLnBrk="1" hangingPunct="1">
              <a:buNone/>
            </a:pPr>
            <a:r>
              <a:rPr lang="en-US" altLang="zh-CN" sz="2800" b="1" dirty="0">
                <a:solidFill>
                  <a:schemeClr val="bg1"/>
                </a:solidFill>
              </a:rPr>
              <a:t>template&lt;typename T,typename U&gt;</a:t>
            </a:r>
            <a:endParaRPr lang="en-US" altLang="zh-CN" sz="2800" b="1" dirty="0">
              <a:solidFill>
                <a:schemeClr val="bg1"/>
              </a:solidFill>
            </a:endParaRPr>
          </a:p>
          <a:p>
            <a:pPr eaLnBrk="1" hangingPunct="1">
              <a:buNone/>
            </a:pPr>
            <a:r>
              <a:rPr lang="en-US" altLang="zh-CN" sz="2800" b="1" dirty="0">
                <a:solidFill>
                  <a:schemeClr val="bg1"/>
                </a:solidFill>
              </a:rPr>
              <a:t>void add(T&amp; a,U &amp; b)</a:t>
            </a:r>
            <a:endParaRPr lang="en-US" altLang="zh-CN" sz="2800" b="1" dirty="0">
              <a:solidFill>
                <a:schemeClr val="bg1"/>
              </a:solidFill>
            </a:endParaRPr>
          </a:p>
          <a:p>
            <a:pPr eaLnBrk="1" hangingPunct="1">
              <a:buNone/>
            </a:pPr>
            <a:r>
              <a:rPr lang="en-US" altLang="zh-CN" sz="2800" b="1" dirty="0">
                <a:solidFill>
                  <a:schemeClr val="bg1"/>
                </a:solidFill>
              </a:rPr>
              <a:t>{  cout&lt;&lt;a+b&lt;&lt;endl;}</a:t>
            </a:r>
            <a:endParaRPr lang="en-US" altLang="zh-CN" sz="2800" b="1" dirty="0">
              <a:solidFill>
                <a:schemeClr val="bg1"/>
              </a:solidFill>
            </a:endParaRPr>
          </a:p>
          <a:p>
            <a:pPr eaLnBrk="1" hangingPunct="1">
              <a:buNone/>
            </a:pPr>
            <a:r>
              <a:rPr lang="en-US" altLang="zh-CN" sz="2800" b="1" dirty="0">
                <a:solidFill>
                  <a:schemeClr val="bg1"/>
                </a:solidFill>
              </a:rPr>
              <a:t>void main(){</a:t>
            </a:r>
            <a:endParaRPr lang="en-US" altLang="zh-CN" sz="2800" b="1" dirty="0">
              <a:solidFill>
                <a:schemeClr val="bg1"/>
              </a:solidFill>
            </a:endParaRPr>
          </a:p>
          <a:p>
            <a:pPr eaLnBrk="1" hangingPunct="1">
              <a:buNone/>
            </a:pPr>
            <a:r>
              <a:rPr lang="en-US" altLang="zh-CN" sz="2800" b="1" dirty="0">
                <a:solidFill>
                  <a:schemeClr val="bg1"/>
                </a:solidFill>
              </a:rPr>
              <a:t>int x=1,y=2;</a:t>
            </a:r>
            <a:endParaRPr lang="en-US" altLang="zh-CN" sz="2800" b="1" dirty="0">
              <a:solidFill>
                <a:schemeClr val="bg1"/>
              </a:solidFill>
            </a:endParaRPr>
          </a:p>
          <a:p>
            <a:pPr eaLnBrk="1" hangingPunct="1">
              <a:buNone/>
            </a:pPr>
            <a:r>
              <a:rPr lang="en-US" altLang="zh-CN" sz="2800" b="1" dirty="0">
                <a:solidFill>
                  <a:schemeClr val="bg1"/>
                </a:solidFill>
              </a:rPr>
              <a:t>float s=3.0,t=4.0;</a:t>
            </a:r>
            <a:endParaRPr lang="en-US" altLang="zh-CN" sz="2800" b="1" dirty="0">
              <a:solidFill>
                <a:schemeClr val="bg1"/>
              </a:solidFill>
            </a:endParaRPr>
          </a:p>
          <a:p>
            <a:pPr eaLnBrk="1" hangingPunct="1">
              <a:buNone/>
            </a:pPr>
            <a:r>
              <a:rPr lang="en-US" altLang="zh-CN" sz="2800" b="1" dirty="0">
                <a:solidFill>
                  <a:schemeClr val="bg1"/>
                </a:solidFill>
              </a:rPr>
              <a:t>add(x,y);</a:t>
            </a:r>
            <a:endParaRPr lang="en-US" altLang="zh-CN" sz="2800" b="1" dirty="0">
              <a:solidFill>
                <a:schemeClr val="bg1"/>
              </a:solidFill>
            </a:endParaRPr>
          </a:p>
          <a:p>
            <a:pPr eaLnBrk="1" hangingPunct="1">
              <a:buNone/>
            </a:pPr>
            <a:r>
              <a:rPr lang="en-US" altLang="zh-CN" sz="2800" b="1" dirty="0">
                <a:solidFill>
                  <a:schemeClr val="bg1"/>
                </a:solidFill>
              </a:rPr>
              <a:t>add(s,t);</a:t>
            </a:r>
            <a:endParaRPr lang="en-US" altLang="zh-CN" sz="2800" b="1" dirty="0">
              <a:solidFill>
                <a:schemeClr val="bg1"/>
              </a:solidFill>
            </a:endParaRPr>
          </a:p>
          <a:p>
            <a:pPr eaLnBrk="1" hangingPunct="1">
              <a:buNone/>
            </a:pPr>
            <a:r>
              <a:rPr lang="en-US" altLang="zh-CN" sz="2800" b="1" dirty="0">
                <a:solidFill>
                  <a:schemeClr val="bg1"/>
                </a:solidFill>
              </a:rPr>
              <a:t>add(x,t);</a:t>
            </a:r>
            <a:endParaRPr lang="en-US" altLang="zh-CN" sz="2800" b="1" dirty="0">
              <a:solidFill>
                <a:schemeClr val="bg1"/>
              </a:solidFill>
            </a:endParaRPr>
          </a:p>
          <a:p>
            <a:pPr eaLnBrk="1" hangingPunct="1">
              <a:buNone/>
            </a:pPr>
            <a:r>
              <a:rPr lang="en-US" altLang="zh-CN" sz="2800" b="1" dirty="0">
                <a:solidFill>
                  <a:schemeClr val="bg1"/>
                </a:solidFill>
              </a:rPr>
              <a:t>add(s,y);</a:t>
            </a:r>
            <a:endParaRPr lang="en-US" altLang="zh-CN" sz="2800" b="1" dirty="0">
              <a:solidFill>
                <a:schemeClr val="bg1"/>
              </a:solidFill>
            </a:endParaRPr>
          </a:p>
          <a:p>
            <a:pPr eaLnBrk="1" hangingPunct="1">
              <a:buNone/>
            </a:pPr>
            <a:r>
              <a:rPr lang="en-US" altLang="zh-CN" sz="2800" b="1" dirty="0">
                <a:solidFill>
                  <a:schemeClr val="bg1"/>
                </a:solidFill>
              </a:rPr>
              <a:t>}//</a:t>
            </a:r>
            <a:r>
              <a:rPr lang="zh-CN" altLang="en-US" sz="2800" b="1" dirty="0">
                <a:solidFill>
                  <a:schemeClr val="bg1"/>
                </a:solidFill>
              </a:rPr>
              <a:t>以上四条语句均正确；因为</a:t>
            </a:r>
            <a:r>
              <a:rPr lang="en-US" altLang="zh-CN" sz="2800" b="1" dirty="0">
                <a:solidFill>
                  <a:schemeClr val="bg1"/>
                </a:solidFill>
              </a:rPr>
              <a:t>T</a:t>
            </a:r>
            <a:r>
              <a:rPr lang="zh-CN" altLang="en-US" sz="2800" b="1" dirty="0">
                <a:solidFill>
                  <a:schemeClr val="bg1"/>
                </a:solidFill>
              </a:rPr>
              <a:t>和</a:t>
            </a:r>
            <a:r>
              <a:rPr lang="en-US" altLang="zh-CN" sz="2800" b="1" dirty="0">
                <a:solidFill>
                  <a:schemeClr val="bg1"/>
                </a:solidFill>
              </a:rPr>
              <a:t>U</a:t>
            </a:r>
            <a:endParaRPr lang="en-US" altLang="zh-CN" sz="2800" b="1" dirty="0">
              <a:solidFill>
                <a:schemeClr val="bg1"/>
              </a:solidFill>
            </a:endParaRPr>
          </a:p>
          <a:p>
            <a:pPr eaLnBrk="1" hangingPunct="1">
              <a:buNone/>
            </a:pPr>
            <a:r>
              <a:rPr lang="en-US" altLang="zh-CN" sz="2800" b="1" dirty="0">
                <a:solidFill>
                  <a:schemeClr val="bg1"/>
                </a:solidFill>
              </a:rPr>
              <a:t>//</a:t>
            </a:r>
            <a:r>
              <a:rPr lang="zh-CN" altLang="en-US" sz="2800" b="1" dirty="0">
                <a:solidFill>
                  <a:schemeClr val="bg1"/>
                </a:solidFill>
              </a:rPr>
              <a:t>可以相同也可以不相同</a:t>
            </a:r>
            <a:endParaRPr lang="zh-CN" altLang="en-US" sz="2800" b="1" dirty="0">
              <a:solidFill>
                <a:schemeClr val="bg1"/>
              </a:solidFill>
            </a:endParaRPr>
          </a:p>
        </p:txBody>
      </p:sp>
      <p:sp>
        <p:nvSpPr>
          <p:cNvPr id="137218" name="Rectangle 3"/>
          <p:cNvSpPr/>
          <p:nvPr/>
        </p:nvSpPr>
        <p:spPr>
          <a:xfrm>
            <a:off x="-252412" y="-100012"/>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Rectangle 2"/>
          <p:cNvSpPr>
            <a:spLocks noGrp="1"/>
          </p:cNvSpPr>
          <p:nvPr>
            <p:ph idx="1"/>
          </p:nvPr>
        </p:nvSpPr>
        <p:spPr>
          <a:xfrm>
            <a:off x="1619250" y="549275"/>
            <a:ext cx="7524750" cy="6308725"/>
          </a:xfrm>
        </p:spPr>
        <p:txBody>
          <a:bodyPr vert="horz" wrap="square" lIns="91440" tIns="45720" rIns="91440" bIns="45720" anchor="t"/>
          <a:p>
            <a:pPr eaLnBrk="1" hangingPunct="1">
              <a:buNone/>
            </a:pPr>
            <a:r>
              <a:rPr lang="en-US" altLang="zh-CN" sz="2800" b="1" dirty="0">
                <a:solidFill>
                  <a:schemeClr val="bg1"/>
                </a:solidFill>
              </a:rPr>
              <a:t>template&lt;typename T,</a:t>
            </a:r>
            <a:r>
              <a:rPr lang="en-US" altLang="zh-CN" sz="2800" b="1" dirty="0">
                <a:solidFill>
                  <a:srgbClr val="FF3300"/>
                </a:solidFill>
              </a:rPr>
              <a:t>typename</a:t>
            </a:r>
            <a:r>
              <a:rPr lang="en-US" altLang="zh-CN" sz="2800" b="1" dirty="0">
                <a:solidFill>
                  <a:schemeClr val="bg1"/>
                </a:solidFill>
              </a:rPr>
              <a:t> U&gt;</a:t>
            </a:r>
            <a:endParaRPr lang="en-US" altLang="zh-CN" sz="2800" b="1" dirty="0">
              <a:solidFill>
                <a:schemeClr val="bg1"/>
              </a:solidFill>
            </a:endParaRPr>
          </a:p>
          <a:p>
            <a:pPr eaLnBrk="1" hangingPunct="1">
              <a:buNone/>
            </a:pPr>
            <a:r>
              <a:rPr lang="en-US" altLang="zh-CN" sz="2800" b="1" dirty="0">
                <a:solidFill>
                  <a:schemeClr val="bg1"/>
                </a:solidFill>
              </a:rPr>
              <a:t>void add(T&amp; a,U &amp; b)</a:t>
            </a:r>
            <a:endParaRPr lang="en-US" altLang="zh-CN" sz="2800" b="1" dirty="0">
              <a:solidFill>
                <a:schemeClr val="bg1"/>
              </a:solidFill>
            </a:endParaRPr>
          </a:p>
          <a:p>
            <a:pPr eaLnBrk="1" hangingPunct="1">
              <a:buNone/>
            </a:pPr>
            <a:r>
              <a:rPr lang="en-US" altLang="zh-CN" sz="2800" b="1" dirty="0">
                <a:solidFill>
                  <a:schemeClr val="bg1"/>
                </a:solidFill>
              </a:rPr>
              <a:t>{  cout&lt;&lt;a+b&lt;&lt;endl;}</a:t>
            </a:r>
            <a:endParaRPr lang="en-US" altLang="zh-CN" sz="2800" b="1" dirty="0">
              <a:solidFill>
                <a:schemeClr val="bg1"/>
              </a:solidFill>
            </a:endParaRPr>
          </a:p>
          <a:p>
            <a:pPr eaLnBrk="1" hangingPunct="1">
              <a:buNone/>
            </a:pPr>
            <a:r>
              <a:rPr lang="en-US" altLang="zh-CN" sz="2800" b="1" dirty="0">
                <a:solidFill>
                  <a:schemeClr val="bg1"/>
                </a:solidFill>
              </a:rPr>
              <a:t>void swap(T&amp; a,T &amp; b)//</a:t>
            </a:r>
            <a:r>
              <a:rPr lang="zh-CN" altLang="en-US" sz="2800" b="1" dirty="0">
                <a:solidFill>
                  <a:schemeClr val="bg1"/>
                </a:solidFill>
              </a:rPr>
              <a:t>错误</a:t>
            </a:r>
            <a:endParaRPr lang="zh-CN" altLang="en-US" sz="2800" b="1" dirty="0">
              <a:solidFill>
                <a:schemeClr val="bg1"/>
              </a:solidFill>
            </a:endParaRPr>
          </a:p>
          <a:p>
            <a:pPr eaLnBrk="1" hangingPunct="1">
              <a:buNone/>
            </a:pPr>
            <a:r>
              <a:rPr lang="en-US" altLang="zh-CN" sz="2800" b="1" dirty="0">
                <a:solidFill>
                  <a:schemeClr val="bg1"/>
                </a:solidFill>
              </a:rPr>
              <a:t>{  T temp = a; a = b; b = temp;}</a:t>
            </a:r>
            <a:endParaRPr lang="en-US" altLang="zh-CN" sz="2800" b="1" dirty="0">
              <a:solidFill>
                <a:schemeClr val="bg1"/>
              </a:solidFill>
            </a:endParaRPr>
          </a:p>
          <a:p>
            <a:pPr eaLnBrk="1" hangingPunct="1">
              <a:buNone/>
            </a:pPr>
            <a:r>
              <a:rPr lang="en-US" altLang="zh-CN" sz="2800" b="1" dirty="0">
                <a:solidFill>
                  <a:schemeClr val="bg1"/>
                </a:solidFill>
              </a:rPr>
              <a:t>void main(){</a:t>
            </a:r>
            <a:endParaRPr lang="en-US" altLang="zh-CN" sz="2800" b="1" dirty="0">
              <a:solidFill>
                <a:schemeClr val="bg1"/>
              </a:solidFill>
            </a:endParaRPr>
          </a:p>
          <a:p>
            <a:pPr eaLnBrk="1" hangingPunct="1">
              <a:buNone/>
            </a:pPr>
            <a:r>
              <a:rPr lang="en-US" altLang="zh-CN" sz="2800" b="1" dirty="0">
                <a:solidFill>
                  <a:schemeClr val="bg1"/>
                </a:solidFill>
              </a:rPr>
              <a:t>int x=1,y=2;</a:t>
            </a:r>
            <a:endParaRPr lang="en-US" altLang="zh-CN" sz="2800" b="1" dirty="0">
              <a:solidFill>
                <a:schemeClr val="bg1"/>
              </a:solidFill>
            </a:endParaRPr>
          </a:p>
          <a:p>
            <a:pPr eaLnBrk="1" hangingPunct="1">
              <a:buNone/>
            </a:pPr>
            <a:r>
              <a:rPr lang="en-US" altLang="zh-CN" sz="2800" b="1" dirty="0">
                <a:solidFill>
                  <a:schemeClr val="bg1"/>
                </a:solidFill>
              </a:rPr>
              <a:t>float s=3.0,t=4.0;</a:t>
            </a:r>
            <a:endParaRPr lang="en-US" altLang="zh-CN" sz="2800" b="1" dirty="0">
              <a:solidFill>
                <a:schemeClr val="bg1"/>
              </a:solidFill>
            </a:endParaRPr>
          </a:p>
          <a:p>
            <a:pPr eaLnBrk="1" hangingPunct="1">
              <a:buNone/>
            </a:pPr>
            <a:r>
              <a:rPr lang="en-US" altLang="zh-CN" sz="2800" b="1" dirty="0">
                <a:solidFill>
                  <a:schemeClr val="bg1"/>
                </a:solidFill>
              </a:rPr>
              <a:t>add(x,y);</a:t>
            </a:r>
            <a:endParaRPr lang="en-US" altLang="zh-CN" sz="2800" b="1" dirty="0">
              <a:solidFill>
                <a:schemeClr val="bg1"/>
              </a:solidFill>
            </a:endParaRPr>
          </a:p>
          <a:p>
            <a:pPr eaLnBrk="1" hangingPunct="1">
              <a:buNone/>
            </a:pPr>
            <a:r>
              <a:rPr lang="en-US" altLang="zh-CN" sz="2800" b="1" dirty="0">
                <a:solidFill>
                  <a:schemeClr val="bg1"/>
                </a:solidFill>
              </a:rPr>
              <a:t>swap(s,t);</a:t>
            </a:r>
            <a:endParaRPr lang="en-US" altLang="zh-CN" sz="2800" b="1" dirty="0">
              <a:solidFill>
                <a:schemeClr val="bg1"/>
              </a:solidFill>
            </a:endParaRPr>
          </a:p>
          <a:p>
            <a:pPr eaLnBrk="1" hangingPunct="1">
              <a:buNone/>
            </a:pPr>
            <a:r>
              <a:rPr lang="en-US" altLang="zh-CN" sz="2800" b="1" dirty="0">
                <a:solidFill>
                  <a:schemeClr val="bg1"/>
                </a:solidFill>
              </a:rPr>
              <a:t>}//</a:t>
            </a:r>
            <a:r>
              <a:rPr lang="zh-CN" altLang="en-US" sz="2800" b="1" dirty="0">
                <a:solidFill>
                  <a:schemeClr val="bg1"/>
                </a:solidFill>
              </a:rPr>
              <a:t>模板类型声明不能共享；</a:t>
            </a:r>
            <a:r>
              <a:rPr lang="en-US" altLang="zh-CN" sz="2800" b="1" dirty="0">
                <a:solidFill>
                  <a:schemeClr val="bg1"/>
                </a:solidFill>
              </a:rPr>
              <a:t>typename</a:t>
            </a:r>
            <a:r>
              <a:rPr lang="zh-CN" altLang="en-US" sz="2800" b="1" dirty="0">
                <a:solidFill>
                  <a:schemeClr val="bg1"/>
                </a:solidFill>
              </a:rPr>
              <a:t>不能节省</a:t>
            </a:r>
            <a:endParaRPr lang="zh-CN" altLang="en-US" sz="2800" b="1" dirty="0">
              <a:solidFill>
                <a:schemeClr val="bg1"/>
              </a:solidFill>
            </a:endParaRPr>
          </a:p>
        </p:txBody>
      </p:sp>
      <p:sp>
        <p:nvSpPr>
          <p:cNvPr id="138242" name="Rectangle 3"/>
          <p:cNvSpPr/>
          <p:nvPr/>
        </p:nvSpPr>
        <p:spPr>
          <a:xfrm>
            <a:off x="-252412" y="-100012"/>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2"/>
          <p:cNvSpPr>
            <a:spLocks noGrp="1"/>
          </p:cNvSpPr>
          <p:nvPr>
            <p:ph idx="1"/>
          </p:nvPr>
        </p:nvSpPr>
        <p:spPr>
          <a:xfrm>
            <a:off x="250825" y="908050"/>
            <a:ext cx="4465638" cy="5949950"/>
          </a:xfrm>
        </p:spPr>
        <p:txBody>
          <a:bodyPr vert="horz" wrap="square" lIns="91440" tIns="45720" rIns="91440" bIns="45720" anchor="t"/>
          <a:p>
            <a:pPr eaLnBrk="1" hangingPunct="1">
              <a:lnSpc>
                <a:spcPct val="80000"/>
              </a:lnSpc>
              <a:buNone/>
            </a:pPr>
            <a:r>
              <a:rPr lang="en-US" altLang="zh-CN" sz="2800" b="1" dirty="0">
                <a:solidFill>
                  <a:schemeClr val="bg1"/>
                </a:solidFill>
              </a:rPr>
              <a:t>template &lt;typename T&gt;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swap(T &amp;a,T &amp;b)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T temp=a;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b=temp;</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swap(int * &amp;a,int * &amp;b)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temp=*a;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*a=*b;</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*b=temp;</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p:txBody>
      </p:sp>
      <p:sp>
        <p:nvSpPr>
          <p:cNvPr id="13926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39267" name="Rectangle 4"/>
          <p:cNvSpPr/>
          <p:nvPr/>
        </p:nvSpPr>
        <p:spPr>
          <a:xfrm>
            <a:off x="5435600" y="908050"/>
            <a:ext cx="3529013" cy="54006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int a=1,b=2;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swap(a,b);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cout&lt;&lt;a&lt;&lt;b&lt;&lt;endl;</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float i=5.1,j=5.2;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swap(i,j);</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cout&lt;&lt;i&lt;&lt;j&lt;&lt;endl;</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int *p=&amp;a,*q=&amp;b;</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swap(p,q);</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cout&lt;&lt;*p&lt;&lt;*q&lt;&lt;endl;</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388101" name="AutoShape 5"/>
          <p:cNvSpPr>
            <a:spLocks noChangeArrowheads="1"/>
          </p:cNvSpPr>
          <p:nvPr/>
        </p:nvSpPr>
        <p:spPr bwMode="auto">
          <a:xfrm>
            <a:off x="3851275" y="5805488"/>
            <a:ext cx="4392613" cy="431800"/>
          </a:xfrm>
          <a:prstGeom prst="wedgeRectCallout">
            <a:avLst>
              <a:gd name="adj1" fmla="val -43750"/>
              <a:gd name="adj2" fmla="val 70000"/>
            </a:avLst>
          </a:prstGeom>
          <a:solidFill>
            <a:schemeClr val="accent1"/>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优先匹配非模板函数</a:t>
            </a:r>
            <a:endParaRPr kumimoji="1" lang="zh-CN" altLang="en-US"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Rectangle 2"/>
          <p:cNvSpPr>
            <a:spLocks noGrp="1"/>
          </p:cNvSpPr>
          <p:nvPr>
            <p:ph idx="1"/>
          </p:nvPr>
        </p:nvSpPr>
        <p:spPr>
          <a:xfrm>
            <a:off x="2482850" y="908050"/>
            <a:ext cx="4465638" cy="5949950"/>
          </a:xfrm>
        </p:spPr>
        <p:txBody>
          <a:bodyPr vert="horz" wrap="square" lIns="91440" tIns="45720" rIns="91440" bIns="45720" anchor="t"/>
          <a:p>
            <a:pPr eaLnBrk="1" hangingPunct="1">
              <a:lnSpc>
                <a:spcPct val="80000"/>
              </a:lnSpc>
              <a:buNone/>
            </a:pPr>
            <a:r>
              <a:rPr lang="en-US" altLang="zh-CN" sz="2400" b="1" dirty="0">
                <a:solidFill>
                  <a:schemeClr val="bg1"/>
                </a:solidFill>
              </a:rPr>
              <a:t>template &lt;typename T&gt;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x(T x)</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cout&lt;&lt;"aaaaaaaaaaaaa";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template &lt;typename T&gt;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x(T * x)</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cout&lt;&lt;"bbbbbbbbbbbbbb";</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x(a);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x(&amp;a);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模板重载   </a:t>
            </a:r>
            <a:r>
              <a:rPr lang="en-US" altLang="zh-CN" sz="2400" b="1" dirty="0">
                <a:solidFill>
                  <a:schemeClr val="bg1"/>
                </a:solidFill>
              </a:rPr>
              <a:t>VC++</a:t>
            </a:r>
            <a:r>
              <a:rPr lang="zh-CN" altLang="en-US" sz="2400" b="1" dirty="0">
                <a:solidFill>
                  <a:schemeClr val="bg1"/>
                </a:solidFill>
              </a:rPr>
              <a:t>不支持</a:t>
            </a:r>
            <a:endParaRPr lang="zh-CN" altLang="en-US" sz="2400" b="1" dirty="0">
              <a:solidFill>
                <a:schemeClr val="bg1"/>
              </a:solidFill>
            </a:endParaRPr>
          </a:p>
        </p:txBody>
      </p:sp>
      <p:sp>
        <p:nvSpPr>
          <p:cNvPr id="140290"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Rectangle 2"/>
          <p:cNvSpPr>
            <a:spLocks noGrp="1"/>
          </p:cNvSpPr>
          <p:nvPr>
            <p:ph idx="1"/>
          </p:nvPr>
        </p:nvSpPr>
        <p:spPr>
          <a:xfrm>
            <a:off x="34925" y="746125"/>
            <a:ext cx="4537075" cy="6786563"/>
          </a:xfrm>
        </p:spPr>
        <p:txBody>
          <a:bodyPr vert="horz" wrap="square" lIns="91440" tIns="45720" rIns="91440" bIns="45720" anchor="t"/>
          <a:p>
            <a:pPr eaLnBrk="1" hangingPunct="1">
              <a:buNone/>
            </a:pPr>
            <a:r>
              <a:rPr lang="zh-CN" altLang="en-US" b="1" dirty="0">
                <a:solidFill>
                  <a:schemeClr val="bg1"/>
                </a:solidFill>
              </a:rPr>
              <a:t>例子（上）－栈</a:t>
            </a:r>
            <a:r>
              <a:rPr lang="en-US" altLang="zh-CN" b="1" dirty="0">
                <a:solidFill>
                  <a:schemeClr val="bg1"/>
                </a:solidFill>
              </a:rPr>
              <a:t>(</a:t>
            </a:r>
            <a:r>
              <a:rPr lang="zh-CN" altLang="en-US" b="1" dirty="0">
                <a:solidFill>
                  <a:schemeClr val="bg1"/>
                </a:solidFill>
              </a:rPr>
              <a:t>容器</a:t>
            </a:r>
            <a:r>
              <a:rPr lang="en-US" altLang="zh-CN" b="1" dirty="0">
                <a:solidFill>
                  <a:schemeClr val="bg1"/>
                </a:solidFill>
              </a:rPr>
              <a:t>)</a:t>
            </a:r>
            <a:endParaRPr lang="en-US" altLang="zh-CN" b="1" dirty="0">
              <a:solidFill>
                <a:schemeClr val="bg1"/>
              </a:solidFill>
            </a:endParaRPr>
          </a:p>
          <a:p>
            <a:pPr eaLnBrk="1" hangingPunct="1">
              <a:buNone/>
            </a:pPr>
            <a:r>
              <a:rPr lang="en-US" altLang="zh-CN" b="1" u="sng" dirty="0">
                <a:solidFill>
                  <a:schemeClr val="bg1"/>
                </a:solidFill>
              </a:rPr>
              <a:t>Stack.h</a:t>
            </a:r>
            <a:endParaRPr lang="en-US" altLang="zh-CN" b="1" u="sng" dirty="0">
              <a:solidFill>
                <a:schemeClr val="bg1"/>
              </a:solidFill>
            </a:endParaRPr>
          </a:p>
          <a:p>
            <a:pPr eaLnBrk="1" hangingPunct="1">
              <a:buNone/>
            </a:pPr>
            <a:r>
              <a:rPr lang="en-US" altLang="zh-CN" b="1" dirty="0">
                <a:solidFill>
                  <a:schemeClr val="bg1"/>
                </a:solidFill>
              </a:rPr>
              <a:t>template &lt;typename T&gt;</a:t>
            </a:r>
            <a:endParaRPr lang="en-US" altLang="zh-CN" b="1" dirty="0">
              <a:solidFill>
                <a:schemeClr val="bg1"/>
              </a:solidFill>
            </a:endParaRPr>
          </a:p>
          <a:p>
            <a:pPr eaLnBrk="1" hangingPunct="1">
              <a:buNone/>
            </a:pPr>
            <a:r>
              <a:rPr lang="en-US" altLang="zh-CN" b="1" dirty="0">
                <a:solidFill>
                  <a:schemeClr val="bg1"/>
                </a:solidFill>
              </a:rPr>
              <a:t>class Stack{</a:t>
            </a:r>
            <a:endParaRPr lang="en-US" altLang="zh-CN" b="1" dirty="0">
              <a:solidFill>
                <a:schemeClr val="bg1"/>
              </a:solidFill>
            </a:endParaRPr>
          </a:p>
          <a:p>
            <a:pPr eaLnBrk="1" hangingPunct="1">
              <a:buNone/>
            </a:pPr>
            <a:r>
              <a:rPr lang="en-US" altLang="zh-CN" b="1" dirty="0">
                <a:solidFill>
                  <a:schemeClr val="bg1"/>
                </a:solidFill>
              </a:rPr>
              <a:t>public:</a:t>
            </a:r>
            <a:endParaRPr lang="en-US" altLang="zh-CN" b="1" dirty="0">
              <a:solidFill>
                <a:schemeClr val="bg1"/>
              </a:solidFill>
            </a:endParaRPr>
          </a:p>
          <a:p>
            <a:pPr eaLnBrk="1" hangingPunct="1">
              <a:buNone/>
            </a:pPr>
            <a:r>
              <a:rPr lang="en-US" altLang="zh-CN" b="1" dirty="0">
                <a:solidFill>
                  <a:schemeClr val="bg1"/>
                </a:solidFill>
              </a:rPr>
              <a:t>   void put(T );</a:t>
            </a:r>
            <a:endParaRPr lang="en-US" altLang="zh-CN" b="1" dirty="0">
              <a:solidFill>
                <a:schemeClr val="bg1"/>
              </a:solidFill>
            </a:endParaRPr>
          </a:p>
          <a:p>
            <a:pPr eaLnBrk="1" hangingPunct="1">
              <a:buNone/>
            </a:pPr>
            <a:r>
              <a:rPr lang="en-US" altLang="zh-CN" b="1" dirty="0">
                <a:solidFill>
                  <a:schemeClr val="bg1"/>
                </a:solidFill>
              </a:rPr>
              <a:t>    T get( )</a:t>
            </a:r>
            <a:r>
              <a:rPr lang="zh-CN" altLang="en-US"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private:</a:t>
            </a:r>
            <a:endParaRPr lang="en-US" altLang="zh-CN" b="1" dirty="0">
              <a:solidFill>
                <a:schemeClr val="bg1"/>
              </a:solidFill>
            </a:endParaRPr>
          </a:p>
          <a:p>
            <a:pPr eaLnBrk="1" hangingPunct="1">
              <a:buNone/>
            </a:pPr>
            <a:r>
              <a:rPr lang="en-US" altLang="zh-CN" b="1" dirty="0">
                <a:solidFill>
                  <a:schemeClr val="bg1"/>
                </a:solidFill>
              </a:rPr>
              <a:t>   T *head; </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82947" name="Rectangle 4"/>
          <p:cNvSpPr>
            <a:spLocks noChangeArrowheads="1"/>
          </p:cNvSpPr>
          <p:nvPr/>
        </p:nvSpPr>
        <p:spPr bwMode="auto">
          <a:xfrm>
            <a:off x="4716463" y="620713"/>
            <a:ext cx="4319588" cy="6381750"/>
          </a:xfrm>
          <a:prstGeom prst="rect">
            <a:avLst/>
          </a:prstGeom>
          <a:noFill/>
          <a:ln>
            <a:noFill/>
          </a:ln>
          <a:effectLst/>
        </p:spPr>
        <p:txBody>
          <a:bodyPr/>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template &lt;</a:t>
            </a:r>
            <a:r>
              <a:rPr kumimoji="1" lang="en-US" altLang="zh-CN" sz="2800" b="1" i="0" u="none" strike="noStrik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typename</a:t>
            </a:r>
            <a:r>
              <a:rPr kumimoji="1" lang="en-US" altLang="zh-CN"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 T&gt;</a:t>
            </a:r>
            <a:endParaRPr kumimoji="1" lang="en-US" altLang="zh-CN"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void Stack&lt;T&gt;::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put</a:t>
            </a: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T</a:t>
            </a: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a:t>
            </a:r>
            <a:r>
              <a:rPr kumimoji="0" lang="en-US" altLang="en-US" sz="2800" b="1" i="0" u="none" strike="noStrike" kern="1200" cap="none" spc="0" normalizeH="0" baseline="0" noProof="0" dirty="0" err="1">
                <a:ln>
                  <a:noFill/>
                </a:ln>
                <a:solidFill>
                  <a:schemeClr val="bg1"/>
                </a:solidFill>
                <a:effectLst/>
                <a:uLnTx/>
                <a:uFillTx/>
                <a:latin typeface="Times New Roman" panose="02020603050405020304" pitchFamily="18" charset="0"/>
                <a:ea typeface="宋体" panose="02010600030101010101" pitchFamily="2" charset="-122"/>
                <a:cs typeface="+mn-cs"/>
              </a:rPr>
              <a:t>i</a:t>
            </a: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T *p=new T;</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p = </a:t>
            </a:r>
            <a:r>
              <a:rPr kumimoji="0" lang="en-US" altLang="zh-CN" sz="2800" b="1" i="0" u="none" strike="noStrike" kern="1200" cap="none" spc="0" normalizeH="0" baseline="0" noProof="0" dirty="0" err="1">
                <a:ln>
                  <a:noFill/>
                </a:ln>
                <a:solidFill>
                  <a:schemeClr val="bg1"/>
                </a:solidFill>
                <a:effectLst/>
                <a:uLnTx/>
                <a:uFillTx/>
                <a:latin typeface="Times New Roman" panose="02020603050405020304" pitchFamily="18" charset="0"/>
                <a:ea typeface="宋体" panose="02010600030101010101" pitchFamily="2" charset="-122"/>
                <a:cs typeface="+mn-cs"/>
              </a:rPr>
              <a:t>i</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p-&gt;next = head;</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head = p;</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template &lt;</a:t>
            </a:r>
            <a:r>
              <a:rPr kumimoji="1" lang="en-US" altLang="zh-CN" sz="2800" b="1" i="0" u="none" strike="noStrik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typename</a:t>
            </a:r>
            <a:r>
              <a:rPr kumimoji="1" lang="en-US" altLang="zh-CN"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 T&gt;</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T</a:t>
            </a: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Stack&lt;T&gt;::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get</a:t>
            </a: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T </a:t>
            </a:r>
            <a:r>
              <a:rPr kumimoji="0" lang="zh-CN"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q = head</a:t>
            </a:r>
            <a:r>
              <a:rPr kumimoji="0" lang="zh-CN"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T p = </a:t>
            </a:r>
            <a:r>
              <a:rPr kumimoji="0" lang="zh-CN"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head;</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head = head-&gt;next;</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delete q;</a:t>
            </a:r>
            <a:endPar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return(p);</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41315" name="Rectangle 3"/>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Rectangle 2"/>
          <p:cNvSpPr>
            <a:spLocks noGrp="1"/>
          </p:cNvSpPr>
          <p:nvPr>
            <p:ph idx="1"/>
          </p:nvPr>
        </p:nvSpPr>
        <p:spPr>
          <a:xfrm>
            <a:off x="1476375" y="549275"/>
            <a:ext cx="6911975" cy="6192838"/>
          </a:xfrm>
        </p:spPr>
        <p:txBody>
          <a:bodyPr vert="horz" wrap="square" lIns="91440" tIns="45720" rIns="91440" bIns="45720" anchor="t"/>
          <a:p>
            <a:pPr eaLnBrk="1" hangingPunct="1">
              <a:lnSpc>
                <a:spcPct val="80000"/>
              </a:lnSpc>
              <a:buNone/>
            </a:pPr>
            <a:r>
              <a:rPr lang="en-US" altLang="zh-CN" sz="2800" b="1" dirty="0">
                <a:solidFill>
                  <a:schemeClr val="bg1"/>
                </a:solidFill>
              </a:rPr>
              <a:t>//</a:t>
            </a:r>
            <a:r>
              <a:rPr lang="zh-CN" altLang="en-US" sz="2800" b="1" dirty="0">
                <a:solidFill>
                  <a:schemeClr val="bg1"/>
                </a:solidFill>
              </a:rPr>
              <a:t>栈（下）</a:t>
            </a:r>
            <a:endParaRPr lang="zh-CN" altLang="en-US" sz="2800" b="1" dirty="0">
              <a:solidFill>
                <a:schemeClr val="bg1"/>
              </a:solidFill>
            </a:endParaRPr>
          </a:p>
          <a:p>
            <a:pPr eaLnBrk="1" hangingPunct="1">
              <a:lnSpc>
                <a:spcPct val="80000"/>
              </a:lnSpc>
              <a:buNone/>
            </a:pPr>
            <a:r>
              <a:rPr lang="en-US" altLang="zh-CN" sz="2800" b="1" dirty="0">
                <a:solidFill>
                  <a:schemeClr val="bg1"/>
                </a:solidFill>
              </a:rPr>
              <a:t>class NODE {</a:t>
            </a:r>
            <a:r>
              <a:rPr lang="en-US" altLang="zh-CN" sz="2800" b="1" dirty="0">
                <a:solidFill>
                  <a:schemeClr val="bg1"/>
                </a:solidFill>
                <a:latin typeface="Arial" panose="020B0604020202020204" pitchFamily="34" charset="0"/>
              </a:rPr>
              <a:t>…</a:t>
            </a: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class Student {</a:t>
            </a:r>
            <a:r>
              <a:rPr lang="en-US" altLang="zh-CN" sz="2800" b="1" dirty="0">
                <a:solidFill>
                  <a:schemeClr val="bg1"/>
                </a:solidFill>
                <a:latin typeface="Arial" panose="020B0604020202020204" pitchFamily="34" charset="0"/>
              </a:rPr>
              <a:t>…</a:t>
            </a:r>
            <a:r>
              <a:rPr lang="en-US" altLang="zh-CN" sz="2800" b="1" dirty="0">
                <a:solidFill>
                  <a:schemeClr val="bg1"/>
                </a:solidFill>
              </a:rPr>
              <a: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Stack&lt;NODE&gt; i;//</a:t>
            </a:r>
            <a:r>
              <a:rPr lang="zh-CN" altLang="en-US" sz="2800" b="1" dirty="0">
                <a:solidFill>
                  <a:schemeClr val="bg1"/>
                </a:solidFill>
              </a:rPr>
              <a:t>隐式类型实例化可以吗？</a:t>
            </a:r>
            <a:endParaRPr lang="zh-CN" altLang="en-US" sz="2800" b="1" dirty="0">
              <a:solidFill>
                <a:schemeClr val="bg1"/>
              </a:solidFill>
            </a:endParaRPr>
          </a:p>
          <a:p>
            <a:pPr eaLnBrk="1" hangingPunct="1">
              <a:lnSpc>
                <a:spcPct val="80000"/>
              </a:lnSpc>
              <a:buNone/>
            </a:pPr>
            <a:r>
              <a:rPr lang="en-US" altLang="zh-CN" sz="2800" b="1" dirty="0">
                <a:solidFill>
                  <a:schemeClr val="bg1"/>
                </a:solidFill>
              </a:rPr>
              <a:t>NODE s;</a:t>
            </a:r>
            <a:endParaRPr lang="en-US" altLang="zh-CN" sz="2800" b="1" dirty="0">
              <a:solidFill>
                <a:schemeClr val="bg1"/>
              </a:solidFill>
            </a:endParaRPr>
          </a:p>
          <a:p>
            <a:pPr eaLnBrk="1" hangingPunct="1">
              <a:lnSpc>
                <a:spcPct val="80000"/>
              </a:lnSpc>
              <a:buNone/>
            </a:pPr>
            <a:r>
              <a:rPr lang="en-US" altLang="zh-CN" sz="2800" b="1" dirty="0">
                <a:solidFill>
                  <a:schemeClr val="bg1"/>
                </a:solidFill>
              </a:rPr>
              <a:t>s.age = 20;</a:t>
            </a:r>
            <a:endParaRPr lang="en-US" altLang="zh-CN" sz="2800" b="1" dirty="0">
              <a:solidFill>
                <a:schemeClr val="bg1"/>
              </a:solidFill>
            </a:endParaRPr>
          </a:p>
          <a:p>
            <a:pPr eaLnBrk="1" hangingPunct="1">
              <a:lnSpc>
                <a:spcPct val="80000"/>
              </a:lnSpc>
              <a:buNone/>
            </a:pPr>
            <a:r>
              <a:rPr lang="en-US" altLang="zh-CN" sz="2800" b="1" dirty="0">
                <a:solidFill>
                  <a:schemeClr val="bg1"/>
                </a:solidFill>
              </a:rPr>
              <a:t>i.push(s);</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Stack&lt;Student&gt; m;</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p:txBody>
      </p:sp>
      <p:sp>
        <p:nvSpPr>
          <p:cNvPr id="142338" name="Rectangle 3"/>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Rectangle 2"/>
          <p:cNvSpPr>
            <a:spLocks noGrp="1"/>
          </p:cNvSpPr>
          <p:nvPr>
            <p:ph idx="1"/>
          </p:nvPr>
        </p:nvSpPr>
        <p:spPr>
          <a:xfrm>
            <a:off x="1476375" y="549275"/>
            <a:ext cx="6911975" cy="6192838"/>
          </a:xfrm>
        </p:spPr>
        <p:txBody>
          <a:bodyPr vert="horz" wrap="square" lIns="91440" tIns="45720" rIns="91440" bIns="45720" anchor="t"/>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r>
              <a:rPr lang="zh-CN" altLang="en-US" sz="2800" b="1" dirty="0">
                <a:solidFill>
                  <a:schemeClr val="bg1"/>
                </a:solidFill>
              </a:rPr>
              <a:t>可以多个类型参数，如：</a:t>
            </a:r>
            <a:endParaRPr lang="en-US" altLang="zh-CN" sz="2800" b="1" dirty="0">
              <a:solidFill>
                <a:schemeClr val="bg1"/>
              </a:solidFill>
            </a:endParaRPr>
          </a:p>
          <a:p>
            <a:pPr eaLnBrk="1" hangingPunct="1">
              <a:lnSpc>
                <a:spcPct val="80000"/>
              </a:lnSpc>
              <a:buNone/>
            </a:pPr>
            <a:endParaRPr lang="zh-CN" altLang="en-US" sz="2800" b="1" dirty="0">
              <a:solidFill>
                <a:schemeClr val="bg1"/>
              </a:solidFill>
            </a:endParaRPr>
          </a:p>
          <a:p>
            <a:pPr eaLnBrk="1" hangingPunct="1">
              <a:lnSpc>
                <a:spcPct val="80000"/>
              </a:lnSpc>
              <a:buNone/>
            </a:pPr>
            <a:r>
              <a:rPr lang="en-US" altLang="zh-CN" sz="2800" b="1" dirty="0">
                <a:solidFill>
                  <a:schemeClr val="bg1"/>
                </a:solidFill>
              </a:rPr>
              <a:t>template &lt;typename T,typename U&gt;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class List{</a:t>
            </a:r>
            <a:r>
              <a:rPr lang="en-US" altLang="zh-CN" sz="2800" b="1" dirty="0">
                <a:solidFill>
                  <a:schemeClr val="bg1"/>
                </a:solidFill>
                <a:latin typeface="Arial" panose="020B0604020202020204" pitchFamily="34" charset="0"/>
              </a:rPr>
              <a:t>…</a:t>
            </a:r>
            <a:r>
              <a:rPr lang="en-US" altLang="zh-CN" sz="2800" b="1" dirty="0">
                <a:solidFill>
                  <a:schemeClr val="bg1"/>
                </a:solidFill>
              </a:rPr>
              <a:t> </a:t>
            </a:r>
            <a:r>
              <a:rPr lang="en-US" altLang="zh-CN" sz="2800" b="1" dirty="0">
                <a:solidFill>
                  <a:schemeClr val="bg1"/>
                </a:solidFill>
                <a:latin typeface="Arial" panose="020B0604020202020204" pitchFamily="34" charset="0"/>
              </a:rPr>
              <a:t>…</a:t>
            </a: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List &lt;NODE,Student&gt;  k;</a:t>
            </a:r>
            <a:endParaRPr lang="en-US" altLang="zh-CN" sz="2800" b="1" dirty="0">
              <a:solidFill>
                <a:schemeClr val="bg1"/>
              </a:solidFill>
            </a:endParaRPr>
          </a:p>
        </p:txBody>
      </p:sp>
      <p:sp>
        <p:nvSpPr>
          <p:cNvPr id="143362" name="Rectangle 3"/>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Rectangle 2"/>
          <p:cNvSpPr>
            <a:spLocks noGrp="1"/>
          </p:cNvSpPr>
          <p:nvPr>
            <p:ph idx="1"/>
          </p:nvPr>
        </p:nvSpPr>
        <p:spPr>
          <a:xfrm>
            <a:off x="3851275" y="0"/>
            <a:ext cx="5292725" cy="6858000"/>
          </a:xfrm>
        </p:spPr>
        <p:txBody>
          <a:bodyPr vert="horz" wrap="square" lIns="91440" tIns="45720" rIns="91440" bIns="45720" anchor="t"/>
          <a:p>
            <a:pPr eaLnBrk="1" hangingPunct="1">
              <a:lnSpc>
                <a:spcPct val="80000"/>
              </a:lnSpc>
              <a:buNone/>
            </a:pPr>
            <a:r>
              <a:rPr lang="en-US" altLang="en-US" sz="2400" b="1" dirty="0">
                <a:solidFill>
                  <a:schemeClr val="bg1"/>
                </a:solidFill>
              </a:rPr>
              <a:t>template&lt;typename T,int Num&gt;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class List {</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T i;</a:t>
            </a:r>
            <a:endParaRPr lang="en-US" altLang="en-US" sz="2400" b="1" dirty="0">
              <a:solidFill>
                <a:schemeClr val="bg1"/>
              </a:solidFill>
            </a:endParaRPr>
          </a:p>
          <a:p>
            <a:pPr eaLnBrk="1" hangingPunct="1">
              <a:lnSpc>
                <a:spcPct val="80000"/>
              </a:lnSpc>
              <a:buNone/>
            </a:pPr>
            <a:r>
              <a:rPr lang="en-US" altLang="en-US" sz="2400" b="1" dirty="0">
                <a:solidFill>
                  <a:schemeClr val="bg1"/>
                </a:solidFill>
              </a:rPr>
              <a:t>public:</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void Set(T);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T Get();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T a[Num];</a:t>
            </a:r>
            <a:endParaRPr lang="en-US" altLang="en-US" sz="2400" b="1" dirty="0">
              <a:solidFill>
                <a:schemeClr val="bg1"/>
              </a:solidFill>
            </a:endParaRPr>
          </a:p>
          <a:p>
            <a:pPr eaLnBrk="1" hangingPunct="1">
              <a:lnSpc>
                <a:spcPct val="80000"/>
              </a:lnSpc>
              <a:buNone/>
            </a:pPr>
            <a:r>
              <a:rPr lang="en-US" altLang="en-US" sz="2400" b="1" dirty="0">
                <a:solidFill>
                  <a:schemeClr val="bg1"/>
                </a:solidFill>
              </a:rPr>
              <a: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template&lt;typename </a:t>
            </a:r>
            <a:r>
              <a:rPr lang="en-US" altLang="zh-CN" sz="2400" b="1" dirty="0">
                <a:solidFill>
                  <a:schemeClr val="bg1"/>
                </a:solidFill>
              </a:rPr>
              <a:t>U</a:t>
            </a:r>
            <a:r>
              <a:rPr lang="en-US" altLang="en-US" sz="2400" b="1" dirty="0">
                <a:solidFill>
                  <a:schemeClr val="bg1"/>
                </a:solidFill>
              </a:rPr>
              <a:t>,int Count&gt;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void List</a:t>
            </a:r>
            <a:r>
              <a:rPr lang="en-US" altLang="zh-CN" sz="2400" b="1" dirty="0">
                <a:solidFill>
                  <a:schemeClr val="bg1"/>
                </a:solidFill>
              </a:rPr>
              <a:t>&lt;U,</a:t>
            </a:r>
            <a:r>
              <a:rPr lang="en-US" altLang="en-US" sz="2400" b="1" dirty="0">
                <a:solidFill>
                  <a:schemeClr val="bg1"/>
                </a:solidFill>
              </a:rPr>
              <a:t>Count&gt;::</a:t>
            </a:r>
            <a:r>
              <a:rPr lang="en-US" altLang="zh-CN" sz="2400" b="1" dirty="0">
                <a:solidFill>
                  <a:schemeClr val="bg1"/>
                </a:solidFill>
              </a:rPr>
              <a:t>Set(U</a:t>
            </a:r>
            <a:r>
              <a:rPr lang="en-US" altLang="en-US" sz="2400" b="1" dirty="0">
                <a:solidFill>
                  <a:schemeClr val="bg1"/>
                </a:solidFill>
              </a:rPr>
              <a:t> k){i = k;}</a:t>
            </a:r>
            <a:endParaRPr lang="en-US" altLang="en-US" sz="2400" b="1" dirty="0">
              <a:solidFill>
                <a:schemeClr val="bg1"/>
              </a:solidFill>
            </a:endParaRPr>
          </a:p>
          <a:p>
            <a:pPr eaLnBrk="1" hangingPunct="1">
              <a:lnSpc>
                <a:spcPct val="80000"/>
              </a:lnSpc>
              <a:buNone/>
            </a:pPr>
            <a:r>
              <a:rPr lang="en-US" altLang="en-US" sz="2400" b="1" dirty="0">
                <a:solidFill>
                  <a:schemeClr val="bg1"/>
                </a:solidFill>
              </a:rPr>
              <a:t>template&lt;typename T,int Count&gt;</a:t>
            </a:r>
            <a:endParaRPr lang="en-US" altLang="en-US" sz="2400" b="1" dirty="0">
              <a:solidFill>
                <a:schemeClr val="bg1"/>
              </a:solidFill>
            </a:endParaRPr>
          </a:p>
          <a:p>
            <a:pPr eaLnBrk="1" hangingPunct="1">
              <a:lnSpc>
                <a:spcPct val="80000"/>
              </a:lnSpc>
              <a:buNone/>
            </a:pPr>
            <a:r>
              <a:rPr lang="en-US" altLang="en-US" sz="2400" b="1" dirty="0">
                <a:solidFill>
                  <a:schemeClr val="bg1"/>
                </a:solidFill>
              </a:rPr>
              <a:t>T List&lt;T,Count&gt;::Get(){return(i);}</a:t>
            </a:r>
            <a:endParaRPr lang="en-US" altLang="en-US"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en-US" sz="2400" b="1" dirty="0">
                <a:solidFill>
                  <a:schemeClr val="bg1"/>
                </a:solidFill>
              </a:rPr>
              <a:t>void main(){</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int x=1,y=2;</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List&lt;int,9&gt; i;</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i.Set(1);</a:t>
            </a:r>
            <a:endParaRPr lang="en-US" altLang="en-US" sz="2400" b="1" dirty="0">
              <a:solidFill>
                <a:schemeClr val="bg1"/>
              </a:solidFill>
            </a:endParaRPr>
          </a:p>
          <a:p>
            <a:pPr eaLnBrk="1" hangingPunct="1">
              <a:lnSpc>
                <a:spcPct val="80000"/>
              </a:lnSpc>
              <a:buNone/>
            </a:pPr>
            <a:r>
              <a:rPr lang="en-US" altLang="en-US" sz="2400" b="1" dirty="0">
                <a:solidFill>
                  <a:schemeClr val="bg1"/>
                </a:solidFill>
              </a:rPr>
              <a:t>   cout&lt;&lt;i.Get()&lt;&lt;endl;</a:t>
            </a:r>
            <a:endParaRPr lang="en-US" altLang="en-US" sz="2400" b="1" dirty="0">
              <a:solidFill>
                <a:schemeClr val="bg1"/>
              </a:solidFill>
            </a:endParaRPr>
          </a:p>
          <a:p>
            <a:pPr eaLnBrk="1" hangingPunct="1">
              <a:lnSpc>
                <a:spcPct val="80000"/>
              </a:lnSpc>
              <a:buNone/>
            </a:pPr>
            <a:r>
              <a:rPr lang="en-US" altLang="en-US" sz="2400" b="1" dirty="0">
                <a:solidFill>
                  <a:schemeClr val="bg1"/>
                </a:solidFill>
              </a:rPr>
              <a:t>}</a:t>
            </a:r>
            <a:endParaRPr lang="en-US" altLang="zh-CN" sz="2400" b="1" dirty="0">
              <a:solidFill>
                <a:schemeClr val="bg1"/>
              </a:solidFill>
            </a:endParaRPr>
          </a:p>
        </p:txBody>
      </p:sp>
      <p:sp>
        <p:nvSpPr>
          <p:cNvPr id="144386" name="Rectangle 3"/>
          <p:cNvSpPr/>
          <p:nvPr/>
        </p:nvSpPr>
        <p:spPr>
          <a:xfrm>
            <a:off x="-252412" y="115888"/>
            <a:ext cx="4608512"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43749" name="Rectangle 5"/>
          <p:cNvSpPr>
            <a:spLocks noChangeArrowheads="1"/>
          </p:cNvSpPr>
          <p:nvPr/>
        </p:nvSpPr>
        <p:spPr bwMode="auto">
          <a:xfrm>
            <a:off x="0" y="5589588"/>
            <a:ext cx="3708400" cy="122396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err="1">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Num</a:t>
            </a:r>
            <a:r>
              <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应该给出确定的参数值</a:t>
            </a:r>
            <a:endPar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反向演绎后</a:t>
            </a:r>
            <a:r>
              <a:rPr kumimoji="1" lang="en-US" altLang="zh-CN"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Count</a:t>
            </a:r>
            <a:r>
              <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的值应为</a:t>
            </a:r>
            <a:r>
              <a:rPr kumimoji="1" lang="en-US" altLang="zh-CN"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a:t>
            </a:r>
            <a:endParaRPr kumimoji="1" lang="en-US" altLang="zh-CN"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注意</a:t>
            </a:r>
            <a:r>
              <a:rPr kumimoji="1" lang="en-US" altLang="zh-CN"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U</a:t>
            </a:r>
            <a:endPar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2"/>
          <p:cNvSpPr>
            <a:spLocks noGrp="1"/>
          </p:cNvSpPr>
          <p:nvPr>
            <p:ph idx="1"/>
          </p:nvPr>
        </p:nvSpPr>
        <p:spPr>
          <a:xfrm>
            <a:off x="107950" y="836613"/>
            <a:ext cx="4392613" cy="5949950"/>
          </a:xfrm>
        </p:spPr>
        <p:txBody>
          <a:bodyPr vert="horz" wrap="square" lIns="91440" tIns="45720" rIns="91440" bIns="45720" anchor="t"/>
          <a:p>
            <a:pPr eaLnBrk="1" hangingPunct="1">
              <a:buNone/>
            </a:pPr>
            <a:r>
              <a:rPr lang="en-US" altLang="zh-CN" b="1" dirty="0">
                <a:solidFill>
                  <a:schemeClr val="bg1"/>
                </a:solidFill>
              </a:rPr>
              <a:t>//</a:t>
            </a:r>
            <a:r>
              <a:rPr lang="zh-CN" altLang="en-US" b="1" dirty="0">
                <a:solidFill>
                  <a:schemeClr val="bg1"/>
                </a:solidFill>
              </a:rPr>
              <a:t>栈</a:t>
            </a:r>
            <a:endParaRPr lang="zh-CN" altLang="en-US" b="1" dirty="0">
              <a:solidFill>
                <a:schemeClr val="bg1"/>
              </a:solidFill>
            </a:endParaRPr>
          </a:p>
          <a:p>
            <a:pPr eaLnBrk="1" hangingPunct="1">
              <a:buNone/>
            </a:pPr>
            <a:r>
              <a:rPr lang="en-US" altLang="zh-CN" b="1" dirty="0">
                <a:solidFill>
                  <a:schemeClr val="bg1"/>
                </a:solidFill>
              </a:rPr>
              <a:t>template &lt;typename T=NODE&gt;</a:t>
            </a:r>
            <a:endParaRPr lang="en-US" altLang="zh-CN" b="1" dirty="0">
              <a:solidFill>
                <a:schemeClr val="bg1"/>
              </a:solidFill>
            </a:endParaRPr>
          </a:p>
          <a:p>
            <a:pPr eaLnBrk="1" hangingPunct="1">
              <a:buNone/>
            </a:pPr>
            <a:r>
              <a:rPr lang="en-US" altLang="zh-CN" b="1" dirty="0">
                <a:solidFill>
                  <a:schemeClr val="bg1"/>
                </a:solidFill>
              </a:rPr>
              <a:t>class Stack{</a:t>
            </a:r>
            <a:endParaRPr lang="en-US" altLang="zh-CN" b="1" dirty="0">
              <a:solidFill>
                <a:schemeClr val="bg1"/>
              </a:solidFill>
            </a:endParaRPr>
          </a:p>
          <a:p>
            <a:pPr eaLnBrk="1" hangingPunct="1">
              <a:buNone/>
            </a:pPr>
            <a:r>
              <a:rPr lang="en-US" altLang="zh-CN" b="1" dirty="0">
                <a:solidFill>
                  <a:schemeClr val="bg1"/>
                </a:solidFill>
              </a:rPr>
              <a:t>public:</a:t>
            </a:r>
            <a:endParaRPr lang="en-US" altLang="zh-CN" b="1" dirty="0">
              <a:solidFill>
                <a:schemeClr val="bg1"/>
              </a:solidFill>
            </a:endParaRPr>
          </a:p>
          <a:p>
            <a:pPr eaLnBrk="1" hangingPunct="1">
              <a:buNone/>
            </a:pPr>
            <a:r>
              <a:rPr lang="en-US" altLang="zh-CN" b="1" dirty="0">
                <a:solidFill>
                  <a:schemeClr val="bg1"/>
                </a:solidFill>
              </a:rPr>
              <a:t>void push( T );</a:t>
            </a:r>
            <a:endParaRPr lang="en-US" altLang="zh-CN" b="1" dirty="0">
              <a:solidFill>
                <a:schemeClr val="bg1"/>
              </a:solidFill>
            </a:endParaRPr>
          </a:p>
          <a:p>
            <a:pPr eaLnBrk="1" hangingPunct="1">
              <a:buNone/>
            </a:pPr>
            <a:r>
              <a:rPr lang="en-US" altLang="zh-CN" b="1" dirty="0">
                <a:solidFill>
                  <a:schemeClr val="bg1"/>
                </a:solidFill>
              </a:rPr>
              <a:t>    T pop( );</a:t>
            </a:r>
            <a:endParaRPr lang="en-US" altLang="zh-CN" b="1" dirty="0">
              <a:solidFill>
                <a:schemeClr val="bg1"/>
              </a:solidFill>
            </a:endParaRPr>
          </a:p>
          <a:p>
            <a:pPr eaLnBrk="1" hangingPunct="1">
              <a:buNone/>
            </a:pPr>
            <a:r>
              <a:rPr lang="en-US" altLang="zh-CN" b="1" dirty="0">
                <a:solidFill>
                  <a:schemeClr val="bg1"/>
                </a:solidFill>
              </a:rPr>
              <a:t>private:</a:t>
            </a:r>
            <a:endParaRPr lang="en-US" altLang="zh-CN" b="1" dirty="0">
              <a:solidFill>
                <a:schemeClr val="bg1"/>
              </a:solidFill>
            </a:endParaRPr>
          </a:p>
          <a:p>
            <a:pPr eaLnBrk="1" hangingPunct="1">
              <a:buNone/>
            </a:pPr>
            <a:r>
              <a:rPr lang="en-US" altLang="zh-CN" b="1" dirty="0">
                <a:solidFill>
                  <a:schemeClr val="bg1"/>
                </a:solidFill>
              </a:rPr>
              <a:t>    T *head; </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145410" name="Rectangle 3"/>
          <p:cNvSpPr/>
          <p:nvPr/>
        </p:nvSpPr>
        <p:spPr>
          <a:xfrm>
            <a:off x="-252412" y="115888"/>
            <a:ext cx="5976937"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45411" name="Rectangle 4"/>
          <p:cNvSpPr/>
          <p:nvPr/>
        </p:nvSpPr>
        <p:spPr>
          <a:xfrm>
            <a:off x="3779838" y="115888"/>
            <a:ext cx="5256212" cy="6742112"/>
          </a:xfrm>
          <a:prstGeom prst="rect">
            <a:avLst/>
          </a:prstGeom>
          <a:noFill/>
          <a:ln w="9525">
            <a:noFill/>
          </a:ln>
        </p:spPr>
        <p:txBody>
          <a:bodyPr anchor="t"/>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template &lt;typename T&gt;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Stack&lt;T&gt;::</a:t>
            </a:r>
            <a:r>
              <a:rPr lang="en-US" altLang="zh-CN" sz="2800" b="1" dirty="0">
                <a:latin typeface="Times New Roman" panose="02020603050405020304" pitchFamily="18" charset="0"/>
                <a:ea typeface="宋体" panose="02010600030101010101" pitchFamily="2" charset="-122"/>
              </a:rPr>
              <a:t>push</a:t>
            </a:r>
            <a:r>
              <a:rPr lang="en-US"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T</a:t>
            </a:r>
            <a:r>
              <a:rPr lang="en-US" altLang="en-US" sz="2800" b="1" dirty="0">
                <a:latin typeface="Times New Roman" panose="02020603050405020304" pitchFamily="18" charset="0"/>
                <a:ea typeface="宋体" panose="02010600030101010101" pitchFamily="2" charset="-122"/>
              </a:rPr>
              <a:t> i)</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template &lt;typename T&gt;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T</a:t>
            </a:r>
            <a:r>
              <a:rPr lang="en-US" altLang="en-US" sz="2800" b="1" dirty="0">
                <a:latin typeface="Times New Roman" panose="02020603050405020304" pitchFamily="18" charset="0"/>
                <a:ea typeface="宋体" panose="02010600030101010101" pitchFamily="2" charset="-122"/>
              </a:rPr>
              <a:t> Stack&lt;T&gt;::</a:t>
            </a:r>
            <a:r>
              <a:rPr lang="en-US" altLang="zh-CN" sz="2800" b="1" dirty="0">
                <a:latin typeface="Times New Roman" panose="02020603050405020304" pitchFamily="18" charset="0"/>
                <a:ea typeface="宋体" panose="02010600030101010101" pitchFamily="2" charset="-122"/>
              </a:rPr>
              <a:t>pop</a:t>
            </a: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Stack&lt;&gt;  Object;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类模板也允许默认参数</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函数模板</a:t>
            </a:r>
            <a:r>
              <a:rPr lang="en-US" altLang="zh-CN" sz="2800" b="1" dirty="0">
                <a:latin typeface="Times New Roman" panose="02020603050405020304" pitchFamily="18" charset="0"/>
                <a:ea typeface="宋体" panose="02010600030101010101" pitchFamily="2" charset="-122"/>
              </a:rPr>
              <a:t>&amp;</a:t>
            </a:r>
            <a:r>
              <a:rPr lang="zh-CN" altLang="en-US" sz="2800" b="1" dirty="0">
                <a:latin typeface="Times New Roman" panose="02020603050405020304" pitchFamily="18" charset="0"/>
                <a:ea typeface="宋体" panose="02010600030101010101" pitchFamily="2" charset="-122"/>
              </a:rPr>
              <a:t>模板函数？</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类模板</a:t>
            </a:r>
            <a:r>
              <a:rPr lang="en-US" altLang="zh-CN" sz="2800" b="1" dirty="0">
                <a:latin typeface="Times New Roman" panose="02020603050405020304" pitchFamily="18" charset="0"/>
                <a:ea typeface="宋体" panose="02010600030101010101" pitchFamily="2" charset="-122"/>
              </a:rPr>
              <a:t>&amp;</a:t>
            </a:r>
            <a:r>
              <a:rPr lang="zh-CN" altLang="en-US" sz="2800" b="1" dirty="0">
                <a:latin typeface="Times New Roman" panose="02020603050405020304" pitchFamily="18" charset="0"/>
                <a:ea typeface="宋体" panose="02010600030101010101" pitchFamily="2" charset="-122"/>
              </a:rPr>
              <a:t>模板类？</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函数重载</a:t>
            </a:r>
            <a:r>
              <a:rPr lang="en-US" altLang="zh-CN" sz="2800" b="1" dirty="0">
                <a:latin typeface="Times New Roman" panose="02020603050405020304" pitchFamily="18" charset="0"/>
                <a:ea typeface="宋体" panose="02010600030101010101" pitchFamily="2" charset="-122"/>
              </a:rPr>
              <a:t>&amp;</a:t>
            </a:r>
            <a:r>
              <a:rPr lang="zh-CN" altLang="en-US" sz="2800" b="1" dirty="0">
                <a:latin typeface="Times New Roman" panose="02020603050405020304" pitchFamily="18" charset="0"/>
                <a:ea typeface="宋体" panose="02010600030101010101" pitchFamily="2" charset="-122"/>
              </a:rPr>
              <a:t>函数模板</a:t>
            </a:r>
            <a:endParaRPr lang="en-US"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Rectangle 2"/>
          <p:cNvSpPr>
            <a:spLocks noGrp="1"/>
          </p:cNvSpPr>
          <p:nvPr>
            <p:ph idx="1"/>
          </p:nvPr>
        </p:nvSpPr>
        <p:spPr>
          <a:xfrm>
            <a:off x="107950" y="765175"/>
            <a:ext cx="4392613" cy="5903913"/>
          </a:xfrm>
        </p:spPr>
        <p:txBody>
          <a:bodyPr vert="horz" wrap="square" lIns="91440" tIns="45720" rIns="91440" bIns="45720" anchor="t"/>
          <a:p>
            <a:pPr eaLnBrk="1" hangingPunct="1">
              <a:lnSpc>
                <a:spcPct val="90000"/>
              </a:lnSpc>
              <a:buNone/>
            </a:pPr>
            <a:r>
              <a:rPr lang="en-US" altLang="zh-CN" sz="2400" b="1" dirty="0">
                <a:solidFill>
                  <a:schemeClr val="bg1"/>
                </a:solidFill>
              </a:rPr>
              <a:t>//</a:t>
            </a:r>
            <a:r>
              <a:rPr lang="zh-CN" altLang="en-US" sz="2400" b="1" dirty="0">
                <a:solidFill>
                  <a:schemeClr val="bg1"/>
                </a:solidFill>
              </a:rPr>
              <a:t>定作（类模板的</a:t>
            </a:r>
            <a:r>
              <a:rPr lang="zh-CN" altLang="en-US" sz="2400" b="1" dirty="0">
                <a:solidFill>
                  <a:schemeClr val="bg1"/>
                </a:solidFill>
                <a:latin typeface="Arial" panose="020B0604020202020204" pitchFamily="34" charset="0"/>
              </a:rPr>
              <a:t>“</a:t>
            </a:r>
            <a:r>
              <a:rPr lang="zh-CN" altLang="en-US" sz="2400" b="1" dirty="0">
                <a:solidFill>
                  <a:schemeClr val="bg1"/>
                </a:solidFill>
              </a:rPr>
              <a:t>特化</a:t>
            </a:r>
            <a:r>
              <a:rPr lang="zh-CN" altLang="en-US" sz="2400" b="1" dirty="0">
                <a:solidFill>
                  <a:schemeClr val="bg1"/>
                </a:solidFill>
                <a:latin typeface="Arial" panose="020B0604020202020204" pitchFamily="34" charset="0"/>
              </a:rPr>
              <a:t>“</a:t>
            </a:r>
            <a:r>
              <a:rPr lang="zh-CN" altLang="en-US" sz="2400" b="1" dirty="0">
                <a:solidFill>
                  <a:schemeClr val="bg1"/>
                </a:solidFill>
              </a:rPr>
              <a:t>）</a:t>
            </a:r>
            <a:endParaRPr lang="zh-CN" altLang="en-US" sz="2400" b="1" dirty="0">
              <a:solidFill>
                <a:schemeClr val="bg1"/>
              </a:solidFill>
            </a:endParaRPr>
          </a:p>
          <a:p>
            <a:pPr eaLnBrk="1" hangingPunct="1">
              <a:lnSpc>
                <a:spcPct val="90000"/>
              </a:lnSpc>
              <a:buNone/>
            </a:pPr>
            <a:r>
              <a:rPr lang="en-US" altLang="zh-CN" sz="2400" b="1" dirty="0">
                <a:solidFill>
                  <a:schemeClr val="bg1"/>
                </a:solidFill>
              </a:rPr>
              <a:t>//</a:t>
            </a:r>
            <a:r>
              <a:rPr lang="zh-CN" altLang="en-US" sz="2400" b="1" dirty="0">
                <a:solidFill>
                  <a:schemeClr val="bg1"/>
                </a:solidFill>
              </a:rPr>
              <a:t>例子（上）</a:t>
            </a:r>
            <a:endParaRPr lang="zh-CN" altLang="en-US" sz="2400" b="1" dirty="0">
              <a:solidFill>
                <a:schemeClr val="bg1"/>
              </a:solidFill>
            </a:endParaRPr>
          </a:p>
          <a:p>
            <a:pPr eaLnBrk="1" hangingPunct="1">
              <a:lnSpc>
                <a:spcPct val="90000"/>
              </a:lnSpc>
              <a:buNone/>
            </a:pPr>
            <a:r>
              <a:rPr lang="en-US" altLang="en-US" sz="2400" b="1" dirty="0">
                <a:solidFill>
                  <a:schemeClr val="bg1"/>
                </a:solidFill>
              </a:rPr>
              <a:t>template&lt;typename T&gt;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class List {</a:t>
            </a:r>
            <a:endParaRPr lang="en-US" altLang="en-US" sz="2400" b="1" dirty="0">
              <a:solidFill>
                <a:schemeClr val="bg1"/>
              </a:solidFill>
            </a:endParaRPr>
          </a:p>
          <a:p>
            <a:pPr eaLnBrk="1" hangingPunct="1">
              <a:lnSpc>
                <a:spcPct val="90000"/>
              </a:lnSpc>
              <a:buNone/>
            </a:pPr>
            <a:r>
              <a:rPr lang="en-US" altLang="en-US" sz="2400" b="1" dirty="0">
                <a:solidFill>
                  <a:schemeClr val="bg1"/>
                </a:solidFill>
              </a:rPr>
              <a:t>public:</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void Set(T);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T Get();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private:</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T i;</a:t>
            </a:r>
            <a:endParaRPr lang="en-US" altLang="en-US" sz="2400" b="1" dirty="0">
              <a:solidFill>
                <a:schemeClr val="bg1"/>
              </a:solidFill>
            </a:endParaRPr>
          </a:p>
          <a:p>
            <a:pPr eaLnBrk="1" hangingPunct="1">
              <a:lnSpc>
                <a:spcPct val="90000"/>
              </a:lnSpc>
              <a:buNone/>
            </a:pPr>
            <a:r>
              <a:rPr lang="en-US" altLang="en-US" sz="2400" b="1" dirty="0">
                <a:solidFill>
                  <a:schemeClr val="bg1"/>
                </a:solidFill>
              </a:rPr>
              <a: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template&lt;typename U&gt;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void List&lt;U&gt;::Set(U k){i = k;}</a:t>
            </a:r>
            <a:endParaRPr lang="en-US" altLang="en-US" sz="2400" b="1" dirty="0">
              <a:solidFill>
                <a:schemeClr val="bg1"/>
              </a:solidFill>
            </a:endParaRPr>
          </a:p>
          <a:p>
            <a:pPr eaLnBrk="1" hangingPunct="1">
              <a:lnSpc>
                <a:spcPct val="90000"/>
              </a:lnSpc>
              <a:buNone/>
            </a:pPr>
            <a:r>
              <a:rPr lang="en-US" altLang="en-US" sz="2400" b="1" dirty="0">
                <a:solidFill>
                  <a:schemeClr val="bg1"/>
                </a:solidFill>
              </a:rPr>
              <a:t>template&lt;typename T&gt;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T List&lt;T&gt;::Get(){return(i);}</a:t>
            </a:r>
            <a:endParaRPr lang="en-US" altLang="en-US" sz="2400" b="1" dirty="0">
              <a:solidFill>
                <a:schemeClr val="bg1"/>
              </a:solidFill>
            </a:endParaRPr>
          </a:p>
        </p:txBody>
      </p:sp>
      <p:sp>
        <p:nvSpPr>
          <p:cNvPr id="146434" name="Rectangle 3"/>
          <p:cNvSpPr/>
          <p:nvPr/>
        </p:nvSpPr>
        <p:spPr>
          <a:xfrm>
            <a:off x="-252412" y="115888"/>
            <a:ext cx="5976937"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46435" name="Rectangle 4"/>
          <p:cNvSpPr/>
          <p:nvPr/>
        </p:nvSpPr>
        <p:spPr>
          <a:xfrm>
            <a:off x="3995738" y="115888"/>
            <a:ext cx="5148262" cy="6742112"/>
          </a:xfrm>
          <a:prstGeom prst="rect">
            <a:avLst/>
          </a:prstGeom>
          <a:noFill/>
          <a:ln w="9525">
            <a:noFill/>
          </a:ln>
        </p:spPr>
        <p:txBody>
          <a:bodyPr anchor="t"/>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template&lt;&gt;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class List&lt;double&gt;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public:</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void Set(double);</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double Get();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private:</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double i;</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List&lt;double&gt;::Set(double k)</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{i = k;}</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double List&lt;double&gt;::Get()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{return(-1*i);}</a:t>
            </a:r>
            <a:endParaRPr lang="en-US" altLang="zh-CN" sz="2800" b="1" dirty="0">
              <a:latin typeface="Times New Roman" panose="02020603050405020304" pitchFamily="18" charset="0"/>
              <a:ea typeface="宋体" panose="02010600030101010101" pitchFamily="2" charset="-122"/>
            </a:endParaRPr>
          </a:p>
        </p:txBody>
      </p:sp>
      <p:sp>
        <p:nvSpPr>
          <p:cNvPr id="2" name="矩形 1"/>
          <p:cNvSpPr/>
          <p:nvPr/>
        </p:nvSpPr>
        <p:spPr>
          <a:xfrm>
            <a:off x="7740650" y="5518150"/>
            <a:ext cx="1439863" cy="1339850"/>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endParaRPr kumimoji="1" lang="zh-CN" altLang="en-US"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3" name="椭圆 2"/>
          <p:cNvSpPr/>
          <p:nvPr/>
        </p:nvSpPr>
        <p:spPr>
          <a:xfrm>
            <a:off x="8604250" y="6237288"/>
            <a:ext cx="288925" cy="287338"/>
          </a:xfrm>
          <a:prstGeom prst="ellipse">
            <a:avLst/>
          </a:prstGeom>
          <a:gradFill>
            <a:gsLst>
              <a:gs pos="0">
                <a:srgbClr val="FECF40"/>
              </a:gs>
              <a:gs pos="100000">
                <a:srgbClr val="846C21"/>
              </a:gs>
            </a:gsLst>
            <a:lin ang="5400000" scaled="0"/>
          </a:gra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endParaRPr kumimoji="1" lang="zh-CN" altLang="en-US"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3"/>
          <p:cNvSpPr/>
          <p:nvPr/>
        </p:nvSpPr>
        <p:spPr>
          <a:xfrm>
            <a:off x="1619250" y="44450"/>
            <a:ext cx="5976938"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47458" name="Rectangle 4"/>
          <p:cNvSpPr/>
          <p:nvPr/>
        </p:nvSpPr>
        <p:spPr>
          <a:xfrm>
            <a:off x="2916238" y="620713"/>
            <a:ext cx="6119812" cy="4968875"/>
          </a:xfrm>
          <a:prstGeom prst="rect">
            <a:avLst/>
          </a:prstGeom>
          <a:noFill/>
          <a:ln w="9525">
            <a:noFill/>
          </a:ln>
        </p:spPr>
        <p:txBody>
          <a:bodyPr anchor="t"/>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特化</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例子（下）</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List&lt;int&gt; i;</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i.Set(1);</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cout&lt;&lt;i.Get()&lt;&lt;endl;</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List&lt;double&gt; k;</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k.Set(1);</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cout&lt;&lt;k.Get()&lt;&lt;endl;</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注意多个类型参数情况</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Template &lt;typename T,typename U&gt;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Class A&lt;T,U&gt;{…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template &lt;typename T&gt;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Class A&lt;T,Cat&gt;{… …};</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Rectangle 3"/>
          <p:cNvSpPr/>
          <p:nvPr/>
        </p:nvSpPr>
        <p:spPr>
          <a:xfrm>
            <a:off x="1619250" y="44450"/>
            <a:ext cx="5976938"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48482" name="Rectangle 4"/>
          <p:cNvSpPr/>
          <p:nvPr/>
        </p:nvSpPr>
        <p:spPr>
          <a:xfrm>
            <a:off x="323850" y="620713"/>
            <a:ext cx="8820150" cy="4968875"/>
          </a:xfrm>
          <a:prstGeom prst="rect">
            <a:avLst/>
          </a:prstGeom>
          <a:noFill/>
          <a:ln w="9525">
            <a:noFill/>
          </a:ln>
        </p:spPr>
        <p:txBody>
          <a:bodyPr anchor="t"/>
          <a:p>
            <a:pPr marL="342900" indent="-342900">
              <a:spcBef>
                <a:spcPct val="20000"/>
              </a:spcBef>
            </a:pPr>
            <a:r>
              <a:rPr lang="en-US" altLang="zh-CN" sz="3200" b="1" dirty="0">
                <a:latin typeface="Times New Roman" panose="02020603050405020304" pitchFamily="18" charset="0"/>
                <a:ea typeface="宋体" panose="02010600030101010101" pitchFamily="2" charset="-122"/>
              </a:rPr>
              <a:t>template&lt;typename T&gt;</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class aTMP {</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public:</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void f1() { cout &lt;&lt; "f1()\n"; }</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    void f2() { ccccout &lt;&lt; “f2()\n”; }//</a:t>
            </a:r>
            <a:r>
              <a:rPr lang="zh-CN" altLang="en-US" sz="3200" b="1" dirty="0">
                <a:latin typeface="Times New Roman" panose="02020603050405020304" pitchFamily="18" charset="0"/>
                <a:ea typeface="宋体" panose="02010600030101010101" pitchFamily="2" charset="-122"/>
              </a:rPr>
              <a:t>定义错误</a:t>
            </a:r>
            <a:r>
              <a:rPr lang="en-US" altLang="zh-CN" sz="3200" b="1" dirty="0">
                <a:latin typeface="Times New Roman" panose="02020603050405020304" pitchFamily="18" charset="0"/>
                <a:ea typeface="宋体" panose="02010600030101010101" pitchFamily="2" charset="-122"/>
              </a:rPr>
              <a:t> </a:t>
            </a:r>
            <a:endParaRPr lang="en-US" altLang="zh-CN" sz="3200" b="1" dirty="0">
              <a:latin typeface="Times New Roman" panose="02020603050405020304" pitchFamily="18" charset="0"/>
              <a:ea typeface="宋体" panose="02010600030101010101" pitchFamily="2" charset="-122"/>
            </a:endParaRPr>
          </a:p>
          <a:p>
            <a:pPr marL="342900" indent="-342900">
              <a:spcBef>
                <a:spcPct val="20000"/>
              </a:spcBef>
            </a:pPr>
            <a:r>
              <a:rPr lang="en-US" altLang="zh-CN" sz="32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aTMP&lt;int&gt; a;</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a.f1();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 a.f2(); // </a:t>
            </a:r>
            <a:r>
              <a:rPr lang="zh-CN" altLang="en-US" sz="2800" b="1" dirty="0">
                <a:latin typeface="Times New Roman" panose="02020603050405020304" pitchFamily="18" charset="0"/>
                <a:ea typeface="宋体" panose="02010600030101010101" pitchFamily="2" charset="-122"/>
              </a:rPr>
              <a:t>这句代码被注释时</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被引用时才实例化；方案是增加特化实例强制检查</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Rectangle 2"/>
          <p:cNvSpPr>
            <a:spLocks noGrp="1"/>
          </p:cNvSpPr>
          <p:nvPr>
            <p:ph idx="1"/>
          </p:nvPr>
        </p:nvSpPr>
        <p:spPr>
          <a:xfrm>
            <a:off x="323850" y="765175"/>
            <a:ext cx="4392613" cy="5903913"/>
          </a:xfrm>
        </p:spPr>
        <p:txBody>
          <a:bodyPr vert="horz" wrap="square" lIns="91440" tIns="45720" rIns="91440" bIns="45720" anchor="t"/>
          <a:p>
            <a:pPr eaLnBrk="1" hangingPunct="1">
              <a:lnSpc>
                <a:spcPct val="90000"/>
              </a:lnSpc>
              <a:buNone/>
            </a:pPr>
            <a:r>
              <a:rPr lang="en-US" altLang="zh-CN" b="1" dirty="0">
                <a:solidFill>
                  <a:schemeClr val="bg1"/>
                </a:solidFill>
              </a:rPr>
              <a:t>//</a:t>
            </a:r>
            <a:r>
              <a:rPr lang="zh-CN" altLang="en-US" b="1" dirty="0">
                <a:solidFill>
                  <a:schemeClr val="bg1"/>
                </a:solidFill>
              </a:rPr>
              <a:t>分离（多文件机制）</a:t>
            </a:r>
            <a:endParaRPr lang="zh-CN" altLang="en-US" b="1" dirty="0">
              <a:solidFill>
                <a:schemeClr val="bg1"/>
              </a:solidFill>
            </a:endParaRPr>
          </a:p>
          <a:p>
            <a:pPr eaLnBrk="1" hangingPunct="1">
              <a:lnSpc>
                <a:spcPct val="90000"/>
              </a:lnSpc>
              <a:buNone/>
            </a:pPr>
            <a:r>
              <a:rPr lang="en-US" altLang="zh-CN" b="1" dirty="0">
                <a:solidFill>
                  <a:schemeClr val="bg1"/>
                </a:solidFill>
              </a:rPr>
              <a:t>//</a:t>
            </a:r>
            <a:r>
              <a:rPr lang="zh-CN" altLang="en-US" b="1" dirty="0">
                <a:solidFill>
                  <a:schemeClr val="bg1"/>
                </a:solidFill>
              </a:rPr>
              <a:t>例子</a:t>
            </a:r>
            <a:endParaRPr lang="zh-CN" altLang="en-US" b="1" dirty="0">
              <a:solidFill>
                <a:schemeClr val="bg1"/>
              </a:solidFill>
            </a:endParaRPr>
          </a:p>
          <a:p>
            <a:pPr eaLnBrk="1" hangingPunct="1">
              <a:lnSpc>
                <a:spcPct val="90000"/>
              </a:lnSpc>
              <a:buNone/>
            </a:pPr>
            <a:r>
              <a:rPr lang="en-US" altLang="zh-CN" b="1" u="sng" dirty="0">
                <a:solidFill>
                  <a:schemeClr val="bg1"/>
                </a:solidFill>
              </a:rPr>
              <a:t>List.h</a:t>
            </a:r>
            <a:endParaRPr lang="en-US" altLang="zh-CN" b="1" u="sng" dirty="0">
              <a:solidFill>
                <a:schemeClr val="bg1"/>
              </a:solidFill>
            </a:endParaRPr>
          </a:p>
          <a:p>
            <a:pPr eaLnBrk="1" hangingPunct="1">
              <a:lnSpc>
                <a:spcPct val="90000"/>
              </a:lnSpc>
              <a:buNone/>
            </a:pPr>
            <a:r>
              <a:rPr lang="en-US" altLang="en-US" b="1" dirty="0">
                <a:solidFill>
                  <a:schemeClr val="bg1"/>
                </a:solidFill>
              </a:rPr>
              <a:t>template&lt;typename T&gt;</a:t>
            </a:r>
            <a:endParaRPr lang="en-US" altLang="en-US" b="1" dirty="0">
              <a:solidFill>
                <a:schemeClr val="bg1"/>
              </a:solidFill>
            </a:endParaRPr>
          </a:p>
          <a:p>
            <a:pPr eaLnBrk="1" hangingPunct="1">
              <a:lnSpc>
                <a:spcPct val="90000"/>
              </a:lnSpc>
              <a:buNone/>
            </a:pPr>
            <a:r>
              <a:rPr lang="en-US" altLang="en-US" b="1" dirty="0">
                <a:solidFill>
                  <a:schemeClr val="bg1"/>
                </a:solidFill>
              </a:rPr>
              <a:t>class List {</a:t>
            </a:r>
            <a:endParaRPr lang="en-US" altLang="en-US" b="1" dirty="0">
              <a:solidFill>
                <a:schemeClr val="bg1"/>
              </a:solidFill>
            </a:endParaRPr>
          </a:p>
          <a:p>
            <a:pPr eaLnBrk="1" hangingPunct="1">
              <a:lnSpc>
                <a:spcPct val="90000"/>
              </a:lnSpc>
              <a:buNone/>
            </a:pPr>
            <a:r>
              <a:rPr lang="en-US" altLang="en-US" b="1" dirty="0">
                <a:solidFill>
                  <a:schemeClr val="bg1"/>
                </a:solidFill>
              </a:rPr>
              <a:t>public:</a:t>
            </a:r>
            <a:endParaRPr lang="en-US" altLang="en-US" b="1" dirty="0">
              <a:solidFill>
                <a:schemeClr val="bg1"/>
              </a:solidFill>
            </a:endParaRPr>
          </a:p>
          <a:p>
            <a:pPr eaLnBrk="1" hangingPunct="1">
              <a:lnSpc>
                <a:spcPct val="90000"/>
              </a:lnSpc>
              <a:buNone/>
            </a:pPr>
            <a:r>
              <a:rPr lang="en-US" altLang="en-US" b="1" dirty="0">
                <a:solidFill>
                  <a:schemeClr val="bg1"/>
                </a:solidFill>
              </a:rPr>
              <a:t>	void Set(T);</a:t>
            </a:r>
            <a:endParaRPr lang="en-US" altLang="en-US" b="1" dirty="0">
              <a:solidFill>
                <a:schemeClr val="bg1"/>
              </a:solidFill>
            </a:endParaRPr>
          </a:p>
          <a:p>
            <a:pPr eaLnBrk="1" hangingPunct="1">
              <a:lnSpc>
                <a:spcPct val="90000"/>
              </a:lnSpc>
              <a:buNone/>
            </a:pPr>
            <a:r>
              <a:rPr lang="en-US" altLang="en-US" b="1" dirty="0">
                <a:solidFill>
                  <a:schemeClr val="bg1"/>
                </a:solidFill>
              </a:rPr>
              <a:t>	T Get();</a:t>
            </a:r>
            <a:endParaRPr lang="en-US" altLang="en-US" b="1" dirty="0">
              <a:solidFill>
                <a:schemeClr val="bg1"/>
              </a:solidFill>
            </a:endParaRPr>
          </a:p>
          <a:p>
            <a:pPr eaLnBrk="1" hangingPunct="1">
              <a:lnSpc>
                <a:spcPct val="90000"/>
              </a:lnSpc>
              <a:buNone/>
            </a:pPr>
            <a:r>
              <a:rPr lang="en-US" altLang="en-US" b="1" dirty="0">
                <a:solidFill>
                  <a:schemeClr val="bg1"/>
                </a:solidFill>
              </a:rPr>
              <a:t>private:</a:t>
            </a:r>
            <a:endParaRPr lang="en-US" altLang="en-US" b="1" dirty="0">
              <a:solidFill>
                <a:schemeClr val="bg1"/>
              </a:solidFill>
            </a:endParaRPr>
          </a:p>
          <a:p>
            <a:pPr eaLnBrk="1" hangingPunct="1">
              <a:lnSpc>
                <a:spcPct val="90000"/>
              </a:lnSpc>
              <a:buNone/>
            </a:pPr>
            <a:r>
              <a:rPr lang="en-US" altLang="en-US" b="1" dirty="0">
                <a:solidFill>
                  <a:schemeClr val="bg1"/>
                </a:solidFill>
              </a:rPr>
              <a:t>   T i;</a:t>
            </a:r>
            <a:endParaRPr lang="en-US" altLang="en-US" b="1" dirty="0">
              <a:solidFill>
                <a:schemeClr val="bg1"/>
              </a:solidFill>
            </a:endParaRPr>
          </a:p>
          <a:p>
            <a:pPr eaLnBrk="1" hangingPunct="1">
              <a:lnSpc>
                <a:spcPct val="90000"/>
              </a:lnSpc>
              <a:buNone/>
            </a:pPr>
            <a:r>
              <a:rPr lang="en-US" altLang="en-US" b="1" dirty="0">
                <a:solidFill>
                  <a:schemeClr val="bg1"/>
                </a:solidFill>
              </a:rPr>
              <a:t>};</a:t>
            </a:r>
            <a:endParaRPr lang="en-US" altLang="en-US" b="1" dirty="0">
              <a:solidFill>
                <a:schemeClr val="bg1"/>
              </a:solidFill>
            </a:endParaRPr>
          </a:p>
        </p:txBody>
      </p:sp>
      <p:sp>
        <p:nvSpPr>
          <p:cNvPr id="149506" name="Rectangle 3"/>
          <p:cNvSpPr/>
          <p:nvPr/>
        </p:nvSpPr>
        <p:spPr>
          <a:xfrm>
            <a:off x="-252412" y="115888"/>
            <a:ext cx="5976937"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49507" name="Rectangle 5"/>
          <p:cNvSpPr/>
          <p:nvPr/>
        </p:nvSpPr>
        <p:spPr>
          <a:xfrm>
            <a:off x="4572000" y="-26987"/>
            <a:ext cx="4392613" cy="2232025"/>
          </a:xfrm>
          <a:prstGeom prst="rect">
            <a:avLst/>
          </a:prstGeom>
          <a:noFill/>
          <a:ln w="9525">
            <a:noFill/>
          </a:ln>
        </p:spPr>
        <p:txBody>
          <a:bodyPr anchor="t"/>
          <a:p>
            <a:pPr marL="342900" indent="-342900">
              <a:lnSpc>
                <a:spcPct val="80000"/>
              </a:lnSpc>
              <a:spcBef>
                <a:spcPct val="20000"/>
              </a:spcBef>
            </a:pPr>
            <a:r>
              <a:rPr lang="en-US" altLang="zh-CN" sz="2400" b="1" u="sng" dirty="0">
                <a:latin typeface="Times New Roman" panose="02020603050405020304" pitchFamily="18" charset="0"/>
                <a:ea typeface="宋体" panose="02010600030101010101" pitchFamily="2" charset="-122"/>
              </a:rPr>
              <a:t>List.cpp</a:t>
            </a:r>
            <a:endParaRPr lang="en-US" altLang="zh-CN" sz="2400" b="1" u="sng"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List.h</a:t>
            </a:r>
            <a:r>
              <a:rPr lang="en-US" altLang="zh-CN" sz="2400" b="1" dirty="0">
                <a:latin typeface="Arial" panose="020B0604020202020204" pitchFamily="34"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template&lt;typename U&gt;</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List&lt;U&gt;::Set(U k){i = k;}</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template&lt;typename T&gt;</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T List&lt;T&gt;::Get(){return(i);}</a:t>
            </a:r>
            <a:endParaRPr lang="en-US" altLang="en-US" sz="2400" b="1" dirty="0">
              <a:latin typeface="Times New Roman" panose="02020603050405020304" pitchFamily="18" charset="0"/>
              <a:ea typeface="宋体" panose="02010600030101010101" pitchFamily="2" charset="-122"/>
            </a:endParaRPr>
          </a:p>
        </p:txBody>
      </p:sp>
      <p:sp>
        <p:nvSpPr>
          <p:cNvPr id="149508" name="Rectangle 6"/>
          <p:cNvSpPr/>
          <p:nvPr/>
        </p:nvSpPr>
        <p:spPr>
          <a:xfrm>
            <a:off x="4645025" y="2060575"/>
            <a:ext cx="4498975" cy="4968875"/>
          </a:xfrm>
          <a:prstGeom prst="rect">
            <a:avLst/>
          </a:prstGeom>
          <a:noFill/>
          <a:ln w="9525">
            <a:noFill/>
          </a:ln>
        </p:spPr>
        <p:txBody>
          <a:bodyPr anchor="t"/>
          <a:p>
            <a:pPr marL="342900" indent="-342900">
              <a:spcBef>
                <a:spcPct val="20000"/>
              </a:spcBef>
            </a:pPr>
            <a:r>
              <a:rPr lang="en-US" altLang="zh-CN" sz="3200" b="1" u="sng" dirty="0">
                <a:latin typeface="Times New Roman" panose="02020603050405020304" pitchFamily="18" charset="0"/>
                <a:ea typeface="宋体" panose="02010600030101010101" pitchFamily="2" charset="-122"/>
              </a:rPr>
              <a:t>main.cpp</a:t>
            </a:r>
            <a:endParaRPr lang="en-US" altLang="zh-CN" sz="2800" b="1" u="sng"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List.h</a:t>
            </a:r>
            <a:r>
              <a:rPr lang="en-US" altLang="zh-CN" sz="2400" b="1" dirty="0">
                <a:latin typeface="Arial" panose="020B0604020202020204" pitchFamily="34"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void main(){</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List&lt;double&gt; k;</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k.Set(1);</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cout&lt;&lt;k.Get()&lt;&lt;endl;</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//export</a:t>
            </a:r>
            <a:r>
              <a:rPr lang="zh-CN" altLang="en-US" sz="2800" b="1" dirty="0">
                <a:solidFill>
                  <a:srgbClr val="FFFF00"/>
                </a:solidFill>
                <a:latin typeface="Times New Roman" panose="02020603050405020304" pitchFamily="18" charset="0"/>
                <a:ea typeface="宋体" panose="02010600030101010101" pitchFamily="2" charset="-122"/>
              </a:rPr>
              <a:t>关键字</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因为代价太大，主流编译器均不支持</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全放</a:t>
            </a:r>
            <a:r>
              <a:rPr lang="en-US" altLang="zh-CN" sz="2800" b="1" dirty="0">
                <a:latin typeface="Times New Roman" panose="02020603050405020304" pitchFamily="18" charset="0"/>
                <a:ea typeface="宋体" panose="02010600030101010101" pitchFamily="2" charset="-122"/>
              </a:rPr>
              <a:t>h</a:t>
            </a:r>
            <a:r>
              <a:rPr lang="zh-CN" altLang="en-US" sz="2800" b="1" dirty="0">
                <a:latin typeface="Times New Roman" panose="02020603050405020304" pitchFamily="18" charset="0"/>
                <a:ea typeface="宋体" panose="02010600030101010101" pitchFamily="2" charset="-122"/>
              </a:rPr>
              <a:t>文件不会重复定义</a:t>
            </a:r>
            <a:endParaRPr lang="en-US"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2"/>
          <p:cNvSpPr>
            <a:spLocks noGrp="1"/>
          </p:cNvSpPr>
          <p:nvPr>
            <p:ph idx="1"/>
          </p:nvPr>
        </p:nvSpPr>
        <p:spPr>
          <a:xfrm>
            <a:off x="1979613" y="1270000"/>
            <a:ext cx="6840537" cy="3959225"/>
          </a:xfrm>
        </p:spPr>
        <p:txBody>
          <a:bodyPr vert="horz" wrap="square" lIns="91440" tIns="45720" rIns="91440" bIns="45720" anchor="t"/>
          <a:p>
            <a:pPr eaLnBrk="1" hangingPunct="1">
              <a:lnSpc>
                <a:spcPct val="90000"/>
              </a:lnSpc>
              <a:buNone/>
            </a:pPr>
            <a:r>
              <a:rPr lang="en-US" altLang="zh-CN" b="1" dirty="0">
                <a:solidFill>
                  <a:schemeClr val="bg1"/>
                </a:solidFill>
              </a:rPr>
              <a:t>1</a:t>
            </a:r>
            <a:r>
              <a:rPr lang="zh-CN" altLang="en-US" b="1" dirty="0">
                <a:solidFill>
                  <a:schemeClr val="bg1"/>
                </a:solidFill>
              </a:rPr>
              <a:t>、模版功能强大；</a:t>
            </a:r>
            <a:endParaRPr lang="en-US" altLang="zh-CN" b="1" dirty="0">
              <a:solidFill>
                <a:schemeClr val="bg1"/>
              </a:solidFill>
            </a:endParaRPr>
          </a:p>
          <a:p>
            <a:pPr eaLnBrk="1" hangingPunct="1">
              <a:lnSpc>
                <a:spcPct val="90000"/>
              </a:lnSpc>
              <a:buNone/>
            </a:pPr>
            <a:r>
              <a:rPr lang="en-US" altLang="zh-CN" b="1" dirty="0">
                <a:solidFill>
                  <a:schemeClr val="bg1"/>
                </a:solidFill>
              </a:rPr>
              <a:t>2</a:t>
            </a:r>
            <a:r>
              <a:rPr lang="zh-CN" altLang="en-US" b="1" dirty="0">
                <a:solidFill>
                  <a:schemeClr val="bg1"/>
                </a:solidFill>
              </a:rPr>
              <a:t>、递归、循环、分支均可；</a:t>
            </a:r>
            <a:endParaRPr lang="en-US" altLang="zh-CN" b="1" dirty="0">
              <a:solidFill>
                <a:schemeClr val="bg1"/>
              </a:solidFill>
            </a:endParaRPr>
          </a:p>
          <a:p>
            <a:pPr eaLnBrk="1" hangingPunct="1">
              <a:lnSpc>
                <a:spcPct val="90000"/>
              </a:lnSpc>
              <a:buNone/>
            </a:pPr>
            <a:r>
              <a:rPr lang="en-US" altLang="zh-CN" b="1" dirty="0">
                <a:solidFill>
                  <a:schemeClr val="bg1"/>
                </a:solidFill>
              </a:rPr>
              <a:t>3</a:t>
            </a:r>
            <a:r>
              <a:rPr lang="zh-CN" altLang="en-US" b="1" dirty="0">
                <a:solidFill>
                  <a:schemeClr val="bg1"/>
                </a:solidFill>
              </a:rPr>
              <a:t>、值计算、类型计算、代码计算；</a:t>
            </a:r>
            <a:endParaRPr lang="en-US" altLang="zh-CN" b="1" dirty="0">
              <a:solidFill>
                <a:schemeClr val="bg1"/>
              </a:solidFill>
            </a:endParaRPr>
          </a:p>
          <a:p>
            <a:pPr eaLnBrk="1" hangingPunct="1">
              <a:lnSpc>
                <a:spcPct val="90000"/>
              </a:lnSpc>
              <a:buNone/>
            </a:pPr>
            <a:r>
              <a:rPr lang="en-US" altLang="zh-CN" b="1" dirty="0">
                <a:solidFill>
                  <a:schemeClr val="bg1"/>
                </a:solidFill>
              </a:rPr>
              <a:t>       T</a:t>
            </a:r>
            <a:r>
              <a:rPr lang="zh-CN" altLang="en-US" b="1" dirty="0">
                <a:solidFill>
                  <a:schemeClr val="bg1"/>
                </a:solidFill>
              </a:rPr>
              <a:t>：：</a:t>
            </a:r>
            <a:r>
              <a:rPr lang="en-US" altLang="zh-CN" b="1" dirty="0">
                <a:solidFill>
                  <a:schemeClr val="bg1"/>
                </a:solidFill>
              </a:rPr>
              <a:t>f();</a:t>
            </a:r>
            <a:endParaRPr lang="en-US" altLang="zh-CN" b="1" dirty="0">
              <a:solidFill>
                <a:schemeClr val="bg1"/>
              </a:solidFill>
            </a:endParaRPr>
          </a:p>
          <a:p>
            <a:pPr eaLnBrk="1" hangingPunct="1">
              <a:lnSpc>
                <a:spcPct val="90000"/>
              </a:lnSpc>
              <a:buNone/>
            </a:pPr>
            <a:r>
              <a:rPr lang="en-US" altLang="zh-CN" b="1" dirty="0">
                <a:solidFill>
                  <a:schemeClr val="bg1"/>
                </a:solidFill>
              </a:rPr>
              <a:t>4</a:t>
            </a:r>
            <a:r>
              <a:rPr lang="zh-CN" altLang="en-US" b="1" dirty="0">
                <a:solidFill>
                  <a:schemeClr val="bg1"/>
                </a:solidFill>
              </a:rPr>
              <a:t>、图灵完备</a:t>
            </a:r>
            <a:endParaRPr lang="en-US" altLang="zh-CN" b="1" dirty="0">
              <a:solidFill>
                <a:schemeClr val="bg1"/>
              </a:solidFill>
            </a:endParaRPr>
          </a:p>
          <a:p>
            <a:pPr eaLnBrk="1" hangingPunct="1">
              <a:lnSpc>
                <a:spcPct val="90000"/>
              </a:lnSpc>
              <a:buNone/>
            </a:pPr>
            <a:r>
              <a:rPr lang="en-US" altLang="zh-CN" b="1" dirty="0">
                <a:solidFill>
                  <a:schemeClr val="bg1"/>
                </a:solidFill>
              </a:rPr>
              <a:t>5</a:t>
            </a:r>
            <a:r>
              <a:rPr lang="zh-CN" altLang="en-US" b="1" dirty="0">
                <a:solidFill>
                  <a:schemeClr val="bg1"/>
                </a:solidFill>
              </a:rPr>
              <a:t>、</a:t>
            </a:r>
            <a:r>
              <a:rPr lang="en-US" altLang="zh-CN" b="1" dirty="0">
                <a:solidFill>
                  <a:schemeClr val="bg1"/>
                </a:solidFill>
              </a:rPr>
              <a:t>STL(</a:t>
            </a:r>
            <a:r>
              <a:rPr lang="zh-CN" altLang="en-US" b="1" dirty="0">
                <a:solidFill>
                  <a:schemeClr val="bg1"/>
                </a:solidFill>
              </a:rPr>
              <a:t>惠普实验室</a:t>
            </a:r>
            <a:r>
              <a:rPr lang="en-US" altLang="zh-CN" b="1" dirty="0">
                <a:solidFill>
                  <a:schemeClr val="bg1"/>
                </a:solidFill>
              </a:rPr>
              <a:t>)</a:t>
            </a:r>
            <a:r>
              <a:rPr lang="zh-CN" altLang="en-US" b="1" dirty="0">
                <a:solidFill>
                  <a:schemeClr val="bg1"/>
                </a:solidFill>
              </a:rPr>
              <a:t>、</a:t>
            </a:r>
            <a:r>
              <a:rPr lang="en-US" altLang="zh-CN" b="1" dirty="0">
                <a:solidFill>
                  <a:schemeClr val="bg1"/>
                </a:solidFill>
              </a:rPr>
              <a:t>Boost</a:t>
            </a:r>
            <a:r>
              <a:rPr lang="zh-CN" altLang="en-US" b="1" dirty="0">
                <a:solidFill>
                  <a:schemeClr val="bg1"/>
                </a:solidFill>
              </a:rPr>
              <a:t>（</a:t>
            </a:r>
            <a:r>
              <a:rPr lang="en-US" altLang="zh-CN" b="1" dirty="0">
                <a:solidFill>
                  <a:schemeClr val="bg1"/>
                </a:solidFill>
              </a:rPr>
              <a:t>C++</a:t>
            </a:r>
            <a:r>
              <a:rPr lang="zh-CN" altLang="en-US" b="1" dirty="0">
                <a:solidFill>
                  <a:schemeClr val="bg1"/>
                </a:solidFill>
              </a:rPr>
              <a:t>标准委员会成员之一发起）</a:t>
            </a:r>
            <a:endParaRPr lang="en-US" altLang="zh-CN" b="1" dirty="0">
              <a:solidFill>
                <a:schemeClr val="bg1"/>
              </a:solidFill>
            </a:endParaRPr>
          </a:p>
          <a:p>
            <a:pPr eaLnBrk="1" hangingPunct="1">
              <a:lnSpc>
                <a:spcPct val="90000"/>
              </a:lnSpc>
              <a:buNone/>
            </a:pPr>
            <a:endParaRPr lang="en-US" altLang="zh-CN" b="1" dirty="0">
              <a:solidFill>
                <a:schemeClr val="bg1"/>
              </a:solidFill>
            </a:endParaRPr>
          </a:p>
          <a:p>
            <a:pPr eaLnBrk="1" hangingPunct="1">
              <a:lnSpc>
                <a:spcPct val="90000"/>
              </a:lnSpc>
              <a:buNone/>
            </a:pPr>
            <a:endParaRPr lang="en-US" altLang="en-US" b="1" dirty="0">
              <a:solidFill>
                <a:schemeClr val="bg1"/>
              </a:solidFill>
            </a:endParaRPr>
          </a:p>
        </p:txBody>
      </p:sp>
      <p:sp>
        <p:nvSpPr>
          <p:cNvPr id="150530" name="Rectangle 3"/>
          <p:cNvSpPr/>
          <p:nvPr/>
        </p:nvSpPr>
        <p:spPr>
          <a:xfrm>
            <a:off x="1690688" y="115888"/>
            <a:ext cx="5976937"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模板</a:t>
            </a:r>
            <a:r>
              <a:rPr lang="en-US" altLang="zh-CN" sz="4400" b="1" dirty="0">
                <a:solidFill>
                  <a:srgbClr val="FFFF00"/>
                </a:solidFill>
                <a:latin typeface="Times New Roman" panose="02020603050405020304" pitchFamily="18" charset="0"/>
                <a:ea typeface="华文行楷" panose="02010800040101010101" pitchFamily="2" charset="-122"/>
              </a:rPr>
              <a:t>&amp;</a:t>
            </a:r>
            <a:r>
              <a:rPr lang="zh-CN" altLang="en-US" sz="4400" b="1" dirty="0">
                <a:solidFill>
                  <a:srgbClr val="FFFF00"/>
                </a:solidFill>
                <a:latin typeface="Times New Roman" panose="02020603050405020304" pitchFamily="18" charset="0"/>
                <a:ea typeface="华文行楷" panose="02010800040101010101" pitchFamily="2" charset="-122"/>
              </a:rPr>
              <a:t>类</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53987" name="Text Box 3"/>
          <p:cNvSpPr txBox="1">
            <a:spLocks noChangeArrowheads="1"/>
          </p:cNvSpPr>
          <p:nvPr/>
        </p:nvSpPr>
        <p:spPr bwMode="auto">
          <a:xfrm>
            <a:off x="3059113" y="-26987"/>
            <a:ext cx="3744913" cy="702945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ls{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ls::aa a;   zhs::score=90.1;</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cout&lt;&lt;a.age&lt;&lt;endl;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3987"/>
                                        </p:tgtEl>
                                        <p:attrNameLst>
                                          <p:attrName>style.visibility</p:attrName>
                                        </p:attrNameLst>
                                      </p:cBhvr>
                                      <p:to>
                                        <p:strVal val="visible"/>
                                      </p:to>
                                    </p:set>
                                    <p:animEffect transition="in" filter="barn(inHorizontal)">
                                      <p:cBhvr>
                                        <p:cTn id="7" dur="500"/>
                                        <p:tgtEl>
                                          <p:spTgt spid="553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0" name="Rectangle 2"/>
          <p:cNvSpPr>
            <a:spLocks noChangeArrowheads="1"/>
          </p:cNvSpPr>
          <p:nvPr/>
        </p:nvSpPr>
        <p:spPr bwMode="auto">
          <a:xfrm>
            <a:off x="107950" y="3094038"/>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可以包含变量</a:t>
            </a:r>
            <a:r>
              <a:rPr kumimoji="0" lang="en-US" altLang="zh-CN"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&amp;</a:t>
            </a: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对象；函数定义；类型定义</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555011" name="Rectangle 3"/>
          <p:cNvSpPr>
            <a:spLocks noChangeArrowheads="1"/>
          </p:cNvSpPr>
          <p:nvPr/>
        </p:nvSpPr>
        <p:spPr bwMode="auto">
          <a:xfrm>
            <a:off x="107950" y="19081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为了解决名字冲突的危险 </a:t>
            </a:r>
            <a:endPar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55012" name="Rectangle 4"/>
          <p:cNvSpPr>
            <a:spLocks noChangeArrowheads="1"/>
          </p:cNvSpPr>
          <p:nvPr/>
        </p:nvSpPr>
        <p:spPr bwMode="auto">
          <a:xfrm>
            <a:off x="107950" y="43180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可以开放定义；可以｛｝外定义</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52580" name="Text Box 5"/>
          <p:cNvSpPr txBox="1"/>
          <p:nvPr/>
        </p:nvSpPr>
        <p:spPr>
          <a:xfrm>
            <a:off x="1835150" y="333375"/>
            <a:ext cx="6553200" cy="762000"/>
          </a:xfrm>
          <a:prstGeom prst="rect">
            <a:avLst/>
          </a:prstGeom>
          <a:noFill/>
          <a:ln w="9525">
            <a:noFill/>
          </a:ln>
        </p:spPr>
        <p:txBody>
          <a:bodyPr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5011"/>
                                        </p:tgtEl>
                                        <p:attrNameLst>
                                          <p:attrName>style.visibility</p:attrName>
                                        </p:attrNameLst>
                                      </p:cBhvr>
                                      <p:to>
                                        <p:strVal val="visible"/>
                                      </p:to>
                                    </p:set>
                                    <p:anim calcmode="lin" valueType="num">
                                      <p:cBhvr additive="base">
                                        <p:cTn id="7" dur="2000" fill="hold"/>
                                        <p:tgtEl>
                                          <p:spTgt spid="555011"/>
                                        </p:tgtEl>
                                        <p:attrNameLst>
                                          <p:attrName>ppt_x</p:attrName>
                                        </p:attrNameLst>
                                      </p:cBhvr>
                                      <p:tavLst>
                                        <p:tav tm="0">
                                          <p:val>
                                            <p:strVal val="#ppt_x"/>
                                          </p:val>
                                        </p:tav>
                                        <p:tav tm="100000">
                                          <p:val>
                                            <p:strVal val="#ppt_x"/>
                                          </p:val>
                                        </p:tav>
                                      </p:tavLst>
                                    </p:anim>
                                    <p:anim calcmode="lin" valueType="num">
                                      <p:cBhvr additive="base">
                                        <p:cTn id="8" dur="2000" fill="hold"/>
                                        <p:tgtEl>
                                          <p:spTgt spid="5550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555010"/>
                                        </p:tgtEl>
                                        <p:attrNameLst>
                                          <p:attrName>style.visibility</p:attrName>
                                        </p:attrNameLst>
                                      </p:cBhvr>
                                      <p:to>
                                        <p:strVal val="visible"/>
                                      </p:to>
                                    </p:set>
                                    <p:anim by="(-#ppt_w*2)" calcmode="lin" valueType="num">
                                      <p:cBhvr rctx="PPT">
                                        <p:cTn id="13" dur="500" autoRev="1" fill="hold">
                                          <p:stCondLst>
                                            <p:cond delay="0"/>
                                          </p:stCondLst>
                                        </p:cTn>
                                        <p:tgtEl>
                                          <p:spTgt spid="555010"/>
                                        </p:tgtEl>
                                        <p:attrNameLst>
                                          <p:attrName>ppt_w</p:attrName>
                                        </p:attrNameLst>
                                      </p:cBhvr>
                                    </p:anim>
                                    <p:anim by="(#ppt_w*0.50)" calcmode="lin" valueType="num">
                                      <p:cBhvr>
                                        <p:cTn id="14" dur="500" decel="50000" autoRev="1" fill="hold">
                                          <p:stCondLst>
                                            <p:cond delay="0"/>
                                          </p:stCondLst>
                                        </p:cTn>
                                        <p:tgtEl>
                                          <p:spTgt spid="555010"/>
                                        </p:tgtEl>
                                        <p:attrNameLst>
                                          <p:attrName>ppt_x</p:attrName>
                                        </p:attrNameLst>
                                      </p:cBhvr>
                                    </p:anim>
                                    <p:anim from="(-#ppt_h/2)" to="(#ppt_y)" calcmode="lin" valueType="num">
                                      <p:cBhvr>
                                        <p:cTn id="15" dur="1000" fill="hold">
                                          <p:stCondLst>
                                            <p:cond delay="0"/>
                                          </p:stCondLst>
                                        </p:cTn>
                                        <p:tgtEl>
                                          <p:spTgt spid="555010"/>
                                        </p:tgtEl>
                                        <p:attrNameLst>
                                          <p:attrName>ppt_y</p:attrName>
                                        </p:attrNameLst>
                                      </p:cBhvr>
                                    </p:anim>
                                    <p:animRot by="21600000">
                                      <p:cBhvr>
                                        <p:cTn id="16" dur="1000" fill="hold">
                                          <p:stCondLst>
                                            <p:cond delay="0"/>
                                          </p:stCondLst>
                                        </p:cTn>
                                        <p:tgtEl>
                                          <p:spTgt spid="555010"/>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55012"/>
                                        </p:tgtEl>
                                        <p:attrNameLst>
                                          <p:attrName>style.visibility</p:attrName>
                                        </p:attrNameLst>
                                      </p:cBhvr>
                                      <p:to>
                                        <p:strVal val="visible"/>
                                      </p:to>
                                    </p:set>
                                    <p:anim calcmode="lin" valueType="num">
                                      <p:cBhvr additive="base">
                                        <p:cTn id="21" dur="2000" fill="hold"/>
                                        <p:tgtEl>
                                          <p:spTgt spid="555012"/>
                                        </p:tgtEl>
                                        <p:attrNameLst>
                                          <p:attrName>ppt_x</p:attrName>
                                        </p:attrNameLst>
                                      </p:cBhvr>
                                      <p:tavLst>
                                        <p:tav tm="0">
                                          <p:val>
                                            <p:strVal val="#ppt_x"/>
                                          </p:val>
                                        </p:tav>
                                        <p:tav tm="100000">
                                          <p:val>
                                            <p:strVal val="#ppt_x"/>
                                          </p:val>
                                        </p:tav>
                                      </p:tavLst>
                                    </p:anim>
                                    <p:anim calcmode="lin" valueType="num">
                                      <p:cBhvr additive="base">
                                        <p:cTn id="22" dur="2000" fill="hold"/>
                                        <p:tgtEl>
                                          <p:spTgt spid="555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0" grpId="0" animBg="1"/>
      <p:bldP spid="555011" grpId="0" animBg="1"/>
      <p:bldP spid="55501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57059" name="Text Box 3"/>
          <p:cNvSpPr txBox="1">
            <a:spLocks noChangeArrowheads="1"/>
          </p:cNvSpPr>
          <p:nvPr/>
        </p:nvSpPr>
        <p:spPr bwMode="auto">
          <a:xfrm>
            <a:off x="3059113" y="4763"/>
            <a:ext cx="4897438" cy="66643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zhs::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zhs::aa 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zhs::score=90.5;</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cout&lt;&lt;a.id&lt;&lt;zhs::score&lt;&lt;endl;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57060" name="AutoShape 4"/>
          <p:cNvSpPr>
            <a:spLocks noChangeArrowheads="1"/>
          </p:cNvSpPr>
          <p:nvPr/>
        </p:nvSpPr>
        <p:spPr bwMode="auto">
          <a:xfrm>
            <a:off x="7092950" y="2205038"/>
            <a:ext cx="1908175" cy="503238"/>
          </a:xfrm>
          <a:prstGeom prst="wedgeRectCallout">
            <a:avLst>
              <a:gd name="adj1" fmla="val -167972"/>
              <a:gd name="adj2" fmla="val -192588"/>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｛｝外定义</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57061" name="AutoShape 5"/>
          <p:cNvSpPr>
            <a:spLocks noChangeArrowheads="1"/>
          </p:cNvSpPr>
          <p:nvPr/>
        </p:nvSpPr>
        <p:spPr bwMode="auto">
          <a:xfrm>
            <a:off x="7092950" y="3716338"/>
            <a:ext cx="1908175" cy="503238"/>
          </a:xfrm>
          <a:prstGeom prst="wedgeRectCallout">
            <a:avLst>
              <a:gd name="adj1" fmla="val -160981"/>
              <a:gd name="adj2" fmla="val -12539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合并定义</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7059"/>
                                        </p:tgtEl>
                                        <p:attrNameLst>
                                          <p:attrName>style.visibility</p:attrName>
                                        </p:attrNameLst>
                                      </p:cBhvr>
                                      <p:to>
                                        <p:strVal val="visible"/>
                                      </p:to>
                                    </p:set>
                                    <p:animEffect transition="in" filter="barn(inHorizontal)">
                                      <p:cBhvr>
                                        <p:cTn id="7" dur="500"/>
                                        <p:tgtEl>
                                          <p:spTgt spid="55705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57060"/>
                                        </p:tgtEl>
                                        <p:attrNameLst>
                                          <p:attrName>style.visibility</p:attrName>
                                        </p:attrNameLst>
                                      </p:cBhvr>
                                      <p:to>
                                        <p:strVal val="visible"/>
                                      </p:to>
                                    </p:set>
                                    <p:anim calcmode="lin" valueType="num">
                                      <p:cBhvr additive="base">
                                        <p:cTn id="11" dur="500" fill="hold"/>
                                        <p:tgtEl>
                                          <p:spTgt spid="557060"/>
                                        </p:tgtEl>
                                        <p:attrNameLst>
                                          <p:attrName>ppt_x</p:attrName>
                                        </p:attrNameLst>
                                      </p:cBhvr>
                                      <p:tavLst>
                                        <p:tav tm="0">
                                          <p:val>
                                            <p:strVal val="#ppt_x"/>
                                          </p:val>
                                        </p:tav>
                                        <p:tav tm="100000">
                                          <p:val>
                                            <p:strVal val="#ppt_x"/>
                                          </p:val>
                                        </p:tav>
                                      </p:tavLst>
                                    </p:anim>
                                    <p:anim calcmode="lin" valueType="num">
                                      <p:cBhvr additive="base">
                                        <p:cTn id="12" dur="500" fill="hold"/>
                                        <p:tgtEl>
                                          <p:spTgt spid="557060"/>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557061"/>
                                        </p:tgtEl>
                                        <p:attrNameLst>
                                          <p:attrName>style.visibility</p:attrName>
                                        </p:attrNameLst>
                                      </p:cBhvr>
                                      <p:to>
                                        <p:strVal val="visible"/>
                                      </p:to>
                                    </p:set>
                                    <p:anim calcmode="lin" valueType="num">
                                      <p:cBhvr additive="base">
                                        <p:cTn id="16" dur="500" fill="hold"/>
                                        <p:tgtEl>
                                          <p:spTgt spid="557061"/>
                                        </p:tgtEl>
                                        <p:attrNameLst>
                                          <p:attrName>ppt_x</p:attrName>
                                        </p:attrNameLst>
                                      </p:cBhvr>
                                      <p:tavLst>
                                        <p:tav tm="0">
                                          <p:val>
                                            <p:strVal val="#ppt_x"/>
                                          </p:val>
                                        </p:tav>
                                        <p:tav tm="100000">
                                          <p:val>
                                            <p:strVal val="#ppt_x"/>
                                          </p:val>
                                        </p:tav>
                                      </p:tavLst>
                                    </p:anim>
                                    <p:anim calcmode="lin" valueType="num">
                                      <p:cBhvr additive="base">
                                        <p:cTn id="17" dur="500" fill="hold"/>
                                        <p:tgtEl>
                                          <p:spTgt spid="5570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9" grpId="0"/>
      <p:bldP spid="557060" grpId="0" animBg="1"/>
      <p:bldP spid="557061"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58083" name="Text Box 3"/>
          <p:cNvSpPr txBox="1">
            <a:spLocks noChangeArrowheads="1"/>
          </p:cNvSpPr>
          <p:nvPr/>
        </p:nvSpPr>
        <p:spPr bwMode="auto">
          <a:xfrm>
            <a:off x="3059113" y="-26987"/>
            <a:ext cx="5865813" cy="6370638"/>
          </a:xfrm>
          <a:prstGeom prst="rect">
            <a:avLst/>
          </a:prstGeom>
          <a:noFill/>
          <a:ln>
            <a:noFill/>
          </a:ln>
          <a:effectLst/>
        </p:spPr>
        <p:txBody>
          <a:bodyPr wrap="square">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ls{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a(){cout&lt;&lt;"Computer"&lt;&lt;endl;};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{zhs::score=90.1;</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cout&lt;&lt;zhs::score&lt;&lt;endl;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ls::a();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58084" name="AutoShape 4"/>
          <p:cNvSpPr>
            <a:spLocks noChangeArrowheads="1"/>
          </p:cNvSpPr>
          <p:nvPr/>
        </p:nvSpPr>
        <p:spPr bwMode="auto">
          <a:xfrm>
            <a:off x="7092950" y="2205038"/>
            <a:ext cx="1908175" cy="503238"/>
          </a:xfrm>
          <a:prstGeom prst="wedgeRectCallout">
            <a:avLst>
              <a:gd name="adj1" fmla="val -230699"/>
              <a:gd name="adj2" fmla="val 327287"/>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包含函数</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8083"/>
                                        </p:tgtEl>
                                        <p:attrNameLst>
                                          <p:attrName>style.visibility</p:attrName>
                                        </p:attrNameLst>
                                      </p:cBhvr>
                                      <p:to>
                                        <p:strVal val="visible"/>
                                      </p:to>
                                    </p:set>
                                    <p:animEffect transition="in" filter="barn(inHorizontal)">
                                      <p:cBhvr>
                                        <p:cTn id="7" dur="500"/>
                                        <p:tgtEl>
                                          <p:spTgt spid="55808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58084"/>
                                        </p:tgtEl>
                                        <p:attrNameLst>
                                          <p:attrName>style.visibility</p:attrName>
                                        </p:attrNameLst>
                                      </p:cBhvr>
                                      <p:to>
                                        <p:strVal val="visible"/>
                                      </p:to>
                                    </p:set>
                                    <p:anim calcmode="lin" valueType="num">
                                      <p:cBhvr additive="base">
                                        <p:cTn id="11" dur="500" fill="hold"/>
                                        <p:tgtEl>
                                          <p:spTgt spid="558084"/>
                                        </p:tgtEl>
                                        <p:attrNameLst>
                                          <p:attrName>ppt_x</p:attrName>
                                        </p:attrNameLst>
                                      </p:cBhvr>
                                      <p:tavLst>
                                        <p:tav tm="0">
                                          <p:val>
                                            <p:strVal val="#ppt_x"/>
                                          </p:val>
                                        </p:tav>
                                        <p:tav tm="100000">
                                          <p:val>
                                            <p:strVal val="#ppt_x"/>
                                          </p:val>
                                        </p:tav>
                                      </p:tavLst>
                                    </p:anim>
                                    <p:anim calcmode="lin" valueType="num">
                                      <p:cBhvr additive="base">
                                        <p:cTn id="12" dur="500" fill="hold"/>
                                        <p:tgtEl>
                                          <p:spTgt spid="558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ldLvl="0" animBg="1"/>
      <p:bldP spid="55808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59107" name="Text Box 3"/>
          <p:cNvSpPr txBox="1">
            <a:spLocks noChangeArrowheads="1"/>
          </p:cNvSpPr>
          <p:nvPr/>
        </p:nvSpPr>
        <p:spPr bwMode="auto">
          <a:xfrm>
            <a:off x="3059113" y="225425"/>
            <a:ext cx="4105275" cy="629920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ls{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ls::a(){cout&lt;&lt;</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zhs::age</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ls::a();}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59108" name="AutoShape 4"/>
          <p:cNvSpPr>
            <a:spLocks noChangeArrowheads="1"/>
          </p:cNvSpPr>
          <p:nvPr/>
        </p:nvSpPr>
        <p:spPr bwMode="auto">
          <a:xfrm>
            <a:off x="6156325" y="2205038"/>
            <a:ext cx="2844800" cy="503238"/>
          </a:xfrm>
          <a:prstGeom prst="wedgeRectCallout">
            <a:avLst>
              <a:gd name="adj1" fmla="val -75111"/>
              <a:gd name="adj2" fmla="val 51845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替换为：</a:t>
            </a:r>
            <a:r>
              <a:rPr kumimoji="1" lang="en-US" altLang="zh-CN"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age</a:t>
            </a: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如何？</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9107"/>
                                        </p:tgtEl>
                                        <p:attrNameLst>
                                          <p:attrName>style.visibility</p:attrName>
                                        </p:attrNameLst>
                                      </p:cBhvr>
                                      <p:to>
                                        <p:strVal val="visible"/>
                                      </p:to>
                                    </p:set>
                                    <p:animEffect transition="in" filter="barn(inHorizontal)">
                                      <p:cBhvr>
                                        <p:cTn id="7" dur="500"/>
                                        <p:tgtEl>
                                          <p:spTgt spid="559107"/>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59108"/>
                                        </p:tgtEl>
                                        <p:attrNameLst>
                                          <p:attrName>style.visibility</p:attrName>
                                        </p:attrNameLst>
                                      </p:cBhvr>
                                      <p:to>
                                        <p:strVal val="visible"/>
                                      </p:to>
                                    </p:set>
                                    <p:anim calcmode="lin" valueType="num">
                                      <p:cBhvr additive="base">
                                        <p:cTn id="11" dur="500" fill="hold"/>
                                        <p:tgtEl>
                                          <p:spTgt spid="559108"/>
                                        </p:tgtEl>
                                        <p:attrNameLst>
                                          <p:attrName>ppt_x</p:attrName>
                                        </p:attrNameLst>
                                      </p:cBhvr>
                                      <p:tavLst>
                                        <p:tav tm="0">
                                          <p:val>
                                            <p:strVal val="#ppt_x"/>
                                          </p:val>
                                        </p:tav>
                                        <p:tav tm="100000">
                                          <p:val>
                                            <p:strVal val="#ppt_x"/>
                                          </p:val>
                                        </p:tav>
                                      </p:tavLst>
                                    </p:anim>
                                    <p:anim calcmode="lin" valueType="num">
                                      <p:cBhvr additive="base">
                                        <p:cTn id="12" dur="500" fill="hold"/>
                                        <p:tgtEl>
                                          <p:spTgt spid="559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p:bldP spid="55910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0131" name="Text Box 3"/>
          <p:cNvSpPr txBox="1">
            <a:spLocks noChangeArrowheads="1"/>
          </p:cNvSpPr>
          <p:nvPr/>
        </p:nvSpPr>
        <p:spPr bwMode="auto">
          <a:xfrm>
            <a:off x="3059113" y="115888"/>
            <a:ext cx="4681538" cy="629920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ls{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using zhs::age;</a:t>
            </a:r>
            <a:endPar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ls::a(){cout&lt;&lt;</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ls::a();}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0131"/>
                                        </p:tgtEl>
                                        <p:attrNameLst>
                                          <p:attrName>style.visibility</p:attrName>
                                        </p:attrNameLst>
                                      </p:cBhvr>
                                      <p:to>
                                        <p:strVal val="visible"/>
                                      </p:to>
                                    </p:set>
                                    <p:animEffect transition="in" filter="barn(inHorizontal)">
                                      <p:cBhvr>
                                        <p:cTn id="7" dur="500"/>
                                        <p:tgtEl>
                                          <p:spTgt spid="560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1155" name="Text Box 3"/>
          <p:cNvSpPr txBox="1">
            <a:spLocks noChangeArrowheads="1"/>
          </p:cNvSpPr>
          <p:nvPr/>
        </p:nvSpPr>
        <p:spPr bwMode="auto">
          <a:xfrm>
            <a:off x="3059113" y="115888"/>
            <a:ext cx="4465638" cy="593407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ls{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using namespace zhs;</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a(){cout&lt;&lt;age&lt;&lt;endl;};;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 = 2;</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ls::a();cout&lt;&lt;zhs::age&lt;&lt;::age;}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61156" name="AutoShape 4"/>
          <p:cNvSpPr>
            <a:spLocks noChangeArrowheads="1"/>
          </p:cNvSpPr>
          <p:nvPr/>
        </p:nvSpPr>
        <p:spPr bwMode="auto">
          <a:xfrm>
            <a:off x="7164388" y="2205038"/>
            <a:ext cx="1836738" cy="503238"/>
          </a:xfrm>
          <a:prstGeom prst="wedgeRectCallout">
            <a:avLst>
              <a:gd name="adj1" fmla="val -165213"/>
              <a:gd name="adj2" fmla="val 27713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类似友元类</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1155"/>
                                        </p:tgtEl>
                                        <p:attrNameLst>
                                          <p:attrName>style.visibility</p:attrName>
                                        </p:attrNameLst>
                                      </p:cBhvr>
                                      <p:to>
                                        <p:strVal val="visible"/>
                                      </p:to>
                                    </p:set>
                                    <p:animEffect transition="in" filter="barn(inHorizontal)">
                                      <p:cBhvr>
                                        <p:cTn id="7" dur="500"/>
                                        <p:tgtEl>
                                          <p:spTgt spid="561155"/>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61156"/>
                                        </p:tgtEl>
                                        <p:attrNameLst>
                                          <p:attrName>style.visibility</p:attrName>
                                        </p:attrNameLst>
                                      </p:cBhvr>
                                      <p:to>
                                        <p:strVal val="visible"/>
                                      </p:to>
                                    </p:set>
                                    <p:anim calcmode="lin" valueType="num">
                                      <p:cBhvr additive="base">
                                        <p:cTn id="11" dur="500" fill="hold"/>
                                        <p:tgtEl>
                                          <p:spTgt spid="561156"/>
                                        </p:tgtEl>
                                        <p:attrNameLst>
                                          <p:attrName>ppt_x</p:attrName>
                                        </p:attrNameLst>
                                      </p:cBhvr>
                                      <p:tavLst>
                                        <p:tav tm="0">
                                          <p:val>
                                            <p:strVal val="#ppt_x"/>
                                          </p:val>
                                        </p:tav>
                                        <p:tav tm="100000">
                                          <p:val>
                                            <p:strVal val="#ppt_x"/>
                                          </p:val>
                                        </p:tav>
                                      </p:tavLst>
                                    </p:anim>
                                    <p:anim calcmode="lin" valueType="num">
                                      <p:cBhvr additive="base">
                                        <p:cTn id="12" dur="500" fill="hold"/>
                                        <p:tgtEl>
                                          <p:spTgt spid="561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p:bldP spid="561156"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2179" name="Text Box 3"/>
          <p:cNvSpPr txBox="1">
            <a:spLocks noChangeArrowheads="1"/>
          </p:cNvSpPr>
          <p:nvPr/>
        </p:nvSpPr>
        <p:spPr bwMode="auto">
          <a:xfrm>
            <a:off x="2124075" y="596900"/>
            <a:ext cx="5184775" cy="556895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zhangsan{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aa(int a=1){id=a;}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id;</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 age;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score;</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a(aa p){cout&lt;&lt;p.id&lt;&lt;endl;}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zhs=zhangsan;</a:t>
            </a:r>
            <a:endPar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zhs::aa 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62180" name="AutoShape 4"/>
          <p:cNvSpPr>
            <a:spLocks noChangeArrowheads="1"/>
          </p:cNvSpPr>
          <p:nvPr/>
        </p:nvSpPr>
        <p:spPr bwMode="auto">
          <a:xfrm>
            <a:off x="7812088" y="2205038"/>
            <a:ext cx="1189038" cy="503238"/>
          </a:xfrm>
          <a:prstGeom prst="wedgeRectCallout">
            <a:avLst>
              <a:gd name="adj1" fmla="val -208213"/>
              <a:gd name="adj2" fmla="val 574921"/>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别名</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2179"/>
                                        </p:tgtEl>
                                        <p:attrNameLst>
                                          <p:attrName>style.visibility</p:attrName>
                                        </p:attrNameLst>
                                      </p:cBhvr>
                                      <p:to>
                                        <p:strVal val="visible"/>
                                      </p:to>
                                    </p:set>
                                    <p:animEffect transition="in" filter="barn(inHorizontal)">
                                      <p:cBhvr>
                                        <p:cTn id="7" dur="500"/>
                                        <p:tgtEl>
                                          <p:spTgt spid="56217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62180"/>
                                        </p:tgtEl>
                                        <p:attrNameLst>
                                          <p:attrName>style.visibility</p:attrName>
                                        </p:attrNameLst>
                                      </p:cBhvr>
                                      <p:to>
                                        <p:strVal val="visible"/>
                                      </p:to>
                                    </p:set>
                                    <p:anim calcmode="lin" valueType="num">
                                      <p:cBhvr additive="base">
                                        <p:cTn id="11" dur="500" fill="hold"/>
                                        <p:tgtEl>
                                          <p:spTgt spid="562180"/>
                                        </p:tgtEl>
                                        <p:attrNameLst>
                                          <p:attrName>ppt_x</p:attrName>
                                        </p:attrNameLst>
                                      </p:cBhvr>
                                      <p:tavLst>
                                        <p:tav tm="0">
                                          <p:val>
                                            <p:strVal val="#ppt_x"/>
                                          </p:val>
                                        </p:tav>
                                        <p:tav tm="100000">
                                          <p:val>
                                            <p:strVal val="#ppt_x"/>
                                          </p:val>
                                        </p:tav>
                                      </p:tavLst>
                                    </p:anim>
                                    <p:anim calcmode="lin" valueType="num">
                                      <p:cBhvr additive="base">
                                        <p:cTn id="12" dur="500" fill="hold"/>
                                        <p:tgtEl>
                                          <p:spTgt spid="562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P spid="562180"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02" name="Rectangle 2"/>
          <p:cNvSpPr>
            <a:spLocks noChangeArrowheads="1"/>
          </p:cNvSpPr>
          <p:nvPr/>
        </p:nvSpPr>
        <p:spPr bwMode="auto">
          <a:xfrm>
            <a:off x="107950" y="3094038"/>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是人为定义的</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563203" name="Rectangle 3"/>
          <p:cNvSpPr>
            <a:spLocks noChangeArrowheads="1"/>
          </p:cNvSpPr>
          <p:nvPr/>
        </p:nvSpPr>
        <p:spPr bwMode="auto">
          <a:xfrm>
            <a:off x="107950" y="19081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名字空间是一个作用域；是大前提</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63204" name="Rectangle 4"/>
          <p:cNvSpPr>
            <a:spLocks noChangeArrowheads="1"/>
          </p:cNvSpPr>
          <p:nvPr/>
        </p:nvSpPr>
        <p:spPr bwMode="auto">
          <a:xfrm>
            <a:off x="107950" y="43180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类就是一个特殊的名字空间</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59748" name="Text Box 5"/>
          <p:cNvSpPr txBox="1"/>
          <p:nvPr/>
        </p:nvSpPr>
        <p:spPr>
          <a:xfrm>
            <a:off x="1835150" y="333375"/>
            <a:ext cx="6553200" cy="762000"/>
          </a:xfrm>
          <a:prstGeom prst="rect">
            <a:avLst/>
          </a:prstGeom>
          <a:noFill/>
          <a:ln w="9525">
            <a:noFill/>
          </a:ln>
        </p:spPr>
        <p:txBody>
          <a:bodyPr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03"/>
                                        </p:tgtEl>
                                        <p:attrNameLst>
                                          <p:attrName>style.visibility</p:attrName>
                                        </p:attrNameLst>
                                      </p:cBhvr>
                                      <p:to>
                                        <p:strVal val="visible"/>
                                      </p:to>
                                    </p:set>
                                    <p:anim calcmode="lin" valueType="num">
                                      <p:cBhvr additive="base">
                                        <p:cTn id="7" dur="2000" fill="hold"/>
                                        <p:tgtEl>
                                          <p:spTgt spid="563203"/>
                                        </p:tgtEl>
                                        <p:attrNameLst>
                                          <p:attrName>ppt_x</p:attrName>
                                        </p:attrNameLst>
                                      </p:cBhvr>
                                      <p:tavLst>
                                        <p:tav tm="0">
                                          <p:val>
                                            <p:strVal val="#ppt_x"/>
                                          </p:val>
                                        </p:tav>
                                        <p:tav tm="100000">
                                          <p:val>
                                            <p:strVal val="#ppt_x"/>
                                          </p:val>
                                        </p:tav>
                                      </p:tavLst>
                                    </p:anim>
                                    <p:anim calcmode="lin" valueType="num">
                                      <p:cBhvr additive="base">
                                        <p:cTn id="8" dur="2000" fill="hold"/>
                                        <p:tgtEl>
                                          <p:spTgt spid="5632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563202"/>
                                        </p:tgtEl>
                                        <p:attrNameLst>
                                          <p:attrName>style.visibility</p:attrName>
                                        </p:attrNameLst>
                                      </p:cBhvr>
                                      <p:to>
                                        <p:strVal val="visible"/>
                                      </p:to>
                                    </p:set>
                                    <p:anim by="(-#ppt_w*2)" calcmode="lin" valueType="num">
                                      <p:cBhvr rctx="PPT">
                                        <p:cTn id="13" dur="500" autoRev="1" fill="hold">
                                          <p:stCondLst>
                                            <p:cond delay="0"/>
                                          </p:stCondLst>
                                        </p:cTn>
                                        <p:tgtEl>
                                          <p:spTgt spid="563202"/>
                                        </p:tgtEl>
                                        <p:attrNameLst>
                                          <p:attrName>ppt_w</p:attrName>
                                        </p:attrNameLst>
                                      </p:cBhvr>
                                    </p:anim>
                                    <p:anim by="(#ppt_w*0.50)" calcmode="lin" valueType="num">
                                      <p:cBhvr>
                                        <p:cTn id="14" dur="500" decel="50000" autoRev="1" fill="hold">
                                          <p:stCondLst>
                                            <p:cond delay="0"/>
                                          </p:stCondLst>
                                        </p:cTn>
                                        <p:tgtEl>
                                          <p:spTgt spid="563202"/>
                                        </p:tgtEl>
                                        <p:attrNameLst>
                                          <p:attrName>ppt_x</p:attrName>
                                        </p:attrNameLst>
                                      </p:cBhvr>
                                    </p:anim>
                                    <p:anim from="(-#ppt_h/2)" to="(#ppt_y)" calcmode="lin" valueType="num">
                                      <p:cBhvr>
                                        <p:cTn id="15" dur="1000" fill="hold">
                                          <p:stCondLst>
                                            <p:cond delay="0"/>
                                          </p:stCondLst>
                                        </p:cTn>
                                        <p:tgtEl>
                                          <p:spTgt spid="563202"/>
                                        </p:tgtEl>
                                        <p:attrNameLst>
                                          <p:attrName>ppt_y</p:attrName>
                                        </p:attrNameLst>
                                      </p:cBhvr>
                                    </p:anim>
                                    <p:animRot by="21600000">
                                      <p:cBhvr>
                                        <p:cTn id="16" dur="1000" fill="hold">
                                          <p:stCondLst>
                                            <p:cond delay="0"/>
                                          </p:stCondLst>
                                        </p:cTn>
                                        <p:tgtEl>
                                          <p:spTgt spid="563202"/>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63204"/>
                                        </p:tgtEl>
                                        <p:attrNameLst>
                                          <p:attrName>style.visibility</p:attrName>
                                        </p:attrNameLst>
                                      </p:cBhvr>
                                      <p:to>
                                        <p:strVal val="visible"/>
                                      </p:to>
                                    </p:set>
                                    <p:anim calcmode="lin" valueType="num">
                                      <p:cBhvr additive="base">
                                        <p:cTn id="21" dur="2000" fill="hold"/>
                                        <p:tgtEl>
                                          <p:spTgt spid="563204"/>
                                        </p:tgtEl>
                                        <p:attrNameLst>
                                          <p:attrName>ppt_x</p:attrName>
                                        </p:attrNameLst>
                                      </p:cBhvr>
                                      <p:tavLst>
                                        <p:tav tm="0">
                                          <p:val>
                                            <p:strVal val="#ppt_x"/>
                                          </p:val>
                                        </p:tav>
                                        <p:tav tm="100000">
                                          <p:val>
                                            <p:strVal val="#ppt_x"/>
                                          </p:val>
                                        </p:tav>
                                      </p:tavLst>
                                    </p:anim>
                                    <p:anim calcmode="lin" valueType="num">
                                      <p:cBhvr additive="base">
                                        <p:cTn id="22" dur="2000" fill="hold"/>
                                        <p:tgtEl>
                                          <p:spTgt spid="563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2" grpId="0" animBg="1"/>
      <p:bldP spid="563203" grpId="0" animBg="1"/>
      <p:bldP spid="563204"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名字空间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2179" name="Text Box 3"/>
          <p:cNvSpPr txBox="1">
            <a:spLocks noChangeArrowheads="1"/>
          </p:cNvSpPr>
          <p:nvPr/>
        </p:nvSpPr>
        <p:spPr bwMode="auto">
          <a:xfrm>
            <a:off x="2124075" y="596900"/>
            <a:ext cx="5184775" cy="60023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age;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fx</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 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&lt;&lt;p.id&lt;&lt;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namespace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age;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 = 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62180" name="AutoShape 4"/>
          <p:cNvSpPr>
            <a:spLocks noChangeArrowheads="1"/>
          </p:cNvSpPr>
          <p:nvPr/>
        </p:nvSpPr>
        <p:spPr bwMode="auto">
          <a:xfrm>
            <a:off x="7812088" y="2205038"/>
            <a:ext cx="1189038" cy="503238"/>
          </a:xfrm>
          <a:prstGeom prst="wedgeRectCallout">
            <a:avLst>
              <a:gd name="adj1" fmla="val -210616"/>
              <a:gd name="adj2" fmla="val 300473"/>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嵌套</a:t>
            </a:r>
            <a:endParaRPr kumimoji="1" lang="zh-CN" altLang="en-US"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2179"/>
                                        </p:tgtEl>
                                        <p:attrNameLst>
                                          <p:attrName>style.visibility</p:attrName>
                                        </p:attrNameLst>
                                      </p:cBhvr>
                                      <p:to>
                                        <p:strVal val="visible"/>
                                      </p:to>
                                    </p:set>
                                    <p:animEffect transition="in" filter="barn(inHorizontal)">
                                      <p:cBhvr>
                                        <p:cTn id="7" dur="500"/>
                                        <p:tgtEl>
                                          <p:spTgt spid="56217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62180"/>
                                        </p:tgtEl>
                                        <p:attrNameLst>
                                          <p:attrName>style.visibility</p:attrName>
                                        </p:attrNameLst>
                                      </p:cBhvr>
                                      <p:to>
                                        <p:strVal val="visible"/>
                                      </p:to>
                                    </p:set>
                                    <p:anim calcmode="lin" valueType="num">
                                      <p:cBhvr additive="base">
                                        <p:cTn id="11" dur="500" fill="hold"/>
                                        <p:tgtEl>
                                          <p:spTgt spid="562180"/>
                                        </p:tgtEl>
                                        <p:attrNameLst>
                                          <p:attrName>ppt_x</p:attrName>
                                        </p:attrNameLst>
                                      </p:cBhvr>
                                      <p:tavLst>
                                        <p:tav tm="0">
                                          <p:val>
                                            <p:strVal val="#ppt_x"/>
                                          </p:val>
                                        </p:tav>
                                        <p:tav tm="100000">
                                          <p:val>
                                            <p:strVal val="#ppt_x"/>
                                          </p:val>
                                        </p:tav>
                                      </p:tavLst>
                                    </p:anim>
                                    <p:anim calcmode="lin" valueType="num">
                                      <p:cBhvr additive="base">
                                        <p:cTn id="12" dur="500" fill="hold"/>
                                        <p:tgtEl>
                                          <p:spTgt spid="562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P spid="562180"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Text Box 2"/>
          <p:cNvSpPr txBox="1"/>
          <p:nvPr/>
        </p:nvSpPr>
        <p:spPr>
          <a:xfrm>
            <a:off x="323850" y="404813"/>
            <a:ext cx="862013"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嵌套类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2179" name="Text Box 3"/>
          <p:cNvSpPr txBox="1">
            <a:spLocks noChangeArrowheads="1"/>
          </p:cNvSpPr>
          <p:nvPr/>
        </p:nvSpPr>
        <p:spPr bwMode="auto">
          <a:xfrm>
            <a:off x="1331913" y="596900"/>
            <a:ext cx="7812088" cy="60023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zhangsanA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嵌套类基本是类内和类外的关系；对象空间不包含</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外界访问被嵌套类受权限制约</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被嵌套类可以无条件访问外围类的静态成员、类型名称</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意义：隐藏代码</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避免头文件包含</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2179"/>
                                        </p:tgtEl>
                                        <p:attrNameLst>
                                          <p:attrName>style.visibility</p:attrName>
                                        </p:attrNameLst>
                                      </p:cBhvr>
                                      <p:to>
                                        <p:strVal val="visible"/>
                                      </p:to>
                                    </p:set>
                                    <p:animEffect transition="in" filter="barn(inHorizontal)">
                                      <p:cBhvr>
                                        <p:cTn id="7" dur="500"/>
                                        <p:tgtEl>
                                          <p:spTgt spid="562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7" name="Rectangle 2"/>
          <p:cNvSpPr>
            <a:spLocks noGrp="1"/>
          </p:cNvSpPr>
          <p:nvPr>
            <p:ph idx="1"/>
          </p:nvPr>
        </p:nvSpPr>
        <p:spPr>
          <a:xfrm>
            <a:off x="182563" y="476250"/>
            <a:ext cx="8782050" cy="6092825"/>
          </a:xfrm>
        </p:spPr>
        <p:txBody>
          <a:bodyPr vert="horz" wrap="square" lIns="91440" tIns="45720" rIns="91440" bIns="45720" anchor="t"/>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public:</a:t>
            </a:r>
            <a:endParaRPr lang="en-US" altLang="zh-CN" b="1" dirty="0">
              <a:solidFill>
                <a:schemeClr val="bg1"/>
              </a:solidFill>
            </a:endParaRPr>
          </a:p>
          <a:p>
            <a:pPr eaLnBrk="1" hangingPunct="1">
              <a:buNone/>
            </a:pPr>
            <a:r>
              <a:rPr lang="en-US" altLang="zh-CN" b="1" dirty="0">
                <a:solidFill>
                  <a:schemeClr val="bg1"/>
                </a:solidFill>
              </a:rPr>
              <a:t>       void p(void);</a:t>
            </a:r>
            <a:endParaRPr lang="en-US" altLang="zh-CN" b="1" dirty="0">
              <a:solidFill>
                <a:schemeClr val="bg1"/>
              </a:solidFill>
            </a:endParaRPr>
          </a:p>
          <a:p>
            <a:pPr eaLnBrk="1" hangingPunct="1">
              <a:buNone/>
            </a:pPr>
            <a:r>
              <a:rPr lang="en-US" altLang="zh-CN" b="1" dirty="0">
                <a:solidFill>
                  <a:schemeClr val="bg1"/>
                </a:solidFill>
              </a:rPr>
              <a:t>       float score;</a:t>
            </a:r>
            <a:endParaRPr lang="en-US" altLang="zh-CN" b="1" dirty="0">
              <a:solidFill>
                <a:schemeClr val="bg1"/>
              </a:solidFill>
            </a:endParaRPr>
          </a:p>
          <a:p>
            <a:pPr eaLnBrk="1" hangingPunct="1">
              <a:buNone/>
            </a:pPr>
            <a:r>
              <a:rPr lang="en-US" altLang="zh-CN" b="1" dirty="0">
                <a:solidFill>
                  <a:schemeClr val="bg1"/>
                </a:solidFill>
              </a:rPr>
              <a:t>protected:</a:t>
            </a:r>
            <a:endParaRPr lang="en-US" altLang="zh-CN" b="1" dirty="0">
              <a:solidFill>
                <a:schemeClr val="bg1"/>
              </a:solidFill>
            </a:endParaRPr>
          </a:p>
          <a:p>
            <a:pPr eaLnBrk="1" hangingPunct="1">
              <a:buNone/>
            </a:pPr>
            <a:r>
              <a:rPr lang="en-US" altLang="zh-CN" b="1" dirty="0">
                <a:solidFill>
                  <a:schemeClr val="bg1"/>
                </a:solidFill>
              </a:rPr>
              <a:t>        char *name;</a:t>
            </a:r>
            <a:endParaRPr lang="en-US" altLang="zh-CN" b="1" dirty="0">
              <a:solidFill>
                <a:schemeClr val="bg1"/>
              </a:solidFill>
            </a:endParaRPr>
          </a:p>
          <a:p>
            <a:pPr eaLnBrk="1" hangingPunct="1">
              <a:buNone/>
            </a:pPr>
            <a:r>
              <a:rPr lang="en-US" altLang="zh-CN" b="1" dirty="0">
                <a:solidFill>
                  <a:schemeClr val="bg1"/>
                </a:solidFill>
              </a:rPr>
              <a:t>        int age;</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void main(){</a:t>
            </a:r>
            <a:endParaRPr lang="en-US" altLang="zh-CN" b="1" dirty="0">
              <a:solidFill>
                <a:schemeClr val="bg1"/>
              </a:solidFill>
            </a:endParaRPr>
          </a:p>
          <a:p>
            <a:pPr eaLnBrk="1" hangingPunct="1">
              <a:buNone/>
            </a:pPr>
            <a:r>
              <a:rPr lang="en-US" altLang="zh-CN" b="1" dirty="0">
                <a:solidFill>
                  <a:schemeClr val="bg1"/>
                </a:solidFill>
              </a:rPr>
              <a:t>    Student a={5.5,</a:t>
            </a:r>
            <a:r>
              <a:rPr lang="en-US" altLang="zh-CN" b="1" dirty="0">
                <a:solidFill>
                  <a:schemeClr val="bg1"/>
                </a:solidFill>
                <a:latin typeface="Arial" panose="020B0604020202020204" pitchFamily="34" charset="0"/>
              </a:rPr>
              <a:t>“</a:t>
            </a:r>
            <a:r>
              <a:rPr lang="en-US" altLang="zh-CN" b="1" dirty="0">
                <a:solidFill>
                  <a:schemeClr val="bg1"/>
                </a:solidFill>
              </a:rPr>
              <a:t>abcds</a:t>
            </a:r>
            <a:r>
              <a:rPr lang="en-US" altLang="zh-CN" b="1" dirty="0">
                <a:solidFill>
                  <a:schemeClr val="bg1"/>
                </a:solidFill>
                <a:latin typeface="Arial" panose="020B0604020202020204" pitchFamily="34" charset="0"/>
              </a:rPr>
              <a:t>”</a:t>
            </a:r>
            <a:r>
              <a:rPr lang="en-US" altLang="zh-CN" b="1" dirty="0">
                <a:solidFill>
                  <a:schemeClr val="bg1"/>
                </a:solidFill>
              </a:rPr>
              <a:t>,6};  //  a.age=6;(</a:t>
            </a:r>
            <a:r>
              <a:rPr lang="zh-CN" altLang="en-US" b="1" dirty="0">
                <a:solidFill>
                  <a:schemeClr val="bg1"/>
                </a:solidFill>
              </a:rPr>
              <a:t>相当于</a:t>
            </a:r>
            <a:r>
              <a:rPr lang="en-US" altLang="zh-CN" b="1" dirty="0">
                <a:solidFill>
                  <a:schemeClr val="bg1"/>
                </a:solidFill>
              </a:rPr>
              <a:t>)                   </a:t>
            </a:r>
            <a:endParaRPr lang="en-US" altLang="zh-CN" b="1" dirty="0">
              <a:solidFill>
                <a:schemeClr val="bg1"/>
              </a:solidFill>
            </a:endParaRPr>
          </a:p>
          <a:p>
            <a:pPr eaLnBrk="1" hangingPunct="1">
              <a:buNone/>
            </a:pPr>
            <a:r>
              <a:rPr lang="en-US" altLang="zh-CN" b="1" dirty="0">
                <a:solidFill>
                  <a:schemeClr val="bg1"/>
                </a:solidFill>
              </a:rPr>
              <a:t>}//</a:t>
            </a:r>
            <a:r>
              <a:rPr lang="zh-CN" altLang="en-US" b="1" dirty="0">
                <a:solidFill>
                  <a:schemeClr val="bg1"/>
                </a:solidFill>
              </a:rPr>
              <a:t>非</a:t>
            </a:r>
            <a:r>
              <a:rPr lang="en-US" altLang="zh-CN" b="1" dirty="0">
                <a:solidFill>
                  <a:schemeClr val="bg1"/>
                </a:solidFill>
              </a:rPr>
              <a:t>public</a:t>
            </a:r>
            <a:r>
              <a:rPr lang="zh-CN" altLang="en-US" b="1" dirty="0">
                <a:solidFill>
                  <a:schemeClr val="bg1"/>
                </a:solidFill>
              </a:rPr>
              <a:t>；复杂</a:t>
            </a:r>
            <a:endParaRPr lang="zh-CN" altLang="en-US" b="1" dirty="0">
              <a:solidFill>
                <a:schemeClr val="bg1"/>
              </a:solidFill>
            </a:endParaRPr>
          </a:p>
        </p:txBody>
      </p:sp>
      <p:sp>
        <p:nvSpPr>
          <p:cNvPr id="16281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Rectangle 2"/>
          <p:cNvSpPr>
            <a:spLocks noGrp="1"/>
          </p:cNvSpPr>
          <p:nvPr>
            <p:ph idx="1"/>
          </p:nvPr>
        </p:nvSpPr>
        <p:spPr>
          <a:xfrm>
            <a:off x="182563" y="549275"/>
            <a:ext cx="8782050" cy="6092825"/>
          </a:xfrm>
        </p:spPr>
        <p:txBody>
          <a:bodyPr vert="horz" wrap="square" lIns="91440" tIns="45720" rIns="91440" bIns="45720" anchor="t"/>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void begin();         </a:t>
            </a:r>
            <a:r>
              <a:rPr lang="zh-CN" altLang="en-US" sz="2800" b="1" dirty="0">
                <a:solidFill>
                  <a:schemeClr val="bg1"/>
                </a:solidFill>
              </a:rPr>
              <a:t>构造函数的最初设想</a:t>
            </a:r>
            <a:endParaRPr lang="zh-CN" altLang="en-US" sz="2800" b="1" dirty="0">
              <a:solidFill>
                <a:schemeClr val="bg1"/>
              </a:solidFill>
            </a:endParaRPr>
          </a:p>
          <a:p>
            <a:pPr eaLnBrk="1" hangingPunct="1">
              <a:lnSpc>
                <a:spcPct val="80000"/>
              </a:lnSpc>
              <a:buNone/>
            </a:pPr>
            <a:r>
              <a:rPr lang="zh-CN" altLang="en-US" sz="2800" b="1" dirty="0">
                <a:solidFill>
                  <a:schemeClr val="bg1"/>
                </a:solidFill>
              </a:rPr>
              <a:t>       </a:t>
            </a:r>
            <a:r>
              <a:rPr lang="en-US" altLang="zh-CN" sz="2800" b="1" dirty="0">
                <a:solidFill>
                  <a:schemeClr val="bg1"/>
                </a:solidFill>
              </a:rPr>
              <a:t>float score;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protected: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char *name;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age;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student::begin(){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age=5;</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a;</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a.begin();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
        <p:nvSpPr>
          <p:cNvPr id="16384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Rectangle 2"/>
          <p:cNvSpPr>
            <a:spLocks noGrp="1"/>
          </p:cNvSpPr>
          <p:nvPr>
            <p:ph idx="1"/>
          </p:nvPr>
        </p:nvSpPr>
        <p:spPr>
          <a:xfrm>
            <a:off x="182563" y="765175"/>
            <a:ext cx="8961437" cy="6092825"/>
          </a:xfrm>
        </p:spPr>
        <p:txBody>
          <a:bodyPr vert="horz" wrap="square" lIns="91440" tIns="45720" rIns="91440" bIns="45720" anchor="t"/>
          <a:p>
            <a:pPr eaLnBrk="1" hangingPunct="1">
              <a:lnSpc>
                <a:spcPct val="90000"/>
              </a:lnSpc>
              <a:buNone/>
            </a:pPr>
            <a:r>
              <a:rPr lang="en-US" altLang="zh-CN" sz="2400" b="1" dirty="0">
                <a:solidFill>
                  <a:schemeClr val="bg1"/>
                </a:solidFill>
              </a:rPr>
              <a:t>struct Student{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student();       //</a:t>
            </a:r>
            <a:r>
              <a:rPr lang="zh-CN" altLang="en-US" sz="2400" b="1" dirty="0">
                <a:solidFill>
                  <a:schemeClr val="bg1"/>
                </a:solidFill>
              </a:rPr>
              <a:t>构造函数的实现</a:t>
            </a:r>
            <a:r>
              <a:rPr lang="en-US" altLang="zh-CN" sz="2400" b="1" dirty="0">
                <a:solidFill>
                  <a:schemeClr val="bg1"/>
                </a:solidFill>
              </a:rPr>
              <a:t>;</a:t>
            </a:r>
            <a:r>
              <a:rPr lang="zh-CN" altLang="en-US" sz="2400" b="1" dirty="0">
                <a:solidFill>
                  <a:schemeClr val="bg1"/>
                </a:solidFill>
              </a:rPr>
              <a:t>系统约定与类同名；自动调用</a:t>
            </a:r>
            <a:endParaRPr lang="zh-CN" altLang="en-US" sz="2400" b="1" dirty="0">
              <a:solidFill>
                <a:schemeClr val="bg1"/>
              </a:solidFill>
            </a:endParaRPr>
          </a:p>
          <a:p>
            <a:pPr eaLnBrk="1" hangingPunct="1">
              <a:lnSpc>
                <a:spcPct val="90000"/>
              </a:lnSpc>
              <a:buNone/>
            </a:pPr>
            <a:r>
              <a:rPr lang="zh-CN" altLang="en-US" sz="2400" b="1" dirty="0">
                <a:solidFill>
                  <a:schemeClr val="bg1"/>
                </a:solidFill>
              </a:rPr>
              <a:t>       </a:t>
            </a:r>
            <a:r>
              <a:rPr lang="en-US" altLang="zh-CN" sz="2400" b="1" dirty="0">
                <a:solidFill>
                  <a:schemeClr val="bg1"/>
                </a:solidFill>
              </a:rPr>
              <a:t>int p();</a:t>
            </a:r>
            <a:endParaRPr lang="en-US" altLang="zh-CN" sz="2400" b="1" dirty="0">
              <a:solidFill>
                <a:schemeClr val="bg1"/>
              </a:solidFill>
            </a:endParaRPr>
          </a:p>
          <a:p>
            <a:pPr eaLnBrk="1" hangingPunct="1">
              <a:lnSpc>
                <a:spcPct val="90000"/>
              </a:lnSpc>
              <a:buNone/>
            </a:pPr>
            <a:r>
              <a:rPr lang="en-US" altLang="zh-CN" sz="2400" b="1" dirty="0">
                <a:solidFill>
                  <a:schemeClr val="bg1"/>
                </a:solidFill>
              </a:rPr>
              <a:t>protected:</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char *name;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int age;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student::student(){   //</a:t>
            </a:r>
            <a:r>
              <a:rPr lang="zh-CN" altLang="en-US" sz="2400" b="1" dirty="0">
                <a:solidFill>
                  <a:schemeClr val="bg1"/>
                </a:solidFill>
              </a:rPr>
              <a:t>没有返回类型；可以重载</a:t>
            </a:r>
            <a:endParaRPr lang="zh-CN" altLang="en-US" sz="2400" b="1" dirty="0">
              <a:solidFill>
                <a:schemeClr val="bg1"/>
              </a:solidFill>
            </a:endParaRPr>
          </a:p>
          <a:p>
            <a:pPr eaLnBrk="1" hangingPunct="1">
              <a:lnSpc>
                <a:spcPct val="90000"/>
              </a:lnSpc>
              <a:buNone/>
            </a:pPr>
            <a:r>
              <a:rPr lang="en-US" altLang="zh-CN" sz="2400" b="1" dirty="0">
                <a:solidFill>
                  <a:schemeClr val="bg1"/>
                </a:solidFill>
              </a:rPr>
              <a:t>  age=5;</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int student::p(){</a:t>
            </a:r>
            <a:endParaRPr lang="en-US" altLang="zh-CN" sz="2400" b="1" dirty="0">
              <a:solidFill>
                <a:schemeClr val="bg1"/>
              </a:solidFill>
            </a:endParaRPr>
          </a:p>
          <a:p>
            <a:pPr eaLnBrk="1" hangingPunct="1">
              <a:lnSpc>
                <a:spcPct val="90000"/>
              </a:lnSpc>
              <a:buNone/>
            </a:pPr>
            <a:r>
              <a:rPr lang="en-US" altLang="zh-CN" sz="2400" b="1" dirty="0">
                <a:solidFill>
                  <a:schemeClr val="bg1"/>
                </a:solidFill>
              </a:rPr>
              <a:t>  return(age);</a:t>
            </a:r>
            <a:endParaRPr lang="en-US" altLang="zh-CN" sz="2400" b="1" dirty="0">
              <a:solidFill>
                <a:schemeClr val="bg1"/>
              </a:solidFill>
            </a:endParaRPr>
          </a:p>
          <a:p>
            <a:pPr eaLnBrk="1" hangingPunct="1">
              <a:lnSpc>
                <a:spcPct val="90000"/>
              </a:lnSpc>
              <a:buNone/>
            </a:pPr>
            <a:r>
              <a:rPr lang="en-US" altLang="zh-CN" sz="2400" b="1" dirty="0">
                <a:solidFill>
                  <a:schemeClr val="bg1"/>
                </a:solidFill>
              </a:rPr>
              <a:t>}</a:t>
            </a:r>
            <a:endParaRPr lang="en-US" altLang="zh-CN" sz="2400" b="1" dirty="0">
              <a:solidFill>
                <a:schemeClr val="bg1"/>
              </a:solidFill>
            </a:endParaRPr>
          </a:p>
          <a:p>
            <a:pPr eaLnBrk="1" hangingPunct="1">
              <a:lnSpc>
                <a:spcPct val="90000"/>
              </a:lnSpc>
              <a:buNone/>
            </a:pPr>
            <a:r>
              <a:rPr lang="en-US" altLang="zh-CN" sz="2400" b="1" dirty="0">
                <a:solidFill>
                  <a:schemeClr val="bg1"/>
                </a:solidFill>
              </a:rPr>
              <a:t>void main(){ Student a;   cout&lt;&lt;a.p();}</a:t>
            </a:r>
            <a:endParaRPr lang="en-US" altLang="zh-CN" sz="2400" b="1" dirty="0">
              <a:solidFill>
                <a:schemeClr val="bg1"/>
              </a:solidFill>
            </a:endParaRPr>
          </a:p>
        </p:txBody>
      </p:sp>
      <p:sp>
        <p:nvSpPr>
          <p:cNvPr id="164866"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Rectangle 2"/>
          <p:cNvSpPr>
            <a:spLocks noGrp="1"/>
          </p:cNvSpPr>
          <p:nvPr>
            <p:ph idx="1"/>
          </p:nvPr>
        </p:nvSpPr>
        <p:spPr>
          <a:xfrm>
            <a:off x="827088" y="0"/>
            <a:ext cx="8316912" cy="6092825"/>
          </a:xfrm>
        </p:spPr>
        <p:txBody>
          <a:bodyPr vert="horz" wrap="square" lIns="91440" tIns="45720" rIns="91440" bIns="45720" anchor="t"/>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     </a:t>
            </a:r>
            <a:r>
              <a:rPr lang="zh-CN" altLang="en-US" sz="2400" b="1" dirty="0">
                <a:solidFill>
                  <a:schemeClr val="bg1"/>
                </a:solidFill>
              </a:rPr>
              <a:t>构造函数的声明</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~Student();  //     </a:t>
            </a:r>
            <a:r>
              <a:rPr lang="zh-CN" altLang="en-US" sz="2400" b="1" dirty="0">
                <a:solidFill>
                  <a:schemeClr val="bg1"/>
                </a:solidFill>
              </a:rPr>
              <a:t>析构函数的声明 ；没有参数；不可重载</a:t>
            </a:r>
            <a:endParaRPr lang="zh-CN" altLang="en-US" sz="2400" b="1" dirty="0">
              <a:solidFill>
                <a:schemeClr val="bg1"/>
              </a:solidFill>
            </a:endParaRPr>
          </a:p>
          <a:p>
            <a:pPr eaLnBrk="1" hangingPunct="1">
              <a:lnSpc>
                <a:spcPct val="80000"/>
              </a:lnSpc>
              <a:buNone/>
            </a:pPr>
            <a:r>
              <a:rPr lang="en-US" altLang="zh-CN" sz="2400" b="1" dirty="0">
                <a:solidFill>
                  <a:schemeClr val="bg1"/>
                </a:solidFill>
              </a:rPr>
              <a:t>protected: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char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age;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Student::Student(){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age=5;</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Student::~Student(){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zh-CN" altLang="en-US" sz="2400" b="1" dirty="0">
                <a:solidFill>
                  <a:schemeClr val="bg1"/>
                </a:solidFill>
              </a:rPr>
              <a:t>对象结束了</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a;</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3" name="Rectangle 2"/>
          <p:cNvSpPr>
            <a:spLocks noGrp="1"/>
          </p:cNvSpPr>
          <p:nvPr>
            <p:ph idx="1"/>
          </p:nvPr>
        </p:nvSpPr>
        <p:spPr>
          <a:xfrm>
            <a:off x="107950" y="765175"/>
            <a:ext cx="4464050" cy="6092825"/>
          </a:xfrm>
        </p:spPr>
        <p:txBody>
          <a:bodyPr vert="horz" wrap="square" lIns="91440" tIns="45720" rIns="91440" bIns="45720" anchor="t"/>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void Student();  //</a:t>
            </a:r>
            <a:r>
              <a:rPr lang="zh-CN" altLang="en-US" sz="2400" b="1" dirty="0">
                <a:solidFill>
                  <a:schemeClr val="bg1"/>
                </a:solidFill>
              </a:rPr>
              <a:t>错误      </a:t>
            </a:r>
            <a:endParaRPr lang="zh-CN" altLang="en-US" sz="2400" b="1" dirty="0">
              <a:solidFill>
                <a:schemeClr val="bg1"/>
              </a:solidFill>
            </a:endParaRPr>
          </a:p>
          <a:p>
            <a:pPr eaLnBrk="1" hangingPunct="1">
              <a:lnSpc>
                <a:spcPct val="80000"/>
              </a:lnSpc>
              <a:buNone/>
            </a:pPr>
            <a:r>
              <a:rPr lang="zh-CN" altLang="en-US" sz="2400" b="1" dirty="0">
                <a:solidFill>
                  <a:schemeClr val="bg1"/>
                </a:solidFill>
              </a:rPr>
              <a:t>       </a:t>
            </a:r>
            <a:r>
              <a:rPr lang="en-US" altLang="zh-CN" sz="2400" b="1" dirty="0">
                <a:solidFill>
                  <a:schemeClr val="bg1"/>
                </a:solidFill>
              </a:rPr>
              <a:t>void ~Student();//</a:t>
            </a:r>
            <a:r>
              <a:rPr lang="zh-CN" altLang="en-US" sz="2400" b="1" dirty="0">
                <a:solidFill>
                  <a:schemeClr val="bg1"/>
                </a:solidFill>
              </a:rPr>
              <a:t>错误      </a:t>
            </a:r>
            <a:endParaRPr lang="zh-CN" altLang="en-US" sz="2400" b="1" dirty="0">
              <a:solidFill>
                <a:schemeClr val="bg1"/>
              </a:solidFill>
            </a:endParaRPr>
          </a:p>
          <a:p>
            <a:pPr eaLnBrk="1" hangingPunct="1">
              <a:lnSpc>
                <a:spcPct val="80000"/>
              </a:lnSpc>
              <a:buNone/>
            </a:pPr>
            <a:r>
              <a:rPr lang="en-US" altLang="zh-CN" sz="2400" b="1" dirty="0">
                <a:solidFill>
                  <a:schemeClr val="bg1"/>
                </a:solidFill>
              </a:rPr>
              <a:t>protected: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char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age;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Student::Student(){//</a:t>
            </a:r>
            <a:r>
              <a:rPr lang="zh-CN" altLang="en-US" sz="2400" b="1" dirty="0">
                <a:solidFill>
                  <a:schemeClr val="bg1"/>
                </a:solidFill>
              </a:rPr>
              <a:t>错误</a:t>
            </a:r>
            <a:endParaRPr lang="zh-CN" altLang="en-US" sz="2400" b="1" dirty="0">
              <a:solidFill>
                <a:schemeClr val="bg1"/>
              </a:solidFill>
            </a:endParaRPr>
          </a:p>
          <a:p>
            <a:pPr eaLnBrk="1" hangingPunct="1">
              <a:lnSpc>
                <a:spcPct val="80000"/>
              </a:lnSpc>
              <a:buNone/>
            </a:pPr>
            <a:r>
              <a:rPr lang="en-US" altLang="zh-CN" sz="2400" b="1" dirty="0">
                <a:solidFill>
                  <a:schemeClr val="bg1"/>
                </a:solidFill>
              </a:rPr>
              <a:t>  age=5;</a:t>
            </a:r>
            <a:endParaRPr lang="en-US" altLang="zh-CN" sz="2400" b="1" dirty="0">
              <a:solidFill>
                <a:schemeClr val="bg1"/>
              </a:solidFill>
            </a:endParaRPr>
          </a:p>
          <a:p>
            <a:pPr eaLnBrk="1" hangingPunct="1">
              <a:lnSpc>
                <a:spcPct val="80000"/>
              </a:lnSpc>
              <a:buNone/>
            </a:pPr>
            <a:r>
              <a:rPr lang="zh-CN" altLang="en-US" sz="2400" b="1" dirty="0">
                <a:solidFill>
                  <a:schemeClr val="bg1"/>
                </a:solidFill>
              </a:rPr>
              <a:t>｝</a:t>
            </a:r>
            <a:endParaRPr lang="zh-CN" altLang="en-US" sz="2400" b="1" dirty="0">
              <a:solidFill>
                <a:schemeClr val="bg1"/>
              </a:solidFill>
            </a:endParaRPr>
          </a:p>
          <a:p>
            <a:pPr eaLnBrk="1" hangingPunct="1">
              <a:lnSpc>
                <a:spcPct val="80000"/>
              </a:lnSpc>
              <a:buNone/>
            </a:pPr>
            <a:r>
              <a:rPr lang="en-US" altLang="zh-CN" sz="2400" b="1" dirty="0">
                <a:solidFill>
                  <a:schemeClr val="bg1"/>
                </a:solidFill>
              </a:rPr>
              <a:t>void Student::~Student(){//</a:t>
            </a:r>
            <a:r>
              <a:rPr lang="zh-CN" altLang="en-US" sz="2400" b="1" dirty="0">
                <a:solidFill>
                  <a:schemeClr val="bg1"/>
                </a:solidFill>
              </a:rPr>
              <a:t>错误</a:t>
            </a:r>
            <a:endParaRPr lang="zh-CN" altLang="en-US" sz="2400" b="1" dirty="0">
              <a:solidFill>
                <a:schemeClr val="bg1"/>
              </a:solidFill>
            </a:endParaRPr>
          </a:p>
          <a:p>
            <a:pPr eaLnBrk="1" hangingPunct="1">
              <a:lnSpc>
                <a:spcPct val="80000"/>
              </a:lnSpc>
              <a:buNone/>
            </a:pPr>
            <a:r>
              <a:rPr lang="en-US" altLang="zh-CN" sz="2400" b="1" dirty="0">
                <a:solidFill>
                  <a:schemeClr val="bg1"/>
                </a:solidFill>
              </a:rPr>
              <a:t>   cout&lt;&lt;</a:t>
            </a:r>
            <a:r>
              <a:rPr lang="en-US" altLang="zh-CN" sz="2400" b="1" dirty="0">
                <a:solidFill>
                  <a:schemeClr val="bg1"/>
                </a:solidFill>
                <a:latin typeface="Arial" panose="020B0604020202020204" pitchFamily="34" charset="0"/>
              </a:rPr>
              <a:t>“</a:t>
            </a:r>
            <a:r>
              <a:rPr lang="zh-CN" altLang="en-US" sz="2400" b="1" dirty="0">
                <a:solidFill>
                  <a:schemeClr val="bg1"/>
                </a:solidFill>
              </a:rPr>
              <a:t>对象结束了</a:t>
            </a:r>
            <a:r>
              <a:rPr lang="zh-CN" altLang="en-US"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zh-CN" altLang="en-US" sz="2400" b="1" dirty="0">
                <a:solidFill>
                  <a:schemeClr val="bg1"/>
                </a:solidFill>
              </a:rPr>
              <a:t>｝</a:t>
            </a:r>
            <a:endParaRPr lang="zh-CN" altLang="en-US" sz="2400" b="1" dirty="0">
              <a:solidFill>
                <a:schemeClr val="bg1"/>
              </a:solidFill>
            </a:endParaRPr>
          </a:p>
        </p:txBody>
      </p:sp>
      <p:sp>
        <p:nvSpPr>
          <p:cNvPr id="16691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66915" name="Rectangle 4"/>
          <p:cNvSpPr/>
          <p:nvPr/>
        </p:nvSpPr>
        <p:spPr>
          <a:xfrm>
            <a:off x="4643438" y="549275"/>
            <a:ext cx="4500562" cy="6092825"/>
          </a:xfrm>
          <a:prstGeom prst="rect">
            <a:avLst/>
          </a:prstGeom>
          <a:noFill/>
          <a:ln w="9525">
            <a:noFill/>
          </a:ln>
        </p:spPr>
        <p:txBody>
          <a:bodyPr anchor="t"/>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class Student{</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public:</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Student();         </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~Student();        </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protected:</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char *name;</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int age;</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Student::Student(){  age=5;</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Student::~Student(){</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cout&lt;&lt;</a:t>
            </a:r>
            <a:r>
              <a:rPr lang="en-US" altLang="zh-CN" sz="2400" b="1" dirty="0">
                <a:latin typeface="Arial" panose="020B0604020202020204" pitchFamily="34"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对象结束了</a:t>
            </a:r>
            <a:r>
              <a:rPr lang="zh-CN" altLang="en-US"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Student a;  </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a.Student();//</a:t>
            </a:r>
            <a:r>
              <a:rPr lang="zh-CN" altLang="en-US" sz="2400" b="1" dirty="0">
                <a:latin typeface="Times New Roman" panose="02020603050405020304" pitchFamily="18" charset="0"/>
                <a:ea typeface="宋体" panose="02010600030101010101" pitchFamily="2" charset="-122"/>
              </a:rPr>
              <a:t>错误</a:t>
            </a:r>
            <a:endParaRPr lang="zh-CN" altLang="en-US"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    a.~Student();//</a:t>
            </a:r>
            <a:r>
              <a:rPr lang="zh-CN" altLang="en-US" sz="2400" b="1" dirty="0">
                <a:latin typeface="Times New Roman" panose="02020603050405020304" pitchFamily="18" charset="0"/>
                <a:ea typeface="宋体" panose="02010600030101010101" pitchFamily="2" charset="-122"/>
              </a:rPr>
              <a:t>不提倡</a:t>
            </a:r>
            <a:endParaRPr lang="en-US" altLang="zh-CN" sz="24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Rectangle 2"/>
          <p:cNvSpPr>
            <a:spLocks noGrp="1"/>
          </p:cNvSpPr>
          <p:nvPr>
            <p:ph idx="1"/>
          </p:nvPr>
        </p:nvSpPr>
        <p:spPr>
          <a:xfrm>
            <a:off x="1258888" y="0"/>
            <a:ext cx="6694487" cy="6092825"/>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带参数的构造函数</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    </a:t>
            </a:r>
            <a:r>
              <a:rPr lang="en-US" altLang="zh-CN" sz="2400" b="1" dirty="0">
                <a:solidFill>
                  <a:schemeClr val="hlink"/>
                </a:solidFill>
              </a:rPr>
              <a:t>int semesHours;  float gpa;</a:t>
            </a:r>
            <a:endParaRPr lang="en-US" altLang="zh-CN" sz="2400" b="1" dirty="0">
              <a:solidFill>
                <a:schemeClr val="hlink"/>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i,float 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 &lt;&lt;</a:t>
            </a:r>
            <a:r>
              <a:rPr lang="en-US" altLang="zh-CN" sz="2400" b="1" dirty="0">
                <a:solidFill>
                  <a:schemeClr val="bg1"/>
                </a:solidFill>
                <a:latin typeface="Arial" panose="020B0604020202020204" pitchFamily="34" charset="0"/>
              </a:rPr>
              <a:t>“</a:t>
            </a:r>
            <a:r>
              <a:rPr lang="zh-CN" altLang="en-US" sz="2400" b="1" dirty="0">
                <a:solidFill>
                  <a:schemeClr val="bg1"/>
                </a:solidFill>
              </a:rPr>
              <a:t>构造</a:t>
            </a:r>
            <a:r>
              <a:rPr lang="en-US" altLang="zh-CN" sz="2400" b="1" dirty="0">
                <a:solidFill>
                  <a:schemeClr val="bg1"/>
                </a:solidFill>
              </a:rPr>
              <a:t>" &lt;&lt;pName &lt;&lt;endl;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 pName;</a:t>
            </a:r>
            <a:endParaRPr lang="en-US" altLang="zh-CN" sz="2400" b="1" dirty="0">
              <a:solidFill>
                <a:schemeClr val="bg1"/>
              </a:solidFill>
            </a:endParaRPr>
          </a:p>
          <a:p>
            <a:pPr eaLnBrk="1" hangingPunct="1">
              <a:lnSpc>
                <a:spcPct val="80000"/>
              </a:lnSpc>
              <a:buNone/>
            </a:pPr>
            <a:r>
              <a:rPr lang="en-US" altLang="zh-CN" sz="2400" b="1" dirty="0">
                <a:solidFill>
                  <a:schemeClr val="hlink"/>
                </a:solidFill>
              </a:rPr>
              <a:t>    semesHours=i;   </a:t>
            </a:r>
            <a:endParaRPr lang="en-US" altLang="zh-CN" sz="2400" b="1" dirty="0">
              <a:solidFill>
                <a:schemeClr val="hlink"/>
              </a:solidFill>
            </a:endParaRPr>
          </a:p>
          <a:p>
            <a:pPr eaLnBrk="1" hangingPunct="1">
              <a:lnSpc>
                <a:spcPct val="80000"/>
              </a:lnSpc>
              <a:buNone/>
            </a:pPr>
            <a:r>
              <a:rPr lang="en-US" altLang="zh-CN" sz="2400" b="1" dirty="0">
                <a:solidFill>
                  <a:schemeClr val="hlink"/>
                </a:solidFill>
              </a:rPr>
              <a:t>    gpa=j;</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 &lt;&lt;</a:t>
            </a:r>
            <a:r>
              <a:rPr lang="en-US" altLang="zh-CN" sz="2400" b="1" dirty="0">
                <a:solidFill>
                  <a:schemeClr val="bg1"/>
                </a:solidFill>
                <a:latin typeface="Arial" panose="020B0604020202020204" pitchFamily="34" charset="0"/>
              </a:rPr>
              <a:t>“</a:t>
            </a:r>
            <a:r>
              <a:rPr lang="zh-CN" altLang="en-US" sz="2400" b="1" dirty="0">
                <a:solidFill>
                  <a:schemeClr val="bg1"/>
                </a:solidFill>
              </a:rPr>
              <a:t>析构 </a:t>
            </a:r>
            <a:r>
              <a:rPr lang="en-US" altLang="zh-CN" sz="2400" b="1" dirty="0">
                <a:solidFill>
                  <a:schemeClr val="bg1"/>
                </a:solidFill>
              </a:rPr>
              <a:t>" &lt;&lt;name &lt;&lt;endl;</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ss(</a:t>
            </a:r>
            <a:r>
              <a:rPr lang="en-US" altLang="zh-CN" sz="2400" b="1" dirty="0">
                <a:solidFill>
                  <a:schemeClr val="bg1"/>
                </a:solidFill>
                <a:latin typeface="Arial" panose="020B0604020202020204" pitchFamily="34" charset="0"/>
              </a:rPr>
              <a:t>“</a:t>
            </a:r>
            <a:r>
              <a:rPr lang="en-US" altLang="zh-CN" sz="2400" b="1" dirty="0">
                <a:solidFill>
                  <a:schemeClr val="bg1"/>
                </a:solidFill>
              </a:rPr>
              <a:t>Jenny</a:t>
            </a:r>
            <a:r>
              <a:rPr lang="en-US" altLang="zh-CN" sz="2400" b="1" dirty="0">
                <a:solidFill>
                  <a:schemeClr val="bg1"/>
                </a:solidFill>
                <a:latin typeface="Arial" panose="020B0604020202020204" pitchFamily="34" charset="0"/>
              </a:rPr>
              <a:t>”</a:t>
            </a:r>
            <a:r>
              <a:rPr lang="en-US" altLang="zh-CN" sz="2400" b="1" dirty="0">
                <a:solidFill>
                  <a:schemeClr val="bg1"/>
                </a:solidFill>
              </a:rPr>
              <a:t>,20,80.5);       </a:t>
            </a:r>
            <a:r>
              <a:rPr lang="en-US" altLang="zh-CN" sz="2400" b="1" dirty="0">
                <a:solidFill>
                  <a:srgbClr val="FFFF00"/>
                </a:solidFill>
              </a:rPr>
              <a:t>//</a:t>
            </a:r>
            <a:r>
              <a:rPr lang="zh-CN" altLang="en-US" sz="2400" b="1" dirty="0">
                <a:solidFill>
                  <a:srgbClr val="FFFF00"/>
                </a:solidFill>
              </a:rPr>
              <a:t>引申  </a:t>
            </a:r>
            <a:r>
              <a:rPr lang="en-US" altLang="zh-CN" sz="2400" b="1" dirty="0">
                <a:solidFill>
                  <a:srgbClr val="FFFF00"/>
                </a:solidFill>
              </a:rPr>
              <a:t>int i(9)</a:t>
            </a:r>
            <a:r>
              <a:rPr lang="zh-CN" altLang="en-US" sz="2400" b="1" dirty="0">
                <a:solidFill>
                  <a:srgbClr val="FFFF00"/>
                </a:solidFill>
              </a:rPr>
              <a:t>；</a:t>
            </a:r>
            <a:endParaRPr lang="en-US" altLang="zh-CN" sz="2400" b="1" dirty="0">
              <a:solidFill>
                <a:srgbClr val="FFFF00"/>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f(){Student t(</a:t>
            </a:r>
            <a:r>
              <a:rPr lang="en-US" altLang="zh-CN" sz="2400" b="1" dirty="0">
                <a:solidFill>
                  <a:schemeClr val="bg1"/>
                </a:solidFill>
                <a:latin typeface="Arial" panose="020B0604020202020204" pitchFamily="34" charset="0"/>
              </a:rPr>
              <a:t>“</a:t>
            </a:r>
            <a:r>
              <a:rPr lang="en-US" altLang="zh-CN" sz="2400" b="1" dirty="0">
                <a:solidFill>
                  <a:schemeClr val="bg1"/>
                </a:solidFill>
              </a:rPr>
              <a:t>Tom</a:t>
            </a:r>
            <a:r>
              <a:rPr lang="en-US" altLang="zh-CN" sz="2400" b="1" dirty="0">
                <a:solidFill>
                  <a:schemeClr val="bg1"/>
                </a:solidFill>
                <a:latin typeface="Arial" panose="020B0604020202020204" pitchFamily="34" charset="0"/>
              </a:rPr>
              <a:t>”</a:t>
            </a:r>
            <a:r>
              <a:rPr lang="en-US" altLang="zh-CN" sz="2400" b="1" dirty="0">
                <a:solidFill>
                  <a:schemeClr val="bg1"/>
                </a:solidFill>
              </a:rPr>
              <a:t>,17,90);}                                                                        </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1" name="Rectangle 2"/>
          <p:cNvSpPr>
            <a:spLocks noGrp="1"/>
          </p:cNvSpPr>
          <p:nvPr>
            <p:ph idx="1"/>
          </p:nvPr>
        </p:nvSpPr>
        <p:spPr>
          <a:xfrm>
            <a:off x="1619250" y="0"/>
            <a:ext cx="6405563" cy="5876925"/>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构造函数重载</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 int semesHours;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t>
            </a:r>
            <a:r>
              <a:rPr lang="zh-CN" altLang="en-US" sz="2400" b="1" dirty="0">
                <a:solidFill>
                  <a:schemeClr val="bg1"/>
                </a:solidFill>
              </a:rPr>
              <a:t>第一个运行了</a:t>
            </a:r>
            <a:r>
              <a:rPr lang="en-US" altLang="zh-CN" sz="2400" b="1" dirty="0">
                <a:solidFill>
                  <a:schemeClr val="bg1"/>
                </a:solidFill>
              </a:rPr>
              <a:t>\n”);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 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i)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cout&lt;&lt;(“</a:t>
            </a:r>
            <a:r>
              <a:rPr lang="zh-CN" altLang="en-US" sz="2400" b="1" dirty="0">
                <a:solidFill>
                  <a:schemeClr val="bg1"/>
                </a:solidFill>
              </a:rPr>
              <a:t>第二个运行了</a:t>
            </a:r>
            <a:r>
              <a:rPr lang="en-US" altLang="zh-CN" sz="2400" b="1" dirty="0">
                <a:solidFill>
                  <a:schemeClr val="bg1"/>
                </a:solidFill>
              </a:rPr>
              <a:t>\n”);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 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semesHours=i;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tt("Tom",60);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ss("Jenny");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f;      //</a:t>
            </a:r>
            <a:r>
              <a:rPr lang="zh-CN" altLang="en-US" sz="2400" b="1" dirty="0">
                <a:solidFill>
                  <a:schemeClr val="bg1"/>
                </a:solidFill>
              </a:rPr>
              <a:t>错误    ？</a:t>
            </a:r>
            <a:r>
              <a:rPr lang="en-US" altLang="zh-CN" sz="2400" b="1" dirty="0">
                <a:solidFill>
                  <a:schemeClr val="bg1"/>
                </a:solidFill>
              </a:rPr>
              <a:t>Student  f</a:t>
            </a:r>
            <a:r>
              <a:rPr lang="zh-CN" altLang="en-US" sz="2400" b="1" dirty="0">
                <a:solidFill>
                  <a:schemeClr val="bg1"/>
                </a:solidFill>
              </a:rPr>
              <a:t>（）</a:t>
            </a:r>
            <a:r>
              <a:rPr lang="en-US" altLang="zh-CN" sz="2400" b="1" dirty="0">
                <a:solidFill>
                  <a:schemeClr val="bg1"/>
                </a:solidFill>
              </a:rPr>
              <a:t>;</a:t>
            </a:r>
            <a:r>
              <a:rPr lang="zh-CN" altLang="en-US" sz="2400" b="1" dirty="0">
                <a:solidFill>
                  <a:schemeClr val="bg1"/>
                </a:solidFill>
              </a:rPr>
              <a:t>                               </a:t>
            </a:r>
            <a:endParaRPr lang="zh-CN" altLang="en-US"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Rectangle 2"/>
          <p:cNvSpPr>
            <a:spLocks noGrp="1"/>
          </p:cNvSpPr>
          <p:nvPr>
            <p:ph idx="1"/>
          </p:nvPr>
        </p:nvSpPr>
        <p:spPr>
          <a:xfrm>
            <a:off x="1619250" y="0"/>
            <a:ext cx="6405563" cy="5876925"/>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构造函数重载  改写一</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 int semesHours;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 = “</a:t>
            </a:r>
            <a:r>
              <a:rPr lang="zh-CN" altLang="en-US" sz="2400" b="1" dirty="0">
                <a:solidFill>
                  <a:schemeClr val="bg1"/>
                </a:solidFill>
              </a:rPr>
              <a:t>张三</a:t>
            </a: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 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i)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 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semesHours=i;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void main(){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tt("Tom",60);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ss("Jenny");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f;      //</a:t>
            </a:r>
            <a:r>
              <a:rPr lang="zh-CN" altLang="en-US" sz="2400" b="1" dirty="0">
                <a:solidFill>
                  <a:schemeClr val="bg1"/>
                </a:solidFill>
              </a:rPr>
              <a:t>正确                               </a:t>
            </a:r>
            <a:endParaRPr lang="zh-CN" altLang="en-US"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2"/>
          <p:cNvSpPr txBox="1">
            <a:spLocks noChangeArrowheads="1"/>
          </p:cNvSpPr>
          <p:nvPr/>
        </p:nvSpPr>
        <p:spPr bwMode="auto">
          <a:xfrm>
            <a:off x="1619250" y="0"/>
            <a:ext cx="6405563" cy="5876925"/>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r>
              <a:rPr kumimoji="0" lang="zh-CN" altLang="en-US" sz="2400" b="1" i="0" u="none" strike="noStrike" kern="0" cap="none" spc="0" normalizeH="0" baseline="0" noProof="0" dirty="0">
                <a:ln>
                  <a:noFill/>
                </a:ln>
                <a:solidFill>
                  <a:schemeClr val="bg1"/>
                </a:solidFill>
                <a:effectLst/>
                <a:uLnTx/>
                <a:uFillTx/>
                <a:latin typeface="+mn-lt"/>
                <a:ea typeface="+mn-ea"/>
                <a:cs typeface="+mn-cs"/>
              </a:rPr>
              <a:t>构造函数重载  改写二</a:t>
            </a:r>
            <a:endParaRPr kumimoji="0" lang="zh-CN" altLang="en-US"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class Student{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string name;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int</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semesHours</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public:</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Student(string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pName</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  {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name =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pName</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Student(string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pName,int</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i</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 {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name =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pName</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semesHours</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i</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rgbClr val="FFFF00"/>
                </a:solidFill>
                <a:effectLst/>
                <a:uLnTx/>
                <a:uFillTx/>
                <a:latin typeface="+mn-lt"/>
                <a:ea typeface="+mn-ea"/>
                <a:cs typeface="+mn-cs"/>
              </a:rPr>
              <a:t>Student</a:t>
            </a:r>
            <a:r>
              <a:rPr kumimoji="0" lang="zh-CN" altLang="en-US" sz="2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2400" b="1" i="0" u="none" strike="noStrike" kern="0" cap="none" spc="0" normalizeH="0" baseline="0" noProof="0" dirty="0">
                <a:ln>
                  <a:noFill/>
                </a:ln>
                <a:solidFill>
                  <a:srgbClr val="FFFF00"/>
                </a:solidFill>
                <a:effectLst/>
                <a:uLnTx/>
                <a:uFillTx/>
                <a:latin typeface="+mn-lt"/>
                <a:ea typeface="+mn-ea"/>
                <a:cs typeface="+mn-cs"/>
              </a:rPr>
              <a:t>{ }</a:t>
            </a:r>
            <a:endParaRPr kumimoji="0" lang="en-US" altLang="zh-CN" sz="2400" b="1" i="0" u="none" strike="noStrike" kern="0" cap="none" spc="0" normalizeH="0" baseline="0" noProof="0" dirty="0">
              <a:ln>
                <a:noFill/>
              </a:ln>
              <a:solidFill>
                <a:srgbClr val="FFFF00"/>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void main(){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Student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tt</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("Tom",60);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Student </a:t>
            </a:r>
            <a:r>
              <a:rPr kumimoji="0" lang="en-US" altLang="zh-CN" sz="2400" b="1" i="0" u="none" strike="noStrike" kern="0" cap="none" spc="0" normalizeH="0" baseline="0" noProof="0" dirty="0" err="1">
                <a:ln>
                  <a:noFill/>
                </a:ln>
                <a:solidFill>
                  <a:schemeClr val="bg1"/>
                </a:solidFill>
                <a:effectLst/>
                <a:uLnTx/>
                <a:uFillTx/>
                <a:latin typeface="+mn-lt"/>
                <a:ea typeface="+mn-ea"/>
                <a:cs typeface="+mn-cs"/>
              </a:rPr>
              <a:t>ss</a:t>
            </a:r>
            <a:r>
              <a:rPr kumimoji="0" lang="en-US" altLang="zh-CN" sz="2400" b="1" i="0" u="none" strike="noStrike" kern="0" cap="none" spc="0" normalizeH="0" baseline="0" noProof="0" dirty="0">
                <a:ln>
                  <a:noFill/>
                </a:ln>
                <a:solidFill>
                  <a:schemeClr val="bg1"/>
                </a:solidFill>
                <a:effectLst/>
                <a:uLnTx/>
                <a:uFillTx/>
                <a:latin typeface="+mn-lt"/>
                <a:ea typeface="+mn-ea"/>
                <a:cs typeface="+mn-cs"/>
              </a:rPr>
              <a:t>("Jenny"); </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    Student f;      //</a:t>
            </a:r>
            <a:r>
              <a:rPr kumimoji="0" lang="zh-CN" altLang="en-US" sz="2400" b="1" i="0" u="none" strike="noStrike" kern="0" cap="none" spc="0" normalizeH="0" baseline="0" noProof="0" dirty="0">
                <a:ln>
                  <a:noFill/>
                </a:ln>
                <a:solidFill>
                  <a:schemeClr val="bg1"/>
                </a:solidFill>
                <a:effectLst/>
                <a:uLnTx/>
                <a:uFillTx/>
                <a:latin typeface="+mn-lt"/>
                <a:ea typeface="+mn-ea"/>
                <a:cs typeface="+mn-cs"/>
              </a:rPr>
              <a:t>正确                               </a:t>
            </a:r>
            <a:endParaRPr kumimoji="0" lang="zh-CN" altLang="en-US" sz="2400" b="1"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chemeClr val="bg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bg1"/>
              </a:solidFill>
              <a:effectLst/>
              <a:uLnTx/>
              <a:uFillTx/>
              <a:latin typeface="+mn-lt"/>
              <a:ea typeface="+mn-ea"/>
              <a:cs typeface="+mn-c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 name="内容占位符 1"/>
          <p:cNvSpPr>
            <a:spLocks noGrp="1"/>
          </p:cNvSpPr>
          <p:nvPr>
            <p:ph idx="1"/>
          </p:nvPr>
        </p:nvSpPr>
        <p:spPr>
          <a:xfrm>
            <a:off x="1190625" y="1125538"/>
            <a:ext cx="6981825" cy="4114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1" lang="zh-CN" altLang="en-US" sz="3200" b="0" i="0" u="none" strike="noStrike" kern="0" cap="none" spc="0" normalizeH="0" baseline="0" noProof="0" dirty="0">
                <a:ln>
                  <a:noFill/>
                </a:ln>
                <a:solidFill>
                  <a:schemeClr val="bg1"/>
                </a:solidFill>
                <a:effectLst/>
                <a:uLnTx/>
                <a:uFillTx/>
                <a:latin typeface="+mn-lt"/>
                <a:ea typeface="+mn-ea"/>
                <a:cs typeface="+mn-cs"/>
              </a:rPr>
              <a:t>构造函数执行的顺序（生灭顺序）</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1</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、复用情况</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      </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a:t>
            </a:r>
            <a:r>
              <a:rPr kumimoji="1" lang="en-US" altLang="zh-CN" sz="3200" b="0" i="0" u="none" strike="noStrike" kern="0" cap="none" spc="0" normalizeH="0" baseline="0" noProof="0" dirty="0">
                <a:ln>
                  <a:noFill/>
                </a:ln>
                <a:solidFill>
                  <a:schemeClr val="bg1"/>
                </a:solidFill>
                <a:effectLst/>
                <a:uLnTx/>
                <a:uFillTx/>
                <a:latin typeface="+mn-lt"/>
                <a:ea typeface="+mn-ea"/>
                <a:cs typeface="+mn-cs"/>
              </a:rPr>
              <a:t>1</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）组合</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      </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a:t>
            </a:r>
            <a:r>
              <a:rPr kumimoji="1" lang="en-US" altLang="zh-CN" sz="3200" b="0" i="0" u="none" strike="noStrike" kern="0" cap="none" spc="0" normalizeH="0" baseline="0" noProof="0" dirty="0">
                <a:ln>
                  <a:noFill/>
                </a:ln>
                <a:solidFill>
                  <a:schemeClr val="bg1"/>
                </a:solidFill>
                <a:effectLst/>
                <a:uLnTx/>
                <a:uFillTx/>
                <a:latin typeface="+mn-lt"/>
                <a:ea typeface="+mn-ea"/>
                <a:cs typeface="+mn-cs"/>
              </a:rPr>
              <a:t>2</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）继承</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2</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、时空情况</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      </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a:t>
            </a:r>
            <a:r>
              <a:rPr kumimoji="1" lang="en-US" altLang="zh-CN" sz="3200" b="0" i="0" u="none" strike="noStrike" kern="0" cap="none" spc="0" normalizeH="0" baseline="0" noProof="0" dirty="0">
                <a:ln>
                  <a:noFill/>
                </a:ln>
                <a:solidFill>
                  <a:schemeClr val="bg1"/>
                </a:solidFill>
                <a:effectLst/>
                <a:uLnTx/>
                <a:uFillTx/>
                <a:latin typeface="+mn-lt"/>
                <a:ea typeface="+mn-ea"/>
                <a:cs typeface="+mn-cs"/>
              </a:rPr>
              <a:t>1</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）空间：</a:t>
            </a:r>
            <a:r>
              <a:rPr kumimoji="1" lang="en-US" altLang="zh-CN" sz="3200" b="0" i="0" u="none" strike="noStrike" kern="0" cap="none" spc="0" normalizeH="0" baseline="0" noProof="0" dirty="0">
                <a:ln>
                  <a:noFill/>
                </a:ln>
                <a:solidFill>
                  <a:schemeClr val="bg1"/>
                </a:solidFill>
                <a:effectLst/>
                <a:uLnTx/>
                <a:uFillTx/>
                <a:latin typeface="+mn-lt"/>
                <a:ea typeface="+mn-ea"/>
                <a:cs typeface="+mn-cs"/>
              </a:rPr>
              <a:t> </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全局 局部 </a:t>
            </a:r>
            <a:endParaRPr kumimoji="1" lang="en-US" altLang="zh-CN" sz="3200" b="0" i="0" u="none" strike="noStrike" kern="0" cap="none" spc="0" normalizeH="0" baseline="0" noProof="0" dirty="0">
              <a:ln>
                <a:noFill/>
              </a:ln>
              <a:solidFill>
                <a:schemeClr val="bg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1" lang="en-US" altLang="zh-CN" sz="3200" b="0" i="0" u="none" strike="noStrike" kern="0" cap="none" spc="0" normalizeH="0" baseline="0" noProof="0" dirty="0">
                <a:ln>
                  <a:noFill/>
                </a:ln>
                <a:solidFill>
                  <a:schemeClr val="bg1"/>
                </a:solidFill>
                <a:effectLst/>
                <a:uLnTx/>
                <a:uFillTx/>
                <a:latin typeface="+mn-lt"/>
                <a:ea typeface="+mn-ea"/>
                <a:cs typeface="+mn-cs"/>
              </a:rPr>
              <a:t>      </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a:t>
            </a:r>
            <a:r>
              <a:rPr kumimoji="1" lang="en-US" altLang="zh-CN" sz="3200" b="0" i="0" u="none" strike="noStrike" kern="0" cap="none" spc="0" normalizeH="0" baseline="0" noProof="0" dirty="0">
                <a:ln>
                  <a:noFill/>
                </a:ln>
                <a:solidFill>
                  <a:schemeClr val="bg1"/>
                </a:solidFill>
                <a:effectLst/>
                <a:uLnTx/>
                <a:uFillTx/>
                <a:latin typeface="+mn-lt"/>
                <a:ea typeface="+mn-ea"/>
                <a:cs typeface="+mn-cs"/>
              </a:rPr>
              <a:t>2</a:t>
            </a:r>
            <a:r>
              <a:rPr kumimoji="1" lang="zh-CN" altLang="en-US" sz="3200" b="0" i="0" u="none" strike="noStrike" kern="0" cap="none" spc="0" normalizeH="0" baseline="0" noProof="0" dirty="0">
                <a:ln>
                  <a:noFill/>
                </a:ln>
                <a:solidFill>
                  <a:schemeClr val="bg1"/>
                </a:solidFill>
                <a:effectLst/>
                <a:uLnTx/>
                <a:uFillTx/>
                <a:latin typeface="+mn-lt"/>
                <a:ea typeface="+mn-ea"/>
                <a:cs typeface="+mn-cs"/>
              </a:rPr>
              <a:t>）时间： 动态 静态</a:t>
            </a:r>
            <a:endParaRPr kumimoji="1" lang="zh-CN" altLang="en-US" sz="3200" b="0" i="0" u="none" strike="noStrike" kern="0" cap="none" spc="0" normalizeH="0" baseline="0" noProof="0" dirty="0">
              <a:ln>
                <a:noFill/>
              </a:ln>
              <a:solidFill>
                <a:schemeClr val="bg1"/>
              </a:solidFill>
              <a:effectLst/>
              <a:uLnTx/>
              <a:uFillTx/>
              <a:latin typeface="+mn-lt"/>
              <a:ea typeface="+mn-ea"/>
              <a:cs typeface="+mn-cs"/>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Rectangle 2"/>
          <p:cNvSpPr>
            <a:spLocks noGrp="1"/>
          </p:cNvSpPr>
          <p:nvPr>
            <p:ph type="body" sz="half" idx="1"/>
          </p:nvPr>
        </p:nvSpPr>
        <p:spPr>
          <a:xfrm>
            <a:off x="0" y="261938"/>
            <a:ext cx="4427538" cy="5688012"/>
          </a:xfrm>
        </p:spPr>
        <p:txBody>
          <a:bodyPr vert="horz" wrap="square" lIns="91440" tIns="45720" rIns="91440" bIns="45720" anchor="t"/>
          <a:p>
            <a:pPr eaLnBrk="1" hangingPunct="1">
              <a:lnSpc>
                <a:spcPct val="80000"/>
              </a:lnSpc>
              <a:buClrTx/>
              <a:buSzTx/>
              <a:buFontTx/>
              <a:buNone/>
            </a:pPr>
            <a:r>
              <a:rPr lang="en-US" altLang="zh-CN" sz="2000" b="1" dirty="0">
                <a:solidFill>
                  <a:schemeClr val="bg1"/>
                </a:solidFill>
              </a:rPr>
              <a:t>//</a:t>
            </a:r>
            <a:r>
              <a:rPr lang="zh-CN" altLang="en-US" sz="2000" b="1" dirty="0">
                <a:solidFill>
                  <a:schemeClr val="bg1"/>
                </a:solidFill>
              </a:rPr>
              <a:t>构造函数执行顺序</a:t>
            </a:r>
            <a:endParaRPr lang="zh-CN" altLang="en-US" sz="2000" b="1" dirty="0">
              <a:solidFill>
                <a:schemeClr val="bg1"/>
              </a:solidFill>
            </a:endParaRPr>
          </a:p>
          <a:p>
            <a:pPr eaLnBrk="1" hangingPunct="1">
              <a:lnSpc>
                <a:spcPct val="80000"/>
              </a:lnSpc>
              <a:buClrTx/>
              <a:buSzTx/>
              <a:buFontTx/>
              <a:buNone/>
            </a:pPr>
            <a:r>
              <a:rPr lang="en-US" altLang="zh-CN" sz="2000" b="1" dirty="0">
                <a:solidFill>
                  <a:schemeClr val="bg1"/>
                </a:solidFill>
              </a:rPr>
              <a:t>class Student{</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int semesHours;  float gpa;</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public:</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Student()  {</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cout &lt;&lt;"constructing student.\n";</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semesHours=100;</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gpa=3.5;</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~Student(){cout&lt;&lt;</a:t>
            </a:r>
            <a:r>
              <a:rPr lang="en-US" altLang="zh-CN" sz="2000" b="1" dirty="0">
                <a:solidFill>
                  <a:schemeClr val="bg1"/>
                </a:solidFill>
                <a:latin typeface="Arial" panose="020B0604020202020204" pitchFamily="34" charset="0"/>
              </a:rPr>
              <a:t>“</a:t>
            </a:r>
            <a:r>
              <a:rPr lang="en-US" altLang="zh-CN" sz="2000" b="1" dirty="0">
                <a:solidFill>
                  <a:schemeClr val="bg1"/>
                </a:solidFill>
              </a:rPr>
              <a:t>~Student\n</a:t>
            </a:r>
            <a:r>
              <a:rPr lang="en-US" altLang="zh-CN" sz="2000" b="1" dirty="0">
                <a:solidFill>
                  <a:schemeClr val="bg1"/>
                </a:solidFill>
                <a:latin typeface="Arial" panose="020B0604020202020204" pitchFamily="34" charset="0"/>
              </a:rPr>
              <a:t>”</a:t>
            </a:r>
            <a:r>
              <a:rPr lang="en-US" altLang="zh-CN" sz="2000" b="1" dirty="0">
                <a:solidFill>
                  <a:schemeClr val="bg1"/>
                </a:solidFill>
              </a:rPr>
              <a:t>;}</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a:t>
            </a:r>
            <a:endParaRPr lang="en-US" altLang="zh-CN" sz="2000" b="1" dirty="0">
              <a:solidFill>
                <a:schemeClr val="bg1"/>
              </a:solidFill>
            </a:endParaRPr>
          </a:p>
          <a:p>
            <a:pPr eaLnBrk="1" hangingPunct="1">
              <a:lnSpc>
                <a:spcPct val="80000"/>
              </a:lnSpc>
              <a:buClrTx/>
              <a:buSzTx/>
              <a:buFontTx/>
              <a:buNone/>
            </a:pP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class Teacher{</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string name;</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public:</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Teacher()  {    </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cout &lt;&lt;"constructing teacher.\n";</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 </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  ~Teacher(){cout&lt;&lt;</a:t>
            </a:r>
            <a:r>
              <a:rPr lang="en-US" altLang="zh-CN" sz="2000" b="1" dirty="0">
                <a:solidFill>
                  <a:schemeClr val="bg1"/>
                </a:solidFill>
                <a:latin typeface="Arial" panose="020B0604020202020204" pitchFamily="34" charset="0"/>
              </a:rPr>
              <a:t>“</a:t>
            </a:r>
            <a:r>
              <a:rPr lang="en-US" altLang="zh-CN" sz="2000" b="1" dirty="0">
                <a:solidFill>
                  <a:schemeClr val="bg1"/>
                </a:solidFill>
              </a:rPr>
              <a:t>~Teacher\n</a:t>
            </a:r>
            <a:r>
              <a:rPr lang="en-US" altLang="zh-CN" sz="2000" b="1" dirty="0">
                <a:solidFill>
                  <a:schemeClr val="bg1"/>
                </a:solidFill>
                <a:latin typeface="Arial" panose="020B0604020202020204" pitchFamily="34" charset="0"/>
              </a:rPr>
              <a:t>”</a:t>
            </a:r>
            <a:r>
              <a:rPr lang="en-US" altLang="zh-CN" sz="2000" b="1" dirty="0">
                <a:solidFill>
                  <a:schemeClr val="bg1"/>
                </a:solidFill>
              </a:rPr>
              <a:t>;}</a:t>
            </a:r>
            <a:endParaRPr lang="en-US" altLang="zh-CN" sz="2000" b="1" dirty="0">
              <a:solidFill>
                <a:schemeClr val="bg1"/>
              </a:solidFill>
            </a:endParaRPr>
          </a:p>
          <a:p>
            <a:pPr eaLnBrk="1" hangingPunct="1">
              <a:lnSpc>
                <a:spcPct val="80000"/>
              </a:lnSpc>
              <a:buClrTx/>
              <a:buSzTx/>
              <a:buFontTx/>
              <a:buNone/>
            </a:pPr>
            <a:r>
              <a:rPr lang="en-US" altLang="zh-CN" sz="2000" b="1" dirty="0">
                <a:solidFill>
                  <a:schemeClr val="bg1"/>
                </a:solidFill>
              </a:rPr>
              <a:t>};</a:t>
            </a:r>
            <a:endParaRPr lang="en-US" altLang="zh-CN" sz="2000" b="1" dirty="0">
              <a:solidFill>
                <a:schemeClr val="bg1"/>
              </a:solidFill>
            </a:endParaRPr>
          </a:p>
        </p:txBody>
      </p:sp>
      <p:sp>
        <p:nvSpPr>
          <p:cNvPr id="173058" name="Rectangle 4"/>
          <p:cNvSpPr/>
          <p:nvPr/>
        </p:nvSpPr>
        <p:spPr>
          <a:xfrm>
            <a:off x="4787900" y="0"/>
            <a:ext cx="4356100" cy="5400675"/>
          </a:xfrm>
          <a:prstGeom prst="rect">
            <a:avLst/>
          </a:prstGeom>
          <a:noFill/>
          <a:ln w="9525">
            <a:noFill/>
          </a:ln>
        </p:spPr>
        <p:txBody>
          <a:bodyPr anchor="t"/>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构造函数执行顺序</a:t>
            </a:r>
            <a:endParaRPr lang="zh-CN" altLang="en-US"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class TutorPair{</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Student s;</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Teacher t;</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int noMeetings;   </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public:</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TutorPair(){                          </a:t>
            </a:r>
            <a:endParaRPr lang="zh-CN" altLang="en-US"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cout &lt;&lt;"constructing tutorpair.\n";</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noMeetings=0;</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~TutorPair(){cout&lt;&lt;</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~TutorPair\n</a:t>
            </a:r>
            <a:r>
              <a:rPr lang="en-US" altLang="zh-CN" sz="2000" b="1" dirty="0">
                <a:latin typeface="Arial" panose="020B0604020202020204" pitchFamily="34"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void main(){  </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TutorPair tp;</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   cout &lt;&lt;"back in main.\n";</a:t>
            </a:r>
            <a:endParaRPr lang="en-US" altLang="zh-CN" sz="20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p:txBody>
      </p:sp>
      <p:pic>
        <p:nvPicPr>
          <p:cNvPr id="236550" name="Picture 6"/>
          <p:cNvPicPr>
            <a:picLocks noGrp="1" noChangeAspect="1"/>
          </p:cNvPicPr>
          <p:nvPr>
            <p:ph sz="half" idx="2"/>
          </p:nvPr>
        </p:nvPicPr>
        <p:blipFill>
          <a:blip r:embed="rId1"/>
          <a:srcRect r="65318" b="67712"/>
          <a:stretch>
            <a:fillRect/>
          </a:stretch>
        </p:blipFill>
        <p:spPr>
          <a:xfrm>
            <a:off x="5334000" y="4403725"/>
            <a:ext cx="3810000" cy="245427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36550"/>
                                        </p:tgtEl>
                                        <p:attrNameLst>
                                          <p:attrName>style.visibility</p:attrName>
                                        </p:attrNameLst>
                                      </p:cBhvr>
                                      <p:to>
                                        <p:strVal val="visible"/>
                                      </p:to>
                                    </p:set>
                                    <p:animEffect transition="in" filter="barn(inHorizontal)">
                                      <p:cBhvr>
                                        <p:cTn id="7" dur="500"/>
                                        <p:tgtEl>
                                          <p:spTgt spid="236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Rectangle 2"/>
          <p:cNvSpPr>
            <a:spLocks noGrp="1"/>
          </p:cNvSpPr>
          <p:nvPr>
            <p:ph type="body" sz="half" idx="1"/>
          </p:nvPr>
        </p:nvSpPr>
        <p:spPr>
          <a:xfrm>
            <a:off x="323850" y="0"/>
            <a:ext cx="7056438" cy="7029450"/>
          </a:xfrm>
        </p:spPr>
        <p:txBody>
          <a:bodyPr vert="horz" wrap="square" lIns="91440" tIns="45720" rIns="91440" bIns="45720" anchor="t"/>
          <a:p>
            <a:pPr eaLnBrk="1" hangingPunct="1">
              <a:lnSpc>
                <a:spcPct val="80000"/>
              </a:lnSpc>
              <a:buClrTx/>
              <a:buSzTx/>
              <a:buFontTx/>
              <a:buNone/>
            </a:pPr>
            <a:r>
              <a:rPr lang="en-US" altLang="en-US" sz="2400" b="1" dirty="0">
                <a:solidFill>
                  <a:schemeClr val="bg1"/>
                </a:solidFill>
              </a:rPr>
              <a:t>class A{</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public:</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A(</a:t>
            </a:r>
            <a:r>
              <a:rPr lang="en-US" altLang="zh-CN" sz="2400" b="1" dirty="0">
                <a:solidFill>
                  <a:schemeClr val="bg1"/>
                </a:solidFill>
              </a:rPr>
              <a:t>int k</a:t>
            </a:r>
            <a:r>
              <a:rPr lang="en-US" altLang="en-US" sz="2400" b="1" dirty="0">
                <a:solidFill>
                  <a:schemeClr val="bg1"/>
                </a:solidFill>
              </a:rPr>
              <a:t>){</a:t>
            </a:r>
            <a:r>
              <a:rPr lang="en-US" altLang="zh-CN" sz="2400" b="1" dirty="0">
                <a:solidFill>
                  <a:schemeClr val="bg1"/>
                </a:solidFill>
              </a:rPr>
              <a:t>s=k; </a:t>
            </a:r>
            <a:r>
              <a:rPr lang="en-US" altLang="en-US" sz="2400" b="1" dirty="0">
                <a:solidFill>
                  <a:schemeClr val="bg1"/>
                </a:solidFill>
              </a:rPr>
              <a:t>cout&lt;&lt;</a:t>
            </a:r>
            <a:r>
              <a:rPr lang="en-US" altLang="zh-CN" sz="2400" b="1" dirty="0">
                <a:solidFill>
                  <a:schemeClr val="bg1"/>
                </a:solidFill>
              </a:rPr>
              <a:t>k&lt;&lt;</a:t>
            </a:r>
            <a:r>
              <a:rPr lang="en-US" altLang="en-US" sz="2400" b="1" dirty="0">
                <a:solidFill>
                  <a:schemeClr val="bg1"/>
                </a:solidFill>
              </a:rPr>
              <a:t>"A is constructing\n";};</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~A(){cout&lt;&lt;</a:t>
            </a:r>
            <a:r>
              <a:rPr lang="en-US" altLang="zh-CN" sz="2400" b="1" dirty="0">
                <a:solidFill>
                  <a:schemeClr val="bg1"/>
                </a:solidFill>
              </a:rPr>
              <a:t>s&lt;&lt;</a:t>
            </a:r>
            <a:r>
              <a:rPr lang="en-US" altLang="en-US" sz="2400" b="1" dirty="0">
                <a:solidFill>
                  <a:schemeClr val="bg1"/>
                </a:solidFill>
              </a:rPr>
              <a:t>"~A\n";}</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int s;</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void main(){</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cout&lt;&lt;"main is running\n";</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A s</a:t>
            </a:r>
            <a:r>
              <a:rPr lang="en-US" altLang="zh-CN" sz="2400" b="1" dirty="0">
                <a:solidFill>
                  <a:schemeClr val="bg1"/>
                </a:solidFill>
              </a:rPr>
              <a:t>(1)</a:t>
            </a:r>
            <a:r>
              <a:rPr lang="en-US" altLang="en-US" sz="2400" b="1" dirty="0">
                <a:solidFill>
                  <a:schemeClr val="bg1"/>
                </a:solidFill>
              </a:rPr>
              <a:t>;</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void f();</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f();</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f();</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void f(){</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cout&lt;&lt;"f is running\n";</a:t>
            </a:r>
            <a:endParaRPr lang="en-US" altLang="zh-CN" sz="2400" b="1" dirty="0">
              <a:solidFill>
                <a:schemeClr val="bg1"/>
              </a:solidFill>
            </a:endParaRPr>
          </a:p>
          <a:p>
            <a:pPr eaLnBrk="1" hangingPunct="1">
              <a:lnSpc>
                <a:spcPct val="80000"/>
              </a:lnSpc>
              <a:buClrTx/>
              <a:buSzTx/>
              <a:buFontTx/>
              <a:buNone/>
            </a:pPr>
            <a:r>
              <a:rPr lang="en-US" altLang="zh-CN" sz="2400" b="1" dirty="0">
                <a:solidFill>
                  <a:schemeClr val="bg1"/>
                </a:solidFill>
              </a:rPr>
              <a:t>  A s(2);</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  static A t</a:t>
            </a:r>
            <a:r>
              <a:rPr lang="en-US" altLang="zh-CN" sz="2400" b="1" dirty="0">
                <a:solidFill>
                  <a:schemeClr val="bg1"/>
                </a:solidFill>
              </a:rPr>
              <a:t>(3)</a:t>
            </a:r>
            <a:r>
              <a:rPr lang="en-US" altLang="en-US" sz="2400" b="1" dirty="0">
                <a:solidFill>
                  <a:schemeClr val="bg1"/>
                </a:solidFill>
              </a:rPr>
              <a:t>;</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a:t>
            </a:r>
            <a:endParaRPr lang="en-US" altLang="en-US" sz="2400" b="1" dirty="0">
              <a:solidFill>
                <a:schemeClr val="bg1"/>
              </a:solidFill>
            </a:endParaRPr>
          </a:p>
          <a:p>
            <a:pPr eaLnBrk="1" hangingPunct="1">
              <a:lnSpc>
                <a:spcPct val="80000"/>
              </a:lnSpc>
              <a:buClrTx/>
              <a:buSzTx/>
              <a:buFontTx/>
              <a:buNone/>
            </a:pPr>
            <a:r>
              <a:rPr lang="en-US" altLang="en-US" sz="2400" b="1" dirty="0">
                <a:solidFill>
                  <a:schemeClr val="bg1"/>
                </a:solidFill>
              </a:rPr>
              <a:t>A t</a:t>
            </a:r>
            <a:r>
              <a:rPr lang="en-US" altLang="zh-CN" sz="2400" b="1" dirty="0">
                <a:solidFill>
                  <a:schemeClr val="bg1"/>
                </a:solidFill>
              </a:rPr>
              <a:t>(4)</a:t>
            </a:r>
            <a:r>
              <a:rPr lang="en-US" altLang="en-US" sz="2400" b="1" dirty="0">
                <a:solidFill>
                  <a:schemeClr val="bg1"/>
                </a:solidFill>
              </a:rPr>
              <a:t>;</a:t>
            </a:r>
            <a:endParaRPr lang="en-US" altLang="zh-CN" sz="2400" b="1" dirty="0">
              <a:solidFill>
                <a:schemeClr val="bg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Rectangle 2"/>
          <p:cNvSpPr>
            <a:spLocks noGrp="1"/>
          </p:cNvSpPr>
          <p:nvPr>
            <p:ph type="body" sz="half" idx="1"/>
          </p:nvPr>
        </p:nvSpPr>
        <p:spPr>
          <a:xfrm>
            <a:off x="323850" y="260350"/>
            <a:ext cx="4319588" cy="6597650"/>
          </a:xfrm>
        </p:spPr>
        <p:txBody>
          <a:bodyPr vert="horz" wrap="square" lIns="91440" tIns="45720" rIns="91440" bIns="45720" anchor="t"/>
          <a:p>
            <a:pPr eaLnBrk="1" hangingPunct="1">
              <a:lnSpc>
                <a:spcPct val="90000"/>
              </a:lnSpc>
              <a:buClrTx/>
              <a:buSzTx/>
              <a:buFontTx/>
              <a:buNone/>
            </a:pPr>
            <a:r>
              <a:rPr lang="en-US" altLang="zh-CN" sz="2800" b="1" u="sng" dirty="0">
                <a:solidFill>
                  <a:schemeClr val="bg1"/>
                </a:solidFill>
              </a:rPr>
              <a:t>A.h</a:t>
            </a:r>
            <a:endParaRPr lang="en-US" altLang="zh-CN" sz="2800" b="1" u="sng" dirty="0">
              <a:solidFill>
                <a:schemeClr val="bg1"/>
              </a:solidFill>
            </a:endParaRPr>
          </a:p>
          <a:p>
            <a:pPr eaLnBrk="1" hangingPunct="1">
              <a:lnSpc>
                <a:spcPct val="90000"/>
              </a:lnSpc>
              <a:buClrTx/>
              <a:buSzTx/>
              <a:buFontTx/>
              <a:buNone/>
            </a:pPr>
            <a:r>
              <a:rPr lang="en-US" altLang="en-US" sz="2800" b="1" dirty="0">
                <a:solidFill>
                  <a:schemeClr val="bg1"/>
                </a:solidFill>
              </a:rPr>
              <a:t>class A{</a:t>
            </a:r>
            <a:endParaRPr lang="en-US" altLang="en-US" sz="2800" b="1" dirty="0">
              <a:solidFill>
                <a:schemeClr val="bg1"/>
              </a:solidFill>
            </a:endParaRPr>
          </a:p>
          <a:p>
            <a:pPr eaLnBrk="1" hangingPunct="1">
              <a:lnSpc>
                <a:spcPct val="90000"/>
              </a:lnSpc>
              <a:buClrTx/>
              <a:buSzTx/>
              <a:buFontTx/>
              <a:buNone/>
            </a:pPr>
            <a:r>
              <a:rPr lang="en-US" altLang="en-US" sz="2800" b="1" dirty="0">
                <a:solidFill>
                  <a:schemeClr val="bg1"/>
                </a:solidFill>
              </a:rPr>
              <a:t>public:</a:t>
            </a:r>
            <a:endParaRPr lang="en-US" altLang="en-US" sz="2800" b="1" dirty="0">
              <a:solidFill>
                <a:schemeClr val="bg1"/>
              </a:solidFill>
            </a:endParaRPr>
          </a:p>
          <a:p>
            <a:pPr eaLnBrk="1" hangingPunct="1">
              <a:lnSpc>
                <a:spcPct val="90000"/>
              </a:lnSpc>
              <a:buClrTx/>
              <a:buSzTx/>
              <a:buFontTx/>
              <a:buNone/>
            </a:pPr>
            <a:r>
              <a:rPr lang="en-US" altLang="en-US" sz="2800" b="1" dirty="0">
                <a:solidFill>
                  <a:schemeClr val="bg1"/>
                </a:solidFill>
              </a:rPr>
              <a:t>	A(</a:t>
            </a:r>
            <a:r>
              <a:rPr lang="en-US" altLang="zh-CN" sz="2800" b="1" dirty="0">
                <a:solidFill>
                  <a:schemeClr val="bg1"/>
                </a:solidFill>
              </a:rPr>
              <a:t>int r</a:t>
            </a:r>
            <a:r>
              <a:rPr lang="en-US" altLang="en-US" sz="2800" b="1" dirty="0">
                <a:solidFill>
                  <a:schemeClr val="bg1"/>
                </a:solidFill>
              </a:rPr>
              <a:t>){</a:t>
            </a:r>
            <a:r>
              <a:rPr lang="en-US" altLang="zh-CN" sz="2800" b="1" dirty="0">
                <a:solidFill>
                  <a:schemeClr val="bg1"/>
                </a:solidFill>
              </a:rPr>
              <a:t>s = r;}</a:t>
            </a:r>
            <a:r>
              <a:rPr lang="en-US" altLang="en-US" sz="2800" b="1" dirty="0">
                <a:solidFill>
                  <a:schemeClr val="bg1"/>
                </a:solidFill>
              </a:rPr>
              <a:t>;</a:t>
            </a:r>
            <a:endParaRPr lang="en-US" altLang="en-US" sz="2800" b="1" dirty="0">
              <a:solidFill>
                <a:schemeClr val="bg1"/>
              </a:solidFill>
            </a:endParaRPr>
          </a:p>
          <a:p>
            <a:pPr eaLnBrk="1" hangingPunct="1">
              <a:lnSpc>
                <a:spcPct val="90000"/>
              </a:lnSpc>
              <a:buClrTx/>
              <a:buSzTx/>
              <a:buFontTx/>
              <a:buNone/>
            </a:pPr>
            <a:r>
              <a:rPr lang="en-US" altLang="zh-CN" sz="2800" b="1" dirty="0">
                <a:solidFill>
                  <a:schemeClr val="bg1"/>
                </a:solidFill>
              </a:rPr>
              <a:t>private:</a:t>
            </a:r>
            <a:endParaRPr lang="en-US" altLang="zh-CN" sz="2800" b="1" dirty="0">
              <a:solidFill>
                <a:schemeClr val="bg1"/>
              </a:solidFill>
            </a:endParaRPr>
          </a:p>
          <a:p>
            <a:pPr eaLnBrk="1" hangingPunct="1">
              <a:lnSpc>
                <a:spcPct val="90000"/>
              </a:lnSpc>
              <a:buClrTx/>
              <a:buSzTx/>
              <a:buFontTx/>
              <a:buNone/>
            </a:pPr>
            <a:r>
              <a:rPr lang="en-US" altLang="en-US" sz="2800" b="1" dirty="0">
                <a:solidFill>
                  <a:schemeClr val="bg1"/>
                </a:solidFill>
              </a:rPr>
              <a:t>	int s;</a:t>
            </a:r>
            <a:endParaRPr lang="en-US" altLang="en-US" sz="2800" b="1" dirty="0">
              <a:solidFill>
                <a:schemeClr val="bg1"/>
              </a:solidFill>
            </a:endParaRPr>
          </a:p>
          <a:p>
            <a:pPr eaLnBrk="1" hangingPunct="1">
              <a:lnSpc>
                <a:spcPct val="90000"/>
              </a:lnSpc>
              <a:buClrTx/>
              <a:buSzTx/>
              <a:buFontTx/>
              <a:buNone/>
            </a:pPr>
            <a:r>
              <a:rPr lang="en-US" altLang="en-US" sz="2800" b="1" dirty="0">
                <a:solidFill>
                  <a:schemeClr val="bg1"/>
                </a:solidFill>
              </a:rPr>
              <a:t>};</a:t>
            </a:r>
            <a:endParaRPr lang="en-US" altLang="zh-CN" sz="2800" b="1" dirty="0">
              <a:solidFill>
                <a:schemeClr val="bg1"/>
              </a:solidFill>
            </a:endParaRPr>
          </a:p>
          <a:p>
            <a:pPr eaLnBrk="1" hangingPunct="1">
              <a:lnSpc>
                <a:spcPct val="90000"/>
              </a:lnSpc>
              <a:buClrTx/>
              <a:buSzTx/>
              <a:buFontTx/>
              <a:buNone/>
            </a:pPr>
            <a:r>
              <a:rPr lang="en-US" altLang="zh-CN" sz="2800" b="1" u="sng" dirty="0">
                <a:solidFill>
                  <a:schemeClr val="bg1"/>
                </a:solidFill>
              </a:rPr>
              <a:t>B.h</a:t>
            </a:r>
            <a:endParaRPr lang="en-US" altLang="en-US" sz="2800" b="1" u="sng" dirty="0">
              <a:solidFill>
                <a:schemeClr val="bg1"/>
              </a:solidFill>
            </a:endParaRPr>
          </a:p>
          <a:p>
            <a:pPr eaLnBrk="1" hangingPunct="1">
              <a:lnSpc>
                <a:spcPct val="90000"/>
              </a:lnSpc>
              <a:buClrTx/>
              <a:buSzTx/>
              <a:buFontTx/>
              <a:buNone/>
            </a:pPr>
            <a:r>
              <a:rPr lang="en-US" altLang="zh-CN" sz="2800" b="1" dirty="0">
                <a:solidFill>
                  <a:schemeClr val="bg1"/>
                </a:solidFill>
              </a:rPr>
              <a:t>class B{</a:t>
            </a:r>
            <a:endParaRPr lang="en-US" altLang="zh-CN" sz="2800" b="1" dirty="0">
              <a:solidFill>
                <a:schemeClr val="bg1"/>
              </a:solidFill>
            </a:endParaRPr>
          </a:p>
          <a:p>
            <a:pPr eaLnBrk="1" hangingPunct="1">
              <a:lnSpc>
                <a:spcPct val="90000"/>
              </a:lnSpc>
              <a:buClrTx/>
              <a:buSzTx/>
              <a:buFontTx/>
              <a:buNone/>
            </a:pPr>
            <a:r>
              <a:rPr lang="en-US" altLang="zh-CN" sz="2800" b="1" dirty="0">
                <a:solidFill>
                  <a:schemeClr val="bg1"/>
                </a:solidFill>
              </a:rPr>
              <a:t>  public:</a:t>
            </a:r>
            <a:endParaRPr lang="en-US" altLang="zh-CN" sz="2800" b="1" dirty="0">
              <a:solidFill>
                <a:schemeClr val="bg1"/>
              </a:solidFill>
            </a:endParaRPr>
          </a:p>
          <a:p>
            <a:pPr eaLnBrk="1" hangingPunct="1">
              <a:lnSpc>
                <a:spcPct val="90000"/>
              </a:lnSpc>
              <a:buClrTx/>
              <a:buSzTx/>
              <a:buFontTx/>
              <a:buNone/>
            </a:pPr>
            <a:r>
              <a:rPr lang="en-US" altLang="zh-CN" sz="2800" b="1" dirty="0">
                <a:solidFill>
                  <a:schemeClr val="bg1"/>
                </a:solidFill>
              </a:rPr>
              <a:t>     B(A t){x = t;}</a:t>
            </a:r>
            <a:endParaRPr lang="en-US" altLang="zh-CN" sz="2800" b="1" dirty="0">
              <a:solidFill>
                <a:schemeClr val="bg1"/>
              </a:solidFill>
            </a:endParaRPr>
          </a:p>
          <a:p>
            <a:pPr eaLnBrk="1" hangingPunct="1">
              <a:lnSpc>
                <a:spcPct val="90000"/>
              </a:lnSpc>
              <a:buClrTx/>
              <a:buSzTx/>
              <a:buFontTx/>
              <a:buNone/>
            </a:pPr>
            <a:r>
              <a:rPr lang="en-US" altLang="zh-CN" sz="2800" b="1" dirty="0">
                <a:solidFill>
                  <a:schemeClr val="bg1"/>
                </a:solidFill>
              </a:rPr>
              <a:t>  private:</a:t>
            </a:r>
            <a:endParaRPr lang="en-US" altLang="zh-CN" sz="2800" b="1" dirty="0">
              <a:solidFill>
                <a:schemeClr val="bg1"/>
              </a:solidFill>
            </a:endParaRPr>
          </a:p>
          <a:p>
            <a:pPr eaLnBrk="1" hangingPunct="1">
              <a:lnSpc>
                <a:spcPct val="90000"/>
              </a:lnSpc>
              <a:buClrTx/>
              <a:buSzTx/>
              <a:buFontTx/>
              <a:buNone/>
            </a:pPr>
            <a:r>
              <a:rPr lang="en-US" altLang="zh-CN" sz="2800" b="1" dirty="0">
                <a:solidFill>
                  <a:schemeClr val="bg1"/>
                </a:solidFill>
              </a:rPr>
              <a:t>     A x;</a:t>
            </a:r>
            <a:endParaRPr lang="en-US" altLang="zh-CN" sz="2800" b="1" dirty="0">
              <a:solidFill>
                <a:schemeClr val="bg1"/>
              </a:solidFill>
            </a:endParaRPr>
          </a:p>
          <a:p>
            <a:pPr eaLnBrk="1" hangingPunct="1">
              <a:lnSpc>
                <a:spcPct val="90000"/>
              </a:lnSpc>
              <a:buClrTx/>
              <a:buSzTx/>
              <a:buFontTx/>
              <a:buNone/>
            </a:pPr>
            <a:r>
              <a:rPr lang="en-US" altLang="zh-CN" sz="2800" b="1" dirty="0">
                <a:solidFill>
                  <a:schemeClr val="bg1"/>
                </a:solidFill>
              </a:rPr>
              <a:t>};</a:t>
            </a:r>
            <a:endParaRPr lang="en-US" altLang="zh-CN" sz="2800" b="1" dirty="0">
              <a:solidFill>
                <a:schemeClr val="bg1"/>
              </a:solidFill>
            </a:endParaRPr>
          </a:p>
        </p:txBody>
      </p:sp>
      <p:sp>
        <p:nvSpPr>
          <p:cNvPr id="175106" name="Rectangle 5"/>
          <p:cNvSpPr/>
          <p:nvPr/>
        </p:nvSpPr>
        <p:spPr>
          <a:xfrm>
            <a:off x="4824413" y="0"/>
            <a:ext cx="4319587" cy="3357563"/>
          </a:xfrm>
          <a:prstGeom prst="rect">
            <a:avLst/>
          </a:prstGeom>
          <a:noFill/>
          <a:ln w="9525">
            <a:noFill/>
          </a:ln>
        </p:spPr>
        <p:txBody>
          <a:bodyPr anchor="t"/>
          <a:p>
            <a:pPr marL="342900" indent="-342900">
              <a:lnSpc>
                <a:spcPct val="90000"/>
              </a:lnSpc>
              <a:spcBef>
                <a:spcPct val="20000"/>
              </a:spcBef>
            </a:pPr>
            <a:r>
              <a:rPr lang="en-US" altLang="zh-CN" sz="2800" b="1" u="sng" dirty="0">
                <a:latin typeface="Times New Roman" panose="02020603050405020304" pitchFamily="18" charset="0"/>
                <a:ea typeface="宋体" panose="02010600030101010101" pitchFamily="2" charset="-122"/>
              </a:rPr>
              <a:t>l.cpp</a:t>
            </a:r>
            <a:endParaRPr lang="en-US" altLang="zh-CN" sz="2800" b="1" u="sng"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#include </a:t>
            </a:r>
            <a:r>
              <a:rPr lang="en-US" altLang="zh-CN" sz="2800" b="1" dirty="0">
                <a:latin typeface="Arial" panose="020B0604020202020204" pitchFamily="34"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.h</a:t>
            </a:r>
            <a:r>
              <a:rPr lang="en-US" altLang="zh-CN" sz="2800" b="1" dirty="0">
                <a:latin typeface="Arial" panose="020B0604020202020204" pitchFamily="34"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  h(6);</a:t>
            </a:r>
            <a:endParaRPr lang="en-US" altLang="zh-CN" sz="2800" b="1" u="sng"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void f(){</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175107" name="Rectangle 6"/>
          <p:cNvSpPr/>
          <p:nvPr/>
        </p:nvSpPr>
        <p:spPr>
          <a:xfrm>
            <a:off x="4824413" y="3500438"/>
            <a:ext cx="4319587" cy="3357562"/>
          </a:xfrm>
          <a:prstGeom prst="rect">
            <a:avLst/>
          </a:prstGeom>
          <a:noFill/>
          <a:ln w="9525">
            <a:noFill/>
          </a:ln>
        </p:spPr>
        <p:txBody>
          <a:bodyPr anchor="t"/>
          <a:p>
            <a:pPr marL="342900" indent="-342900">
              <a:lnSpc>
                <a:spcPct val="90000"/>
              </a:lnSpc>
              <a:spcBef>
                <a:spcPct val="20000"/>
              </a:spcBef>
            </a:pPr>
            <a:r>
              <a:rPr lang="en-US" altLang="zh-CN" sz="2800" b="1" u="sng" dirty="0">
                <a:latin typeface="Times New Roman" panose="02020603050405020304" pitchFamily="18" charset="0"/>
                <a:ea typeface="宋体" panose="02010600030101010101" pitchFamily="2" charset="-122"/>
              </a:rPr>
              <a:t>z.cpp</a:t>
            </a:r>
            <a:endParaRPr lang="en-US" altLang="zh-CN" sz="2800" b="1" u="sng"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#include </a:t>
            </a:r>
            <a:r>
              <a:rPr lang="en-US" altLang="zh-CN" sz="2800" b="1" dirty="0">
                <a:latin typeface="Arial" panose="020B0604020202020204" pitchFamily="34"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.h</a:t>
            </a:r>
            <a:r>
              <a:rPr lang="en-US" altLang="zh-CN" sz="2800" b="1" dirty="0">
                <a:latin typeface="Arial" panose="020B0604020202020204" pitchFamily="34"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#include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B.h</a:t>
            </a:r>
            <a:r>
              <a:rPr lang="en-US" altLang="zh-CN" sz="2800" b="1" dirty="0">
                <a:latin typeface="Arial" panose="020B0604020202020204" pitchFamily="34" charset="0"/>
                <a:ea typeface="宋体" panose="02010600030101010101" pitchFamily="2" charset="-122"/>
              </a:rPr>
              <a:t>”</a:t>
            </a:r>
            <a:r>
              <a:rPr lang="en-US" altLang="en-US"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extern A h;</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B  k(h);//</a:t>
            </a:r>
            <a:r>
              <a:rPr lang="zh-CN" altLang="en-US" sz="2800" b="1" dirty="0">
                <a:latin typeface="Times New Roman" panose="02020603050405020304" pitchFamily="18" charset="0"/>
                <a:ea typeface="宋体" panose="02010600030101010101" pitchFamily="2" charset="-122"/>
              </a:rPr>
              <a:t>？</a:t>
            </a:r>
            <a:endParaRPr lang="zh-CN" altLang="en-US" sz="2800" b="1" u="sng"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void g(){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9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全局变量构造顺序不确定</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Rectangle 2"/>
          <p:cNvSpPr/>
          <p:nvPr/>
        </p:nvSpPr>
        <p:spPr>
          <a:xfrm>
            <a:off x="-252412" y="476250"/>
            <a:ext cx="9144000"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64227" name="Rectangle 3"/>
          <p:cNvSpPr>
            <a:spLocks noChangeArrowheads="1"/>
          </p:cNvSpPr>
          <p:nvPr/>
        </p:nvSpPr>
        <p:spPr bwMode="auto">
          <a:xfrm>
            <a:off x="34925" y="4005263"/>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局部对象之间以文本定义顺序为顺序，</a:t>
            </a:r>
            <a:endParaRPr kumimoji="0" lang="zh-CN" altLang="en-US" sz="28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（类的数据成员属于此种情况） </a:t>
            </a:r>
            <a:endParaRPr kumimoji="0" lang="zh-CN" altLang="en-US" sz="28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564228" name="Rectangle 4"/>
          <p:cNvSpPr>
            <a:spLocks noChangeArrowheads="1"/>
          </p:cNvSpPr>
          <p:nvPr/>
        </p:nvSpPr>
        <p:spPr bwMode="auto">
          <a:xfrm>
            <a:off x="34925" y="2662238"/>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静态对象在首次调用时构造一次；程序结束析构</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64229" name="Rectangle 5"/>
          <p:cNvSpPr>
            <a:spLocks noChangeArrowheads="1"/>
          </p:cNvSpPr>
          <p:nvPr/>
        </p:nvSpPr>
        <p:spPr bwMode="auto">
          <a:xfrm>
            <a:off x="39688" y="12684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全局对象</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main</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之前构造；程序结束时析构</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64230" name="Rectangle 6"/>
          <p:cNvSpPr>
            <a:spLocks noChangeArrowheads="1"/>
          </p:cNvSpPr>
          <p:nvPr/>
        </p:nvSpPr>
        <p:spPr bwMode="auto">
          <a:xfrm>
            <a:off x="34925" y="5397500"/>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全局对象如果分布在不同文件中，则构造顺序随机 </a:t>
            </a:r>
            <a:endParaRPr kumimoji="0" lang="zh-CN" altLang="en-US" sz="28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564227"/>
                                        </p:tgtEl>
                                        <p:attrNameLst>
                                          <p:attrName>style.visibility</p:attrName>
                                        </p:attrNameLst>
                                      </p:cBhvr>
                                      <p:to>
                                        <p:strVal val="visible"/>
                                      </p:to>
                                    </p:set>
                                    <p:anim by="(-#ppt_w*2)" calcmode="lin" valueType="num">
                                      <p:cBhvr rctx="PPT">
                                        <p:cTn id="7" dur="500" autoRev="1" fill="hold">
                                          <p:stCondLst>
                                            <p:cond delay="0"/>
                                          </p:stCondLst>
                                        </p:cTn>
                                        <p:tgtEl>
                                          <p:spTgt spid="564227"/>
                                        </p:tgtEl>
                                        <p:attrNameLst>
                                          <p:attrName>ppt_w</p:attrName>
                                        </p:attrNameLst>
                                      </p:cBhvr>
                                    </p:anim>
                                    <p:anim by="(#ppt_w*0.50)" calcmode="lin" valueType="num">
                                      <p:cBhvr>
                                        <p:cTn id="8" dur="500" decel="50000" autoRev="1" fill="hold">
                                          <p:stCondLst>
                                            <p:cond delay="0"/>
                                          </p:stCondLst>
                                        </p:cTn>
                                        <p:tgtEl>
                                          <p:spTgt spid="564227"/>
                                        </p:tgtEl>
                                        <p:attrNameLst>
                                          <p:attrName>ppt_x</p:attrName>
                                        </p:attrNameLst>
                                      </p:cBhvr>
                                    </p:anim>
                                    <p:anim from="(-#ppt_h/2)" to="(#ppt_y)" calcmode="lin" valueType="num">
                                      <p:cBhvr>
                                        <p:cTn id="9" dur="1000" fill="hold">
                                          <p:stCondLst>
                                            <p:cond delay="0"/>
                                          </p:stCondLst>
                                        </p:cTn>
                                        <p:tgtEl>
                                          <p:spTgt spid="564227"/>
                                        </p:tgtEl>
                                        <p:attrNameLst>
                                          <p:attrName>ppt_y</p:attrName>
                                        </p:attrNameLst>
                                      </p:cBhvr>
                                    </p:anim>
                                    <p:animRot by="21600000">
                                      <p:cBhvr>
                                        <p:cTn id="10" dur="1000" fill="hold">
                                          <p:stCondLst>
                                            <p:cond delay="0"/>
                                          </p:stCondLst>
                                        </p:cTn>
                                        <p:tgtEl>
                                          <p:spTgt spid="56422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64228"/>
                                        </p:tgtEl>
                                        <p:attrNameLst>
                                          <p:attrName>style.visibility</p:attrName>
                                        </p:attrNameLst>
                                      </p:cBhvr>
                                      <p:to>
                                        <p:strVal val="visible"/>
                                      </p:to>
                                    </p:set>
                                    <p:anim calcmode="lin" valueType="num">
                                      <p:cBhvr additive="base">
                                        <p:cTn id="15" dur="2000" fill="hold"/>
                                        <p:tgtEl>
                                          <p:spTgt spid="564228"/>
                                        </p:tgtEl>
                                        <p:attrNameLst>
                                          <p:attrName>ppt_x</p:attrName>
                                        </p:attrNameLst>
                                      </p:cBhvr>
                                      <p:tavLst>
                                        <p:tav tm="0">
                                          <p:val>
                                            <p:strVal val="#ppt_x"/>
                                          </p:val>
                                        </p:tav>
                                        <p:tav tm="100000">
                                          <p:val>
                                            <p:strVal val="#ppt_x"/>
                                          </p:val>
                                        </p:tav>
                                      </p:tavLst>
                                    </p:anim>
                                    <p:anim calcmode="lin" valueType="num">
                                      <p:cBhvr additive="base">
                                        <p:cTn id="16" dur="2000" fill="hold"/>
                                        <p:tgtEl>
                                          <p:spTgt spid="56422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64229"/>
                                        </p:tgtEl>
                                        <p:attrNameLst>
                                          <p:attrName>style.visibility</p:attrName>
                                        </p:attrNameLst>
                                      </p:cBhvr>
                                      <p:to>
                                        <p:strVal val="visible"/>
                                      </p:to>
                                    </p:set>
                                    <p:anim calcmode="lin" valueType="num">
                                      <p:cBhvr additive="base">
                                        <p:cTn id="21" dur="2000" fill="hold"/>
                                        <p:tgtEl>
                                          <p:spTgt spid="564229"/>
                                        </p:tgtEl>
                                        <p:attrNameLst>
                                          <p:attrName>ppt_x</p:attrName>
                                        </p:attrNameLst>
                                      </p:cBhvr>
                                      <p:tavLst>
                                        <p:tav tm="0">
                                          <p:val>
                                            <p:strVal val="#ppt_x"/>
                                          </p:val>
                                        </p:tav>
                                        <p:tav tm="100000">
                                          <p:val>
                                            <p:strVal val="#ppt_x"/>
                                          </p:val>
                                        </p:tav>
                                      </p:tavLst>
                                    </p:anim>
                                    <p:anim calcmode="lin" valueType="num">
                                      <p:cBhvr additive="base">
                                        <p:cTn id="22" dur="2000" fill="hold"/>
                                        <p:tgtEl>
                                          <p:spTgt spid="56422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564230"/>
                                        </p:tgtEl>
                                        <p:attrNameLst>
                                          <p:attrName>style.visibility</p:attrName>
                                        </p:attrNameLst>
                                      </p:cBhvr>
                                      <p:to>
                                        <p:strVal val="visible"/>
                                      </p:to>
                                    </p:set>
                                    <p:anim by="(-#ppt_w*2)" calcmode="lin" valueType="num">
                                      <p:cBhvr rctx="PPT">
                                        <p:cTn id="27" dur="500" autoRev="1" fill="hold">
                                          <p:stCondLst>
                                            <p:cond delay="0"/>
                                          </p:stCondLst>
                                        </p:cTn>
                                        <p:tgtEl>
                                          <p:spTgt spid="564230"/>
                                        </p:tgtEl>
                                        <p:attrNameLst>
                                          <p:attrName>ppt_w</p:attrName>
                                        </p:attrNameLst>
                                      </p:cBhvr>
                                    </p:anim>
                                    <p:anim by="(#ppt_w*0.50)" calcmode="lin" valueType="num">
                                      <p:cBhvr>
                                        <p:cTn id="28" dur="500" decel="50000" autoRev="1" fill="hold">
                                          <p:stCondLst>
                                            <p:cond delay="0"/>
                                          </p:stCondLst>
                                        </p:cTn>
                                        <p:tgtEl>
                                          <p:spTgt spid="564230"/>
                                        </p:tgtEl>
                                        <p:attrNameLst>
                                          <p:attrName>ppt_x</p:attrName>
                                        </p:attrNameLst>
                                      </p:cBhvr>
                                    </p:anim>
                                    <p:anim from="(-#ppt_h/2)" to="(#ppt_y)" calcmode="lin" valueType="num">
                                      <p:cBhvr>
                                        <p:cTn id="29" dur="1000" fill="hold">
                                          <p:stCondLst>
                                            <p:cond delay="0"/>
                                          </p:stCondLst>
                                        </p:cTn>
                                        <p:tgtEl>
                                          <p:spTgt spid="564230"/>
                                        </p:tgtEl>
                                        <p:attrNameLst>
                                          <p:attrName>ppt_y</p:attrName>
                                        </p:attrNameLst>
                                      </p:cBhvr>
                                    </p:anim>
                                    <p:animRot by="21600000">
                                      <p:cBhvr>
                                        <p:cTn id="30" dur="1000" fill="hold">
                                          <p:stCondLst>
                                            <p:cond delay="0"/>
                                          </p:stCondLst>
                                        </p:cTn>
                                        <p:tgtEl>
                                          <p:spTgt spid="56423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animBg="1"/>
      <p:bldP spid="564228" grpId="0" animBg="1"/>
      <p:bldP spid="564229" grpId="0" animBg="1"/>
      <p:bldP spid="564230"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3" name="Rectangle 2"/>
          <p:cNvSpPr>
            <a:spLocks noGrp="1"/>
          </p:cNvSpPr>
          <p:nvPr>
            <p:ph type="body" sz="half" idx="1"/>
          </p:nvPr>
        </p:nvSpPr>
        <p:spPr>
          <a:xfrm>
            <a:off x="1547813" y="763588"/>
            <a:ext cx="6119812" cy="5689600"/>
          </a:xfrm>
        </p:spPr>
        <p:txBody>
          <a:bodyPr vert="horz" wrap="square" lIns="91440" tIns="45720" rIns="91440" bIns="45720" anchor="t"/>
          <a:p>
            <a:pPr eaLnBrk="1" hangingPunct="1">
              <a:buClrTx/>
              <a:buSzTx/>
              <a:buFontTx/>
              <a:buNone/>
            </a:pPr>
            <a:r>
              <a:rPr lang="en-US" altLang="en-US" sz="2800" b="1" dirty="0">
                <a:solidFill>
                  <a:schemeClr val="bg1"/>
                </a:solidFill>
              </a:rPr>
              <a:t>class A{</a:t>
            </a:r>
            <a:endParaRPr lang="en-US" altLang="en-US" sz="2800" b="1" dirty="0">
              <a:solidFill>
                <a:schemeClr val="bg1"/>
              </a:solidFill>
            </a:endParaRPr>
          </a:p>
          <a:p>
            <a:pPr eaLnBrk="1" hangingPunct="1">
              <a:buClrTx/>
              <a:buSzTx/>
              <a:buFontTx/>
              <a:buNone/>
            </a:pPr>
            <a:r>
              <a:rPr lang="en-US" altLang="zh-CN" sz="2800" b="1" dirty="0">
                <a:solidFill>
                  <a:schemeClr val="bg1"/>
                </a:solidFill>
              </a:rPr>
              <a:t>public:</a:t>
            </a:r>
            <a:endParaRPr lang="en-US" altLang="zh-CN" sz="2800" b="1" dirty="0">
              <a:solidFill>
                <a:schemeClr val="bg1"/>
              </a:solidFill>
            </a:endParaRPr>
          </a:p>
          <a:p>
            <a:pPr eaLnBrk="1" hangingPunct="1">
              <a:buClrTx/>
              <a:buSzTx/>
              <a:buFontTx/>
              <a:buNone/>
            </a:pPr>
            <a:r>
              <a:rPr lang="en-US" altLang="zh-CN" sz="2800" b="1" dirty="0">
                <a:solidFill>
                  <a:schemeClr val="bg1"/>
                </a:solidFill>
              </a:rPr>
              <a:t>    int s;</a:t>
            </a:r>
            <a:endParaRPr lang="en-US" altLang="zh-CN" sz="2800" b="1" dirty="0">
              <a:solidFill>
                <a:schemeClr val="bg1"/>
              </a:solidFill>
            </a:endParaRPr>
          </a:p>
          <a:p>
            <a:pPr eaLnBrk="1" hangingPunct="1">
              <a:buClrTx/>
              <a:buSzTx/>
              <a:buFontTx/>
              <a:buNone/>
            </a:pPr>
            <a:r>
              <a:rPr lang="en-US" altLang="zh-CN" sz="2800" b="1" dirty="0">
                <a:solidFill>
                  <a:schemeClr val="bg1"/>
                </a:solidFill>
              </a:rPr>
              <a:t>private</a:t>
            </a:r>
            <a:r>
              <a:rPr lang="en-US" altLang="en-US" sz="2800" b="1" dirty="0">
                <a:solidFill>
                  <a:schemeClr val="bg1"/>
                </a:solidFill>
              </a:rPr>
              <a:t>:</a:t>
            </a:r>
            <a:endParaRPr lang="en-US" altLang="en-US" sz="2800" b="1" dirty="0">
              <a:solidFill>
                <a:schemeClr val="bg1"/>
              </a:solidFill>
            </a:endParaRPr>
          </a:p>
          <a:p>
            <a:pPr eaLnBrk="1" hangingPunct="1">
              <a:buClrTx/>
              <a:buSzTx/>
              <a:buFontTx/>
              <a:buNone/>
            </a:pPr>
            <a:r>
              <a:rPr lang="en-US" altLang="en-US" sz="2800" b="1" dirty="0">
                <a:solidFill>
                  <a:schemeClr val="bg1"/>
                </a:solidFill>
              </a:rPr>
              <a:t>	A(){cout&lt;&lt;"A is constructing\n";};</a:t>
            </a:r>
            <a:endParaRPr lang="en-US" altLang="en-US" sz="2800" b="1" dirty="0">
              <a:solidFill>
                <a:schemeClr val="bg1"/>
              </a:solidFill>
            </a:endParaRPr>
          </a:p>
          <a:p>
            <a:pPr eaLnBrk="1" hangingPunct="1">
              <a:buClrTx/>
              <a:buSzTx/>
              <a:buFontTx/>
              <a:buNone/>
            </a:pPr>
            <a:r>
              <a:rPr lang="en-US" altLang="zh-CN" sz="2800" b="1" dirty="0">
                <a:solidFill>
                  <a:schemeClr val="bg1"/>
                </a:solidFill>
              </a:rPr>
              <a:t>    </a:t>
            </a:r>
            <a:r>
              <a:rPr lang="en-US" altLang="en-US" sz="2800" b="1" dirty="0">
                <a:solidFill>
                  <a:schemeClr val="bg1"/>
                </a:solidFill>
              </a:rPr>
              <a:t>~A(){cout&lt;&lt;"~A\n";}</a:t>
            </a:r>
            <a:endParaRPr lang="en-US" altLang="en-US" sz="2800" b="1" dirty="0">
              <a:solidFill>
                <a:schemeClr val="bg1"/>
              </a:solidFill>
            </a:endParaRPr>
          </a:p>
          <a:p>
            <a:pPr eaLnBrk="1" hangingPunct="1">
              <a:buClrTx/>
              <a:buSzTx/>
              <a:buFontTx/>
              <a:buNone/>
            </a:pPr>
            <a:r>
              <a:rPr lang="en-US" altLang="en-US" sz="2800" b="1" dirty="0">
                <a:solidFill>
                  <a:schemeClr val="bg1"/>
                </a:solidFill>
              </a:rPr>
              <a:t>};</a:t>
            </a:r>
            <a:endParaRPr lang="en-US" altLang="en-US" sz="2800" b="1" dirty="0">
              <a:solidFill>
                <a:schemeClr val="bg1"/>
              </a:solidFill>
            </a:endParaRPr>
          </a:p>
          <a:p>
            <a:pPr eaLnBrk="1" hangingPunct="1">
              <a:buClrTx/>
              <a:buSzTx/>
              <a:buFontTx/>
              <a:buNone/>
            </a:pPr>
            <a:r>
              <a:rPr lang="en-US" altLang="en-US" sz="2800" b="1" dirty="0">
                <a:solidFill>
                  <a:schemeClr val="bg1"/>
                </a:solidFill>
              </a:rPr>
              <a:t>void main(){</a:t>
            </a:r>
            <a:endParaRPr lang="en-US" altLang="en-US" sz="2800" b="1" dirty="0">
              <a:solidFill>
                <a:schemeClr val="bg1"/>
              </a:solidFill>
            </a:endParaRPr>
          </a:p>
          <a:p>
            <a:pPr eaLnBrk="1" hangingPunct="1">
              <a:buClrTx/>
              <a:buSzTx/>
              <a:buFontTx/>
              <a:buNone/>
            </a:pPr>
            <a:r>
              <a:rPr lang="en-US" altLang="zh-CN" sz="2800" b="1" dirty="0">
                <a:solidFill>
                  <a:schemeClr val="bg1"/>
                </a:solidFill>
              </a:rPr>
              <a:t>   </a:t>
            </a:r>
            <a:r>
              <a:rPr lang="en-US" altLang="en-US" sz="2800" b="1" dirty="0">
                <a:solidFill>
                  <a:schemeClr val="bg1"/>
                </a:solidFill>
              </a:rPr>
              <a:t>A s;</a:t>
            </a:r>
            <a:r>
              <a:rPr lang="en-US" altLang="zh-CN" sz="2800" b="1" dirty="0">
                <a:solidFill>
                  <a:schemeClr val="bg1"/>
                </a:solidFill>
              </a:rPr>
              <a:t>//</a:t>
            </a:r>
            <a:r>
              <a:rPr lang="zh-CN" altLang="en-US" sz="2800" b="1" dirty="0">
                <a:solidFill>
                  <a:schemeClr val="bg1"/>
                </a:solidFill>
              </a:rPr>
              <a:t>出错        </a:t>
            </a:r>
            <a:endParaRPr lang="en-US" altLang="zh-CN" sz="2800" b="1" dirty="0">
              <a:solidFill>
                <a:schemeClr val="bg1"/>
              </a:solidFill>
            </a:endParaRPr>
          </a:p>
          <a:p>
            <a:pPr eaLnBrk="1" hangingPunct="1">
              <a:buClrTx/>
              <a:buSzTx/>
              <a:buFontTx/>
              <a:buNone/>
            </a:pPr>
            <a:r>
              <a:rPr lang="en-US" altLang="en-US" sz="2800" b="1" dirty="0">
                <a:solidFill>
                  <a:schemeClr val="bg1"/>
                </a:solidFill>
              </a:rPr>
              <a:t>   </a:t>
            </a:r>
            <a:r>
              <a:rPr lang="en-US" altLang="zh-CN" sz="2800" b="1" dirty="0">
                <a:solidFill>
                  <a:schemeClr val="bg1"/>
                </a:solidFill>
              </a:rPr>
              <a:t>A </a:t>
            </a:r>
            <a:r>
              <a:rPr lang="zh-CN" altLang="en-US" sz="2800" b="1" dirty="0">
                <a:solidFill>
                  <a:schemeClr val="bg1"/>
                </a:solidFill>
              </a:rPr>
              <a:t>*</a:t>
            </a:r>
            <a:r>
              <a:rPr lang="en-US" altLang="zh-CN" sz="2800" b="1" dirty="0">
                <a:solidFill>
                  <a:schemeClr val="bg1"/>
                </a:solidFill>
              </a:rPr>
              <a:t>p = new A;//</a:t>
            </a:r>
            <a:r>
              <a:rPr lang="zh-CN" altLang="en-US" sz="2800" b="1" dirty="0">
                <a:solidFill>
                  <a:schemeClr val="bg1"/>
                </a:solidFill>
              </a:rPr>
              <a:t>出错</a:t>
            </a:r>
            <a:endParaRPr lang="en-US" altLang="en-US" sz="2800" b="1" dirty="0">
              <a:solidFill>
                <a:schemeClr val="bg1"/>
              </a:solidFill>
            </a:endParaRPr>
          </a:p>
          <a:p>
            <a:pPr eaLnBrk="1" hangingPunct="1">
              <a:buClrTx/>
              <a:buSzTx/>
              <a:buFontTx/>
              <a:buNone/>
            </a:pPr>
            <a:r>
              <a:rPr lang="en-US" altLang="en-US" sz="2800" b="1" dirty="0">
                <a:solidFill>
                  <a:schemeClr val="bg1"/>
                </a:solidFill>
              </a:rPr>
              <a:t>}</a:t>
            </a:r>
            <a:endParaRPr lang="en-US" altLang="zh-CN" sz="2800" b="1" dirty="0">
              <a:solidFill>
                <a:schemeClr val="bg1"/>
              </a:solidFill>
            </a:endParaRPr>
          </a:p>
          <a:p>
            <a:pPr eaLnBrk="1" hangingPunct="1">
              <a:buClrTx/>
              <a:buSzTx/>
              <a:buFontTx/>
              <a:buNone/>
            </a:pPr>
            <a:r>
              <a:rPr lang="en-US" altLang="zh-CN" sz="2800" b="1" dirty="0">
                <a:solidFill>
                  <a:schemeClr val="bg1"/>
                </a:solidFill>
              </a:rPr>
              <a:t>//</a:t>
            </a:r>
            <a:r>
              <a:rPr lang="zh-CN" altLang="en-US" sz="2800" b="1" dirty="0">
                <a:solidFill>
                  <a:schemeClr val="bg1"/>
                </a:solidFill>
              </a:rPr>
              <a:t>构造函数</a:t>
            </a:r>
            <a:r>
              <a:rPr lang="en-US" altLang="zh-CN" sz="2800" b="1" dirty="0">
                <a:solidFill>
                  <a:schemeClr val="bg1"/>
                </a:solidFill>
              </a:rPr>
              <a:t>&amp;</a:t>
            </a:r>
            <a:r>
              <a:rPr lang="zh-CN" altLang="en-US" sz="2800" b="1" dirty="0">
                <a:solidFill>
                  <a:schemeClr val="bg1"/>
                </a:solidFill>
              </a:rPr>
              <a:t>析构函数的属性影响</a:t>
            </a:r>
            <a:endParaRPr lang="zh-CN" altLang="en-US" sz="2800" b="1" dirty="0">
              <a:solidFill>
                <a:schemeClr val="bg1"/>
              </a:solidFill>
            </a:endParaRPr>
          </a:p>
        </p:txBody>
      </p:sp>
      <p:sp>
        <p:nvSpPr>
          <p:cNvPr id="17715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Rectangle 2"/>
          <p:cNvSpPr>
            <a:spLocks noGrp="1"/>
          </p:cNvSpPr>
          <p:nvPr>
            <p:ph idx="1"/>
          </p:nvPr>
        </p:nvSpPr>
        <p:spPr>
          <a:xfrm>
            <a:off x="0" y="188913"/>
            <a:ext cx="4572000" cy="6669087"/>
          </a:xfrm>
        </p:spPr>
        <p:txBody>
          <a:bodyPr vert="horz" wrap="square" lIns="91440" tIns="45720" rIns="91440" bIns="45720" anchor="t"/>
          <a:p>
            <a:pPr eaLnBrk="1" hangingPunct="1">
              <a:lnSpc>
                <a:spcPct val="80000"/>
              </a:lnSpc>
              <a:buNone/>
            </a:pPr>
            <a:r>
              <a:rPr lang="en-US" altLang="zh-CN" sz="2400" b="1" dirty="0">
                <a:solidFill>
                  <a:schemeClr val="bg1"/>
                </a:solidFill>
              </a:rPr>
              <a:t>int nextStudentID=0;</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++nextStudentID</a:t>
            </a:r>
            <a:r>
              <a:rPr lang="zh-CN" altLang="en-US"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--nextStudentID;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r>
              <a:rPr lang="zh-CN" altLang="en-US" sz="2400" b="1" dirty="0">
                <a:solidFill>
                  <a:schemeClr val="bg1"/>
                </a:solidFill>
              </a:rPr>
              <a:t>；</a:t>
            </a:r>
            <a:endParaRPr lang="en-US" altLang="zh-CN" sz="2400" b="1" dirty="0">
              <a:solidFill>
                <a:schemeClr val="bg1"/>
              </a:solidFill>
            </a:endParaRPr>
          </a:p>
        </p:txBody>
      </p:sp>
      <p:sp>
        <p:nvSpPr>
          <p:cNvPr id="155651" name="Rectangle 4"/>
          <p:cNvSpPr>
            <a:spLocks noChangeArrowheads="1"/>
          </p:cNvSpPr>
          <p:nvPr/>
        </p:nvSpPr>
        <p:spPr bwMode="auto">
          <a:xfrm>
            <a:off x="4211638" y="188913"/>
            <a:ext cx="4932363" cy="5688013"/>
          </a:xfrm>
          <a:prstGeom prst="rect">
            <a:avLst/>
          </a:prstGeom>
          <a:noFill/>
          <a:ln>
            <a:noFill/>
          </a:ln>
          <a:effectLst/>
        </p:spPr>
        <p:txBody>
          <a:bodyPr/>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构造函数根据空间个数初始化</a:t>
            </a:r>
            <a:endParaRPr kumimoji="1" lang="zh-CN" alt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void main()</a:t>
            </a:r>
            <a:endPar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Student *p;</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p = new Student </a:t>
            </a:r>
            <a:r>
              <a:rPr kumimoji="0" lang="zh-CN"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（“张三”）</a:t>
            </a: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 …;</a:t>
            </a:r>
            <a:endPar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void p(){</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Student s(“</a:t>
            </a:r>
            <a:r>
              <a:rPr kumimoji="0" lang="zh-CN"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李四</a:t>
            </a: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 …;</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 … …</a:t>
            </a: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cxnSp>
        <p:nvCxnSpPr>
          <p:cNvPr id="178179" name="直接连接符 2"/>
          <p:cNvCxnSpPr/>
          <p:nvPr/>
        </p:nvCxnSpPr>
        <p:spPr>
          <a:xfrm>
            <a:off x="3779838" y="115888"/>
            <a:ext cx="0" cy="6626225"/>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1" name="Rectangle 2"/>
          <p:cNvSpPr>
            <a:spLocks noGrp="1"/>
          </p:cNvSpPr>
          <p:nvPr>
            <p:ph idx="1"/>
          </p:nvPr>
        </p:nvSpPr>
        <p:spPr>
          <a:xfrm>
            <a:off x="755650" y="0"/>
            <a:ext cx="4859338" cy="6669088"/>
          </a:xfrm>
        </p:spPr>
        <p:txBody>
          <a:bodyPr vert="horz" wrap="square" lIns="91440" tIns="45720" rIns="91440" bIns="45720" anchor="t"/>
          <a:p>
            <a:pPr eaLnBrk="1" hangingPunct="1">
              <a:lnSpc>
                <a:spcPct val="80000"/>
              </a:lnSpc>
              <a:buNone/>
            </a:pPr>
            <a:r>
              <a:rPr lang="en-US" altLang="zh-CN" sz="2800" b="1" dirty="0">
                <a:solidFill>
                  <a:schemeClr val="bg1"/>
                </a:solidFill>
              </a:rPr>
              <a:t>//</a:t>
            </a:r>
            <a:r>
              <a:rPr lang="zh-CN" altLang="en-US" sz="2800" b="1" dirty="0">
                <a:solidFill>
                  <a:schemeClr val="bg1"/>
                </a:solidFill>
              </a:rPr>
              <a:t>对象数组  构造函数工作情况</a:t>
            </a:r>
            <a:endParaRPr lang="zh-CN" altLang="en-US" sz="2800" b="1" dirty="0">
              <a:solidFill>
                <a:schemeClr val="bg1"/>
              </a:solidFill>
            </a:endParaRPr>
          </a:p>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value;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cin&gt;&gt;value;}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cout&lt;&lt;value&lt;&lt;endl;}</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*p=new Student[5];</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t>
            </a:r>
            <a:r>
              <a:rPr lang="en-US" altLang="zh-CN" sz="2800" b="1" dirty="0">
                <a:solidFill>
                  <a:schemeClr val="bg1"/>
                </a:solidFill>
                <a:latin typeface="Arial" panose="020B0604020202020204" pitchFamily="34" charset="0"/>
              </a:rPr>
              <a:t>“</a:t>
            </a:r>
            <a:r>
              <a:rPr lang="en-US" altLang="zh-CN" sz="2800" b="1" dirty="0">
                <a:solidFill>
                  <a:schemeClr val="bg1"/>
                </a:solidFill>
              </a:rPr>
              <a:t>Delete Begin</a:t>
            </a:r>
            <a:r>
              <a:rPr lang="en-US" altLang="zh-CN" sz="2800" b="1" dirty="0">
                <a:solidFill>
                  <a:schemeClr val="bg1"/>
                </a:solidFill>
                <a:latin typeface="Arial" panose="020B0604020202020204" pitchFamily="34" charset="0"/>
              </a:rPr>
              <a:t>”</a:t>
            </a:r>
            <a:r>
              <a:rPr lang="en-US" altLang="zh-CN" sz="2800" b="1" dirty="0">
                <a:solidFill>
                  <a:schemeClr val="bg1"/>
                </a:solidFill>
              </a:rPr>
              <a:t>&lt;&lt;endl;</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delete [] p;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pic>
        <p:nvPicPr>
          <p:cNvPr id="617476" name="Picture 4"/>
          <p:cNvPicPr>
            <a:picLocks noChangeAspect="1"/>
          </p:cNvPicPr>
          <p:nvPr/>
        </p:nvPicPr>
        <p:blipFill>
          <a:blip r:embed="rId1"/>
          <a:srcRect t="5653" r="75439" b="52118"/>
          <a:stretch>
            <a:fillRect/>
          </a:stretch>
        </p:blipFill>
        <p:spPr>
          <a:xfrm>
            <a:off x="5867400" y="-26987"/>
            <a:ext cx="3276600" cy="30241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17476"/>
                                        </p:tgtEl>
                                        <p:attrNameLst>
                                          <p:attrName>style.visibility</p:attrName>
                                        </p:attrNameLst>
                                      </p:cBhvr>
                                      <p:to>
                                        <p:strVal val="visible"/>
                                      </p:to>
                                    </p:set>
                                    <p:animEffect transition="in" filter="diamond(in)">
                                      <p:cBhvr>
                                        <p:cTn id="7" dur="2000"/>
                                        <p:tgtEl>
                                          <p:spTgt spid="617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Rectangle 2"/>
          <p:cNvSpPr>
            <a:spLocks noGrp="1"/>
          </p:cNvSpPr>
          <p:nvPr>
            <p:ph idx="1"/>
          </p:nvPr>
        </p:nvSpPr>
        <p:spPr>
          <a:xfrm>
            <a:off x="755650" y="0"/>
            <a:ext cx="8208963" cy="6669088"/>
          </a:xfrm>
        </p:spPr>
        <p:txBody>
          <a:bodyPr vert="horz" wrap="square" lIns="91440" tIns="45720" rIns="91440" bIns="45720" anchor="t"/>
          <a:p>
            <a:pPr eaLnBrk="1" hangingPunct="1">
              <a:lnSpc>
                <a:spcPct val="80000"/>
              </a:lnSpc>
              <a:buNone/>
            </a:pPr>
            <a:r>
              <a:rPr lang="en-US" altLang="zh-CN" sz="2800" b="1" dirty="0">
                <a:solidFill>
                  <a:schemeClr val="bg1"/>
                </a:solidFill>
              </a:rPr>
              <a:t>//</a:t>
            </a:r>
            <a:r>
              <a:rPr lang="zh-CN" altLang="en-US" sz="2800" b="1" dirty="0">
                <a:solidFill>
                  <a:schemeClr val="bg1"/>
                </a:solidFill>
              </a:rPr>
              <a:t>对象数组</a:t>
            </a:r>
            <a:endParaRPr lang="zh-CN" altLang="en-US" sz="2800" b="1" dirty="0">
              <a:solidFill>
                <a:schemeClr val="bg1"/>
              </a:solidFill>
            </a:endParaRPr>
          </a:p>
          <a:p>
            <a:pPr eaLnBrk="1" hangingPunct="1">
              <a:lnSpc>
                <a:spcPct val="80000"/>
              </a:lnSpc>
              <a:buNone/>
            </a:pPr>
            <a:r>
              <a:rPr lang="en-US" altLang="zh-CN" sz="2800" b="1" dirty="0">
                <a:solidFill>
                  <a:schemeClr val="bg1"/>
                </a:solidFill>
              </a:rPr>
              <a:t>class Student{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int value;</a:t>
            </a:r>
            <a:endParaRPr lang="en-US" altLang="zh-CN" sz="2800" b="1" dirty="0">
              <a:solidFill>
                <a:schemeClr val="bg1"/>
              </a:solidFill>
            </a:endParaRPr>
          </a:p>
          <a:p>
            <a:pPr eaLnBrk="1" hangingPunct="1">
              <a:lnSpc>
                <a:spcPct val="80000"/>
              </a:lnSpc>
              <a:buNone/>
            </a:pPr>
            <a:r>
              <a:rPr lang="en-US" altLang="zh-CN" sz="2800" b="1" dirty="0">
                <a:solidFill>
                  <a:schemeClr val="bg1"/>
                </a:solidFill>
              </a:rPr>
              <a:t>public:</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Student(int i)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value = i;}</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~StudentID(){</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cout&lt;&lt;value&lt;&lt;endl;}</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void main(){</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Student *p=new Student[5](80);//</a:t>
            </a:r>
            <a:r>
              <a:rPr lang="zh-CN" altLang="en-US" sz="2800" b="1" dirty="0">
                <a:solidFill>
                  <a:schemeClr val="bg1"/>
                </a:solidFill>
              </a:rPr>
              <a:t>错误</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cout&lt;&lt;</a:t>
            </a:r>
            <a:r>
              <a:rPr lang="en-US" altLang="zh-CN" sz="2800" b="1" dirty="0">
                <a:solidFill>
                  <a:schemeClr val="bg1"/>
                </a:solidFill>
                <a:latin typeface="Arial" panose="020B0604020202020204" pitchFamily="34" charset="0"/>
              </a:rPr>
              <a:t>“</a:t>
            </a:r>
            <a:r>
              <a:rPr lang="en-US" altLang="zh-CN" sz="2800" b="1" dirty="0">
                <a:solidFill>
                  <a:schemeClr val="bg1"/>
                </a:solidFill>
              </a:rPr>
              <a:t>Delete Begin</a:t>
            </a:r>
            <a:r>
              <a:rPr lang="en-US" altLang="zh-CN" sz="2800" b="1" dirty="0">
                <a:solidFill>
                  <a:schemeClr val="bg1"/>
                </a:solidFill>
                <a:latin typeface="Arial" panose="020B0604020202020204" pitchFamily="34" charset="0"/>
              </a:rPr>
              <a:t>”</a:t>
            </a:r>
            <a:r>
              <a:rPr lang="en-US" altLang="zh-CN" sz="2800" b="1" dirty="0">
                <a:solidFill>
                  <a:schemeClr val="bg1"/>
                </a:solidFill>
              </a:rPr>
              <a:t>&lt;&lt;endl;</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delete [] p; </a:t>
            </a:r>
            <a:endParaRPr lang="en-US" altLang="zh-CN" sz="2800" b="1" dirty="0">
              <a:solidFill>
                <a:schemeClr val="bg1"/>
              </a:solidFill>
            </a:endParaRPr>
          </a:p>
          <a:p>
            <a:pPr eaLnBrk="1" hangingPunct="1">
              <a:lnSpc>
                <a:spcPct val="80000"/>
              </a:lnSpc>
              <a:buNone/>
            </a:pPr>
            <a:r>
              <a:rPr lang="en-US" altLang="zh-CN" sz="2800" b="1" dirty="0">
                <a:solidFill>
                  <a:schemeClr val="bg1"/>
                </a:solidFill>
              </a:rPr>
              <a:t>}</a:t>
            </a:r>
            <a:endParaRPr lang="en-US" altLang="zh-CN" sz="2800" b="1" dirty="0">
              <a:solidFill>
                <a:schemeClr val="bg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49" name="Rectangle 2"/>
          <p:cNvSpPr>
            <a:spLocks noGrp="1"/>
          </p:cNvSpPr>
          <p:nvPr>
            <p:ph idx="1"/>
          </p:nvPr>
        </p:nvSpPr>
        <p:spPr>
          <a:xfrm>
            <a:off x="182563" y="0"/>
            <a:ext cx="5829300" cy="6858000"/>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组合类的构造函数如何工作</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StudentID(int id=0)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 id(ssID);           //</a:t>
            </a:r>
            <a:r>
              <a:rPr lang="zh-CN" altLang="en-US" sz="2400" b="1" dirty="0">
                <a:solidFill>
                  <a:schemeClr val="bg1"/>
                </a:solidFill>
              </a:rPr>
              <a:t>错误</a:t>
            </a:r>
            <a:endParaRPr lang="zh-CN" altLang="en-US"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ssID=0){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81250" name="Rectangle 4"/>
          <p:cNvSpPr/>
          <p:nvPr/>
        </p:nvSpPr>
        <p:spPr>
          <a:xfrm>
            <a:off x="5113338" y="44450"/>
            <a:ext cx="4067175" cy="1512888"/>
          </a:xfrm>
          <a:prstGeom prst="rect">
            <a:avLst/>
          </a:prstGeom>
          <a:noFill/>
          <a:ln w="9525">
            <a:noFill/>
          </a:ln>
        </p:spPr>
        <p:txBody>
          <a:bodyPr anchor="t"/>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Student s("Randy",9818);</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240645" name="Rectangle 5"/>
          <p:cNvSpPr>
            <a:spLocks noChangeArrowheads="1"/>
          </p:cNvSpPr>
          <p:nvPr/>
        </p:nvSpPr>
        <p:spPr bwMode="auto">
          <a:xfrm>
            <a:off x="4822825" y="5589588"/>
            <a:ext cx="4321175" cy="1295400"/>
          </a:xfrm>
          <a:prstGeom prst="rect">
            <a:avLst/>
          </a:prstGeom>
          <a:solidFill>
            <a:schemeClr val="accent1"/>
          </a:solidFill>
          <a:ln w="9525" algn="ctr">
            <a:solidFill>
              <a:schemeClr val="bg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类成员定义时不允许初始化，</a:t>
            </a:r>
            <a:endPar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因为类仅仅是一个类型，</a:t>
            </a:r>
            <a:endPar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而没有空间分配</a:t>
            </a:r>
            <a:endPar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3" name="Rectangle 2"/>
          <p:cNvSpPr>
            <a:spLocks noGrp="1"/>
          </p:cNvSpPr>
          <p:nvPr>
            <p:ph idx="1"/>
          </p:nvPr>
        </p:nvSpPr>
        <p:spPr>
          <a:xfrm>
            <a:off x="182563" y="0"/>
            <a:ext cx="5829300" cy="6858000"/>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组合类的构造函数如何工作</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StudentID(int id=0)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 id;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ssID=0){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a:t>
            </a:r>
            <a:endParaRPr lang="en-US" altLang="zh-CN" sz="2400" b="1" dirty="0">
              <a:solidFill>
                <a:schemeClr val="bg1"/>
              </a:solidFill>
            </a:endParaRPr>
          </a:p>
          <a:p>
            <a:pPr eaLnBrk="1" hangingPunct="1">
              <a:lnSpc>
                <a:spcPct val="80000"/>
              </a:lnSpc>
              <a:buNone/>
            </a:pPr>
            <a:r>
              <a:rPr lang="en-US" altLang="zh-CN" sz="2400" b="1" dirty="0">
                <a:solidFill>
                  <a:srgbClr val="FFFF00"/>
                </a:solidFill>
              </a:rPr>
              <a:t>     StudentID id(ssID);           </a:t>
            </a:r>
            <a:endParaRPr lang="en-US" altLang="zh-CN" sz="2400" b="1" dirty="0">
              <a:solidFill>
                <a:srgbClr val="FFFF00"/>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82274" name="Rectangle 4"/>
          <p:cNvSpPr/>
          <p:nvPr/>
        </p:nvSpPr>
        <p:spPr>
          <a:xfrm>
            <a:off x="5113338" y="44450"/>
            <a:ext cx="4067175" cy="1512888"/>
          </a:xfrm>
          <a:prstGeom prst="rect">
            <a:avLst/>
          </a:prstGeom>
          <a:noFill/>
          <a:ln w="9525">
            <a:noFill/>
          </a:ln>
        </p:spPr>
        <p:txBody>
          <a:bodyPr anchor="t"/>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Student s("Randy",9818);</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240645" name="Rectangle 5"/>
          <p:cNvSpPr>
            <a:spLocks noChangeArrowheads="1"/>
          </p:cNvSpPr>
          <p:nvPr/>
        </p:nvSpPr>
        <p:spPr bwMode="auto">
          <a:xfrm>
            <a:off x="4643438" y="5589588"/>
            <a:ext cx="4500563" cy="1295400"/>
          </a:xfrm>
          <a:prstGeom prst="rect">
            <a:avLst/>
          </a:prstGeom>
          <a:solidFill>
            <a:schemeClr val="accent1"/>
          </a:solidFill>
          <a:ln w="9525" algn="ctr">
            <a:solidFill>
              <a:schemeClr val="bg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临时对象而已 不能影响类的成员</a:t>
            </a:r>
            <a:endPar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7" name="Rectangle 2"/>
          <p:cNvSpPr>
            <a:spLocks noGrp="1"/>
          </p:cNvSpPr>
          <p:nvPr>
            <p:ph idx="1"/>
          </p:nvPr>
        </p:nvSpPr>
        <p:spPr>
          <a:xfrm>
            <a:off x="182563" y="0"/>
            <a:ext cx="5829300" cy="6858000"/>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组合类的构造函数如何工作</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StudentID(int id=0)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 id;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ssID=0){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a:t>
            </a:r>
            <a:endParaRPr lang="en-US" altLang="zh-CN" sz="2400" b="1" dirty="0">
              <a:solidFill>
                <a:schemeClr val="bg1"/>
              </a:solidFill>
            </a:endParaRPr>
          </a:p>
          <a:p>
            <a:pPr eaLnBrk="1" hangingPunct="1">
              <a:lnSpc>
                <a:spcPct val="80000"/>
              </a:lnSpc>
              <a:buNone/>
            </a:pPr>
            <a:r>
              <a:rPr lang="en-US" altLang="zh-CN" sz="2400" b="1" dirty="0">
                <a:solidFill>
                  <a:srgbClr val="FFFF00"/>
                </a:solidFill>
              </a:rPr>
              <a:t>     id(ssID);           </a:t>
            </a:r>
            <a:endParaRPr lang="en-US" altLang="zh-CN" sz="2400" b="1" dirty="0">
              <a:solidFill>
                <a:srgbClr val="FFFF00"/>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183298" name="Rectangle 4"/>
          <p:cNvSpPr/>
          <p:nvPr/>
        </p:nvSpPr>
        <p:spPr>
          <a:xfrm>
            <a:off x="5113338" y="44450"/>
            <a:ext cx="4067175" cy="1512888"/>
          </a:xfrm>
          <a:prstGeom prst="rect">
            <a:avLst/>
          </a:prstGeom>
          <a:noFill/>
          <a:ln w="9525">
            <a:noFill/>
          </a:ln>
        </p:spPr>
        <p:txBody>
          <a:bodyPr anchor="t"/>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Student s("Randy",9818);</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240645" name="Rectangle 5"/>
          <p:cNvSpPr>
            <a:spLocks noChangeArrowheads="1"/>
          </p:cNvSpPr>
          <p:nvPr/>
        </p:nvSpPr>
        <p:spPr bwMode="auto">
          <a:xfrm>
            <a:off x="4643438" y="5589588"/>
            <a:ext cx="4500563" cy="1295400"/>
          </a:xfrm>
          <a:prstGeom prst="rect">
            <a:avLst/>
          </a:prstGeom>
          <a:solidFill>
            <a:schemeClr val="accent1"/>
          </a:solidFill>
          <a:ln w="9525" algn="ctr">
            <a:solidFill>
              <a:schemeClr val="bg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构造函数不允许滞后调用；</a:t>
            </a:r>
            <a:endPar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构造函数要各司其职</a:t>
            </a:r>
            <a:endParaRPr kumimoji="1" lang="zh-CN" altLang="en-US" sz="24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1" name="Rectangle 2"/>
          <p:cNvSpPr>
            <a:spLocks noGrp="1"/>
          </p:cNvSpPr>
          <p:nvPr>
            <p:ph idx="1"/>
          </p:nvPr>
        </p:nvSpPr>
        <p:spPr>
          <a:xfrm>
            <a:off x="0" y="0"/>
            <a:ext cx="8820150" cy="6858000"/>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组合类的构造函数如何工作</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StudentID(int id=0)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 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Student(string pName,int ssID=0):id(ssID) {  //</a:t>
            </a:r>
            <a:r>
              <a:rPr lang="zh-CN" altLang="en-US" sz="2400" b="1" dirty="0">
                <a:solidFill>
                  <a:schemeClr val="bg1"/>
                </a:solidFill>
              </a:rPr>
              <a:t>引入新语法</a:t>
            </a: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p:txBody>
      </p:sp>
      <p:sp>
        <p:nvSpPr>
          <p:cNvPr id="184322" name="Rectangle 4"/>
          <p:cNvSpPr/>
          <p:nvPr/>
        </p:nvSpPr>
        <p:spPr>
          <a:xfrm>
            <a:off x="5148263" y="44450"/>
            <a:ext cx="4319587" cy="1512888"/>
          </a:xfrm>
          <a:prstGeom prst="rect">
            <a:avLst/>
          </a:prstGeom>
          <a:noFill/>
          <a:ln w="9525">
            <a:noFill/>
          </a:ln>
        </p:spPr>
        <p:txBody>
          <a:bodyPr anchor="t"/>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Student s("Randy",9818);</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5" name="Rectangle 2"/>
          <p:cNvSpPr>
            <a:spLocks noGrp="1"/>
          </p:cNvSpPr>
          <p:nvPr>
            <p:ph idx="1"/>
          </p:nvPr>
        </p:nvSpPr>
        <p:spPr>
          <a:xfrm>
            <a:off x="1258888" y="0"/>
            <a:ext cx="7634287" cy="6569075"/>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（上）           列表顺序不影响构造函数执行顺序</a:t>
            </a:r>
            <a:endParaRPr lang="zh-CN" altLang="en-US" sz="2400" b="1" dirty="0">
              <a:solidFill>
                <a:schemeClr val="bg1"/>
              </a:solidFill>
            </a:endParaRPr>
          </a:p>
          <a:p>
            <a:pPr eaLnBrk="1" hangingPunct="1">
              <a:lnSpc>
                <a:spcPct val="80000"/>
              </a:lnSpc>
              <a:buNone/>
            </a:pPr>
            <a:r>
              <a:rPr lang="en-US" altLang="zh-CN" sz="2400" b="1" dirty="0">
                <a:solidFill>
                  <a:schemeClr val="bg1"/>
                </a:solidFill>
              </a:rPr>
              <a:t>class Student{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semesHours;</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Student(int i)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 &lt;&lt;"constructing student.\n";</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semesHours=i;</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~Student(){cout&lt;&lt;</a:t>
            </a:r>
            <a:r>
              <a:rPr lang="en-US" altLang="zh-CN" sz="2400" b="1" dirty="0">
                <a:solidFill>
                  <a:schemeClr val="bg1"/>
                </a:solidFill>
                <a:latin typeface="Arial" panose="020B0604020202020204" pitchFamily="34" charset="0"/>
              </a:rPr>
              <a:t>“</a:t>
            </a:r>
            <a:r>
              <a:rPr lang="en-US" altLang="zh-CN" sz="2400" b="1" dirty="0">
                <a:solidFill>
                  <a:schemeClr val="bg1"/>
                </a:solidFill>
              </a:rPr>
              <a:t>~Student\n</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class Teacher{</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string  name;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Teacher(string pName)  {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name </a:t>
            </a:r>
            <a:r>
              <a:rPr lang="zh-CN" altLang="en-US" sz="2400" b="1" dirty="0">
                <a:solidFill>
                  <a:schemeClr val="bg1"/>
                </a:solidFill>
              </a:rPr>
              <a:t>＝ </a:t>
            </a:r>
            <a:r>
              <a:rPr lang="en-US" altLang="zh-CN" sz="2400" b="1" dirty="0">
                <a:solidFill>
                  <a:schemeClr val="bg1"/>
                </a:solidFill>
              </a:rPr>
              <a:t>pName;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cout &lt;&lt;"constructing teacher.\n";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~Teacher(){cout&lt;&lt;</a:t>
            </a:r>
            <a:r>
              <a:rPr lang="en-US" altLang="zh-CN" sz="2400" b="1" dirty="0">
                <a:solidFill>
                  <a:schemeClr val="bg1"/>
                </a:solidFill>
                <a:latin typeface="Arial" panose="020B0604020202020204" pitchFamily="34" charset="0"/>
              </a:rPr>
              <a:t>“</a:t>
            </a:r>
            <a:r>
              <a:rPr lang="en-US" altLang="zh-CN" sz="2400" b="1" dirty="0">
                <a:solidFill>
                  <a:schemeClr val="bg1"/>
                </a:solidFill>
              </a:rPr>
              <a:t>~Teacher\n</a:t>
            </a:r>
            <a:r>
              <a:rPr lang="en-US" altLang="zh-CN" sz="2400" b="1" dirty="0">
                <a:solidFill>
                  <a:schemeClr val="bg1"/>
                </a:solidFill>
                <a:latin typeface="Arial" panose="020B0604020202020204" pitchFamily="34" charset="0"/>
              </a:rPr>
              <a:t>”</a:t>
            </a: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69" name="Rectangle 4"/>
          <p:cNvSpPr/>
          <p:nvPr/>
        </p:nvSpPr>
        <p:spPr>
          <a:xfrm>
            <a:off x="827088" y="0"/>
            <a:ext cx="7993062" cy="5400675"/>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下</a:t>
            </a:r>
            <a:r>
              <a:rPr lang="en-US" altLang="zh-CN"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class TutorPair{</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Teacher 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int noMeetings;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public:</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TutorPair(int i,int j,string p):t(p),s(j){</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 &lt;&lt;"constructing tutorpair.\n";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noMeetings=i;</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~TutorPair(){cout&lt;&lt;</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~TutorPair\n</a:t>
            </a:r>
            <a:r>
              <a:rPr lang="en-US" altLang="zh-CN" sz="2400" b="1" dirty="0">
                <a:latin typeface="Arial" panose="020B0604020202020204" pitchFamily="34"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{TutorPair tp(100,3.5,</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John</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 &lt;&lt;"back in main.\n";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pic>
        <p:nvPicPr>
          <p:cNvPr id="3" name="Picture 6"/>
          <p:cNvPicPr>
            <a:picLocks noGrp="1" noChangeAspect="1"/>
          </p:cNvPicPr>
          <p:nvPr>
            <p:ph idx="1"/>
          </p:nvPr>
        </p:nvPicPr>
        <p:blipFill>
          <a:blip r:embed="rId1"/>
          <a:srcRect r="65318" b="67712"/>
          <a:stretch>
            <a:fillRect/>
          </a:stretch>
        </p:blipFill>
        <p:spPr>
          <a:xfrm>
            <a:off x="5334000" y="4403725"/>
            <a:ext cx="3810000" cy="245427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3" name="Rectangle 2"/>
          <p:cNvSpPr>
            <a:spLocks noGrp="1"/>
          </p:cNvSpPr>
          <p:nvPr>
            <p:ph idx="1"/>
          </p:nvPr>
        </p:nvSpPr>
        <p:spPr>
          <a:xfrm>
            <a:off x="107950" y="836613"/>
            <a:ext cx="6480175" cy="5876925"/>
          </a:xfrm>
        </p:spPr>
        <p:txBody>
          <a:bodyPr vert="horz" wrap="square" lIns="91440" tIns="45720" rIns="91440" bIns="45720" anchor="t"/>
          <a:p>
            <a:pPr eaLnBrk="1" hangingPunct="1">
              <a:lnSpc>
                <a:spcPct val="90000"/>
              </a:lnSpc>
              <a:buNone/>
            </a:pPr>
            <a:r>
              <a:rPr lang="en-US" altLang="zh-CN" b="1" dirty="0">
                <a:solidFill>
                  <a:schemeClr val="bg1"/>
                </a:solidFill>
              </a:rPr>
              <a:t>//</a:t>
            </a:r>
            <a:r>
              <a:rPr lang="zh-CN" altLang="en-US" b="1" dirty="0">
                <a:solidFill>
                  <a:schemeClr val="bg1"/>
                </a:solidFill>
              </a:rPr>
              <a:t>常量成员和引用成员</a:t>
            </a:r>
            <a:endParaRPr lang="zh-CN" altLang="en-US" b="1" dirty="0">
              <a:solidFill>
                <a:schemeClr val="bg1"/>
              </a:solidFill>
            </a:endParaRPr>
          </a:p>
          <a:p>
            <a:pPr eaLnBrk="1" hangingPunct="1">
              <a:lnSpc>
                <a:spcPct val="90000"/>
              </a:lnSpc>
              <a:buNone/>
            </a:pPr>
            <a:r>
              <a:rPr lang="en-US" altLang="zh-CN" b="1" dirty="0">
                <a:solidFill>
                  <a:schemeClr val="bg1"/>
                </a:solidFill>
              </a:rPr>
              <a:t>class Student{</a:t>
            </a:r>
            <a:endParaRPr lang="en-US" altLang="zh-CN" b="1" dirty="0">
              <a:solidFill>
                <a:schemeClr val="bg1"/>
              </a:solidFill>
            </a:endParaRPr>
          </a:p>
          <a:p>
            <a:pPr eaLnBrk="1" hangingPunct="1">
              <a:lnSpc>
                <a:spcPct val="90000"/>
              </a:lnSpc>
              <a:buNone/>
            </a:pPr>
            <a:r>
              <a:rPr lang="en-US" altLang="zh-CN" b="1" dirty="0">
                <a:solidFill>
                  <a:schemeClr val="bg1"/>
                </a:solidFill>
              </a:rPr>
              <a:t>   const  int  i;     //</a:t>
            </a:r>
            <a:r>
              <a:rPr lang="zh-CN" altLang="en-US" b="1" dirty="0">
                <a:solidFill>
                  <a:schemeClr val="bg1"/>
                </a:solidFill>
              </a:rPr>
              <a:t>此处不能赋值</a:t>
            </a:r>
            <a:endParaRPr lang="en-US" altLang="zh-CN" b="1" dirty="0">
              <a:solidFill>
                <a:schemeClr val="bg1"/>
              </a:solidFill>
            </a:endParaRPr>
          </a:p>
          <a:p>
            <a:pPr eaLnBrk="1" hangingPunct="1">
              <a:lnSpc>
                <a:spcPct val="90000"/>
              </a:lnSpc>
              <a:buNone/>
            </a:pPr>
            <a:r>
              <a:rPr lang="en-US" altLang="zh-CN" b="1" dirty="0">
                <a:solidFill>
                  <a:schemeClr val="bg1"/>
                </a:solidFill>
              </a:rPr>
              <a:t>   int const &amp;j;           //</a:t>
            </a:r>
            <a:r>
              <a:rPr lang="zh-CN" altLang="en-US" b="1" dirty="0">
                <a:solidFill>
                  <a:schemeClr val="bg1"/>
                </a:solidFill>
              </a:rPr>
              <a:t>此处不能赋值</a:t>
            </a:r>
            <a:endParaRPr lang="en-US" altLang="zh-CN" b="1" dirty="0">
              <a:solidFill>
                <a:schemeClr val="bg1"/>
              </a:solidFill>
            </a:endParaRPr>
          </a:p>
          <a:p>
            <a:pPr eaLnBrk="1" hangingPunct="1">
              <a:lnSpc>
                <a:spcPct val="90000"/>
              </a:lnSpc>
              <a:buNone/>
            </a:pPr>
            <a:r>
              <a:rPr lang="en-US" altLang="zh-CN" b="1" dirty="0">
                <a:solidFill>
                  <a:schemeClr val="bg1"/>
                </a:solidFill>
              </a:rPr>
              <a:t>public:</a:t>
            </a:r>
            <a:endParaRPr lang="en-US" altLang="zh-CN" b="1" dirty="0">
              <a:solidFill>
                <a:schemeClr val="bg1"/>
              </a:solidFill>
            </a:endParaRPr>
          </a:p>
          <a:p>
            <a:pPr eaLnBrk="1" hangingPunct="1">
              <a:lnSpc>
                <a:spcPct val="90000"/>
              </a:lnSpc>
              <a:buNone/>
            </a:pPr>
            <a:r>
              <a:rPr lang="en-US" altLang="zh-CN" b="1" dirty="0">
                <a:solidFill>
                  <a:schemeClr val="bg1"/>
                </a:solidFill>
              </a:rPr>
              <a:t>  Student(int s,int &amp;k):i(s),j(k){}                </a:t>
            </a:r>
            <a:endParaRPr lang="zh-CN" altLang="en-US" b="1" dirty="0">
              <a:solidFill>
                <a:schemeClr val="bg1"/>
              </a:solidFill>
            </a:endParaRPr>
          </a:p>
          <a:p>
            <a:pPr eaLnBrk="1" hangingPunct="1">
              <a:lnSpc>
                <a:spcPct val="90000"/>
              </a:lnSpc>
              <a:buNone/>
            </a:pPr>
            <a:r>
              <a:rPr lang="en-US" altLang="zh-CN" b="1" dirty="0">
                <a:solidFill>
                  <a:schemeClr val="bg1"/>
                </a:solidFill>
              </a:rPr>
              <a:t>  void p(){cout&lt;&lt;j&lt;&lt;endl;}</a:t>
            </a:r>
            <a:endParaRPr lang="en-US" altLang="zh-CN" b="1" dirty="0">
              <a:solidFill>
                <a:schemeClr val="bg1"/>
              </a:solidFill>
            </a:endParaRPr>
          </a:p>
          <a:p>
            <a:pPr eaLnBrk="1" hangingPunct="1">
              <a:lnSpc>
                <a:spcPct val="90000"/>
              </a:lnSpc>
              <a:buNone/>
            </a:pPr>
            <a:r>
              <a:rPr lang="en-US" altLang="zh-CN" b="1" dirty="0">
                <a:solidFill>
                  <a:schemeClr val="bg1"/>
                </a:solidFill>
              </a:rPr>
              <a:t>};</a:t>
            </a:r>
            <a:endParaRPr lang="en-US" altLang="zh-CN" b="1" dirty="0">
              <a:solidFill>
                <a:schemeClr val="bg1"/>
              </a:solidFill>
            </a:endParaRPr>
          </a:p>
          <a:p>
            <a:pPr eaLnBrk="1" hangingPunct="1">
              <a:lnSpc>
                <a:spcPct val="90000"/>
              </a:lnSpc>
              <a:buNone/>
            </a:pPr>
            <a:r>
              <a:rPr lang="en-US" altLang="zh-CN" b="1" dirty="0">
                <a:solidFill>
                  <a:schemeClr val="bg1"/>
                </a:solidFill>
              </a:rPr>
              <a:t>//const</a:t>
            </a:r>
            <a:r>
              <a:rPr lang="zh-CN" altLang="en-US" b="1" dirty="0">
                <a:solidFill>
                  <a:schemeClr val="bg1"/>
                </a:solidFill>
              </a:rPr>
              <a:t>成员被认为缺乏意义</a:t>
            </a:r>
            <a:endParaRPr lang="en-US" altLang="zh-CN" b="1" dirty="0">
              <a:solidFill>
                <a:schemeClr val="bg1"/>
              </a:solidFill>
            </a:endParaRPr>
          </a:p>
          <a:p>
            <a:pPr eaLnBrk="1" hangingPunct="1">
              <a:lnSpc>
                <a:spcPct val="90000"/>
              </a:lnSpc>
              <a:buNone/>
            </a:pPr>
            <a:r>
              <a:rPr lang="en-US" altLang="zh-CN" b="1" dirty="0">
                <a:solidFill>
                  <a:schemeClr val="bg1"/>
                </a:solidFill>
              </a:rPr>
              <a:t>//</a:t>
            </a:r>
            <a:r>
              <a:rPr lang="zh-CN" altLang="en-US" b="1" dirty="0">
                <a:solidFill>
                  <a:schemeClr val="bg1"/>
                </a:solidFill>
              </a:rPr>
              <a:t>引用成员主要是超越指针成员的不确定性</a:t>
            </a:r>
            <a:endParaRPr lang="en-US" altLang="zh-CN" b="1" dirty="0">
              <a:solidFill>
                <a:schemeClr val="bg1"/>
              </a:solidFill>
            </a:endParaRPr>
          </a:p>
        </p:txBody>
      </p:sp>
      <p:sp>
        <p:nvSpPr>
          <p:cNvPr id="187394"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87395" name="Rectangle 4"/>
          <p:cNvSpPr/>
          <p:nvPr/>
        </p:nvSpPr>
        <p:spPr>
          <a:xfrm>
            <a:off x="6588125" y="1052513"/>
            <a:ext cx="2665413" cy="5472112"/>
          </a:xfrm>
          <a:prstGeom prst="rect">
            <a:avLst/>
          </a:prstGeom>
          <a:noFill/>
          <a:ln w="9525">
            <a:noFill/>
          </a:ln>
        </p:spPr>
        <p:txBody>
          <a:bodyPr anchor="t"/>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main()</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int c=123;</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Student s(8,c);</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s.p();</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7" name="Rectangle 2"/>
          <p:cNvSpPr>
            <a:spLocks noGrp="1"/>
          </p:cNvSpPr>
          <p:nvPr>
            <p:ph idx="1"/>
          </p:nvPr>
        </p:nvSpPr>
        <p:spPr>
          <a:xfrm>
            <a:off x="179388" y="981075"/>
            <a:ext cx="5902325" cy="5876925"/>
          </a:xfrm>
        </p:spPr>
        <p:txBody>
          <a:bodyPr vert="horz" wrap="square" lIns="91440" tIns="45720" rIns="91440" bIns="45720" anchor="t"/>
          <a:p>
            <a:pPr eaLnBrk="1" hangingPunct="1">
              <a:buNone/>
            </a:pPr>
            <a:r>
              <a:rPr lang="en-US" altLang="zh-CN" b="1" dirty="0">
                <a:solidFill>
                  <a:schemeClr val="bg1"/>
                </a:solidFill>
              </a:rPr>
              <a:t>//</a:t>
            </a:r>
            <a:r>
              <a:rPr lang="zh-CN" altLang="en-US" b="1" dirty="0">
                <a:solidFill>
                  <a:schemeClr val="bg1"/>
                </a:solidFill>
              </a:rPr>
              <a:t>默认拷贝构造函数</a:t>
            </a:r>
            <a:endParaRPr lang="zh-CN" altLang="en-US" b="1" dirty="0">
              <a:solidFill>
                <a:schemeClr val="bg1"/>
              </a:solidFill>
            </a:endParaRPr>
          </a:p>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int  i;</a:t>
            </a:r>
            <a:endParaRPr lang="en-US" altLang="zh-CN" b="1" dirty="0">
              <a:solidFill>
                <a:schemeClr val="bg1"/>
              </a:solidFill>
            </a:endParaRPr>
          </a:p>
          <a:p>
            <a:pPr eaLnBrk="1" hangingPunct="1">
              <a:buNone/>
            </a:pPr>
            <a:r>
              <a:rPr lang="en-US" altLang="zh-CN" b="1" dirty="0">
                <a:solidFill>
                  <a:schemeClr val="bg1"/>
                </a:solidFill>
              </a:rPr>
              <a:t>public:</a:t>
            </a:r>
            <a:endParaRPr lang="en-US" altLang="zh-CN" b="1" dirty="0">
              <a:solidFill>
                <a:schemeClr val="bg1"/>
              </a:solidFill>
            </a:endParaRPr>
          </a:p>
          <a:p>
            <a:pPr eaLnBrk="1" hangingPunct="1">
              <a:buNone/>
            </a:pPr>
            <a:r>
              <a:rPr lang="en-US" altLang="zh-CN" b="1" dirty="0">
                <a:solidFill>
                  <a:schemeClr val="bg1"/>
                </a:solidFill>
              </a:rPr>
              <a:t>   Student(int k):</a:t>
            </a:r>
            <a:r>
              <a:rPr lang="en-US" altLang="zh-CN" b="1" dirty="0">
                <a:solidFill>
                  <a:srgbClr val="FFFF00"/>
                </a:solidFill>
              </a:rPr>
              <a:t>i(k)</a:t>
            </a:r>
            <a:r>
              <a:rPr lang="en-US" altLang="zh-CN" b="1" dirty="0">
                <a:solidFill>
                  <a:schemeClr val="bg1"/>
                </a:solidFill>
              </a:rPr>
              <a:t>{}</a:t>
            </a:r>
            <a:endParaRPr lang="en-US" altLang="zh-CN" b="1" dirty="0">
              <a:solidFill>
                <a:schemeClr val="bg1"/>
              </a:solidFill>
            </a:endParaRPr>
          </a:p>
          <a:p>
            <a:pPr eaLnBrk="1" hangingPunct="1">
              <a:buNone/>
            </a:pPr>
            <a:r>
              <a:rPr lang="en-US" altLang="zh-CN" b="1" dirty="0">
                <a:solidFill>
                  <a:schemeClr val="bg1"/>
                </a:solidFill>
              </a:rPr>
              <a:t>   void p(){cout&lt;&lt;i&lt;&lt;endl;}</a:t>
            </a:r>
            <a:endParaRPr lang="en-US" altLang="zh-CN" b="1" dirty="0">
              <a:solidFill>
                <a:schemeClr val="bg1"/>
              </a:solidFill>
            </a:endParaRPr>
          </a:p>
          <a:p>
            <a:pPr eaLnBrk="1" hangingPunct="1">
              <a:buNone/>
            </a:pPr>
            <a:r>
              <a:rPr lang="en-US" altLang="zh-CN" b="1" dirty="0">
                <a:solidFill>
                  <a:schemeClr val="bg1"/>
                </a:solidFill>
              </a:rPr>
              <a:t>};</a:t>
            </a:r>
            <a:endParaRPr lang="zh-CN" altLang="en-US" b="1" dirty="0">
              <a:solidFill>
                <a:schemeClr val="bg1"/>
              </a:solidFill>
            </a:endParaRPr>
          </a:p>
        </p:txBody>
      </p:sp>
      <p:sp>
        <p:nvSpPr>
          <p:cNvPr id="18841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88419" name="Rectangle 4"/>
          <p:cNvSpPr/>
          <p:nvPr/>
        </p:nvSpPr>
        <p:spPr>
          <a:xfrm>
            <a:off x="5507038" y="1052513"/>
            <a:ext cx="3636962" cy="5472112"/>
          </a:xfrm>
          <a:prstGeom prst="rect">
            <a:avLst/>
          </a:prstGeom>
          <a:noFill/>
          <a:ln w="9525">
            <a:noFill/>
          </a:ln>
        </p:spPr>
        <p:txBody>
          <a:bodyPr anchor="t"/>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main(){</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Student s(9818);</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s.p();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Student t(s);</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t.p();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因为有默认拷贝</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Student m</a:t>
            </a:r>
            <a:r>
              <a:rPr lang="zh-CN"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m = s</a:t>
            </a:r>
            <a:r>
              <a:rPr lang="zh-CN"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m.p();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因为有默认赋值运算</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1" name="Rectangle 2"/>
          <p:cNvSpPr>
            <a:spLocks noGrp="1"/>
          </p:cNvSpPr>
          <p:nvPr>
            <p:ph idx="1"/>
          </p:nvPr>
        </p:nvSpPr>
        <p:spPr>
          <a:xfrm>
            <a:off x="179388" y="981075"/>
            <a:ext cx="8856662" cy="5876925"/>
          </a:xfrm>
        </p:spPr>
        <p:txBody>
          <a:bodyPr vert="horz" wrap="square" lIns="91440" tIns="45720" rIns="91440" bIns="45720" anchor="t"/>
          <a:p>
            <a:pPr eaLnBrk="1" hangingPunct="1">
              <a:buNone/>
            </a:pPr>
            <a:r>
              <a:rPr lang="zh-CN" altLang="en-US" b="1" dirty="0">
                <a:solidFill>
                  <a:schemeClr val="bg1"/>
                </a:solidFill>
              </a:rPr>
              <a:t>系统为每个类定义默认构造函数是个传说</a:t>
            </a:r>
            <a:endParaRPr lang="en-US" altLang="zh-CN" b="1" dirty="0">
              <a:solidFill>
                <a:schemeClr val="bg1"/>
              </a:solidFill>
            </a:endParaRPr>
          </a:p>
          <a:p>
            <a:pPr eaLnBrk="1" hangingPunct="1">
              <a:buNone/>
            </a:pPr>
            <a:endParaRPr lang="en-US" altLang="zh-CN" b="1" dirty="0">
              <a:solidFill>
                <a:schemeClr val="bg1"/>
              </a:solidFill>
            </a:endParaRPr>
          </a:p>
          <a:p>
            <a:pPr eaLnBrk="1" hangingPunct="1">
              <a:buNone/>
            </a:pPr>
            <a:r>
              <a:rPr lang="zh-CN" altLang="en-US" b="1" dirty="0">
                <a:solidFill>
                  <a:schemeClr val="bg1"/>
                </a:solidFill>
              </a:rPr>
              <a:t>没有自定义构造函数情况下才提供：</a:t>
            </a:r>
            <a:endParaRPr lang="en-US" altLang="zh-CN" b="1" dirty="0">
              <a:solidFill>
                <a:schemeClr val="bg1"/>
              </a:solidFill>
            </a:endParaRPr>
          </a:p>
          <a:p>
            <a:pPr eaLnBrk="1" hangingPunct="1">
              <a:buNone/>
            </a:pPr>
            <a:r>
              <a:rPr lang="en-US" altLang="zh-CN" b="1" dirty="0">
                <a:solidFill>
                  <a:schemeClr val="bg1"/>
                </a:solidFill>
              </a:rPr>
              <a:t>    </a:t>
            </a:r>
            <a:r>
              <a:rPr lang="zh-CN" altLang="en-US" b="1" dirty="0">
                <a:solidFill>
                  <a:schemeClr val="bg1"/>
                </a:solidFill>
              </a:rPr>
              <a:t>（</a:t>
            </a:r>
            <a:r>
              <a:rPr lang="en-US" altLang="zh-CN" b="1" dirty="0">
                <a:solidFill>
                  <a:schemeClr val="bg1"/>
                </a:solidFill>
              </a:rPr>
              <a:t>1</a:t>
            </a:r>
            <a:r>
              <a:rPr lang="zh-CN" altLang="en-US" b="1" dirty="0">
                <a:solidFill>
                  <a:schemeClr val="bg1"/>
                </a:solidFill>
              </a:rPr>
              <a:t>）被组合类有构造函数</a:t>
            </a:r>
            <a:endParaRPr lang="en-US" altLang="zh-CN" b="1" dirty="0">
              <a:solidFill>
                <a:schemeClr val="bg1"/>
              </a:solidFill>
            </a:endParaRPr>
          </a:p>
          <a:p>
            <a:pPr eaLnBrk="1" hangingPunct="1">
              <a:buNone/>
            </a:pPr>
            <a:r>
              <a:rPr lang="en-US" altLang="zh-CN" b="1" dirty="0">
                <a:solidFill>
                  <a:schemeClr val="bg1"/>
                </a:solidFill>
              </a:rPr>
              <a:t>    </a:t>
            </a:r>
            <a:r>
              <a:rPr lang="zh-CN" altLang="en-US" b="1" dirty="0">
                <a:solidFill>
                  <a:schemeClr val="bg1"/>
                </a:solidFill>
              </a:rPr>
              <a:t>（</a:t>
            </a:r>
            <a:r>
              <a:rPr lang="en-US" altLang="zh-CN" b="1" dirty="0">
                <a:solidFill>
                  <a:schemeClr val="bg1"/>
                </a:solidFill>
              </a:rPr>
              <a:t>2</a:t>
            </a:r>
            <a:r>
              <a:rPr lang="zh-CN" altLang="en-US" b="1" dirty="0">
                <a:solidFill>
                  <a:schemeClr val="bg1"/>
                </a:solidFill>
              </a:rPr>
              <a:t>）祖先类有构造函数</a:t>
            </a:r>
            <a:endParaRPr lang="en-US" altLang="zh-CN" b="1" dirty="0">
              <a:solidFill>
                <a:schemeClr val="bg1"/>
              </a:solidFill>
            </a:endParaRPr>
          </a:p>
          <a:p>
            <a:pPr eaLnBrk="1" hangingPunct="1">
              <a:buNone/>
            </a:pPr>
            <a:r>
              <a:rPr lang="en-US" altLang="zh-CN" b="1" dirty="0">
                <a:solidFill>
                  <a:schemeClr val="bg1"/>
                </a:solidFill>
              </a:rPr>
              <a:t>    </a:t>
            </a:r>
            <a:r>
              <a:rPr lang="zh-CN" altLang="en-US" b="1" dirty="0">
                <a:solidFill>
                  <a:schemeClr val="bg1"/>
                </a:solidFill>
              </a:rPr>
              <a:t>（</a:t>
            </a:r>
            <a:r>
              <a:rPr lang="en-US" altLang="zh-CN" b="1" dirty="0">
                <a:solidFill>
                  <a:schemeClr val="bg1"/>
                </a:solidFill>
              </a:rPr>
              <a:t>3</a:t>
            </a:r>
            <a:r>
              <a:rPr lang="zh-CN" altLang="en-US" b="1" dirty="0">
                <a:solidFill>
                  <a:schemeClr val="bg1"/>
                </a:solidFill>
              </a:rPr>
              <a:t>）有虚函数</a:t>
            </a:r>
            <a:endParaRPr lang="en-US" altLang="zh-CN" b="1" dirty="0">
              <a:solidFill>
                <a:schemeClr val="bg1"/>
              </a:solidFill>
            </a:endParaRPr>
          </a:p>
          <a:p>
            <a:pPr eaLnBrk="1" hangingPunct="1">
              <a:buNone/>
            </a:pPr>
            <a:r>
              <a:rPr lang="en-US" altLang="zh-CN" b="1" dirty="0">
                <a:solidFill>
                  <a:schemeClr val="bg1"/>
                </a:solidFill>
              </a:rPr>
              <a:t>    </a:t>
            </a:r>
            <a:r>
              <a:rPr lang="zh-CN" altLang="en-US" b="1" dirty="0">
                <a:solidFill>
                  <a:schemeClr val="bg1"/>
                </a:solidFill>
              </a:rPr>
              <a:t>（</a:t>
            </a:r>
            <a:r>
              <a:rPr lang="en-US" altLang="zh-CN" b="1" dirty="0">
                <a:solidFill>
                  <a:schemeClr val="bg1"/>
                </a:solidFill>
              </a:rPr>
              <a:t>4</a:t>
            </a:r>
            <a:r>
              <a:rPr lang="zh-CN" altLang="en-US" b="1" dirty="0">
                <a:solidFill>
                  <a:schemeClr val="bg1"/>
                </a:solidFill>
              </a:rPr>
              <a:t>）虚继承</a:t>
            </a:r>
            <a:endParaRPr lang="zh-CN" altLang="en-US" b="1" dirty="0">
              <a:solidFill>
                <a:schemeClr val="bg1"/>
              </a:solidFill>
            </a:endParaRPr>
          </a:p>
        </p:txBody>
      </p:sp>
      <p:sp>
        <p:nvSpPr>
          <p:cNvPr id="189442"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5" name="Rectangle 2"/>
          <p:cNvSpPr>
            <a:spLocks noGrp="1"/>
          </p:cNvSpPr>
          <p:nvPr>
            <p:ph idx="1"/>
          </p:nvPr>
        </p:nvSpPr>
        <p:spPr>
          <a:xfrm>
            <a:off x="179388" y="981075"/>
            <a:ext cx="5902325" cy="5876925"/>
          </a:xfrm>
        </p:spPr>
        <p:txBody>
          <a:bodyPr vert="horz" wrap="square" lIns="91440" tIns="45720" rIns="91440" bIns="45720" anchor="t"/>
          <a:p>
            <a:pPr eaLnBrk="1" hangingPunct="1">
              <a:buNone/>
            </a:pPr>
            <a:r>
              <a:rPr lang="en-US" altLang="zh-CN" b="1" dirty="0">
                <a:solidFill>
                  <a:schemeClr val="bg1"/>
                </a:solidFill>
              </a:rPr>
              <a:t>//</a:t>
            </a:r>
            <a:r>
              <a:rPr lang="zh-CN" altLang="en-US" b="1" dirty="0">
                <a:solidFill>
                  <a:schemeClr val="bg1"/>
                </a:solidFill>
              </a:rPr>
              <a:t>拷贝构造函数</a:t>
            </a:r>
            <a:endParaRPr lang="zh-CN" altLang="en-US" b="1" dirty="0">
              <a:solidFill>
                <a:schemeClr val="bg1"/>
              </a:solidFill>
            </a:endParaRPr>
          </a:p>
          <a:p>
            <a:pPr eaLnBrk="1" hangingPunct="1">
              <a:buNone/>
            </a:pPr>
            <a:r>
              <a:rPr lang="en-US" altLang="zh-CN" b="1" dirty="0">
                <a:solidFill>
                  <a:schemeClr val="bg1"/>
                </a:solidFill>
              </a:rPr>
              <a:t>class Student{</a:t>
            </a:r>
            <a:endParaRPr lang="en-US" altLang="zh-CN" b="1" dirty="0">
              <a:solidFill>
                <a:schemeClr val="bg1"/>
              </a:solidFill>
            </a:endParaRPr>
          </a:p>
          <a:p>
            <a:pPr eaLnBrk="1" hangingPunct="1">
              <a:buNone/>
            </a:pPr>
            <a:r>
              <a:rPr lang="en-US" altLang="zh-CN" b="1" dirty="0">
                <a:solidFill>
                  <a:schemeClr val="bg1"/>
                </a:solidFill>
              </a:rPr>
              <a:t> int  i;</a:t>
            </a:r>
            <a:endParaRPr lang="en-US" altLang="zh-CN" b="1" dirty="0">
              <a:solidFill>
                <a:schemeClr val="bg1"/>
              </a:solidFill>
            </a:endParaRPr>
          </a:p>
          <a:p>
            <a:pPr eaLnBrk="1" hangingPunct="1">
              <a:buNone/>
            </a:pPr>
            <a:r>
              <a:rPr lang="en-US" altLang="zh-CN" b="1" dirty="0">
                <a:solidFill>
                  <a:schemeClr val="bg1"/>
                </a:solidFill>
              </a:rPr>
              <a:t>public:</a:t>
            </a:r>
            <a:endParaRPr lang="en-US" altLang="zh-CN" b="1" dirty="0">
              <a:solidFill>
                <a:schemeClr val="bg1"/>
              </a:solidFill>
            </a:endParaRPr>
          </a:p>
          <a:p>
            <a:pPr eaLnBrk="1" hangingPunct="1">
              <a:buNone/>
            </a:pPr>
            <a:r>
              <a:rPr lang="en-US" altLang="zh-CN" b="1" dirty="0">
                <a:solidFill>
                  <a:schemeClr val="bg1"/>
                </a:solidFill>
              </a:rPr>
              <a:t>  Student(int k):i(k){}</a:t>
            </a:r>
            <a:endParaRPr lang="en-US" altLang="zh-CN" b="1" dirty="0">
              <a:solidFill>
                <a:schemeClr val="bg1"/>
              </a:solidFill>
            </a:endParaRPr>
          </a:p>
          <a:p>
            <a:pPr eaLnBrk="1" hangingPunct="1">
              <a:buNone/>
            </a:pPr>
            <a:r>
              <a:rPr lang="en-US" altLang="zh-CN" b="1" dirty="0">
                <a:solidFill>
                  <a:schemeClr val="bg1"/>
                </a:solidFill>
              </a:rPr>
              <a:t>  Student(Student const &amp;s){</a:t>
            </a:r>
            <a:endParaRPr lang="en-US" altLang="zh-CN" b="1" dirty="0">
              <a:solidFill>
                <a:schemeClr val="bg1"/>
              </a:solidFill>
            </a:endParaRPr>
          </a:p>
          <a:p>
            <a:pPr eaLnBrk="1" hangingPunct="1">
              <a:buNone/>
            </a:pPr>
            <a:r>
              <a:rPr lang="en-US" altLang="zh-CN" b="1" dirty="0">
                <a:solidFill>
                  <a:schemeClr val="bg1"/>
                </a:solidFill>
              </a:rPr>
              <a:t>     i = s.i*(-1);} </a:t>
            </a:r>
            <a:endParaRPr lang="en-US" altLang="zh-CN" b="1" dirty="0">
              <a:solidFill>
                <a:schemeClr val="bg1"/>
              </a:solidFill>
            </a:endParaRPr>
          </a:p>
          <a:p>
            <a:pPr eaLnBrk="1" hangingPunct="1">
              <a:buNone/>
            </a:pPr>
            <a:r>
              <a:rPr lang="en-US" altLang="zh-CN" b="1" dirty="0">
                <a:solidFill>
                  <a:schemeClr val="bg1"/>
                </a:solidFill>
              </a:rPr>
              <a:t>  void p(){cout&lt;&lt;i&lt;&lt;endl;}</a:t>
            </a:r>
            <a:endParaRPr lang="en-US" altLang="zh-CN" b="1" dirty="0">
              <a:solidFill>
                <a:schemeClr val="bg1"/>
              </a:solidFill>
            </a:endParaRPr>
          </a:p>
          <a:p>
            <a:pPr eaLnBrk="1" hangingPunct="1">
              <a:buNone/>
            </a:pPr>
            <a:r>
              <a:rPr lang="en-US" altLang="zh-CN" b="1" dirty="0">
                <a:solidFill>
                  <a:schemeClr val="bg1"/>
                </a:solidFill>
              </a:rPr>
              <a:t>};</a:t>
            </a:r>
            <a:endParaRPr lang="en-US" altLang="zh-CN" b="1" dirty="0">
              <a:solidFill>
                <a:schemeClr val="bg1"/>
              </a:solidFill>
            </a:endParaRPr>
          </a:p>
        </p:txBody>
      </p:sp>
      <p:sp>
        <p:nvSpPr>
          <p:cNvPr id="190466" name="Rectangle 3"/>
          <p:cNvSpPr/>
          <p:nvPr/>
        </p:nvSpPr>
        <p:spPr>
          <a:xfrm>
            <a:off x="-541337"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190467" name="Rectangle 4"/>
          <p:cNvSpPr/>
          <p:nvPr/>
        </p:nvSpPr>
        <p:spPr>
          <a:xfrm>
            <a:off x="6084888" y="44450"/>
            <a:ext cx="3240087" cy="5472113"/>
          </a:xfrm>
          <a:prstGeom prst="rect">
            <a:avLst/>
          </a:prstGeom>
          <a:noFill/>
          <a:ln w="9525">
            <a:noFill/>
          </a:ln>
        </p:spPr>
        <p:txBody>
          <a:bodyPr anchor="t"/>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main()</a:t>
            </a:r>
            <a:r>
              <a:rPr lang="en-US" altLang="zh-CN"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Student s(9818);</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  s.p();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FF00"/>
                </a:solidFill>
                <a:latin typeface="Times New Roman" panose="02020603050405020304" pitchFamily="18" charset="0"/>
                <a:ea typeface="宋体" panose="02010600030101010101" pitchFamily="2" charset="-122"/>
              </a:rPr>
              <a:t>Student t(s);</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t.p();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FF00"/>
                </a:solidFill>
                <a:latin typeface="Times New Roman" panose="02020603050405020304" pitchFamily="18" charset="0"/>
                <a:ea typeface="宋体" panose="02010600030101010101" pitchFamily="2" charset="-122"/>
              </a:rPr>
              <a:t>Student k=s;</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k.p();</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FF00"/>
                </a:solidFill>
                <a:latin typeface="Times New Roman" panose="02020603050405020304" pitchFamily="18" charset="0"/>
                <a:ea typeface="宋体" panose="02010600030101010101" pitchFamily="2" charset="-122"/>
              </a:rPr>
              <a:t>Student *p=new</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 Student(s);</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p-&gt;p();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均调用拷贝构造  </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Student m;</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solidFill>
                  <a:srgbClr val="FFFF00"/>
                </a:solidFill>
                <a:latin typeface="Times New Roman" panose="02020603050405020304" pitchFamily="18" charset="0"/>
                <a:ea typeface="宋体" panose="02010600030101010101" pitchFamily="2" charset="-122"/>
              </a:rPr>
              <a:t>  m=s;</a:t>
            </a:r>
            <a:endParaRPr lang="en-US" altLang="zh-CN" sz="2800" b="1"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m.p();</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调用赋值运算</a:t>
            </a:r>
            <a:endParaRPr lang="zh-CN"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621573" name="AutoShape 5"/>
          <p:cNvSpPr>
            <a:spLocks noChangeArrowheads="1"/>
          </p:cNvSpPr>
          <p:nvPr/>
        </p:nvSpPr>
        <p:spPr bwMode="auto">
          <a:xfrm>
            <a:off x="1220788" y="6237288"/>
            <a:ext cx="4719638" cy="503238"/>
          </a:xfrm>
          <a:prstGeom prst="wedgeRectCallout">
            <a:avLst>
              <a:gd name="adj1" fmla="val 20782"/>
              <a:gd name="adj2" fmla="val -40964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值传递可以吗？</a:t>
            </a:r>
            <a:r>
              <a:rPr kumimoji="1" lang="en-US" altLang="zh-CN"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const</a:t>
            </a:r>
            <a:r>
              <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保护右值</a:t>
            </a:r>
            <a:endParaRPr kumimoji="1" lang="zh-CN" altLang="en-US"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1573"/>
                                        </p:tgtEl>
                                        <p:attrNameLst>
                                          <p:attrName>style.visibility</p:attrName>
                                        </p:attrNameLst>
                                      </p:cBhvr>
                                      <p:to>
                                        <p:strVal val="visible"/>
                                      </p:to>
                                    </p:set>
                                    <p:anim calcmode="lin" valueType="num">
                                      <p:cBhvr additive="base">
                                        <p:cTn id="7" dur="500" fill="hold"/>
                                        <p:tgtEl>
                                          <p:spTgt spid="621573"/>
                                        </p:tgtEl>
                                        <p:attrNameLst>
                                          <p:attrName>ppt_x</p:attrName>
                                        </p:attrNameLst>
                                      </p:cBhvr>
                                      <p:tavLst>
                                        <p:tav tm="0">
                                          <p:val>
                                            <p:strVal val="#ppt_x"/>
                                          </p:val>
                                        </p:tav>
                                        <p:tav tm="100000">
                                          <p:val>
                                            <p:strVal val="#ppt_x"/>
                                          </p:val>
                                        </p:tav>
                                      </p:tavLst>
                                    </p:anim>
                                    <p:anim calcmode="lin" valueType="num">
                                      <p:cBhvr additive="base">
                                        <p:cTn id="8" dur="500" fill="hold"/>
                                        <p:tgtEl>
                                          <p:spTgt spid="621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3" grpId="0" bldLvl="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3618" name="Text Box 2"/>
          <p:cNvSpPr txBox="1">
            <a:spLocks noChangeArrowheads="1"/>
          </p:cNvSpPr>
          <p:nvPr/>
        </p:nvSpPr>
        <p:spPr bwMode="auto">
          <a:xfrm>
            <a:off x="1619250" y="476250"/>
            <a:ext cx="7164388" cy="2676525"/>
          </a:xfrm>
          <a:prstGeom prst="rect">
            <a:avLst/>
          </a:prstGeom>
          <a:noFill/>
          <a:ln>
            <a:noFill/>
          </a:ln>
          <a:effectLst/>
        </p:spPr>
        <p:txBody>
          <a:bodyPr wrap="square">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Malloc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和对应的</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free()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函数不属于语言本身，因此不能自动调用构造函数和析构函数。所以引入了</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new</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delete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Malloc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free()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是函数，于</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malloc.h</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中声明；而</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new</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delete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本身的内容。可以理解为关键字。</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、内存数据区分类：  </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91490"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graphicFrame>
        <p:nvGraphicFramePr>
          <p:cNvPr id="3" name="表格 2"/>
          <p:cNvGraphicFramePr/>
          <p:nvPr/>
        </p:nvGraphicFramePr>
        <p:xfrm>
          <a:off x="1619250" y="3495675"/>
          <a:ext cx="7141210" cy="2149475"/>
        </p:xfrm>
        <a:graphic>
          <a:graphicData uri="http://schemas.openxmlformats.org/drawingml/2006/table">
            <a:tbl>
              <a:tblPr firstRow="1" bandRow="1">
                <a:tableStyleId>{5C22544A-7EE6-4342-B048-85BDC9FD1C3A}</a:tableStyleId>
              </a:tblPr>
              <a:tblGrid>
                <a:gridCol w="1547495"/>
                <a:gridCol w="2997200"/>
                <a:gridCol w="1263015"/>
                <a:gridCol w="1333500"/>
              </a:tblGrid>
              <a:tr h="382905">
                <a:tc>
                  <a:txBody>
                    <a:bodyPr/>
                    <a:p>
                      <a:pPr>
                        <a:buNone/>
                      </a:pPr>
                      <a:endParaRPr lang="zh-CN" altLang="en-US"/>
                    </a:p>
                  </a:txBody>
                  <a:tcPr>
                    <a:noFill/>
                  </a:tcPr>
                </a:tc>
                <a:tc>
                  <a:txBody>
                    <a:bodyPr/>
                    <a:p>
                      <a:pPr>
                        <a:buNone/>
                      </a:pPr>
                      <a:r>
                        <a:rPr lang="zh-CN" altLang="en-US"/>
                        <a:t>构成</a:t>
                      </a:r>
                      <a:endParaRPr lang="zh-CN" altLang="en-US"/>
                    </a:p>
                  </a:txBody>
                  <a:tcPr>
                    <a:noFill/>
                  </a:tcPr>
                </a:tc>
                <a:tc>
                  <a:txBody>
                    <a:bodyPr/>
                    <a:p>
                      <a:pPr>
                        <a:buNone/>
                      </a:pPr>
                      <a:r>
                        <a:rPr lang="zh-CN" altLang="en-US"/>
                        <a:t>始</a:t>
                      </a:r>
                      <a:endParaRPr lang="zh-CN" altLang="en-US"/>
                    </a:p>
                  </a:txBody>
                  <a:tcPr>
                    <a:noFill/>
                  </a:tcPr>
                </a:tc>
                <a:tc>
                  <a:txBody>
                    <a:bodyPr/>
                    <a:p>
                      <a:pPr>
                        <a:buNone/>
                      </a:pPr>
                      <a:r>
                        <a:rPr lang="zh-CN" altLang="en-US"/>
                        <a:t>终</a:t>
                      </a:r>
                      <a:endParaRPr lang="zh-CN" altLang="en-US"/>
                    </a:p>
                  </a:txBody>
                  <a:tcPr>
                    <a:noFill/>
                  </a:tcPr>
                </a:tc>
              </a:tr>
              <a:tr h="643255">
                <a:tc>
                  <a:txBody>
                    <a:bodyPr/>
                    <a:p>
                      <a:pPr>
                        <a:buNone/>
                      </a:pPr>
                      <a:r>
                        <a:rPr lang="zh-CN" altLang="en-US">
                          <a:solidFill>
                            <a:schemeClr val="bg1"/>
                          </a:solidFill>
                        </a:rPr>
                        <a:t>栈区</a:t>
                      </a:r>
                      <a:endParaRPr lang="zh-CN" altLang="en-US">
                        <a:solidFill>
                          <a:schemeClr val="bg1"/>
                        </a:solidFill>
                      </a:endParaRPr>
                    </a:p>
                  </a:txBody>
                  <a:tcPr>
                    <a:noFill/>
                  </a:tcPr>
                </a:tc>
                <a:tc>
                  <a:txBody>
                    <a:bodyPr/>
                    <a:p>
                      <a:pPr>
                        <a:buNone/>
                      </a:pPr>
                      <a:r>
                        <a:rPr lang="zh-CN" altLang="en-US">
                          <a:solidFill>
                            <a:schemeClr val="bg1"/>
                          </a:solidFill>
                        </a:rPr>
                        <a:t>参数、局部动态对象</a:t>
                      </a:r>
                      <a:endParaRPr lang="zh-CN" altLang="en-US">
                        <a:solidFill>
                          <a:schemeClr val="bg1"/>
                        </a:solidFill>
                      </a:endParaRPr>
                    </a:p>
                  </a:txBody>
                  <a:tcPr>
                    <a:noFill/>
                  </a:tcPr>
                </a:tc>
                <a:tc>
                  <a:txBody>
                    <a:bodyPr/>
                    <a:p>
                      <a:pPr>
                        <a:buNone/>
                      </a:pPr>
                      <a:r>
                        <a:rPr lang="zh-CN" altLang="en-US">
                          <a:solidFill>
                            <a:schemeClr val="bg1"/>
                          </a:solidFill>
                        </a:rPr>
                        <a:t>函数调用</a:t>
                      </a:r>
                      <a:endParaRPr lang="zh-CN" altLang="en-US">
                        <a:solidFill>
                          <a:schemeClr val="bg1"/>
                        </a:solidFill>
                      </a:endParaRPr>
                    </a:p>
                  </a:txBody>
                  <a:tcPr>
                    <a:noFill/>
                  </a:tcPr>
                </a:tc>
                <a:tc>
                  <a:txBody>
                    <a:bodyPr/>
                    <a:p>
                      <a:pPr>
                        <a:buNone/>
                      </a:pPr>
                      <a:r>
                        <a:rPr lang="zh-CN" altLang="en-US">
                          <a:solidFill>
                            <a:schemeClr val="bg1"/>
                          </a:solidFill>
                        </a:rPr>
                        <a:t>函数结束</a:t>
                      </a:r>
                      <a:endParaRPr lang="zh-CN" altLang="en-US">
                        <a:solidFill>
                          <a:schemeClr val="bg1"/>
                        </a:solidFill>
                      </a:endParaRPr>
                    </a:p>
                  </a:txBody>
                  <a:tcPr>
                    <a:noFill/>
                  </a:tcPr>
                </a:tc>
              </a:tr>
              <a:tr h="643255">
                <a:tc>
                  <a:txBody>
                    <a:bodyPr/>
                    <a:p>
                      <a:pPr>
                        <a:buNone/>
                      </a:pPr>
                      <a:r>
                        <a:rPr lang="zh-CN" altLang="en-US">
                          <a:solidFill>
                            <a:schemeClr val="bg1"/>
                          </a:solidFill>
                        </a:rPr>
                        <a:t>全局区</a:t>
                      </a:r>
                      <a:endParaRPr lang="zh-CN" altLang="en-US">
                        <a:solidFill>
                          <a:schemeClr val="bg1"/>
                        </a:solidFill>
                      </a:endParaRPr>
                    </a:p>
                  </a:txBody>
                  <a:tcPr>
                    <a:noFill/>
                  </a:tcPr>
                </a:tc>
                <a:tc>
                  <a:txBody>
                    <a:bodyPr/>
                    <a:p>
                      <a:pPr>
                        <a:buNone/>
                      </a:pPr>
                      <a:r>
                        <a:rPr lang="zh-CN" altLang="en-US">
                          <a:solidFill>
                            <a:schemeClr val="bg1"/>
                          </a:solidFill>
                        </a:rPr>
                        <a:t>全局对象、静态数据成员</a:t>
                      </a:r>
                      <a:endParaRPr lang="zh-CN" altLang="en-US">
                        <a:solidFill>
                          <a:schemeClr val="bg1"/>
                        </a:solidFill>
                      </a:endParaRPr>
                    </a:p>
                  </a:txBody>
                  <a:tcPr>
                    <a:noFill/>
                  </a:tcPr>
                </a:tc>
                <a:tc>
                  <a:txBody>
                    <a:bodyPr/>
                    <a:p>
                      <a:pPr>
                        <a:buNone/>
                      </a:pPr>
                      <a:r>
                        <a:rPr lang="zh-CN" altLang="en-US">
                          <a:solidFill>
                            <a:schemeClr val="bg1"/>
                          </a:solidFill>
                        </a:rPr>
                        <a:t>程序开始</a:t>
                      </a:r>
                      <a:endParaRPr lang="zh-CN" altLang="en-US">
                        <a:solidFill>
                          <a:schemeClr val="bg1"/>
                        </a:solidFill>
                      </a:endParaRPr>
                    </a:p>
                  </a:txBody>
                  <a:tcPr>
                    <a:noFill/>
                  </a:tcPr>
                </a:tc>
                <a:tc>
                  <a:txBody>
                    <a:bodyPr/>
                    <a:p>
                      <a:pPr>
                        <a:buNone/>
                      </a:pPr>
                      <a:r>
                        <a:rPr lang="zh-CN" altLang="en-US">
                          <a:solidFill>
                            <a:schemeClr val="bg1"/>
                          </a:solidFill>
                        </a:rPr>
                        <a:t>程序结束</a:t>
                      </a:r>
                      <a:endParaRPr lang="zh-CN" altLang="en-US">
                        <a:solidFill>
                          <a:schemeClr val="bg1"/>
                        </a:solidFill>
                      </a:endParaRPr>
                    </a:p>
                  </a:txBody>
                  <a:tcPr>
                    <a:noFill/>
                  </a:tcPr>
                </a:tc>
              </a:tr>
              <a:tr h="480060">
                <a:tc>
                  <a:txBody>
                    <a:bodyPr/>
                    <a:p>
                      <a:pPr>
                        <a:buNone/>
                      </a:pPr>
                      <a:r>
                        <a:rPr lang="zh-CN" altLang="en-US">
                          <a:solidFill>
                            <a:schemeClr val="bg1"/>
                          </a:solidFill>
                        </a:rPr>
                        <a:t>堆区</a:t>
                      </a:r>
                      <a:endParaRPr lang="zh-CN" altLang="en-US">
                        <a:solidFill>
                          <a:schemeClr val="bg1"/>
                        </a:solidFill>
                      </a:endParaRPr>
                    </a:p>
                  </a:txBody>
                  <a:tcPr>
                    <a:noFill/>
                  </a:tcPr>
                </a:tc>
                <a:tc>
                  <a:txBody>
                    <a:bodyPr/>
                    <a:p>
                      <a:pPr>
                        <a:buNone/>
                      </a:pPr>
                      <a:r>
                        <a:rPr lang="en-US" altLang="zh-CN">
                          <a:solidFill>
                            <a:schemeClr val="bg1"/>
                          </a:solidFill>
                        </a:rPr>
                        <a:t>new</a:t>
                      </a:r>
                      <a:endParaRPr lang="en-US" altLang="zh-CN">
                        <a:solidFill>
                          <a:schemeClr val="bg1"/>
                        </a:solidFill>
                      </a:endParaRPr>
                    </a:p>
                  </a:txBody>
                  <a:tcPr>
                    <a:noFill/>
                  </a:tcPr>
                </a:tc>
                <a:tc>
                  <a:txBody>
                    <a:bodyPr/>
                    <a:p>
                      <a:pPr>
                        <a:buNone/>
                      </a:pPr>
                      <a:r>
                        <a:rPr lang="zh-CN" altLang="en-US">
                          <a:solidFill>
                            <a:schemeClr val="bg1"/>
                          </a:solidFill>
                        </a:rPr>
                        <a:t>调用语句</a:t>
                      </a:r>
                      <a:endParaRPr lang="zh-CN" altLang="en-US">
                        <a:solidFill>
                          <a:schemeClr val="bg1"/>
                        </a:solidFill>
                      </a:endParaRPr>
                    </a:p>
                  </a:txBody>
                  <a:tcPr>
                    <a:noFill/>
                  </a:tcPr>
                </a:tc>
                <a:tc>
                  <a:txBody>
                    <a:bodyPr/>
                    <a:p>
                      <a:pPr>
                        <a:buNone/>
                      </a:pPr>
                      <a:r>
                        <a:rPr lang="zh-CN" altLang="en-US" sz="1800" b="0">
                          <a:solidFill>
                            <a:srgbClr val="FF0000"/>
                          </a:solidFill>
                        </a:rPr>
                        <a:t>自主释放</a:t>
                      </a:r>
                      <a:endParaRPr lang="zh-CN" altLang="en-US" sz="1800" b="0">
                        <a:solidFill>
                          <a:srgbClr val="FF0000"/>
                        </a:solidFill>
                      </a:endParaRPr>
                    </a:p>
                  </a:txBody>
                  <a:tcPr>
                    <a:noFill/>
                  </a:tcP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63" name="Text Box 3"/>
          <p:cNvSpPr txBox="1">
            <a:spLocks noChangeArrowheads="1"/>
          </p:cNvSpPr>
          <p:nvPr/>
        </p:nvSpPr>
        <p:spPr bwMode="auto">
          <a:xfrm>
            <a:off x="1692275" y="0"/>
            <a:ext cx="7451725" cy="649763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is completed.”;}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*p=new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&lt;&lt;p-&gt;id;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malloc</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sizeof</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&lt;&lt;q-&gt;id</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随机数 表明构造函数未调用</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delete p;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free(q);</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析构函数未调用</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92514" name="Text Box 4"/>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99363"/>
                                        </p:tgtEl>
                                        <p:attrNameLst>
                                          <p:attrName>style.visibility</p:attrName>
                                        </p:attrNameLst>
                                      </p:cBhvr>
                                      <p:to>
                                        <p:strVal val="visible"/>
                                      </p:to>
                                    </p:set>
                                    <p:animEffect transition="in" filter="barn(inHorizontal)">
                                      <p:cBhvr>
                                        <p:cTn id="7" dur="500"/>
                                        <p:tgtEl>
                                          <p:spTgt spid="399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0387" name="Text Box 3"/>
          <p:cNvSpPr txBox="1">
            <a:spLocks noChangeArrowheads="1"/>
          </p:cNvSpPr>
          <p:nvPr/>
        </p:nvSpPr>
        <p:spPr bwMode="auto">
          <a:xfrm>
            <a:off x="1692275" y="0"/>
            <a:ext cx="7056438" cy="6985000"/>
          </a:xfrm>
          <a:prstGeom prst="rect">
            <a:avLst/>
          </a:prstGeom>
          <a:noFill/>
          <a:ln>
            <a:noFill/>
          </a:ln>
          <a:effectLst/>
        </p:spPr>
        <p:txBody>
          <a:bodyPr>
            <a:spAutoFit/>
          </a:bodyPr>
          <a:lstStyle/>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析构</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”&lt;&lt;id&lt;&lt;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m(){</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*p=new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return(*p);</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s = m();</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&lt;&lt;s.id;//</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结果为</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 </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析构也未执行</a:t>
            </a:r>
            <a:endPar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93538" name="Text Box 5"/>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00387"/>
                                        </p:tgtEl>
                                        <p:attrNameLst>
                                          <p:attrName>style.visibility</p:attrName>
                                        </p:attrNameLst>
                                      </p:cBhvr>
                                      <p:to>
                                        <p:strVal val="visible"/>
                                      </p:to>
                                    </p:set>
                                    <p:animEffect transition="in" filter="barn(inHorizontal)">
                                      <p:cBhvr>
                                        <p:cTn id="7" dur="500"/>
                                        <p:tgtEl>
                                          <p:spTgt spid="400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bldLvl="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5666" name="Text Box 2"/>
          <p:cNvSpPr txBox="1">
            <a:spLocks noChangeArrowheads="1"/>
          </p:cNvSpPr>
          <p:nvPr/>
        </p:nvSpPr>
        <p:spPr bwMode="auto">
          <a:xfrm>
            <a:off x="1692275" y="-242887"/>
            <a:ext cx="7451725" cy="7478713"/>
          </a:xfrm>
          <a:prstGeom prst="rect">
            <a:avLst/>
          </a:prstGeom>
          <a:noFill/>
          <a:ln>
            <a:noFill/>
          </a:ln>
          <a:effectLst/>
        </p:spPr>
        <p:txBody>
          <a:bodyPr>
            <a:spAutoFit/>
          </a:bodyPr>
          <a:lstStyle/>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析构</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”&lt;&lt;id&lt;&lt;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m(){</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*p=new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delete p;</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return(*p);</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s = m();</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&lt;&lt;s.id;//</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结果为随机数 析构执行</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625667" name="Rectangle 3"/>
          <p:cNvSpPr>
            <a:spLocks noChangeArrowheads="1"/>
          </p:cNvSpPr>
          <p:nvPr/>
        </p:nvSpPr>
        <p:spPr bwMode="auto">
          <a:xfrm>
            <a:off x="5292725" y="0"/>
            <a:ext cx="3851275" cy="1052513"/>
          </a:xfrm>
          <a:prstGeom prst="rect">
            <a:avLst/>
          </a:prstGeom>
          <a:solidFill>
            <a:schemeClr val="accent1"/>
          </a:solidFill>
          <a:ln w="9525" algn="ctr">
            <a:solidFill>
              <a:schemeClr val="bg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堆空间不伴随函数动态释放，</a:t>
            </a:r>
            <a:endPar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程序员要自主管理</a:t>
            </a:r>
            <a:endParaRPr kumimoji="1" lang="zh-CN" altLang="en-US" sz="24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94563" name="Text Box 4"/>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5666"/>
                                        </p:tgtEl>
                                        <p:attrNameLst>
                                          <p:attrName>style.visibility</p:attrName>
                                        </p:attrNameLst>
                                      </p:cBhvr>
                                      <p:to>
                                        <p:strVal val="visible"/>
                                      </p:to>
                                    </p:set>
                                    <p:animEffect transition="in" filter="barn(inHorizontal)">
                                      <p:cBhvr>
                                        <p:cTn id="7" dur="500"/>
                                        <p:tgtEl>
                                          <p:spTgt spid="625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6"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42" name="Text Box 2"/>
          <p:cNvSpPr txBox="1">
            <a:spLocks noChangeArrowheads="1"/>
          </p:cNvSpPr>
          <p:nvPr/>
        </p:nvSpPr>
        <p:spPr bwMode="auto">
          <a:xfrm>
            <a:off x="2051050" y="0"/>
            <a:ext cx="6769100" cy="655478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is completed.”;}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p(){</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*s=new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[9999];</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 //while(1)</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内存将被耗尽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垃圾收集器的意义    但不能依赖</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9558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4642"/>
                                        </p:tgtEl>
                                        <p:attrNameLst>
                                          <p:attrName>style.visibility</p:attrName>
                                        </p:attrNameLst>
                                      </p:cBhvr>
                                      <p:to>
                                        <p:strVal val="visible"/>
                                      </p:to>
                                    </p:set>
                                    <p:animEffect transition="in" filter="barn(inHorizontal)">
                                      <p:cBhvr>
                                        <p:cTn id="7" dur="500"/>
                                        <p:tgtEl>
                                          <p:spTgt spid="624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bldLvl="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8322" name="Text Box 2"/>
          <p:cNvSpPr txBox="1">
            <a:spLocks noChangeArrowheads="1"/>
          </p:cNvSpPr>
          <p:nvPr/>
        </p:nvSpPr>
        <p:spPr bwMode="auto">
          <a:xfrm>
            <a:off x="2339975" y="115888"/>
            <a:ext cx="6480175" cy="6494463"/>
          </a:xfrm>
          <a:prstGeom prst="rect">
            <a:avLst/>
          </a:prstGeom>
          <a:noFill/>
          <a:ln>
            <a:noFill/>
          </a:ln>
          <a:effectLst/>
        </p:spPr>
        <p:txBody>
          <a:bodyPr>
            <a:spAutoFit/>
          </a:bodyPr>
          <a:lstStyle/>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a=9){age =new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age;</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s = new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s-&gt;age[1] = 20;</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t = s-&gt;age;</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delete s;</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&lt;&lt;t[1];</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96610" name="Text Box 4"/>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68325" name="AutoShape 5"/>
          <p:cNvSpPr>
            <a:spLocks noChangeArrowheads="1"/>
          </p:cNvSpPr>
          <p:nvPr/>
        </p:nvSpPr>
        <p:spPr bwMode="auto">
          <a:xfrm>
            <a:off x="5940425" y="2205038"/>
            <a:ext cx="2808288" cy="576263"/>
          </a:xfrm>
          <a:prstGeom prst="wedgeRectCallout">
            <a:avLst>
              <a:gd name="adj1" fmla="val -140389"/>
              <a:gd name="adj2" fmla="val -65977"/>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~aa(){delete [] age;}</a:t>
            </a:r>
            <a:endParaRPr kumimoji="1" lang="en-US" altLang="zh-CN" sz="24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6661150" y="3933825"/>
            <a:ext cx="1008063" cy="1284288"/>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endParaRPr kumimoji="1" lang="zh-CN" altLang="en-US"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 name="矩形 1"/>
          <p:cNvSpPr/>
          <p:nvPr/>
        </p:nvSpPr>
        <p:spPr>
          <a:xfrm>
            <a:off x="6805613" y="4076700"/>
            <a:ext cx="719138" cy="504825"/>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age</a:t>
            </a:r>
            <a:endParaRPr kumimoji="1" lang="en-US" altLang="zh-CN" sz="28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6" name="矩形 5"/>
          <p:cNvSpPr/>
          <p:nvPr/>
        </p:nvSpPr>
        <p:spPr>
          <a:xfrm>
            <a:off x="8027988" y="3933825"/>
            <a:ext cx="431800" cy="2590800"/>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endParaRPr kumimoji="1" lang="zh-CN" altLang="en-US"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just"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20</a:t>
            </a:r>
            <a:endParaRPr kumimoji="1" lang="en-US" altLang="zh-CN" sz="16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cxnSp>
        <p:nvCxnSpPr>
          <p:cNvPr id="4" name="直接箭头连接符 3"/>
          <p:cNvCxnSpPr/>
          <p:nvPr/>
        </p:nvCxnSpPr>
        <p:spPr>
          <a:xfrm>
            <a:off x="7524750" y="4365625"/>
            <a:ext cx="503238" cy="0"/>
          </a:xfrm>
          <a:prstGeom prst="straightConnector1">
            <a:avLst/>
          </a:prstGeom>
          <a:ln w="9525" cap="flat" cmpd="sng">
            <a:solidFill>
              <a:schemeClr val="bg1"/>
            </a:solidFill>
            <a:prstDash val="solid"/>
            <a:round/>
            <a:headEnd type="none" w="med" len="med"/>
            <a:tailEnd type="arrow" w="med" len="med"/>
          </a:ln>
        </p:spPr>
      </p:cxnSp>
      <p:sp>
        <p:nvSpPr>
          <p:cNvPr id="7" name="矩形 6"/>
          <p:cNvSpPr/>
          <p:nvPr/>
        </p:nvSpPr>
        <p:spPr>
          <a:xfrm>
            <a:off x="7866063" y="2984500"/>
            <a:ext cx="719138" cy="504825"/>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just"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t</a:t>
            </a:r>
            <a:endParaRPr kumimoji="1" lang="en-US" altLang="zh-CN" sz="28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cxnSp>
        <p:nvCxnSpPr>
          <p:cNvPr id="8" name="直接箭头连接符 7"/>
          <p:cNvCxnSpPr>
            <a:stCxn id="7" idx="2"/>
          </p:cNvCxnSpPr>
          <p:nvPr/>
        </p:nvCxnSpPr>
        <p:spPr>
          <a:xfrm>
            <a:off x="8224838" y="3489325"/>
            <a:ext cx="19050" cy="515938"/>
          </a:xfrm>
          <a:prstGeom prst="straightConnector1">
            <a:avLst/>
          </a:prstGeom>
          <a:ln w="9525" cap="flat" cmpd="sng">
            <a:solidFill>
              <a:schemeClr val="bg1"/>
            </a:solidFill>
            <a:prstDash val="solid"/>
            <a:round/>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8322"/>
                                        </p:tgtEl>
                                        <p:attrNameLst>
                                          <p:attrName>style.visibility</p:attrName>
                                        </p:attrNameLst>
                                      </p:cBhvr>
                                      <p:to>
                                        <p:strVal val="visible"/>
                                      </p:to>
                                    </p:set>
                                    <p:animEffect transition="in" filter="barn(inHorizontal)">
                                      <p:cBhvr>
                                        <p:cTn id="7" dur="500"/>
                                        <p:tgtEl>
                                          <p:spTgt spid="5683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3" presetClass="entr" presetSubtype="1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1" nodeType="clickEffect">
                                  <p:stCondLst>
                                    <p:cond delay="0"/>
                                  </p:stCondLst>
                                  <p:childTnLst>
                                    <p:animEffect transition="out" filter="blinds(horizontal)">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par>
                                <p:cTn id="29" presetID="3" presetClass="exit" presetSubtype="10" fill="hold" grpId="1" nodeType="withEffect">
                                  <p:stCondLst>
                                    <p:cond delay="0"/>
                                  </p:stCondLst>
                                  <p:childTnLst>
                                    <p:animEffect transition="out" filter="blinds(horizontal)">
                                      <p:cBhvr>
                                        <p:cTn id="30" dur="500"/>
                                        <p:tgtEl>
                                          <p:spTgt spid="2"/>
                                        </p:tgtEl>
                                      </p:cBhvr>
                                    </p:animEffect>
                                    <p:set>
                                      <p:cBhvr>
                                        <p:cTn id="31" dur="1" fill="hold">
                                          <p:stCondLst>
                                            <p:cond delay="499"/>
                                          </p:stCondLst>
                                        </p:cTn>
                                        <p:tgtEl>
                                          <p:spTgt spid="2"/>
                                        </p:tgtEl>
                                        <p:attrNameLst>
                                          <p:attrName>style.visibility</p:attrName>
                                        </p:attrNameLst>
                                      </p:cBhvr>
                                      <p:to>
                                        <p:strVal val="hidden"/>
                                      </p:to>
                                    </p:set>
                                  </p:childTnLst>
                                </p:cTn>
                              </p:par>
                              <p:par>
                                <p:cTn id="32" presetID="3" presetClass="exit" presetSubtype="10" fill="hold" nodeType="withEffect">
                                  <p:stCondLst>
                                    <p:cond delay="0"/>
                                  </p:stCondLst>
                                  <p:childTnLst>
                                    <p:animEffect transition="out" filter="blinds(horizontal)">
                                      <p:cBhvr>
                                        <p:cTn id="33" dur="500"/>
                                        <p:tgtEl>
                                          <p:spTgt spid="4"/>
                                        </p:tgtEl>
                                      </p:cBhvr>
                                    </p:animEffect>
                                    <p:set>
                                      <p:cBhvr>
                                        <p:cTn id="34" dur="1" fill="hold">
                                          <p:stCondLst>
                                            <p:cond delay="499"/>
                                          </p:stCondLst>
                                        </p:cTn>
                                        <p:tgtEl>
                                          <p:spTgt spid="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68325"/>
                                        </p:tgtEl>
                                        <p:attrNameLst>
                                          <p:attrName>style.visibility</p:attrName>
                                        </p:attrNameLst>
                                      </p:cBhvr>
                                      <p:to>
                                        <p:strVal val="visible"/>
                                      </p:to>
                                    </p:set>
                                    <p:anim calcmode="lin" valueType="num">
                                      <p:cBhvr additive="base">
                                        <p:cTn id="39" dur="500" fill="hold"/>
                                        <p:tgtEl>
                                          <p:spTgt spid="568325"/>
                                        </p:tgtEl>
                                        <p:attrNameLst>
                                          <p:attrName>ppt_x</p:attrName>
                                        </p:attrNameLst>
                                      </p:cBhvr>
                                      <p:tavLst>
                                        <p:tav tm="0">
                                          <p:val>
                                            <p:strVal val="#ppt_x"/>
                                          </p:val>
                                        </p:tav>
                                        <p:tav tm="100000">
                                          <p:val>
                                            <p:strVal val="#ppt_x"/>
                                          </p:val>
                                        </p:tav>
                                      </p:tavLst>
                                    </p:anim>
                                    <p:anim calcmode="lin" valueType="num">
                                      <p:cBhvr additive="base">
                                        <p:cTn id="40" dur="500" fill="hold"/>
                                        <p:tgtEl>
                                          <p:spTgt spid="5683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3"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blinds(horizontal)">
                                      <p:cBhvr>
                                        <p:cTn id="45" dur="500"/>
                                        <p:tgtEl>
                                          <p:spTgt spid="3"/>
                                        </p:tgtEl>
                                      </p:cBhvr>
                                    </p:animEffect>
                                  </p:childTnLst>
                                </p:cTn>
                              </p:par>
                              <p:par>
                                <p:cTn id="46" presetID="3" presetClass="entr" presetSubtype="10" fill="hold" grpId="3"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par>
                                <p:cTn id="49" presetID="3" presetClass="entr" presetSubtype="10" fill="hold" grpId="2"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horizontal)">
                                      <p:cBhvr>
                                        <p:cTn id="51" dur="500"/>
                                        <p:tgtEl>
                                          <p:spTgt spid="6"/>
                                        </p:tgtEl>
                                      </p:cBhvr>
                                    </p:animEffect>
                                  </p:childTnLst>
                                </p:cTn>
                              </p:par>
                              <p:par>
                                <p:cTn id="52" presetID="3" presetClass="entr" presetSubtype="1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blinds(horizontal)">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xit" presetSubtype="10" fill="hold" grpId="1" nodeType="clickEffect">
                                  <p:stCondLst>
                                    <p:cond delay="0"/>
                                  </p:stCondLst>
                                  <p:childTnLst>
                                    <p:animEffect transition="out" filter="blinds(horizontal)">
                                      <p:cBhvr>
                                        <p:cTn id="58" dur="500"/>
                                        <p:tgtEl>
                                          <p:spTgt spid="6"/>
                                        </p:tgtEl>
                                      </p:cBhvr>
                                    </p:animEffect>
                                    <p:set>
                                      <p:cBhvr>
                                        <p:cTn id="59" dur="1" fill="hold">
                                          <p:stCondLst>
                                            <p:cond delay="499"/>
                                          </p:stCondLst>
                                        </p:cTn>
                                        <p:tgtEl>
                                          <p:spTgt spid="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3" presetClass="exit" presetSubtype="10" fill="hold" grpId="2" nodeType="clickEffect">
                                  <p:stCondLst>
                                    <p:cond delay="0"/>
                                  </p:stCondLst>
                                  <p:childTnLst>
                                    <p:animEffect transition="out" filter="blinds(horizontal)">
                                      <p:cBhvr>
                                        <p:cTn id="63" dur="500"/>
                                        <p:tgtEl>
                                          <p:spTgt spid="3"/>
                                        </p:tgtEl>
                                      </p:cBhvr>
                                    </p:animEffect>
                                    <p:set>
                                      <p:cBhvr>
                                        <p:cTn id="64" dur="1" fill="hold">
                                          <p:stCondLst>
                                            <p:cond delay="499"/>
                                          </p:stCondLst>
                                        </p:cTn>
                                        <p:tgtEl>
                                          <p:spTgt spid="3"/>
                                        </p:tgtEl>
                                        <p:attrNameLst>
                                          <p:attrName>style.visibility</p:attrName>
                                        </p:attrNameLst>
                                      </p:cBhvr>
                                      <p:to>
                                        <p:strVal val="hidden"/>
                                      </p:to>
                                    </p:set>
                                  </p:childTnLst>
                                </p:cTn>
                              </p:par>
                              <p:par>
                                <p:cTn id="65" presetID="3" presetClass="exit" presetSubtype="10" fill="hold" grpId="2" nodeType="withEffect">
                                  <p:stCondLst>
                                    <p:cond delay="0"/>
                                  </p:stCondLst>
                                  <p:childTnLst>
                                    <p:animEffect transition="out" filter="blinds(horizontal)">
                                      <p:cBhvr>
                                        <p:cTn id="66" dur="500"/>
                                        <p:tgtEl>
                                          <p:spTgt spid="2"/>
                                        </p:tgtEl>
                                      </p:cBhvr>
                                    </p:animEffect>
                                    <p:set>
                                      <p:cBhvr>
                                        <p:cTn id="67" dur="1" fill="hold">
                                          <p:stCondLst>
                                            <p:cond delay="499"/>
                                          </p:stCondLst>
                                        </p:cTn>
                                        <p:tgtEl>
                                          <p:spTgt spid="2"/>
                                        </p:tgtEl>
                                        <p:attrNameLst>
                                          <p:attrName>style.visibility</p:attrName>
                                        </p:attrNameLst>
                                      </p:cBhvr>
                                      <p:to>
                                        <p:strVal val="hidden"/>
                                      </p:to>
                                    </p:set>
                                  </p:childTnLst>
                                </p:cTn>
                              </p:par>
                              <p:par>
                                <p:cTn id="68" presetID="3" presetClass="exit" presetSubtype="10" fill="hold" nodeType="withEffect">
                                  <p:stCondLst>
                                    <p:cond delay="0"/>
                                  </p:stCondLst>
                                  <p:childTnLst>
                                    <p:animEffect transition="out" filter="blinds(horizontal)">
                                      <p:cBhvr>
                                        <p:cTn id="69" dur="500"/>
                                        <p:tgtEl>
                                          <p:spTgt spid="4"/>
                                        </p:tgtEl>
                                      </p:cBhvr>
                                    </p:animEffect>
                                    <p:set>
                                      <p:cBhvr>
                                        <p:cTn id="70"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p:bldP spid="568325" grpId="0" animBg="1"/>
      <p:bldP spid="3" grpId="0" animBg="1"/>
      <p:bldP spid="2" grpId="0" animBg="1"/>
      <p:bldP spid="6" grpId="0" bldLvl="0" animBg="1"/>
      <p:bldP spid="3" grpId="1" animBg="1"/>
      <p:bldP spid="2" grpId="1" animBg="1"/>
      <p:bldP spid="6" grpId="1" bldLvl="0" animBg="1"/>
      <p:bldP spid="3" grpId="2" animBg="1"/>
      <p:bldP spid="2" grpId="2" animBg="1"/>
      <p:bldP spid="3" grpId="3" animBg="1"/>
      <p:bldP spid="2" grpId="3" animBg="1"/>
      <p:bldP spid="6" grpId="2" bldLvl="0" animBg="1"/>
      <p:bldP spid="7" grpId="0" bldLvl="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02435" name="Text Box 3"/>
          <p:cNvSpPr txBox="1">
            <a:spLocks noChangeArrowheads="1"/>
          </p:cNvSpPr>
          <p:nvPr/>
        </p:nvSpPr>
        <p:spPr bwMode="auto">
          <a:xfrm>
            <a:off x="1619250" y="-100012"/>
            <a:ext cx="7200900" cy="6986588"/>
          </a:xfrm>
          <a:prstGeom prst="rect">
            <a:avLst/>
          </a:prstGeom>
          <a:noFill/>
          <a:ln>
            <a:noFill/>
          </a:ln>
          <a:effectLst/>
        </p:spPr>
        <p:txBody>
          <a:bodyPr>
            <a:spAutoFit/>
          </a:bodyPr>
          <a:lstStyle/>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string;}</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(){delete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解释</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string</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"Computer";</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q(p);                              //  </a:t>
            </a:r>
            <a:r>
              <a:rPr kumimoji="1" lang="en-US" altLang="zh-CN" sz="3200" b="1" u="sng"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200" b="1" u="sng"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q=p;</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“Software";</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32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2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2436" name="Rectangle 4"/>
          <p:cNvSpPr>
            <a:spLocks noChangeArrowheads="1"/>
          </p:cNvSpPr>
          <p:nvPr/>
        </p:nvSpPr>
        <p:spPr bwMode="auto">
          <a:xfrm>
            <a:off x="6948488" y="11113"/>
            <a:ext cx="2195513" cy="7604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浅拷贝</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02435"/>
                                        </p:tgtEl>
                                        <p:attrNameLst>
                                          <p:attrName>style.visibility</p:attrName>
                                        </p:attrNameLst>
                                      </p:cBhvr>
                                      <p:to>
                                        <p:strVal val="visible"/>
                                      </p:to>
                                    </p:set>
                                    <p:animEffect transition="in" filter="barn(inHorizontal)">
                                      <p:cBhvr>
                                        <p:cTn id="7" dur="500"/>
                                        <p:tgtEl>
                                          <p:spTgt spid="402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7"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pic>
        <p:nvPicPr>
          <p:cNvPr id="198658" name="Picture 4"/>
          <p:cNvPicPr>
            <a:picLocks noChangeAspect="1"/>
          </p:cNvPicPr>
          <p:nvPr/>
        </p:nvPicPr>
        <p:blipFill>
          <a:blip r:embed="rId1"/>
          <a:stretch>
            <a:fillRect/>
          </a:stretch>
        </p:blipFill>
        <p:spPr>
          <a:xfrm>
            <a:off x="2911475" y="568325"/>
            <a:ext cx="3321050" cy="5726113"/>
          </a:xfrm>
          <a:prstGeom prst="rect">
            <a:avLst/>
          </a:prstGeom>
          <a:noFill/>
          <a:ln w="9525">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1"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pic>
        <p:nvPicPr>
          <p:cNvPr id="199682" name="Picture 6"/>
          <p:cNvPicPr>
            <a:picLocks noChangeAspect="1"/>
          </p:cNvPicPr>
          <p:nvPr/>
        </p:nvPicPr>
        <p:blipFill>
          <a:blip r:embed="rId1"/>
          <a:stretch>
            <a:fillRect/>
          </a:stretch>
        </p:blipFill>
        <p:spPr>
          <a:xfrm>
            <a:off x="2860675" y="568325"/>
            <a:ext cx="3421063" cy="5726113"/>
          </a:xfrm>
          <a:prstGeom prst="rect">
            <a:avLst/>
          </a:prstGeom>
          <a:noFill/>
          <a:ln w="9525">
            <a:noFill/>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5"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02435" name="Text Box 3"/>
          <p:cNvSpPr txBox="1">
            <a:spLocks noChangeArrowheads="1"/>
          </p:cNvSpPr>
          <p:nvPr/>
        </p:nvSpPr>
        <p:spPr bwMode="auto">
          <a:xfrm>
            <a:off x="1619250" y="-100012"/>
            <a:ext cx="7200900" cy="7202488"/>
          </a:xfrm>
          <a:prstGeom prst="rect">
            <a:avLst/>
          </a:prstGeom>
          <a:noFill/>
          <a:ln>
            <a:noFill/>
          </a:ln>
          <a:effectLst/>
        </p:spPr>
        <p:txBody>
          <a:bodyPr>
            <a:spAutoFit/>
          </a:bodyPr>
          <a:lstStyle/>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string;}</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s){</a:t>
            </a:r>
            <a:r>
              <a:rPr kumimoji="1" lang="en-US" altLang="zh-CN" sz="3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string(*(</a:t>
            </a:r>
            <a:r>
              <a:rPr kumimoji="1" lang="en-US" altLang="zh-CN" sz="3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s.dept</a:t>
            </a:r>
            <a:r>
              <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(){delete </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 </a:t>
            </a:r>
            <a:r>
              <a:rPr kumimoji="1" lang="en-US" altLang="zh-CN" sz="3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3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"Computer";</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q(p);                              //  </a:t>
            </a:r>
            <a:r>
              <a:rPr kumimoji="1" lang="en-US" altLang="zh-CN" sz="2800" b="1" u="sng"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u="sng"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q=p;</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“Software";</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p.dept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引用成员也适用；意义不大而且稍复杂</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2436" name="Rectangle 4"/>
          <p:cNvSpPr>
            <a:spLocks noChangeArrowheads="1"/>
          </p:cNvSpPr>
          <p:nvPr/>
        </p:nvSpPr>
        <p:spPr bwMode="auto">
          <a:xfrm>
            <a:off x="6948488" y="11113"/>
            <a:ext cx="2195513" cy="7604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深拷贝</a:t>
            </a:r>
            <a:endParaRPr kumimoji="1" lang="zh-CN" altLang="en-US" sz="28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02435"/>
                                        </p:tgtEl>
                                        <p:attrNameLst>
                                          <p:attrName>style.visibility</p:attrName>
                                        </p:attrNameLst>
                                      </p:cBhvr>
                                      <p:to>
                                        <p:strVal val="visible"/>
                                      </p:to>
                                    </p:set>
                                    <p:animEffect transition="in" filter="barn(inHorizontal)">
                                      <p:cBhvr>
                                        <p:cTn id="7" dur="500"/>
                                        <p:tgtEl>
                                          <p:spTgt spid="402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29"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72419" name="Text Box 3"/>
          <p:cNvSpPr txBox="1">
            <a:spLocks noChangeArrowheads="1"/>
          </p:cNvSpPr>
          <p:nvPr/>
        </p:nvSpPr>
        <p:spPr bwMode="auto">
          <a:xfrm>
            <a:off x="1619250" y="-100012"/>
            <a:ext cx="7524750" cy="6124575"/>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s){id = s.id;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拷贝”</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n(m);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拷贝”</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 = m;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拷贝”  和</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o(m)</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等价</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 </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9;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  和</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s(9)</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等价</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 = 9;    //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  赋值运算</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72420" name="Rectangle 4"/>
          <p:cNvSpPr>
            <a:spLocks noChangeArrowheads="1"/>
          </p:cNvSpPr>
          <p:nvPr/>
        </p:nvSpPr>
        <p:spPr bwMode="auto">
          <a:xfrm>
            <a:off x="0" y="6021388"/>
            <a:ext cx="1619250"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类型转换</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72419"/>
                                        </p:tgtEl>
                                        <p:attrNameLst>
                                          <p:attrName>style.visibility</p:attrName>
                                        </p:attrNameLst>
                                      </p:cBhvr>
                                      <p:to>
                                        <p:strVal val="visible"/>
                                      </p:to>
                                    </p:set>
                                    <p:animEffect transition="in" filter="barn(inHorizontal)">
                                      <p:cBhvr>
                                        <p:cTn id="7" dur="500"/>
                                        <p:tgtEl>
                                          <p:spTgt spid="572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7"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72420" name="Rectangle 4"/>
          <p:cNvSpPr>
            <a:spLocks noChangeArrowheads="1"/>
          </p:cNvSpPr>
          <p:nvPr/>
        </p:nvSpPr>
        <p:spPr bwMode="auto">
          <a:xfrm>
            <a:off x="0" y="6021388"/>
            <a:ext cx="1619250"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类型转换</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pic>
        <p:nvPicPr>
          <p:cNvPr id="203779" name="Picture 2"/>
          <p:cNvPicPr>
            <a:picLocks noChangeAspect="1"/>
          </p:cNvPicPr>
          <p:nvPr/>
        </p:nvPicPr>
        <p:blipFill>
          <a:blip r:embed="rId1"/>
          <a:stretch>
            <a:fillRect/>
          </a:stretch>
        </p:blipFill>
        <p:spPr>
          <a:xfrm>
            <a:off x="2241550" y="557213"/>
            <a:ext cx="6511925" cy="5464175"/>
          </a:xfrm>
          <a:prstGeom prst="rect">
            <a:avLst/>
          </a:prstGeom>
          <a:noFill/>
          <a:ln w="9525">
            <a:noFill/>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3" name="Text Box 3"/>
          <p:cNvSpPr txBox="1">
            <a:spLocks noChangeArrowheads="1"/>
          </p:cNvSpPr>
          <p:nvPr/>
        </p:nvSpPr>
        <p:spPr bwMode="auto">
          <a:xfrm>
            <a:off x="1619250" y="-100012"/>
            <a:ext cx="7200900" cy="6556375"/>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m(aa a){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&lt;&lt;a.id&lt;&lt;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 s;    s = 6;     m(s);</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m(7);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相当于</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m(aa a = 7);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即</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m(aa a(7));</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 = aa(8);    m(s);</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如果存在</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的函数则优先匹配</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如果构造函数</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explicit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修饰，则只有最后的显性转换可以</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5826" name="Text Box 5"/>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04483"/>
                                        </p:tgtEl>
                                        <p:attrNameLst>
                                          <p:attrName>style.visibility</p:attrName>
                                        </p:attrNameLst>
                                      </p:cBhvr>
                                      <p:to>
                                        <p:strVal val="visible"/>
                                      </p:to>
                                    </p:set>
                                    <p:animEffect transition="in" filter="barn(inHorizontal)">
                                      <p:cBhvr>
                                        <p:cTn id="7" dur="500"/>
                                        <p:tgtEl>
                                          <p:spTgt spid="404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42" name="Text Box 2"/>
          <p:cNvSpPr txBox="1">
            <a:spLocks noChangeArrowheads="1"/>
          </p:cNvSpPr>
          <p:nvPr/>
        </p:nvSpPr>
        <p:spPr bwMode="auto">
          <a:xfrm>
            <a:off x="1619250" y="319088"/>
            <a:ext cx="7524750"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a=1){id=a;}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bb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a=2){id=a;}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&lt;&lt;a.id&lt;&lt;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m(bb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&lt;&lt;a.id&lt;&lt;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m(9);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存在二义性</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转换不能太复杂，不允许多参数，不允许间接转换</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73443" name="Rectangle 3"/>
          <p:cNvSpPr>
            <a:spLocks noChangeArrowheads="1"/>
          </p:cNvSpPr>
          <p:nvPr/>
        </p:nvSpPr>
        <p:spPr bwMode="auto">
          <a:xfrm>
            <a:off x="6948488" y="-26987"/>
            <a:ext cx="2195513"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类型转换</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06851" name="Text Box 4"/>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73442"/>
                                        </p:tgtEl>
                                        <p:attrNameLst>
                                          <p:attrName>style.visibility</p:attrName>
                                        </p:attrNameLst>
                                      </p:cBhvr>
                                      <p:to>
                                        <p:strVal val="visible"/>
                                      </p:to>
                                    </p:set>
                                    <p:animEffect transition="in" filter="barn(inHorizontal)">
                                      <p:cBhvr>
                                        <p:cTn id="7" dur="500"/>
                                        <p:tgtEl>
                                          <p:spTgt spid="573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2"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4466" name="Text Box 2"/>
          <p:cNvSpPr txBox="1">
            <a:spLocks noChangeArrowheads="1"/>
          </p:cNvSpPr>
          <p:nvPr/>
        </p:nvSpPr>
        <p:spPr bwMode="auto">
          <a:xfrm>
            <a:off x="900113" y="260350"/>
            <a:ext cx="8243888"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(float a = 2000.0){income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Worker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Worker(float a = 1200.0){income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Worker(</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b){income = 0.75*</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m(Worker 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Worker a;  m(a);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m(b);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74467" name="Rectangle 3"/>
          <p:cNvSpPr>
            <a:spLocks noChangeArrowheads="1"/>
          </p:cNvSpPr>
          <p:nvPr/>
        </p:nvSpPr>
        <p:spPr bwMode="auto">
          <a:xfrm>
            <a:off x="6948488" y="-26987"/>
            <a:ext cx="2195513"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类型转换</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07875" name="Text Box 4"/>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构造、析构函数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74466"/>
                                        </p:tgtEl>
                                        <p:attrNameLst>
                                          <p:attrName>style.visibility</p:attrName>
                                        </p:attrNameLst>
                                      </p:cBhvr>
                                      <p:to>
                                        <p:strVal val="visible"/>
                                      </p:to>
                                    </p:set>
                                    <p:animEffect transition="in" filter="barn(inHorizontal)">
                                      <p:cBhvr>
                                        <p:cTn id="7" dur="500"/>
                                        <p:tgtEl>
                                          <p:spTgt spid="574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6"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7" name="Rectangle 2"/>
          <p:cNvSpPr>
            <a:spLocks noGrp="1"/>
          </p:cNvSpPr>
          <p:nvPr>
            <p:ph idx="1"/>
          </p:nvPr>
        </p:nvSpPr>
        <p:spPr>
          <a:xfrm>
            <a:off x="2051050" y="620713"/>
            <a:ext cx="6840538" cy="6092825"/>
          </a:xfrm>
        </p:spPr>
        <p:txBody>
          <a:bodyPr vert="horz" wrap="square" lIns="91440" tIns="45720" rIns="91440" bIns="45720" anchor="t"/>
          <a:p>
            <a:pPr eaLnBrk="1" hangingPunct="1">
              <a:lnSpc>
                <a:spcPct val="90000"/>
              </a:lnSpc>
              <a:buNone/>
            </a:pPr>
            <a:r>
              <a:rPr lang="en-US" altLang="zh-CN" sz="2200" b="1" dirty="0">
                <a:solidFill>
                  <a:schemeClr val="bg1"/>
                </a:solidFill>
              </a:rPr>
              <a:t>class aa {</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int id;</a:t>
            </a:r>
            <a:endParaRPr lang="en-US" altLang="zh-CN" sz="2200" b="1" dirty="0">
              <a:solidFill>
                <a:schemeClr val="bg1"/>
              </a:solidFill>
            </a:endParaRPr>
          </a:p>
          <a:p>
            <a:pPr eaLnBrk="1" hangingPunct="1">
              <a:lnSpc>
                <a:spcPct val="90000"/>
              </a:lnSpc>
              <a:buNone/>
            </a:pPr>
            <a:r>
              <a:rPr lang="en-US" altLang="zh-CN" sz="2200" b="1" dirty="0">
                <a:solidFill>
                  <a:schemeClr val="bg1"/>
                </a:solidFill>
              </a:rPr>
              <a:t>public:</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aa(int a=1){id=a; cout&lt;&lt;id&lt;&lt;"</a:t>
            </a:r>
            <a:r>
              <a:rPr lang="zh-CN" altLang="en-US" sz="2200" b="1" dirty="0">
                <a:solidFill>
                  <a:schemeClr val="bg1"/>
                </a:solidFill>
              </a:rPr>
              <a:t>构造</a:t>
            </a:r>
            <a:r>
              <a:rPr lang="en-US" altLang="zh-CN" sz="2200" b="1" dirty="0">
                <a:solidFill>
                  <a:schemeClr val="bg1"/>
                </a:solidFill>
              </a:rPr>
              <a:t>"&lt;&lt;endl;}</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aa (aa &amp; s){id = s.id; cout&lt;&lt;"</a:t>
            </a:r>
            <a:r>
              <a:rPr lang="zh-CN" altLang="en-US" sz="2200" b="1" dirty="0">
                <a:solidFill>
                  <a:schemeClr val="bg1"/>
                </a:solidFill>
              </a:rPr>
              <a:t>拷贝</a:t>
            </a:r>
            <a:r>
              <a:rPr lang="en-US" altLang="zh-CN" sz="2200" b="1" dirty="0">
                <a:solidFill>
                  <a:schemeClr val="bg1"/>
                </a:solidFill>
              </a:rPr>
              <a:t>"&lt;&lt;endl;}</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~aa(){cout&lt;&lt;"</a:t>
            </a:r>
            <a:r>
              <a:rPr lang="zh-CN" altLang="en-US" sz="2200" b="1" dirty="0">
                <a:solidFill>
                  <a:schemeClr val="bg1"/>
                </a:solidFill>
              </a:rPr>
              <a:t>析构</a:t>
            </a:r>
            <a:r>
              <a:rPr lang="en-US" altLang="zh-CN" sz="2200" b="1" dirty="0">
                <a:solidFill>
                  <a:schemeClr val="bg1"/>
                </a:solidFill>
              </a:rPr>
              <a:t>"&lt;&lt;id&lt;&lt;endl;}</a:t>
            </a:r>
            <a:endParaRPr lang="en-US" altLang="zh-CN" sz="2200" b="1" dirty="0">
              <a:solidFill>
                <a:schemeClr val="bg1"/>
              </a:solidFill>
            </a:endParaRPr>
          </a:p>
          <a:p>
            <a:pPr eaLnBrk="1" hangingPunct="1">
              <a:lnSpc>
                <a:spcPct val="90000"/>
              </a:lnSpc>
              <a:buNone/>
            </a:pPr>
            <a:r>
              <a:rPr lang="en-US" altLang="zh-CN" sz="2200" b="1" dirty="0">
                <a:solidFill>
                  <a:schemeClr val="bg1"/>
                </a:solidFill>
              </a:rPr>
              <a:t>};</a:t>
            </a:r>
            <a:endParaRPr lang="en-US" altLang="zh-CN" sz="2200" b="1" dirty="0">
              <a:solidFill>
                <a:schemeClr val="bg1"/>
              </a:solidFill>
            </a:endParaRPr>
          </a:p>
          <a:p>
            <a:pPr eaLnBrk="1" hangingPunct="1">
              <a:lnSpc>
                <a:spcPct val="90000"/>
              </a:lnSpc>
              <a:buNone/>
            </a:pPr>
            <a:r>
              <a:rPr lang="en-US" altLang="zh-CN" sz="2200" b="1" dirty="0">
                <a:solidFill>
                  <a:schemeClr val="bg1"/>
                </a:solidFill>
              </a:rPr>
              <a:t>void main(){</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aa s;       //“</a:t>
            </a:r>
            <a:r>
              <a:rPr lang="zh-CN" altLang="en-US" sz="2200" b="1" dirty="0">
                <a:solidFill>
                  <a:schemeClr val="bg1"/>
                </a:solidFill>
              </a:rPr>
              <a:t>构造”</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aa t = s;  //</a:t>
            </a:r>
            <a:r>
              <a:rPr lang="zh-CN" altLang="en-US" sz="2200" b="1" dirty="0">
                <a:solidFill>
                  <a:schemeClr val="bg1"/>
                </a:solidFill>
              </a:rPr>
              <a:t>拷贝</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aa k = 8;  //</a:t>
            </a:r>
            <a:r>
              <a:rPr lang="zh-CN" altLang="en-US" sz="2200" b="1" dirty="0">
                <a:solidFill>
                  <a:schemeClr val="bg1"/>
                </a:solidFill>
              </a:rPr>
              <a:t>构造</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s = 9;    // “</a:t>
            </a:r>
            <a:r>
              <a:rPr lang="zh-CN" altLang="en-US" sz="2200" b="1" dirty="0">
                <a:solidFill>
                  <a:schemeClr val="bg1"/>
                </a:solidFill>
              </a:rPr>
              <a:t>构造”  </a:t>
            </a:r>
            <a:r>
              <a:rPr lang="en-US" altLang="zh-CN" sz="2200" b="1" dirty="0">
                <a:solidFill>
                  <a:schemeClr val="bg1"/>
                </a:solidFill>
              </a:rPr>
              <a:t>"</a:t>
            </a:r>
            <a:r>
              <a:rPr lang="zh-CN" altLang="en-US" sz="2200" b="1" dirty="0">
                <a:solidFill>
                  <a:schemeClr val="bg1"/>
                </a:solidFill>
              </a:rPr>
              <a:t>析构</a:t>
            </a:r>
            <a:r>
              <a:rPr lang="en-US" altLang="zh-CN" sz="2200" b="1" dirty="0">
                <a:solidFill>
                  <a:schemeClr val="bg1"/>
                </a:solidFill>
              </a:rPr>
              <a:t>"</a:t>
            </a:r>
            <a:endParaRPr lang="en-US" altLang="zh-CN" sz="2200" b="1" dirty="0">
              <a:solidFill>
                <a:schemeClr val="bg1"/>
              </a:solidFill>
            </a:endParaRPr>
          </a:p>
          <a:p>
            <a:pPr eaLnBrk="1" hangingPunct="1">
              <a:lnSpc>
                <a:spcPct val="90000"/>
              </a:lnSpc>
              <a:buNone/>
            </a:pPr>
            <a:r>
              <a:rPr lang="en-US" altLang="zh-CN" sz="2200" b="1" dirty="0">
                <a:solidFill>
                  <a:schemeClr val="bg1"/>
                </a:solidFill>
              </a:rPr>
              <a:t>   aa &amp;q = aa(7); //</a:t>
            </a:r>
            <a:r>
              <a:rPr lang="zh-CN" altLang="en-US" sz="2200" b="1" dirty="0">
                <a:solidFill>
                  <a:schemeClr val="bg1"/>
                </a:solidFill>
              </a:rPr>
              <a:t>构造</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aa m(7);   //</a:t>
            </a:r>
            <a:r>
              <a:rPr lang="zh-CN" altLang="en-US" sz="2200" b="1" dirty="0">
                <a:solidFill>
                  <a:schemeClr val="bg1"/>
                </a:solidFill>
              </a:rPr>
              <a:t>构造</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aa(6);     //</a:t>
            </a:r>
            <a:r>
              <a:rPr lang="zh-CN" altLang="en-US" sz="2200" b="1" dirty="0">
                <a:solidFill>
                  <a:schemeClr val="bg1"/>
                </a:solidFill>
              </a:rPr>
              <a:t>构造  析构</a:t>
            </a:r>
            <a:endParaRPr lang="zh-CN" altLang="en-US" sz="2200" b="1" dirty="0">
              <a:solidFill>
                <a:schemeClr val="bg1"/>
              </a:solidFill>
            </a:endParaRPr>
          </a:p>
          <a:p>
            <a:pPr eaLnBrk="1" hangingPunct="1">
              <a:lnSpc>
                <a:spcPct val="90000"/>
              </a:lnSpc>
              <a:buNone/>
            </a:pPr>
            <a:r>
              <a:rPr lang="zh-CN" altLang="en-US" sz="2200" b="1" dirty="0">
                <a:solidFill>
                  <a:schemeClr val="bg1"/>
                </a:solidFill>
              </a:rPr>
              <a:t>   </a:t>
            </a:r>
            <a:r>
              <a:rPr lang="en-US" altLang="zh-CN" sz="2200" b="1" dirty="0">
                <a:solidFill>
                  <a:schemeClr val="bg1"/>
                </a:solidFill>
              </a:rPr>
              <a:t>aa n= aa(5);//?</a:t>
            </a:r>
            <a:endParaRPr lang="en-US" altLang="zh-CN" sz="2200" b="1" dirty="0">
              <a:solidFill>
                <a:schemeClr val="bg1"/>
              </a:solidFill>
            </a:endParaRPr>
          </a:p>
          <a:p>
            <a:pPr eaLnBrk="1" hangingPunct="1">
              <a:lnSpc>
                <a:spcPct val="90000"/>
              </a:lnSpc>
              <a:buNone/>
            </a:pPr>
            <a:r>
              <a:rPr lang="en-US" altLang="zh-CN" sz="2200" b="1" dirty="0">
                <a:solidFill>
                  <a:schemeClr val="bg1"/>
                </a:solidFill>
              </a:rPr>
              <a:t>}</a:t>
            </a:r>
            <a:endParaRPr lang="en-US" altLang="zh-CN" sz="2200" b="1" dirty="0">
              <a:solidFill>
                <a:schemeClr val="bg1"/>
              </a:solidFill>
            </a:endParaRPr>
          </a:p>
        </p:txBody>
      </p:sp>
      <p:sp>
        <p:nvSpPr>
          <p:cNvPr id="208898"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构造、析构函数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1682" name="Text Box 2"/>
          <p:cNvSpPr txBox="1">
            <a:spLocks noChangeArrowheads="1"/>
          </p:cNvSpPr>
          <p:nvPr/>
        </p:nvSpPr>
        <p:spPr bwMode="auto">
          <a:xfrm>
            <a:off x="1908175" y="44450"/>
            <a:ext cx="7235825"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=this-&gt;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=this-&gt;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a.sum</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for(long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=0;i&lt;100000;i++)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9922" name="Text Box 3"/>
          <p:cNvSpPr txBox="1"/>
          <p:nvPr/>
        </p:nvSpPr>
        <p:spPr>
          <a:xfrm>
            <a:off x="622300"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友元      引入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1682"/>
                                        </p:tgtEl>
                                        <p:attrNameLst>
                                          <p:attrName>style.visibility</p:attrName>
                                        </p:attrNameLst>
                                      </p:cBhvr>
                                      <p:to>
                                        <p:strVal val="visible"/>
                                      </p:to>
                                    </p:set>
                                    <p:animEffect transition="in" filter="barn(inHorizontal)">
                                      <p:cBhvr>
                                        <p:cTn id="7" dur="500"/>
                                        <p:tgtEl>
                                          <p:spTgt spid="711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2"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2706" name="Text Box 2"/>
          <p:cNvSpPr txBox="1">
            <a:spLocks noChangeArrowheads="1"/>
          </p:cNvSpPr>
          <p:nvPr/>
        </p:nvSpPr>
        <p:spPr bwMode="auto">
          <a:xfrm>
            <a:off x="1476375" y="44450"/>
            <a:ext cx="7667625"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for(long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=0;i&lt;100000;i++)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094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友元  希望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 name="AutoShape 5"/>
          <p:cNvSpPr>
            <a:spLocks noChangeArrowheads="1"/>
          </p:cNvSpPr>
          <p:nvPr/>
        </p:nvSpPr>
        <p:spPr bwMode="auto">
          <a:xfrm>
            <a:off x="4859338" y="1916113"/>
            <a:ext cx="4176713" cy="503238"/>
          </a:xfrm>
          <a:prstGeom prst="wedgeRectCallout">
            <a:avLst>
              <a:gd name="adj1" fmla="val -38271"/>
              <a:gd name="adj2" fmla="val 116491"/>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aa c; </a:t>
            </a:r>
            <a:r>
              <a:rPr kumimoji="1" lang="en-US" altLang="zh-CN" sz="2400" b="0" i="0" u="none" strike="noStrike" kern="1200" cap="none" spc="0" normalizeH="0" baseline="0" noProof="0" dirty="0" err="1">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a:t>
            </a:r>
            <a:r>
              <a:rPr kumimoji="1" lang="en-US" altLang="zh-CN"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a:t>
            </a:r>
            <a:r>
              <a:rPr kumimoji="1" lang="en-US" altLang="zh-CN" sz="2400" b="0" i="0" u="none" strike="noStrike" kern="1200" cap="none" spc="0" normalizeH="0" baseline="0" noProof="0" dirty="0" err="1">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s.a+t.a</a:t>
            </a:r>
            <a:r>
              <a:rPr kumimoji="1" lang="en-US" altLang="zh-CN"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0" i="0" u="none" strike="noStrike" kern="1200" cap="none" spc="0" normalizeH="0" baseline="0" noProof="0" dirty="0" err="1">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c.b</a:t>
            </a:r>
            <a:r>
              <a:rPr kumimoji="1" lang="en-US" altLang="zh-CN"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a:t>
            </a:r>
            <a:r>
              <a:rPr kumimoji="1" lang="en-US" altLang="zh-CN" sz="2400" b="0" i="0" u="none" strike="noStrike" kern="1200" cap="none" spc="0" normalizeH="0" baseline="0" noProof="0" dirty="0" err="1">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s.b+t.b</a:t>
            </a:r>
            <a:r>
              <a:rPr kumimoji="1" lang="en-US" altLang="zh-CN"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zh-CN" altLang="en-US" sz="24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2706"/>
                                        </p:tgtEl>
                                        <p:attrNameLst>
                                          <p:attrName>style.visibility</p:attrName>
                                        </p:attrNameLst>
                                      </p:cBhvr>
                                      <p:to>
                                        <p:strVal val="visible"/>
                                      </p:to>
                                    </p:set>
                                    <p:animEffect transition="in" filter="barn(inHorizontal)">
                                      <p:cBhvr>
                                        <p:cTn id="7" dur="500"/>
                                        <p:tgtEl>
                                          <p:spTgt spid="7127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06" grpId="0"/>
      <p:bldP spid="4"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3730" name="Text Box 2"/>
          <p:cNvSpPr txBox="1">
            <a:spLocks noChangeArrowheads="1"/>
          </p:cNvSpPr>
          <p:nvPr/>
        </p:nvSpPr>
        <p:spPr bwMode="auto">
          <a:xfrm>
            <a:off x="2482850" y="-242887"/>
            <a:ext cx="6661150" cy="74787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friend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friend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main();</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s.a+t.a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s.b+t.b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for(long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=0;i&lt;100000;i++)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1970" name="Text Box 3"/>
          <p:cNvSpPr txBox="1"/>
          <p:nvPr/>
        </p:nvSpPr>
        <p:spPr>
          <a:xfrm>
            <a:off x="622300" y="6207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友元     实现</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3730"/>
                                        </p:tgtEl>
                                        <p:attrNameLst>
                                          <p:attrName>style.visibility</p:attrName>
                                        </p:attrNameLst>
                                      </p:cBhvr>
                                      <p:to>
                                        <p:strVal val="visible"/>
                                      </p:to>
                                    </p:set>
                                    <p:animEffect transition="in" filter="barn(inHorizontal)">
                                      <p:cBhvr>
                                        <p:cTn id="7" dur="500"/>
                                        <p:tgtEl>
                                          <p:spTgt spid="713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0"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4754" name="Text Box 2"/>
          <p:cNvSpPr txBox="1">
            <a:spLocks noChangeArrowheads="1"/>
          </p:cNvSpPr>
          <p:nvPr/>
        </p:nvSpPr>
        <p:spPr bwMode="auto">
          <a:xfrm>
            <a:off x="1692275" y="-100012"/>
            <a:ext cx="7272338" cy="698658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Teacher;</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age;  float score;</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void Teacher::p(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void Teacher::q(float);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class Teacher;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Teacher{</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Stutent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a.age</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q(</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Stutent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a.score</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Teacher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objS</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obj.p</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objS</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objT.q</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objS</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2994" name="Text Box 3"/>
          <p:cNvSpPr txBox="1"/>
          <p:nvPr/>
        </p:nvSpPr>
        <p:spPr>
          <a:xfrm>
            <a:off x="622300" y="836613"/>
            <a:ext cx="854075" cy="54006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友元     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14754">
                                            <p:txEl>
                                              <p:charRg st="53" end="87"/>
                                            </p:txEl>
                                          </p:spTgt>
                                        </p:tgtEl>
                                        <p:attrNameLst>
                                          <p:attrName>style.visibility</p:attrName>
                                        </p:attrNameLst>
                                      </p:cBhvr>
                                      <p:to>
                                        <p:strVal val="visible"/>
                                      </p:to>
                                    </p:set>
                                    <p:animEffect transition="in" filter="box(in)">
                                      <p:cBhvr>
                                        <p:cTn id="7" dur="500"/>
                                        <p:tgtEl>
                                          <p:spTgt spid="714754">
                                            <p:txEl>
                                              <p:charRg st="53" end="87"/>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714754">
                                            <p:txEl>
                                              <p:charRg st="87" end="123"/>
                                            </p:txEl>
                                          </p:spTgt>
                                        </p:tgtEl>
                                        <p:attrNameLst>
                                          <p:attrName>style.visibility</p:attrName>
                                        </p:attrNameLst>
                                      </p:cBhvr>
                                      <p:to>
                                        <p:strVal val="visible"/>
                                      </p:to>
                                    </p:set>
                                    <p:animEffect transition="in" filter="box(in)">
                                      <p:cBhvr>
                                        <p:cTn id="10" dur="500"/>
                                        <p:tgtEl>
                                          <p:spTgt spid="714754">
                                            <p:txEl>
                                              <p:charRg st="87" end="12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xit" presetSubtype="16" fill="hold" nodeType="clickEffect">
                                  <p:stCondLst>
                                    <p:cond delay="0"/>
                                  </p:stCondLst>
                                  <p:childTnLst>
                                    <p:animEffect transition="out" filter="diamond(in)">
                                      <p:cBhvr>
                                        <p:cTn id="14" dur="2000"/>
                                        <p:tgtEl>
                                          <p:spTgt spid="714754">
                                            <p:txEl>
                                              <p:charRg st="53" end="87"/>
                                            </p:txEl>
                                          </p:spTgt>
                                        </p:tgtEl>
                                      </p:cBhvr>
                                    </p:animEffect>
                                    <p:set>
                                      <p:cBhvr>
                                        <p:cTn id="15" dur="1" fill="hold">
                                          <p:stCondLst>
                                            <p:cond delay="1999"/>
                                          </p:stCondLst>
                                        </p:cTn>
                                        <p:tgtEl>
                                          <p:spTgt spid="714754">
                                            <p:txEl>
                                              <p:charRg st="53" end="87"/>
                                            </p:txEl>
                                          </p:spTgt>
                                        </p:tgtEl>
                                        <p:attrNameLst>
                                          <p:attrName>style.visibility</p:attrName>
                                        </p:attrNameLst>
                                      </p:cBhvr>
                                      <p:to>
                                        <p:strVal val="hidden"/>
                                      </p:to>
                                    </p:set>
                                  </p:childTnLst>
                                </p:cTn>
                              </p:par>
                              <p:par>
                                <p:cTn id="16" presetID="8" presetClass="exit" presetSubtype="16" fill="hold" nodeType="withEffect">
                                  <p:stCondLst>
                                    <p:cond delay="0"/>
                                  </p:stCondLst>
                                  <p:childTnLst>
                                    <p:animEffect transition="out" filter="diamond(in)">
                                      <p:cBhvr>
                                        <p:cTn id="17" dur="2000"/>
                                        <p:tgtEl>
                                          <p:spTgt spid="714754">
                                            <p:txEl>
                                              <p:charRg st="87" end="123"/>
                                            </p:txEl>
                                          </p:spTgt>
                                        </p:tgtEl>
                                      </p:cBhvr>
                                    </p:animEffect>
                                    <p:set>
                                      <p:cBhvr>
                                        <p:cTn id="18" dur="1" fill="hold">
                                          <p:stCondLst>
                                            <p:cond delay="1999"/>
                                          </p:stCondLst>
                                        </p:cTn>
                                        <p:tgtEl>
                                          <p:spTgt spid="714754">
                                            <p:txEl>
                                              <p:charRg st="87" end="123"/>
                                            </p:txEl>
                                          </p:spTgt>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4754">
                                            <p:txEl>
                                              <p:charRg st="123" end="150"/>
                                            </p:txEl>
                                          </p:spTgt>
                                        </p:tgtEl>
                                        <p:attrNameLst>
                                          <p:attrName>style.visibility</p:attrName>
                                        </p:attrNameLst>
                                      </p:cBhvr>
                                      <p:to>
                                        <p:strVal val="visible"/>
                                      </p:to>
                                    </p:set>
                                    <p:anim calcmode="lin" valueType="num">
                                      <p:cBhvr additive="base">
                                        <p:cTn id="23" dur="500" fill="hold"/>
                                        <p:tgtEl>
                                          <p:spTgt spid="714754">
                                            <p:txEl>
                                              <p:charRg st="123" end="15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4754">
                                            <p:txEl>
                                              <p:charRg st="123" end="15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5778" name="Rectangle 2"/>
          <p:cNvSpPr>
            <a:spLocks noChangeArrowheads="1"/>
          </p:cNvSpPr>
          <p:nvPr/>
        </p:nvSpPr>
        <p:spPr bwMode="auto">
          <a:xfrm>
            <a:off x="107950" y="1628775"/>
            <a:ext cx="8964613" cy="1150938"/>
          </a:xfrm>
          <a:prstGeom prst="rect">
            <a:avLst/>
          </a:prstGeom>
          <a:gradFill rotWithShape="0">
            <a:gsLst>
              <a:gs pos="0">
                <a:srgbClr val="F0F01E">
                  <a:gamma/>
                  <a:shade val="46275"/>
                  <a:invGamma/>
                </a:srgbClr>
              </a:gs>
              <a:gs pos="100000">
                <a:srgbClr val="F0F01E"/>
              </a:gs>
            </a:gsLst>
            <a:lin ang="5400000" scaled="1"/>
          </a:gradFill>
          <a:ln>
            <a:noFill/>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效率问题；格式问题</a:t>
            </a:r>
            <a:endParaRPr kumimoji="0" lang="zh-CN" altLang="en-US" sz="36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715779" name="Rectangle 3"/>
          <p:cNvSpPr>
            <a:spLocks noChangeArrowheads="1"/>
          </p:cNvSpPr>
          <p:nvPr/>
        </p:nvSpPr>
        <p:spPr bwMode="auto">
          <a:xfrm>
            <a:off x="107950" y="4102100"/>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友元声明位于公有、私有、保护效果一致</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715780" name="Rectangle 4"/>
          <p:cNvSpPr>
            <a:spLocks noChangeArrowheads="1"/>
          </p:cNvSpPr>
          <p:nvPr/>
        </p:nvSpPr>
        <p:spPr bwMode="auto">
          <a:xfrm>
            <a:off x="107950" y="28686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友元是单向的；友元不具有传递性</a:t>
            </a:r>
            <a:endPar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14020" name="Rectangle 5"/>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友元</a:t>
            </a:r>
            <a:r>
              <a:rPr lang="zh-CN" altLang="en-US" sz="4400" dirty="0">
                <a:solidFill>
                  <a:srgbClr val="FFFF00"/>
                </a:solidFill>
                <a:latin typeface="Times New Roman" panose="02020603050405020304" pitchFamily="18" charset="0"/>
                <a:ea typeface="华文行楷" panose="02010800040101010101" pitchFamily="2" charset="-122"/>
              </a:rPr>
              <a:t>          意义</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715782" name="Rectangle 6"/>
          <p:cNvSpPr>
            <a:spLocks noChangeArrowheads="1"/>
          </p:cNvSpPr>
          <p:nvPr/>
        </p:nvSpPr>
        <p:spPr bwMode="auto">
          <a:xfrm>
            <a:off x="107950" y="53975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扩大自由函数对类、类对类的访问权限；</a:t>
            </a:r>
            <a:endPar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从而破坏了类的封装性；慎重使用</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15778"/>
                                        </p:tgtEl>
                                        <p:attrNameLst>
                                          <p:attrName>style.visibility</p:attrName>
                                        </p:attrNameLst>
                                      </p:cBhvr>
                                      <p:to>
                                        <p:strVal val="visible"/>
                                      </p:to>
                                    </p:set>
                                    <p:animEffect transition="in" filter="slide(fromLeft)">
                                      <p:cBhvr>
                                        <p:cTn id="7" dur="500"/>
                                        <p:tgtEl>
                                          <p:spTgt spid="71577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5780"/>
                                        </p:tgtEl>
                                        <p:attrNameLst>
                                          <p:attrName>style.visibility</p:attrName>
                                        </p:attrNameLst>
                                      </p:cBhvr>
                                      <p:to>
                                        <p:strVal val="visible"/>
                                      </p:to>
                                    </p:set>
                                    <p:anim calcmode="lin" valueType="num">
                                      <p:cBhvr additive="base">
                                        <p:cTn id="12" dur="2000" fill="hold"/>
                                        <p:tgtEl>
                                          <p:spTgt spid="715780"/>
                                        </p:tgtEl>
                                        <p:attrNameLst>
                                          <p:attrName>ppt_x</p:attrName>
                                        </p:attrNameLst>
                                      </p:cBhvr>
                                      <p:tavLst>
                                        <p:tav tm="0">
                                          <p:val>
                                            <p:strVal val="#ppt_x"/>
                                          </p:val>
                                        </p:tav>
                                        <p:tav tm="100000">
                                          <p:val>
                                            <p:strVal val="#ppt_x"/>
                                          </p:val>
                                        </p:tav>
                                      </p:tavLst>
                                    </p:anim>
                                    <p:anim calcmode="lin" valueType="num">
                                      <p:cBhvr additive="base">
                                        <p:cTn id="13" dur="2000" fill="hold"/>
                                        <p:tgtEl>
                                          <p:spTgt spid="71578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6" presetClass="entr" presetSubtype="0" fill="hold" grpId="0" nodeType="clickEffect">
                                  <p:stCondLst>
                                    <p:cond delay="0"/>
                                  </p:stCondLst>
                                  <p:iterate type="lt">
                                    <p:tmPct val="10000"/>
                                  </p:iterate>
                                  <p:childTnLst>
                                    <p:set>
                                      <p:cBhvr>
                                        <p:cTn id="17" dur="1" fill="hold">
                                          <p:stCondLst>
                                            <p:cond delay="0"/>
                                          </p:stCondLst>
                                        </p:cTn>
                                        <p:tgtEl>
                                          <p:spTgt spid="715779"/>
                                        </p:tgtEl>
                                        <p:attrNameLst>
                                          <p:attrName>style.visibility</p:attrName>
                                        </p:attrNameLst>
                                      </p:cBhvr>
                                      <p:to>
                                        <p:strVal val="visible"/>
                                      </p:to>
                                    </p:set>
                                    <p:anim by="(-#ppt_w*2)" calcmode="lin" valueType="num">
                                      <p:cBhvr rctx="PPT">
                                        <p:cTn id="18" dur="500" autoRev="1" fill="hold">
                                          <p:stCondLst>
                                            <p:cond delay="0"/>
                                          </p:stCondLst>
                                        </p:cTn>
                                        <p:tgtEl>
                                          <p:spTgt spid="715779"/>
                                        </p:tgtEl>
                                        <p:attrNameLst>
                                          <p:attrName>ppt_w</p:attrName>
                                        </p:attrNameLst>
                                      </p:cBhvr>
                                    </p:anim>
                                    <p:anim by="(#ppt_w*0.50)" calcmode="lin" valueType="num">
                                      <p:cBhvr>
                                        <p:cTn id="19" dur="500" decel="50000" autoRev="1" fill="hold">
                                          <p:stCondLst>
                                            <p:cond delay="0"/>
                                          </p:stCondLst>
                                        </p:cTn>
                                        <p:tgtEl>
                                          <p:spTgt spid="715779"/>
                                        </p:tgtEl>
                                        <p:attrNameLst>
                                          <p:attrName>ppt_x</p:attrName>
                                        </p:attrNameLst>
                                      </p:cBhvr>
                                    </p:anim>
                                    <p:anim from="(-#ppt_h/2)" to="(#ppt_y)" calcmode="lin" valueType="num">
                                      <p:cBhvr>
                                        <p:cTn id="20" dur="1000" fill="hold">
                                          <p:stCondLst>
                                            <p:cond delay="0"/>
                                          </p:stCondLst>
                                        </p:cTn>
                                        <p:tgtEl>
                                          <p:spTgt spid="715779"/>
                                        </p:tgtEl>
                                        <p:attrNameLst>
                                          <p:attrName>ppt_y</p:attrName>
                                        </p:attrNameLst>
                                      </p:cBhvr>
                                    </p:anim>
                                    <p:animRot by="21600000">
                                      <p:cBhvr>
                                        <p:cTn id="21" dur="1000" fill="hold">
                                          <p:stCondLst>
                                            <p:cond delay="0"/>
                                          </p:stCondLst>
                                        </p:cTn>
                                        <p:tgtEl>
                                          <p:spTgt spid="715779"/>
                                        </p:tgtEl>
                                        <p:attrNameLst>
                                          <p:attrName>r</p:attrName>
                                        </p:attrNameLst>
                                      </p:cBhvr>
                                    </p:animRo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15782"/>
                                        </p:tgtEl>
                                        <p:attrNameLst>
                                          <p:attrName>style.visibility</p:attrName>
                                        </p:attrNameLst>
                                      </p:cBhvr>
                                      <p:to>
                                        <p:strVal val="visible"/>
                                      </p:to>
                                    </p:set>
                                    <p:anim calcmode="lin" valueType="num">
                                      <p:cBhvr additive="base">
                                        <p:cTn id="26" dur="2000" fill="hold"/>
                                        <p:tgtEl>
                                          <p:spTgt spid="715782"/>
                                        </p:tgtEl>
                                        <p:attrNameLst>
                                          <p:attrName>ppt_x</p:attrName>
                                        </p:attrNameLst>
                                      </p:cBhvr>
                                      <p:tavLst>
                                        <p:tav tm="0">
                                          <p:val>
                                            <p:strVal val="#ppt_x"/>
                                          </p:val>
                                        </p:tav>
                                        <p:tav tm="100000">
                                          <p:val>
                                            <p:strVal val="#ppt_x"/>
                                          </p:val>
                                        </p:tav>
                                      </p:tavLst>
                                    </p:anim>
                                    <p:anim calcmode="lin" valueType="num">
                                      <p:cBhvr additive="base">
                                        <p:cTn id="27" dur="2000" fill="hold"/>
                                        <p:tgtEl>
                                          <p:spTgt spid="7157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8" grpId="0" animBg="1"/>
      <p:bldP spid="715779" grpId="0" animBg="1"/>
      <p:bldP spid="715780" grpId="0" animBg="1"/>
      <p:bldP spid="715782"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02" name="Text Box 2"/>
          <p:cNvSpPr txBox="1">
            <a:spLocks noChangeArrowheads="1"/>
          </p:cNvSpPr>
          <p:nvPr/>
        </p:nvSpPr>
        <p:spPr bwMode="auto">
          <a:xfrm>
            <a:off x="1763713" y="-100012"/>
            <a:ext cx="7129463"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b+t.b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a.sum</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b.sum</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5042"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6802"/>
                                        </p:tgtEl>
                                        <p:attrNameLst>
                                          <p:attrName>style.visibility</p:attrName>
                                        </p:attrNameLst>
                                      </p:cBhvr>
                                      <p:to>
                                        <p:strVal val="visible"/>
                                      </p:to>
                                    </p:set>
                                    <p:animEffect transition="in" filter="barn(inHorizontal)">
                                      <p:cBhvr>
                                        <p:cTn id="7" dur="500"/>
                                        <p:tgtEl>
                                          <p:spTgt spid="716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2"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02" name="Text Box 2"/>
          <p:cNvSpPr txBox="1">
            <a:spLocks noChangeArrowheads="1"/>
          </p:cNvSpPr>
          <p:nvPr/>
        </p:nvSpPr>
        <p:spPr bwMode="auto">
          <a:xfrm>
            <a:off x="1763713" y="-100012"/>
            <a:ext cx="7129463"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friend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sum(</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s.a+t.a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s.b+t.b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d=sum(</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606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6802"/>
                                        </p:tgtEl>
                                        <p:attrNameLst>
                                          <p:attrName>style.visibility</p:attrName>
                                        </p:attrNameLst>
                                      </p:cBhvr>
                                      <p:to>
                                        <p:strVal val="visible"/>
                                      </p:to>
                                    </p:set>
                                    <p:animEffect transition="in" filter="barn(inHorizontal)">
                                      <p:cBhvr>
                                        <p:cTn id="7" dur="500"/>
                                        <p:tgtEl>
                                          <p:spTgt spid="716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2"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1202" name="Text Box 2"/>
          <p:cNvSpPr txBox="1">
            <a:spLocks noChangeArrowheads="1"/>
          </p:cNvSpPr>
          <p:nvPr/>
        </p:nvSpPr>
        <p:spPr bwMode="auto">
          <a:xfrm>
            <a:off x="2339975" y="188913"/>
            <a:ext cx="6769100"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期望：小学生能看懂为目标</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7090"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1202"/>
                                        </p:tgtEl>
                                        <p:attrNameLst>
                                          <p:attrName>style.visibility</p:attrName>
                                        </p:attrNameLst>
                                      </p:cBhvr>
                                      <p:to>
                                        <p:strVal val="visible"/>
                                      </p:to>
                                    </p:set>
                                    <p:animEffect transition="in" filter="barn(inHorizontal)">
                                      <p:cBhvr>
                                        <p:cTn id="7" dur="500"/>
                                        <p:tgtEl>
                                          <p:spTgt spid="69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202"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2226" name="Text Box 2"/>
          <p:cNvSpPr txBox="1">
            <a:spLocks noChangeArrowheads="1"/>
          </p:cNvSpPr>
          <p:nvPr/>
        </p:nvSpPr>
        <p:spPr bwMode="auto">
          <a:xfrm>
            <a:off x="1908175" y="260350"/>
            <a:ext cx="6553200"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 b){</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&gt;0;i--)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+(double &amp; a, double &amp; b){</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 9 , b = 8;</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d = 1.2 , e = 3.4;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f=</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f=operator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语言本身都是函数机制</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8114"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2226"/>
                                        </p:tgtEl>
                                        <p:attrNameLst>
                                          <p:attrName>style.visibility</p:attrName>
                                        </p:attrNameLst>
                                      </p:cBhvr>
                                      <p:to>
                                        <p:strVal val="visible"/>
                                      </p:to>
                                    </p:set>
                                    <p:animEffect transition="in" filter="barn(inHorizontal)">
                                      <p:cBhvr>
                                        <p:cTn id="7" dur="500"/>
                                        <p:tgtEl>
                                          <p:spTgt spid="69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6"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2226" name="Text Box 2"/>
          <p:cNvSpPr txBox="1">
            <a:spLocks noChangeArrowheads="1"/>
          </p:cNvSpPr>
          <p:nvPr/>
        </p:nvSpPr>
        <p:spPr bwMode="auto">
          <a:xfrm>
            <a:off x="2482850" y="-71437"/>
            <a:ext cx="6553200"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 b){</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等价</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19138"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2226"/>
                                        </p:tgtEl>
                                        <p:attrNameLst>
                                          <p:attrName>style.visibility</p:attrName>
                                        </p:attrNameLst>
                                      </p:cBhvr>
                                      <p:to>
                                        <p:strVal val="visible"/>
                                      </p:to>
                                    </p:set>
                                    <p:animEffect transition="in" filter="barn(inHorizontal)">
                                      <p:cBhvr>
                                        <p:cTn id="7" dur="500"/>
                                        <p:tgtEl>
                                          <p:spTgt spid="69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6"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3250" name="Text Box 2"/>
          <p:cNvSpPr txBox="1">
            <a:spLocks noChangeArrowheads="1"/>
          </p:cNvSpPr>
          <p:nvPr/>
        </p:nvSpPr>
        <p:spPr bwMode="auto">
          <a:xfrm>
            <a:off x="2484438" y="-100012"/>
            <a:ext cx="59055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0162"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3250"/>
                                        </p:tgtEl>
                                        <p:attrNameLst>
                                          <p:attrName>style.visibility</p:attrName>
                                        </p:attrNameLst>
                                      </p:cBhvr>
                                      <p:to>
                                        <p:strVal val="visible"/>
                                      </p:to>
                                    </p:set>
                                    <p:animEffect transition="in" filter="barn(inHorizontal)">
                                      <p:cBhvr>
                                        <p:cTn id="7" dur="500"/>
                                        <p:tgtEl>
                                          <p:spTgt spid="69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250"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9394" name="Text Box 2"/>
          <p:cNvSpPr txBox="1">
            <a:spLocks noChangeArrowheads="1"/>
          </p:cNvSpPr>
          <p:nvPr/>
        </p:nvSpPr>
        <p:spPr bwMode="auto">
          <a:xfrm>
            <a:off x="2482850" y="-100012"/>
            <a:ext cx="59055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 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b+t.b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a.operator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118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99396" name="AutoShape 4"/>
          <p:cNvSpPr>
            <a:spLocks noChangeArrowheads="1"/>
          </p:cNvSpPr>
          <p:nvPr/>
        </p:nvSpPr>
        <p:spPr bwMode="auto">
          <a:xfrm>
            <a:off x="6335713" y="44450"/>
            <a:ext cx="2808288" cy="431800"/>
          </a:xfrm>
          <a:prstGeom prst="wedgeRectCallout">
            <a:avLst>
              <a:gd name="adj1" fmla="val -62912"/>
              <a:gd name="adj2" fmla="val 426747"/>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运算符重载函数为成员函数</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9394"/>
                                        </p:tgtEl>
                                        <p:attrNameLst>
                                          <p:attrName>style.visibility</p:attrName>
                                        </p:attrNameLst>
                                      </p:cBhvr>
                                      <p:to>
                                        <p:strVal val="visible"/>
                                      </p:to>
                                    </p:set>
                                    <p:animEffect transition="in" filter="barn(inHorizontal)">
                                      <p:cBhvr>
                                        <p:cTn id="7" dur="500"/>
                                        <p:tgtEl>
                                          <p:spTgt spid="69939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699396"/>
                                        </p:tgtEl>
                                        <p:attrNameLst>
                                          <p:attrName>style.visibility</p:attrName>
                                        </p:attrNameLst>
                                      </p:cBhvr>
                                      <p:to>
                                        <p:strVal val="visible"/>
                                      </p:to>
                                    </p:set>
                                    <p:anim calcmode="lin" valueType="num">
                                      <p:cBhvr additive="base">
                                        <p:cTn id="11" dur="500" fill="hold"/>
                                        <p:tgtEl>
                                          <p:spTgt spid="699396"/>
                                        </p:tgtEl>
                                        <p:attrNameLst>
                                          <p:attrName>ppt_x</p:attrName>
                                        </p:attrNameLst>
                                      </p:cBhvr>
                                      <p:tavLst>
                                        <p:tav tm="0">
                                          <p:val>
                                            <p:strVal val="#ppt_x"/>
                                          </p:val>
                                        </p:tav>
                                        <p:tav tm="100000">
                                          <p:val>
                                            <p:strVal val="#ppt_x"/>
                                          </p:val>
                                        </p:tav>
                                      </p:tavLst>
                                    </p:anim>
                                    <p:anim calcmode="lin" valueType="num">
                                      <p:cBhvr additive="base">
                                        <p:cTn id="12" dur="500" fill="hold"/>
                                        <p:tgtEl>
                                          <p:spTgt spid="6993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4" grpId="0"/>
      <p:bldP spid="699396"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4274" name="Text Box 2"/>
          <p:cNvSpPr txBox="1">
            <a:spLocks noChangeArrowheads="1"/>
          </p:cNvSpPr>
          <p:nvPr/>
        </p:nvSpPr>
        <p:spPr bwMode="auto">
          <a:xfrm>
            <a:off x="2482850" y="-100012"/>
            <a:ext cx="59055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不提倡</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           //c=operator +(a);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2210"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4274"/>
                                        </p:tgtEl>
                                        <p:attrNameLst>
                                          <p:attrName>style.visibility</p:attrName>
                                        </p:attrNameLst>
                                      </p:cBhvr>
                                      <p:to>
                                        <p:strVal val="visible"/>
                                      </p:to>
                                    </p:set>
                                    <p:animEffect transition="in" filter="barn(inHorizontal)">
                                      <p:cBhvr>
                                        <p:cTn id="7" dur="500"/>
                                        <p:tgtEl>
                                          <p:spTgt spid="69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4"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22" name="Text Box 2"/>
          <p:cNvSpPr txBox="1">
            <a:spLocks noChangeArrowheads="1"/>
          </p:cNvSpPr>
          <p:nvPr/>
        </p:nvSpPr>
        <p:spPr bwMode="auto">
          <a:xfrm>
            <a:off x="2482850" y="-100012"/>
            <a:ext cx="59055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a.a+b.a+c.a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3234"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96324" name="AutoShape 4"/>
          <p:cNvSpPr>
            <a:spLocks noChangeArrowheads="1"/>
          </p:cNvSpPr>
          <p:nvPr/>
        </p:nvSpPr>
        <p:spPr bwMode="auto">
          <a:xfrm>
            <a:off x="4787900" y="4076700"/>
            <a:ext cx="4105275" cy="360363"/>
          </a:xfrm>
          <a:prstGeom prst="wedgeRectCallout">
            <a:avLst>
              <a:gd name="adj1" fmla="val -31556"/>
              <a:gd name="adj2" fmla="val -34031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运算符重载时参数个数不可以超过原来数目</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6322"/>
                                        </p:tgtEl>
                                        <p:attrNameLst>
                                          <p:attrName>style.visibility</p:attrName>
                                        </p:attrNameLst>
                                      </p:cBhvr>
                                      <p:to>
                                        <p:strVal val="visible"/>
                                      </p:to>
                                    </p:set>
                                    <p:animEffect transition="in" filter="barn(inHorizontal)">
                                      <p:cBhvr>
                                        <p:cTn id="7" dur="500"/>
                                        <p:tgtEl>
                                          <p:spTgt spid="6963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96324"/>
                                        </p:tgtEl>
                                        <p:attrNameLst>
                                          <p:attrName>style.visibility</p:attrName>
                                        </p:attrNameLst>
                                      </p:cBhvr>
                                      <p:to>
                                        <p:strVal val="visible"/>
                                      </p:to>
                                    </p:set>
                                    <p:anim calcmode="lin" valueType="num">
                                      <p:cBhvr additive="base">
                                        <p:cTn id="12" dur="500" fill="hold"/>
                                        <p:tgtEl>
                                          <p:spTgt spid="696324"/>
                                        </p:tgtEl>
                                        <p:attrNameLst>
                                          <p:attrName>ppt_x</p:attrName>
                                        </p:attrNameLst>
                                      </p:cBhvr>
                                      <p:tavLst>
                                        <p:tav tm="0">
                                          <p:val>
                                            <p:strVal val="#ppt_x"/>
                                          </p:val>
                                        </p:tav>
                                        <p:tav tm="100000">
                                          <p:val>
                                            <p:strVal val="#ppt_x"/>
                                          </p:val>
                                        </p:tav>
                                      </p:tavLst>
                                    </p:anim>
                                    <p:anim calcmode="lin" valueType="num">
                                      <p:cBhvr additive="base">
                                        <p:cTn id="13" dur="500" fill="hold"/>
                                        <p:tgtEl>
                                          <p:spTgt spid="696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2" grpId="0"/>
      <p:bldP spid="696324" grpId="0" animBg="1"/>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5298" name="Text Box 2"/>
          <p:cNvSpPr txBox="1">
            <a:spLocks noChangeArrowheads="1"/>
          </p:cNvSpPr>
          <p:nvPr/>
        </p:nvSpPr>
        <p:spPr bwMode="auto">
          <a:xfrm>
            <a:off x="539750" y="-26987"/>
            <a:ext cx="8316913" cy="60023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=6;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5298"/>
                                        </p:tgtEl>
                                        <p:attrNameLst>
                                          <p:attrName>style.visibility</p:attrName>
                                        </p:attrNameLst>
                                      </p:cBhvr>
                                      <p:to>
                                        <p:strVal val="visible"/>
                                      </p:to>
                                    </p:set>
                                    <p:animEffect transition="in" filter="barn(inHorizontal)">
                                      <p:cBhvr>
                                        <p:cTn id="7" dur="500"/>
                                        <p:tgtEl>
                                          <p:spTgt spid="69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298"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7346" name="Text Box 2"/>
          <p:cNvSpPr txBox="1">
            <a:spLocks noChangeArrowheads="1"/>
          </p:cNvSpPr>
          <p:nvPr/>
        </p:nvSpPr>
        <p:spPr bwMode="auto">
          <a:xfrm>
            <a:off x="2484438" y="0"/>
            <a:ext cx="5618163"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=6,j=7;</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i+j</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5282"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97348" name="AutoShape 4"/>
          <p:cNvSpPr>
            <a:spLocks noChangeArrowheads="1"/>
          </p:cNvSpPr>
          <p:nvPr/>
        </p:nvSpPr>
        <p:spPr bwMode="auto">
          <a:xfrm>
            <a:off x="4787900" y="4076700"/>
            <a:ext cx="4105275" cy="360363"/>
          </a:xfrm>
          <a:prstGeom prst="wedgeRectCallout">
            <a:avLst>
              <a:gd name="adj1" fmla="val -3208"/>
              <a:gd name="adj2" fmla="val -44912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运算符重载时参数类型不能全为基本类型</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7346"/>
                                        </p:tgtEl>
                                        <p:attrNameLst>
                                          <p:attrName>style.visibility</p:attrName>
                                        </p:attrNameLst>
                                      </p:cBhvr>
                                      <p:to>
                                        <p:strVal val="visible"/>
                                      </p:to>
                                    </p:set>
                                    <p:animEffect transition="in" filter="barn(inHorizontal)">
                                      <p:cBhvr>
                                        <p:cTn id="7" dur="500"/>
                                        <p:tgtEl>
                                          <p:spTgt spid="6973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97348"/>
                                        </p:tgtEl>
                                        <p:attrNameLst>
                                          <p:attrName>style.visibility</p:attrName>
                                        </p:attrNameLst>
                                      </p:cBhvr>
                                      <p:to>
                                        <p:strVal val="visible"/>
                                      </p:to>
                                    </p:set>
                                    <p:anim calcmode="lin" valueType="num">
                                      <p:cBhvr additive="base">
                                        <p:cTn id="12" dur="500" fill="hold"/>
                                        <p:tgtEl>
                                          <p:spTgt spid="697348"/>
                                        </p:tgtEl>
                                        <p:attrNameLst>
                                          <p:attrName>ppt_x</p:attrName>
                                        </p:attrNameLst>
                                      </p:cBhvr>
                                      <p:tavLst>
                                        <p:tav tm="0">
                                          <p:val>
                                            <p:strVal val="#ppt_x"/>
                                          </p:val>
                                        </p:tav>
                                        <p:tav tm="100000">
                                          <p:val>
                                            <p:strVal val="#ppt_x"/>
                                          </p:val>
                                        </p:tav>
                                      </p:tavLst>
                                    </p:anim>
                                    <p:anim calcmode="lin" valueType="num">
                                      <p:cBhvr additive="base">
                                        <p:cTn id="13" dur="500" fill="hold"/>
                                        <p:tgtEl>
                                          <p:spTgt spid="6973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6" grpId="0"/>
      <p:bldP spid="697348"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8370" name="Rectangle 2"/>
          <p:cNvSpPr>
            <a:spLocks noChangeArrowheads="1"/>
          </p:cNvSpPr>
          <p:nvPr/>
        </p:nvSpPr>
        <p:spPr bwMode="auto">
          <a:xfrm>
            <a:off x="107950" y="2022475"/>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参数都是基本类型时不能重载</a:t>
            </a:r>
            <a:r>
              <a:rPr kumimoji="0"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698371" name="Rectangle 3"/>
          <p:cNvSpPr>
            <a:spLocks noChangeArrowheads="1"/>
          </p:cNvSpPr>
          <p:nvPr/>
        </p:nvSpPr>
        <p:spPr bwMode="auto">
          <a:xfrm>
            <a:off x="107950" y="8366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重载运算符内部的同名运算符维持原来操作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26307" name="Rectangle 4"/>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运算符重载</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698373" name="Rectangle 5"/>
          <p:cNvSpPr>
            <a:spLocks noChangeArrowheads="1"/>
          </p:cNvSpPr>
          <p:nvPr/>
        </p:nvSpPr>
        <p:spPr bwMode="auto">
          <a:xfrm>
            <a:off x="107950" y="3246438"/>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参数和返回类型可以改变；运算顺序和优先级不能改变</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698374" name="Rectangle 6"/>
          <p:cNvSpPr>
            <a:spLocks noChangeArrowheads="1"/>
          </p:cNvSpPr>
          <p:nvPr/>
        </p:nvSpPr>
        <p:spPr bwMode="auto">
          <a:xfrm>
            <a:off x="107950" y="4470400"/>
            <a:ext cx="8964613" cy="1127125"/>
          </a:xfrm>
          <a:prstGeom prst="rect">
            <a:avLst/>
          </a:prstGeom>
          <a:gradFill rotWithShape="0">
            <a:gsLst>
              <a:gs pos="0">
                <a:schemeClr val="hlink">
                  <a:gamma/>
                  <a:shade val="56078"/>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下列运算符不可以重载：</a:t>
            </a:r>
            <a:r>
              <a:rPr kumimoji="0" lang="en-US" altLang="zh-CN" sz="28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a:t>
            </a:r>
            <a:r>
              <a:rPr kumimoji="0" lang="zh-CN" altLang="en-US" sz="28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等</a:t>
            </a:r>
            <a:r>
              <a:rPr kumimoji="0"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；不允许创建新运算符</a:t>
            </a:r>
            <a:endParaRPr kumimoji="0" lang="zh-CN" altLang="en-US" sz="40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698375" name="Rectangle 7"/>
          <p:cNvSpPr>
            <a:spLocks noChangeArrowheads="1"/>
          </p:cNvSpPr>
          <p:nvPr/>
        </p:nvSpPr>
        <p:spPr bwMode="auto">
          <a:xfrm>
            <a:off x="107950" y="5702300"/>
            <a:ext cx="8964613" cy="1150938"/>
          </a:xfrm>
          <a:prstGeom prst="rect">
            <a:avLst/>
          </a:prstGeom>
          <a:gradFill rotWithShape="0">
            <a:gsLst>
              <a:gs pos="0">
                <a:srgbClr val="F0F01E">
                  <a:gamma/>
                  <a:shade val="46275"/>
                  <a:invGamma/>
                </a:srgbClr>
              </a:gs>
              <a:gs pos="100000">
                <a:srgbClr val="F0F01E"/>
              </a:gs>
            </a:gsLst>
            <a:lin ang="5400000" scaled="1"/>
          </a:gradFill>
          <a:ln>
            <a:noFill/>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不提倡改变参数个数、运算符含义</a:t>
            </a:r>
            <a:endParaRPr kumimoji="0" lang="zh-CN" altLang="en-US" sz="36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8371"/>
                                        </p:tgtEl>
                                        <p:attrNameLst>
                                          <p:attrName>style.visibility</p:attrName>
                                        </p:attrNameLst>
                                      </p:cBhvr>
                                      <p:to>
                                        <p:strVal val="visible"/>
                                      </p:to>
                                    </p:set>
                                    <p:anim calcmode="lin" valueType="num">
                                      <p:cBhvr additive="base">
                                        <p:cTn id="7" dur="2000" fill="hold"/>
                                        <p:tgtEl>
                                          <p:spTgt spid="698371"/>
                                        </p:tgtEl>
                                        <p:attrNameLst>
                                          <p:attrName>ppt_x</p:attrName>
                                        </p:attrNameLst>
                                      </p:cBhvr>
                                      <p:tavLst>
                                        <p:tav tm="0">
                                          <p:val>
                                            <p:strVal val="#ppt_x"/>
                                          </p:val>
                                        </p:tav>
                                        <p:tav tm="100000">
                                          <p:val>
                                            <p:strVal val="#ppt_x"/>
                                          </p:val>
                                        </p:tav>
                                      </p:tavLst>
                                    </p:anim>
                                    <p:anim calcmode="lin" valueType="num">
                                      <p:cBhvr additive="base">
                                        <p:cTn id="8" dur="2000" fill="hold"/>
                                        <p:tgtEl>
                                          <p:spTgt spid="6983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698370"/>
                                        </p:tgtEl>
                                        <p:attrNameLst>
                                          <p:attrName>style.visibility</p:attrName>
                                        </p:attrNameLst>
                                      </p:cBhvr>
                                      <p:to>
                                        <p:strVal val="visible"/>
                                      </p:to>
                                    </p:set>
                                    <p:anim by="(-#ppt_w*2)" calcmode="lin" valueType="num">
                                      <p:cBhvr rctx="PPT">
                                        <p:cTn id="13" dur="500" autoRev="1" fill="hold">
                                          <p:stCondLst>
                                            <p:cond delay="0"/>
                                          </p:stCondLst>
                                        </p:cTn>
                                        <p:tgtEl>
                                          <p:spTgt spid="698370"/>
                                        </p:tgtEl>
                                        <p:attrNameLst>
                                          <p:attrName>ppt_w</p:attrName>
                                        </p:attrNameLst>
                                      </p:cBhvr>
                                    </p:anim>
                                    <p:anim by="(#ppt_w*0.50)" calcmode="lin" valueType="num">
                                      <p:cBhvr>
                                        <p:cTn id="14" dur="500" decel="50000" autoRev="1" fill="hold">
                                          <p:stCondLst>
                                            <p:cond delay="0"/>
                                          </p:stCondLst>
                                        </p:cTn>
                                        <p:tgtEl>
                                          <p:spTgt spid="698370"/>
                                        </p:tgtEl>
                                        <p:attrNameLst>
                                          <p:attrName>ppt_x</p:attrName>
                                        </p:attrNameLst>
                                      </p:cBhvr>
                                    </p:anim>
                                    <p:anim from="(-#ppt_h/2)" to="(#ppt_y)" calcmode="lin" valueType="num">
                                      <p:cBhvr>
                                        <p:cTn id="15" dur="1000" fill="hold">
                                          <p:stCondLst>
                                            <p:cond delay="0"/>
                                          </p:stCondLst>
                                        </p:cTn>
                                        <p:tgtEl>
                                          <p:spTgt spid="698370"/>
                                        </p:tgtEl>
                                        <p:attrNameLst>
                                          <p:attrName>ppt_y</p:attrName>
                                        </p:attrNameLst>
                                      </p:cBhvr>
                                    </p:anim>
                                    <p:animRot by="21600000">
                                      <p:cBhvr>
                                        <p:cTn id="16" dur="1000" fill="hold">
                                          <p:stCondLst>
                                            <p:cond delay="0"/>
                                          </p:stCondLst>
                                        </p:cTn>
                                        <p:tgtEl>
                                          <p:spTgt spid="698370"/>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98373"/>
                                        </p:tgtEl>
                                        <p:attrNameLst>
                                          <p:attrName>style.visibility</p:attrName>
                                        </p:attrNameLst>
                                      </p:cBhvr>
                                      <p:to>
                                        <p:strVal val="visible"/>
                                      </p:to>
                                    </p:set>
                                    <p:anim calcmode="lin" valueType="num">
                                      <p:cBhvr additive="base">
                                        <p:cTn id="21" dur="2000" fill="hold"/>
                                        <p:tgtEl>
                                          <p:spTgt spid="698373"/>
                                        </p:tgtEl>
                                        <p:attrNameLst>
                                          <p:attrName>ppt_x</p:attrName>
                                        </p:attrNameLst>
                                      </p:cBhvr>
                                      <p:tavLst>
                                        <p:tav tm="0">
                                          <p:val>
                                            <p:strVal val="#ppt_x"/>
                                          </p:val>
                                        </p:tav>
                                        <p:tav tm="100000">
                                          <p:val>
                                            <p:strVal val="#ppt_x"/>
                                          </p:val>
                                        </p:tav>
                                      </p:tavLst>
                                    </p:anim>
                                    <p:anim calcmode="lin" valueType="num">
                                      <p:cBhvr additive="base">
                                        <p:cTn id="22" dur="2000" fill="hold"/>
                                        <p:tgtEl>
                                          <p:spTgt spid="69837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698374"/>
                                        </p:tgtEl>
                                        <p:attrNameLst>
                                          <p:attrName>style.visibility</p:attrName>
                                        </p:attrNameLst>
                                      </p:cBhvr>
                                      <p:to>
                                        <p:strVal val="visible"/>
                                      </p:to>
                                    </p:set>
                                    <p:anim by="(-#ppt_w*2)" calcmode="lin" valueType="num">
                                      <p:cBhvr rctx="PPT">
                                        <p:cTn id="27" dur="500" autoRev="1" fill="hold">
                                          <p:stCondLst>
                                            <p:cond delay="0"/>
                                          </p:stCondLst>
                                        </p:cTn>
                                        <p:tgtEl>
                                          <p:spTgt spid="698374"/>
                                        </p:tgtEl>
                                        <p:attrNameLst>
                                          <p:attrName>ppt_w</p:attrName>
                                        </p:attrNameLst>
                                      </p:cBhvr>
                                    </p:anim>
                                    <p:anim by="(#ppt_w*0.50)" calcmode="lin" valueType="num">
                                      <p:cBhvr>
                                        <p:cTn id="28" dur="500" decel="50000" autoRev="1" fill="hold">
                                          <p:stCondLst>
                                            <p:cond delay="0"/>
                                          </p:stCondLst>
                                        </p:cTn>
                                        <p:tgtEl>
                                          <p:spTgt spid="698374"/>
                                        </p:tgtEl>
                                        <p:attrNameLst>
                                          <p:attrName>ppt_x</p:attrName>
                                        </p:attrNameLst>
                                      </p:cBhvr>
                                    </p:anim>
                                    <p:anim from="(-#ppt_h/2)" to="(#ppt_y)" calcmode="lin" valueType="num">
                                      <p:cBhvr>
                                        <p:cTn id="29" dur="1000" fill="hold">
                                          <p:stCondLst>
                                            <p:cond delay="0"/>
                                          </p:stCondLst>
                                        </p:cTn>
                                        <p:tgtEl>
                                          <p:spTgt spid="698374"/>
                                        </p:tgtEl>
                                        <p:attrNameLst>
                                          <p:attrName>ppt_y</p:attrName>
                                        </p:attrNameLst>
                                      </p:cBhvr>
                                    </p:anim>
                                    <p:animRot by="21600000">
                                      <p:cBhvr>
                                        <p:cTn id="30" dur="1000" fill="hold">
                                          <p:stCondLst>
                                            <p:cond delay="0"/>
                                          </p:stCondLst>
                                        </p:cTn>
                                        <p:tgtEl>
                                          <p:spTgt spid="698374"/>
                                        </p:tgtEl>
                                        <p:attrNameLst>
                                          <p:attrName>r</p:attrName>
                                        </p:attrNameLst>
                                      </p:cBhvr>
                                    </p:animRot>
                                  </p:childTnLst>
                                </p:cTn>
                              </p:par>
                            </p:childTnLst>
                          </p:cTn>
                        </p:par>
                        <p:par>
                          <p:cTn id="31" fill="hold">
                            <p:stCondLst>
                              <p:cond delay="3799"/>
                            </p:stCondLst>
                            <p:childTnLst>
                              <p:par>
                                <p:cTn id="32" presetID="12" presetClass="entr" presetSubtype="8" fill="hold" grpId="0" nodeType="afterEffect">
                                  <p:stCondLst>
                                    <p:cond delay="0"/>
                                  </p:stCondLst>
                                  <p:childTnLst>
                                    <p:set>
                                      <p:cBhvr>
                                        <p:cTn id="33" dur="1" fill="hold">
                                          <p:stCondLst>
                                            <p:cond delay="0"/>
                                          </p:stCondLst>
                                        </p:cTn>
                                        <p:tgtEl>
                                          <p:spTgt spid="698375"/>
                                        </p:tgtEl>
                                        <p:attrNameLst>
                                          <p:attrName>style.visibility</p:attrName>
                                        </p:attrNameLst>
                                      </p:cBhvr>
                                      <p:to>
                                        <p:strVal val="visible"/>
                                      </p:to>
                                    </p:set>
                                    <p:animEffect transition="in" filter="slide(fromLeft)">
                                      <p:cBhvr>
                                        <p:cTn id="34" dur="500"/>
                                        <p:tgtEl>
                                          <p:spTgt spid="698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0" grpId="0" animBg="1"/>
      <p:bldP spid="698371" grpId="0" animBg="1"/>
      <p:bldP spid="698373" grpId="0" animBg="1"/>
      <p:bldP spid="698374" grpId="0" animBg="1"/>
      <p:bldP spid="698375"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0418" name="Text Box 2"/>
          <p:cNvSpPr txBox="1">
            <a:spLocks noChangeArrowheads="1"/>
          </p:cNvSpPr>
          <p:nvPr/>
        </p:nvSpPr>
        <p:spPr bwMode="auto">
          <a:xfrm>
            <a:off x="1908175" y="-100012"/>
            <a:ext cx="59055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 = a;          //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c.operator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7330"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0420" name="AutoShape 4"/>
          <p:cNvSpPr>
            <a:spLocks noChangeArrowheads="1"/>
          </p:cNvSpPr>
          <p:nvPr/>
        </p:nvSpPr>
        <p:spPr bwMode="auto">
          <a:xfrm>
            <a:off x="5219700" y="3573463"/>
            <a:ext cx="3889375" cy="431800"/>
          </a:xfrm>
          <a:prstGeom prst="wedgeRectCallout">
            <a:avLst>
              <a:gd name="adj1" fmla="val -47199"/>
              <a:gd name="adj2" fmla="val 460662"/>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重载赋值运算符函数返回类型不能为空</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0418"/>
                                        </p:tgtEl>
                                        <p:attrNameLst>
                                          <p:attrName>style.visibility</p:attrName>
                                        </p:attrNameLst>
                                      </p:cBhvr>
                                      <p:to>
                                        <p:strVal val="visible"/>
                                      </p:to>
                                    </p:set>
                                    <p:animEffect transition="in" filter="barn(inHorizontal)">
                                      <p:cBhvr>
                                        <p:cTn id="7" dur="500"/>
                                        <p:tgtEl>
                                          <p:spTgt spid="70041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0420"/>
                                        </p:tgtEl>
                                        <p:attrNameLst>
                                          <p:attrName>style.visibility</p:attrName>
                                        </p:attrNameLst>
                                      </p:cBhvr>
                                      <p:to>
                                        <p:strVal val="visible"/>
                                      </p:to>
                                    </p:set>
                                    <p:anim calcmode="lin" valueType="num">
                                      <p:cBhvr additive="base">
                                        <p:cTn id="11" dur="500" fill="hold"/>
                                        <p:tgtEl>
                                          <p:spTgt spid="700420"/>
                                        </p:tgtEl>
                                        <p:attrNameLst>
                                          <p:attrName>ppt_x</p:attrName>
                                        </p:attrNameLst>
                                      </p:cBhvr>
                                      <p:tavLst>
                                        <p:tav tm="0">
                                          <p:val>
                                            <p:strVal val="#ppt_x"/>
                                          </p:val>
                                        </p:tav>
                                        <p:tav tm="100000">
                                          <p:val>
                                            <p:strVal val="#ppt_x"/>
                                          </p:val>
                                        </p:tav>
                                      </p:tavLst>
                                    </p:anim>
                                    <p:anim calcmode="lin" valueType="num">
                                      <p:cBhvr additive="base">
                                        <p:cTn id="12" dur="500" fill="hold"/>
                                        <p:tgtEl>
                                          <p:spTgt spid="7004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18" grpId="0"/>
      <p:bldP spid="700420"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1442" name="Text Box 2"/>
          <p:cNvSpPr txBox="1">
            <a:spLocks noChangeArrowheads="1"/>
          </p:cNvSpPr>
          <p:nvPr/>
        </p:nvSpPr>
        <p:spPr bwMode="auto">
          <a:xfrm>
            <a:off x="1547813" y="-171450"/>
            <a:ext cx="7127875"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this-&gt;a=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this-&gt;b=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a = b;      //</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如何？</a:t>
            </a:r>
            <a:endPar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8354"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1444" name="AutoShape 4"/>
          <p:cNvSpPr>
            <a:spLocks noChangeArrowheads="1"/>
          </p:cNvSpPr>
          <p:nvPr/>
        </p:nvSpPr>
        <p:spPr bwMode="auto">
          <a:xfrm>
            <a:off x="5111750" y="4005263"/>
            <a:ext cx="4140200" cy="431800"/>
          </a:xfrm>
          <a:prstGeom prst="wedgeRectCallout">
            <a:avLst>
              <a:gd name="adj1" fmla="val -44002"/>
              <a:gd name="adj2" fmla="val -407312"/>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重载运算符函数类型应为引用；值可以吗？</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1442"/>
                                        </p:tgtEl>
                                        <p:attrNameLst>
                                          <p:attrName>style.visibility</p:attrName>
                                        </p:attrNameLst>
                                      </p:cBhvr>
                                      <p:to>
                                        <p:strVal val="visible"/>
                                      </p:to>
                                    </p:set>
                                    <p:animEffect transition="in" filter="barn(inHorizontal)">
                                      <p:cBhvr>
                                        <p:cTn id="7" dur="500"/>
                                        <p:tgtEl>
                                          <p:spTgt spid="70144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1444"/>
                                        </p:tgtEl>
                                        <p:attrNameLst>
                                          <p:attrName>style.visibility</p:attrName>
                                        </p:attrNameLst>
                                      </p:cBhvr>
                                      <p:to>
                                        <p:strVal val="visible"/>
                                      </p:to>
                                    </p:set>
                                    <p:anim calcmode="lin" valueType="num">
                                      <p:cBhvr additive="base">
                                        <p:cTn id="11" dur="500" fill="hold"/>
                                        <p:tgtEl>
                                          <p:spTgt spid="701444"/>
                                        </p:tgtEl>
                                        <p:attrNameLst>
                                          <p:attrName>ppt_x</p:attrName>
                                        </p:attrNameLst>
                                      </p:cBhvr>
                                      <p:tavLst>
                                        <p:tav tm="0">
                                          <p:val>
                                            <p:strVal val="#ppt_x"/>
                                          </p:val>
                                        </p:tav>
                                        <p:tav tm="100000">
                                          <p:val>
                                            <p:strVal val="#ppt_x"/>
                                          </p:val>
                                        </p:tav>
                                      </p:tavLst>
                                    </p:anim>
                                    <p:anim calcmode="lin" valueType="num">
                                      <p:cBhvr additive="base">
                                        <p:cTn id="12" dur="500" fill="hold"/>
                                        <p:tgtEl>
                                          <p:spTgt spid="701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2" grpId="0"/>
      <p:bldP spid="701444" grpId="0" animBg="1"/>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2466" name="Text Box 2"/>
          <p:cNvSpPr txBox="1">
            <a:spLocks noChangeArrowheads="1"/>
          </p:cNvSpPr>
          <p:nvPr/>
        </p:nvSpPr>
        <p:spPr bwMode="auto">
          <a:xfrm>
            <a:off x="1619250" y="-171450"/>
            <a:ext cx="752475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(){m=new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this-&gt;a=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this-&gt;b=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this-&gt;m=new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b.m</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29378"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2468" name="AutoShape 4"/>
          <p:cNvSpPr>
            <a:spLocks noChangeArrowheads="1"/>
          </p:cNvSpPr>
          <p:nvPr/>
        </p:nvSpPr>
        <p:spPr bwMode="auto">
          <a:xfrm>
            <a:off x="5651500" y="2349500"/>
            <a:ext cx="3492500" cy="431800"/>
          </a:xfrm>
          <a:prstGeom prst="wedgeRectCallout">
            <a:avLst>
              <a:gd name="adj1" fmla="val -52920"/>
              <a:gd name="adj2" fmla="val 101329"/>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给出</a:t>
            </a:r>
            <a:r>
              <a:rPr kumimoji="1" lang="en-US" altLang="zh-CN"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的重载</a:t>
            </a:r>
            <a:r>
              <a:rPr kumimoji="1" lang="en-US" altLang="zh-CN"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浅拷贝与深拷贝</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2466"/>
                                        </p:tgtEl>
                                        <p:attrNameLst>
                                          <p:attrName>style.visibility</p:attrName>
                                        </p:attrNameLst>
                                      </p:cBhvr>
                                      <p:to>
                                        <p:strVal val="visible"/>
                                      </p:to>
                                    </p:set>
                                    <p:animEffect transition="in" filter="barn(inHorizontal)">
                                      <p:cBhvr>
                                        <p:cTn id="7" dur="500"/>
                                        <p:tgtEl>
                                          <p:spTgt spid="70246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2468"/>
                                        </p:tgtEl>
                                        <p:attrNameLst>
                                          <p:attrName>style.visibility</p:attrName>
                                        </p:attrNameLst>
                                      </p:cBhvr>
                                      <p:to>
                                        <p:strVal val="visible"/>
                                      </p:to>
                                    </p:set>
                                    <p:anim calcmode="lin" valueType="num">
                                      <p:cBhvr additive="base">
                                        <p:cTn id="11" dur="500" fill="hold"/>
                                        <p:tgtEl>
                                          <p:spTgt spid="702468"/>
                                        </p:tgtEl>
                                        <p:attrNameLst>
                                          <p:attrName>ppt_x</p:attrName>
                                        </p:attrNameLst>
                                      </p:cBhvr>
                                      <p:tavLst>
                                        <p:tav tm="0">
                                          <p:val>
                                            <p:strVal val="#ppt_x"/>
                                          </p:val>
                                        </p:tav>
                                        <p:tav tm="100000">
                                          <p:val>
                                            <p:strVal val="#ppt_x"/>
                                          </p:val>
                                        </p:tav>
                                      </p:tavLst>
                                    </p:anim>
                                    <p:anim calcmode="lin" valueType="num">
                                      <p:cBhvr additive="base">
                                        <p:cTn id="12" dur="500" fill="hold"/>
                                        <p:tgtEl>
                                          <p:spTgt spid="70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66" grpId="0"/>
      <p:bldP spid="702468"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4514" name="Text Box 2"/>
          <p:cNvSpPr txBox="1">
            <a:spLocks noChangeArrowheads="1"/>
          </p:cNvSpPr>
          <p:nvPr/>
        </p:nvSpPr>
        <p:spPr bwMode="auto">
          <a:xfrm>
            <a:off x="1476375" y="0"/>
            <a:ext cx="7380288" cy="698658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a=a+1;  b=b+1;  return(*this);}</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 aa();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0402" name="Text Box 3"/>
          <p:cNvSpPr txBox="1"/>
          <p:nvPr/>
        </p:nvSpPr>
        <p:spPr>
          <a:xfrm>
            <a:off x="17938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4516" name="AutoShape 4"/>
          <p:cNvSpPr>
            <a:spLocks noChangeArrowheads="1"/>
          </p:cNvSpPr>
          <p:nvPr/>
        </p:nvSpPr>
        <p:spPr bwMode="auto">
          <a:xfrm>
            <a:off x="5148263" y="2276475"/>
            <a:ext cx="3995738" cy="431800"/>
          </a:xfrm>
          <a:prstGeom prst="wedgeRectCallout">
            <a:avLst>
              <a:gd name="adj1" fmla="val -66051"/>
              <a:gd name="adj2" fmla="val -9044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前自操作运算符应该返回引用</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4514"/>
                                        </p:tgtEl>
                                        <p:attrNameLst>
                                          <p:attrName>style.visibility</p:attrName>
                                        </p:attrNameLst>
                                      </p:cBhvr>
                                      <p:to>
                                        <p:strVal val="visible"/>
                                      </p:to>
                                    </p:set>
                                    <p:animEffect transition="in" filter="barn(inHorizontal)">
                                      <p:cBhvr>
                                        <p:cTn id="7" dur="500"/>
                                        <p:tgtEl>
                                          <p:spTgt spid="7045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04516"/>
                                        </p:tgtEl>
                                        <p:attrNameLst>
                                          <p:attrName>style.visibility</p:attrName>
                                        </p:attrNameLst>
                                      </p:cBhvr>
                                      <p:to>
                                        <p:strVal val="visible"/>
                                      </p:to>
                                    </p:set>
                                    <p:anim calcmode="lin" valueType="num">
                                      <p:cBhvr additive="base">
                                        <p:cTn id="12" dur="500" fill="hold"/>
                                        <p:tgtEl>
                                          <p:spTgt spid="704516"/>
                                        </p:tgtEl>
                                        <p:attrNameLst>
                                          <p:attrName>ppt_x</p:attrName>
                                        </p:attrNameLst>
                                      </p:cBhvr>
                                      <p:tavLst>
                                        <p:tav tm="0">
                                          <p:val>
                                            <p:strVal val="#ppt_x"/>
                                          </p:val>
                                        </p:tav>
                                        <p:tav tm="100000">
                                          <p:val>
                                            <p:strVal val="#ppt_x"/>
                                          </p:val>
                                        </p:tav>
                                      </p:tavLst>
                                    </p:anim>
                                    <p:anim calcmode="lin" valueType="num">
                                      <p:cBhvr additive="base">
                                        <p:cTn id="13" dur="500" fill="hold"/>
                                        <p:tgtEl>
                                          <p:spTgt spid="70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4" grpId="0"/>
      <p:bldP spid="704516" grpId="0" animBg="1"/>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5538" name="Text Box 2"/>
          <p:cNvSpPr txBox="1">
            <a:spLocks noChangeArrowheads="1"/>
          </p:cNvSpPr>
          <p:nvPr/>
        </p:nvSpPr>
        <p:spPr bwMode="auto">
          <a:xfrm>
            <a:off x="1331913" y="0"/>
            <a:ext cx="7812088" cy="698658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m(*this); a=a+1;  b=b+1;  return(m);</a:t>
            </a:r>
            <a:endPar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 aa();            //</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142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5540" name="AutoShape 4"/>
          <p:cNvSpPr>
            <a:spLocks noChangeArrowheads="1"/>
          </p:cNvSpPr>
          <p:nvPr/>
        </p:nvSpPr>
        <p:spPr bwMode="auto">
          <a:xfrm>
            <a:off x="5292725" y="2852738"/>
            <a:ext cx="3851275" cy="431800"/>
          </a:xfrm>
          <a:prstGeom prst="wedgeRectCallout">
            <a:avLst>
              <a:gd name="adj1" fmla="val -62467"/>
              <a:gd name="adj2" fmla="val -12938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后自操作运算符为返回值</a:t>
            </a:r>
            <a:endParaRPr kumimoji="1" lang="zh-CN" alt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5538"/>
                                        </p:tgtEl>
                                        <p:attrNameLst>
                                          <p:attrName>style.visibility</p:attrName>
                                        </p:attrNameLst>
                                      </p:cBhvr>
                                      <p:to>
                                        <p:strVal val="visible"/>
                                      </p:to>
                                    </p:set>
                                    <p:animEffect transition="in" filter="barn(inHorizontal)">
                                      <p:cBhvr>
                                        <p:cTn id="7" dur="500"/>
                                        <p:tgtEl>
                                          <p:spTgt spid="70553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5540"/>
                                        </p:tgtEl>
                                        <p:attrNameLst>
                                          <p:attrName>style.visibility</p:attrName>
                                        </p:attrNameLst>
                                      </p:cBhvr>
                                      <p:to>
                                        <p:strVal val="visible"/>
                                      </p:to>
                                    </p:set>
                                    <p:anim calcmode="lin" valueType="num">
                                      <p:cBhvr additive="base">
                                        <p:cTn id="11" dur="500" fill="hold"/>
                                        <p:tgtEl>
                                          <p:spTgt spid="705540"/>
                                        </p:tgtEl>
                                        <p:attrNameLst>
                                          <p:attrName>ppt_x</p:attrName>
                                        </p:attrNameLst>
                                      </p:cBhvr>
                                      <p:tavLst>
                                        <p:tav tm="0">
                                          <p:val>
                                            <p:strVal val="#ppt_x"/>
                                          </p:val>
                                        </p:tav>
                                        <p:tav tm="100000">
                                          <p:val>
                                            <p:strVal val="#ppt_x"/>
                                          </p:val>
                                        </p:tav>
                                      </p:tavLst>
                                    </p:anim>
                                    <p:anim calcmode="lin" valueType="num">
                                      <p:cBhvr additive="base">
                                        <p:cTn id="12" dur="500" fill="hold"/>
                                        <p:tgtEl>
                                          <p:spTgt spid="7055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38" grpId="0"/>
      <p:bldP spid="705540"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62" name="Text Box 2"/>
          <p:cNvSpPr txBox="1">
            <a:spLocks noChangeArrowheads="1"/>
          </p:cNvSpPr>
          <p:nvPr/>
        </p:nvSpPr>
        <p:spPr bwMode="auto">
          <a:xfrm>
            <a:off x="1258888" y="0"/>
            <a:ext cx="7634288"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=a.b+1;  return(a);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=a.a+1;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=a.b+1;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2450" name="Text Box 3"/>
          <p:cNvSpPr txBox="1"/>
          <p:nvPr/>
        </p:nvSpPr>
        <p:spPr>
          <a:xfrm>
            <a:off x="17938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6564" name="AutoShape 4"/>
          <p:cNvSpPr>
            <a:spLocks noChangeArrowheads="1"/>
          </p:cNvSpPr>
          <p:nvPr/>
        </p:nvSpPr>
        <p:spPr bwMode="auto">
          <a:xfrm>
            <a:off x="5795963" y="2997200"/>
            <a:ext cx="2663825" cy="431800"/>
          </a:xfrm>
          <a:prstGeom prst="wedgeRectCallout">
            <a:avLst>
              <a:gd name="adj1" fmla="val -66148"/>
              <a:gd name="adj2" fmla="val 5257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自操作运算符的友元形式</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6562"/>
                                        </p:tgtEl>
                                        <p:attrNameLst>
                                          <p:attrName>style.visibility</p:attrName>
                                        </p:attrNameLst>
                                      </p:cBhvr>
                                      <p:to>
                                        <p:strVal val="visible"/>
                                      </p:to>
                                    </p:set>
                                    <p:animEffect transition="in" filter="barn(inHorizontal)">
                                      <p:cBhvr>
                                        <p:cTn id="7" dur="500"/>
                                        <p:tgtEl>
                                          <p:spTgt spid="70656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6564"/>
                                        </p:tgtEl>
                                        <p:attrNameLst>
                                          <p:attrName>style.visibility</p:attrName>
                                        </p:attrNameLst>
                                      </p:cBhvr>
                                      <p:to>
                                        <p:strVal val="visible"/>
                                      </p:to>
                                    </p:set>
                                    <p:anim calcmode="lin" valueType="num">
                                      <p:cBhvr additive="base">
                                        <p:cTn id="11" dur="500" fill="hold"/>
                                        <p:tgtEl>
                                          <p:spTgt spid="706564"/>
                                        </p:tgtEl>
                                        <p:attrNameLst>
                                          <p:attrName>ppt_x</p:attrName>
                                        </p:attrNameLst>
                                      </p:cBhvr>
                                      <p:tavLst>
                                        <p:tav tm="0">
                                          <p:val>
                                            <p:strVal val="#ppt_x"/>
                                          </p:val>
                                        </p:tav>
                                        <p:tav tm="100000">
                                          <p:val>
                                            <p:strVal val="#ppt_x"/>
                                          </p:val>
                                        </p:tav>
                                      </p:tavLst>
                                    </p:anim>
                                    <p:anim calcmode="lin" valueType="num">
                                      <p:cBhvr additive="base">
                                        <p:cTn id="12" dur="500" fill="hold"/>
                                        <p:tgtEl>
                                          <p:spTgt spid="7065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62" grpId="0"/>
      <p:bldP spid="706564"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62" name="Text Box 2"/>
          <p:cNvSpPr txBox="1">
            <a:spLocks noChangeArrowheads="1"/>
          </p:cNvSpPr>
          <p:nvPr/>
        </p:nvSpPr>
        <p:spPr bwMode="auto">
          <a:xfrm>
            <a:off x="1258888" y="646113"/>
            <a:ext cx="7634288" cy="526256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aa():a(9),b(9)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operator ()(int i);</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float aa::operator ()(int i){ return(i+a);}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 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 &lt;&lt; a(8) &lt;&lt; endl;</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（）运算符的重载</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3474" name="Text Box 3"/>
          <p:cNvSpPr txBox="1"/>
          <p:nvPr/>
        </p:nvSpPr>
        <p:spPr>
          <a:xfrm>
            <a:off x="17938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6562"/>
                                        </p:tgtEl>
                                        <p:attrNameLst>
                                          <p:attrName>style.visibility</p:attrName>
                                        </p:attrNameLst>
                                      </p:cBhvr>
                                      <p:to>
                                        <p:strVal val="visible"/>
                                      </p:to>
                                    </p:set>
                                    <p:animEffect transition="in" filter="barn(inHorizontal)">
                                      <p:cBhvr>
                                        <p:cTn id="7" dur="500"/>
                                        <p:tgtEl>
                                          <p:spTgt spid="70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62" grpId="0" bldLvl="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7" name="Text Box 3"/>
          <p:cNvSpPr txBox="1"/>
          <p:nvPr/>
        </p:nvSpPr>
        <p:spPr>
          <a:xfrm>
            <a:off x="17938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 name="矩形 1"/>
          <p:cNvSpPr/>
          <p:nvPr/>
        </p:nvSpPr>
        <p:spPr bwMode="auto">
          <a:xfrm>
            <a:off x="1547813" y="1125538"/>
            <a:ext cx="1511300" cy="1366838"/>
          </a:xfrm>
          <a:prstGeom prst="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 name="椭圆 2"/>
          <p:cNvSpPr/>
          <p:nvPr/>
        </p:nvSpPr>
        <p:spPr bwMode="auto">
          <a:xfrm>
            <a:off x="3924300" y="4365625"/>
            <a:ext cx="1511300" cy="1439863"/>
          </a:xfrm>
          <a:prstGeom prst="ellipse">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等腰三角形 3"/>
          <p:cNvSpPr/>
          <p:nvPr/>
        </p:nvSpPr>
        <p:spPr bwMode="auto">
          <a:xfrm>
            <a:off x="6516688" y="1052513"/>
            <a:ext cx="1511300" cy="1512888"/>
          </a:xfrm>
          <a:prstGeom prst="triangle">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右箭头 4"/>
          <p:cNvSpPr/>
          <p:nvPr/>
        </p:nvSpPr>
        <p:spPr bwMode="auto">
          <a:xfrm rot="3212839">
            <a:off x="2657475" y="3143250"/>
            <a:ext cx="1830388" cy="1081088"/>
          </a:xfrm>
          <a:prstGeom prst="rightArrow">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3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构造</a:t>
            </a:r>
            <a:endParaRPr kumimoji="1" lang="zh-CN" altLang="en-US" sz="3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 name="右箭头 8"/>
          <p:cNvSpPr/>
          <p:nvPr/>
        </p:nvSpPr>
        <p:spPr bwMode="auto">
          <a:xfrm rot="18925334">
            <a:off x="5073650" y="3184525"/>
            <a:ext cx="2166938" cy="1079500"/>
          </a:xfrm>
          <a:prstGeom prst="rightArrow">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3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转换运算</a:t>
            </a:r>
            <a:endParaRPr kumimoji="1" lang="zh-CN" altLang="en-US" sz="3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7586" name="Text Box 2"/>
          <p:cNvSpPr txBox="1">
            <a:spLocks noChangeArrowheads="1"/>
          </p:cNvSpPr>
          <p:nvPr/>
        </p:nvSpPr>
        <p:spPr bwMode="auto">
          <a:xfrm>
            <a:off x="2268538" y="-171450"/>
            <a:ext cx="5905500" cy="6556375"/>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    float 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float();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float()  { return(a);}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&lt;&lt;float(a)&lt;&lt;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&lt;&lt;10+a&lt;&lt;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5522"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07588" name="AutoShape 4"/>
          <p:cNvSpPr>
            <a:spLocks noChangeArrowheads="1"/>
          </p:cNvSpPr>
          <p:nvPr/>
        </p:nvSpPr>
        <p:spPr bwMode="auto">
          <a:xfrm>
            <a:off x="7164388" y="1989138"/>
            <a:ext cx="1476375" cy="431800"/>
          </a:xfrm>
          <a:prstGeom prst="wedgeRectCallout">
            <a:avLst>
              <a:gd name="adj1" fmla="val -171745"/>
              <a:gd name="adj2" fmla="val 1702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转换运算符</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7586"/>
                                        </p:tgtEl>
                                        <p:attrNameLst>
                                          <p:attrName>style.visibility</p:attrName>
                                        </p:attrNameLst>
                                      </p:cBhvr>
                                      <p:to>
                                        <p:strVal val="visible"/>
                                      </p:to>
                                    </p:set>
                                    <p:animEffect transition="in" filter="barn(inHorizontal)">
                                      <p:cBhvr>
                                        <p:cTn id="7" dur="500"/>
                                        <p:tgtEl>
                                          <p:spTgt spid="70758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07588"/>
                                        </p:tgtEl>
                                        <p:attrNameLst>
                                          <p:attrName>style.visibility</p:attrName>
                                        </p:attrNameLst>
                                      </p:cBhvr>
                                      <p:to>
                                        <p:strVal val="visible"/>
                                      </p:to>
                                    </p:set>
                                    <p:anim calcmode="lin" valueType="num">
                                      <p:cBhvr additive="base">
                                        <p:cTn id="11" dur="500" fill="hold"/>
                                        <p:tgtEl>
                                          <p:spTgt spid="707588"/>
                                        </p:tgtEl>
                                        <p:attrNameLst>
                                          <p:attrName>ppt_x</p:attrName>
                                        </p:attrNameLst>
                                      </p:cBhvr>
                                      <p:tavLst>
                                        <p:tav tm="0">
                                          <p:val>
                                            <p:strVal val="#ppt_x"/>
                                          </p:val>
                                        </p:tav>
                                        <p:tav tm="100000">
                                          <p:val>
                                            <p:strVal val="#ppt_x"/>
                                          </p:val>
                                        </p:tav>
                                      </p:tavLst>
                                    </p:anim>
                                    <p:anim calcmode="lin" valueType="num">
                                      <p:cBhvr additive="base">
                                        <p:cTn id="12" dur="500" fill="hold"/>
                                        <p:tgtEl>
                                          <p:spTgt spid="7075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6" grpId="0"/>
      <p:bldP spid="707588"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7586" name="Text Box 2"/>
          <p:cNvSpPr txBox="1">
            <a:spLocks noChangeArrowheads="1"/>
          </p:cNvSpPr>
          <p:nvPr/>
        </p:nvSpPr>
        <p:spPr bwMode="auto">
          <a:xfrm>
            <a:off x="2268538" y="-171450"/>
            <a:ext cx="676751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Circle{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area(){return(r*r*3.14);}</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SetR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Square{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Square(double k = 6){ a = k;}</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area(){return(a*a);}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operator Circle();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Square::operator Circle()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Circle 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s.SetR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0.5*a;    return(s);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Desk(Circle 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t.area</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 Square s;  Desk(s); …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6546"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7586"/>
                                        </p:tgtEl>
                                        <p:attrNameLst>
                                          <p:attrName>style.visibility</p:attrName>
                                        </p:attrNameLst>
                                      </p:cBhvr>
                                      <p:to>
                                        <p:strVal val="visible"/>
                                      </p:to>
                                    </p:set>
                                    <p:animEffect transition="in" filter="barn(inHorizontal)">
                                      <p:cBhvr>
                                        <p:cTn id="7" dur="500"/>
                                        <p:tgtEl>
                                          <p:spTgt spid="707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6"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8610" name="Text Box 2"/>
          <p:cNvSpPr txBox="1">
            <a:spLocks noChangeArrowheads="1"/>
          </p:cNvSpPr>
          <p:nvPr/>
        </p:nvSpPr>
        <p:spPr bwMode="auto">
          <a:xfrm>
            <a:off x="900113" y="-149225"/>
            <a:ext cx="8243888" cy="74787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(float a = 2000.0){income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operator Worker(){</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Worker s;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s.Getincome</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()=0.75*income; return(s);}</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Worker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Worker(float a = 1200.0){income =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Worker(</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b){income = 0.75*</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b.Getincome</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(){return(income);}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m(Worker 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a.Getincome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Worker a;  m(a);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HighWorker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m(b);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708611" name="Rectangle 3"/>
          <p:cNvSpPr>
            <a:spLocks noChangeArrowheads="1"/>
          </p:cNvSpPr>
          <p:nvPr/>
        </p:nvSpPr>
        <p:spPr bwMode="auto">
          <a:xfrm>
            <a:off x="6948488" y="-26987"/>
            <a:ext cx="2195513"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转换运算符</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37571" name="Text Box 4"/>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8610"/>
                                        </p:tgtEl>
                                        <p:attrNameLst>
                                          <p:attrName>style.visibility</p:attrName>
                                        </p:attrNameLst>
                                      </p:cBhvr>
                                      <p:to>
                                        <p:strVal val="visible"/>
                                      </p:to>
                                    </p:set>
                                    <p:animEffect transition="in" filter="barn(inHorizontal)">
                                      <p:cBhvr>
                                        <p:cTn id="7" dur="500"/>
                                        <p:tgtEl>
                                          <p:spTgt spid="708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0"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9634" name="Text Box 2"/>
          <p:cNvSpPr txBox="1">
            <a:spLocks noChangeArrowheads="1"/>
          </p:cNvSpPr>
          <p:nvPr/>
        </p:nvSpPr>
        <p:spPr bwMode="auto">
          <a:xfrm>
            <a:off x="1403350" y="1352550"/>
            <a:ext cx="7740650" cy="3540125"/>
          </a:xfrm>
          <a:prstGeom prst="rect">
            <a:avLst/>
          </a:prstGeom>
          <a:noFill/>
          <a:ln>
            <a:noFill/>
          </a:ln>
          <a:effectLst/>
        </p:spPr>
        <p:txBody>
          <a:bodyPr>
            <a:spAutoFit/>
          </a:bodyPr>
          <a:lstStyle/>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只能是成员的运算符：</a:t>
            </a:r>
            <a:endParaRPr kumimoji="1" lang="en-US" altLang="zh-CN" sz="28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只能是友元的运算符：（</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是其它类的对象）</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&gt;&gt;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既可以友元也可以成员的：（定义者提供）</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a:t>
            </a:r>
            <a:endPar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38594" name="Text Box 3"/>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运算符重载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09634"/>
                                        </p:tgtEl>
                                        <p:attrNameLst>
                                          <p:attrName>style.visibility</p:attrName>
                                        </p:attrNameLst>
                                      </p:cBhvr>
                                      <p:to>
                                        <p:strVal val="visible"/>
                                      </p:to>
                                    </p:set>
                                    <p:animEffect transition="in" filter="barn(inHorizontal)">
                                      <p:cBhvr>
                                        <p:cTn id="7" dur="500"/>
                                        <p:tgtEl>
                                          <p:spTgt spid="709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4"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7" name="Rectangle 2"/>
          <p:cNvSpPr/>
          <p:nvPr/>
        </p:nvSpPr>
        <p:spPr>
          <a:xfrm>
            <a:off x="4860925" y="-26987"/>
            <a:ext cx="597535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39618" name="Rectangle 3"/>
          <p:cNvSpPr>
            <a:spLocks noGrp="1"/>
          </p:cNvSpPr>
          <p:nvPr>
            <p:ph idx="1"/>
          </p:nvPr>
        </p:nvSpPr>
        <p:spPr>
          <a:xfrm>
            <a:off x="0" y="260350"/>
            <a:ext cx="4500563" cy="5876925"/>
          </a:xfrm>
        </p:spPr>
        <p:txBody>
          <a:bodyPr vert="horz" wrap="square" lIns="91440" tIns="45720" rIns="91440" bIns="45720" anchor="t"/>
          <a:p>
            <a:pPr eaLnBrk="1" hangingPunct="1">
              <a:lnSpc>
                <a:spcPct val="80000"/>
              </a:lnSpc>
              <a:buNone/>
            </a:pPr>
            <a:r>
              <a:rPr lang="en-US" altLang="zh-CN" sz="2400" b="1" dirty="0">
                <a:solidFill>
                  <a:schemeClr val="bg1"/>
                </a:solidFill>
              </a:rPr>
              <a:t>//</a:t>
            </a:r>
            <a:r>
              <a:rPr lang="zh-CN" altLang="en-US" sz="2400" b="1" dirty="0">
                <a:solidFill>
                  <a:schemeClr val="bg1"/>
                </a:solidFill>
              </a:rPr>
              <a:t>构造函数根据空间个数初始化</a:t>
            </a:r>
            <a:endParaRPr lang="zh-CN" altLang="en-US" sz="2400" b="1" dirty="0">
              <a:solidFill>
                <a:schemeClr val="bg1"/>
              </a:solidFill>
            </a:endParaRPr>
          </a:p>
          <a:p>
            <a:pPr eaLnBrk="1" hangingPunct="1">
              <a:lnSpc>
                <a:spcPct val="80000"/>
              </a:lnSpc>
              <a:buNone/>
            </a:pPr>
            <a:r>
              <a:rPr lang="en-US" altLang="zh-CN" sz="2400" b="1" u="sng" dirty="0">
                <a:solidFill>
                  <a:srgbClr val="FFFF00"/>
                </a:solidFill>
              </a:rPr>
              <a:t>StudentID.h</a:t>
            </a:r>
            <a:endParaRPr lang="en-US" altLang="zh-CN" sz="2400" b="1" u="sng" dirty="0">
              <a:solidFill>
                <a:srgbClr val="FFFF00"/>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u="sng" dirty="0">
                <a:solidFill>
                  <a:srgbClr val="FFFF00"/>
                </a:solidFill>
              </a:rPr>
              <a:t>StudentID.cpp</a:t>
            </a:r>
            <a:endParaRPr lang="en-US" altLang="zh-CN" sz="2400" b="1" u="sng" dirty="0">
              <a:solidFill>
                <a:srgbClr val="FFFF00"/>
              </a:solidFill>
            </a:endParaRPr>
          </a:p>
          <a:p>
            <a:pPr eaLnBrk="1" hangingPunct="1">
              <a:lnSpc>
                <a:spcPct val="80000"/>
              </a:lnSpc>
              <a:buNone/>
            </a:pPr>
            <a:r>
              <a:rPr lang="en-US" altLang="zh-CN" sz="2400" b="1" dirty="0">
                <a:solidFill>
                  <a:schemeClr val="bg1"/>
                </a:solidFill>
              </a:rPr>
              <a:t>int ID</a:t>
            </a:r>
            <a:r>
              <a:rPr lang="zh-CN" altLang="en-US" sz="2400" b="1" dirty="0">
                <a:solidFill>
                  <a:schemeClr val="bg1"/>
                </a:solidFill>
              </a:rPr>
              <a:t>＝</a:t>
            </a:r>
            <a:r>
              <a:rPr lang="en-US" altLang="zh-CN" sz="2400" b="1" dirty="0">
                <a:solidFill>
                  <a:schemeClr val="bg1"/>
                </a:solidFill>
              </a:rPr>
              <a:t>0;</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p:txBody>
      </p:sp>
      <p:sp>
        <p:nvSpPr>
          <p:cNvPr id="239619" name="Rectangle 4"/>
          <p:cNvSpPr/>
          <p:nvPr/>
        </p:nvSpPr>
        <p:spPr>
          <a:xfrm>
            <a:off x="4930775" y="115888"/>
            <a:ext cx="4537075" cy="5805487"/>
          </a:xfrm>
          <a:prstGeom prst="rect">
            <a:avLst/>
          </a:prstGeom>
          <a:noFill/>
          <a:ln w="9525">
            <a:noFill/>
          </a:ln>
        </p:spPr>
        <p:txBody>
          <a:bodyPr anchor="t"/>
          <a:p>
            <a:pPr marL="342900" indent="-342900">
              <a:lnSpc>
                <a:spcPct val="80000"/>
              </a:lnSpc>
              <a:spcBef>
                <a:spcPct val="20000"/>
              </a:spcBef>
            </a:pPr>
            <a:r>
              <a:rPr lang="en-US" altLang="zh-CN" sz="2400" b="1" u="sng" dirty="0">
                <a:solidFill>
                  <a:srgbClr val="FFFF00"/>
                </a:solidFill>
                <a:latin typeface="Times New Roman" panose="02020603050405020304" pitchFamily="18" charset="0"/>
                <a:ea typeface="宋体" panose="02010600030101010101" pitchFamily="2" charset="-122"/>
              </a:rPr>
              <a:t>aa.Cpp</a:t>
            </a:r>
            <a:endParaRPr lang="en-US" altLang="zh-CN" sz="24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“StudentID.h”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extern int 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void xx();  </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Student</a:t>
            </a:r>
            <a:r>
              <a:rPr lang="en-US" altLang="zh-CN" sz="2400" b="1" dirty="0">
                <a:latin typeface="Times New Roman" panose="02020603050405020304" pitchFamily="18" charset="0"/>
                <a:ea typeface="宋体" panose="02010600030101010101" pitchFamily="2" charset="-122"/>
              </a:rPr>
              <a:t>ID</a:t>
            </a:r>
            <a:r>
              <a:rPr lang="en-US" altLang="en-US" sz="2400" b="1" dirty="0">
                <a:latin typeface="Times New Roman" panose="02020603050405020304" pitchFamily="18" charset="0"/>
                <a:ea typeface="宋体" panose="02010600030101010101" pitchFamily="2" charset="-122"/>
              </a:rPr>
              <a:t> s,t;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xx();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u="sng" dirty="0">
                <a:solidFill>
                  <a:srgbClr val="FFFF00"/>
                </a:solidFill>
                <a:latin typeface="Times New Roman" panose="02020603050405020304" pitchFamily="18" charset="0"/>
                <a:ea typeface="宋体" panose="02010600030101010101" pitchFamily="2" charset="-122"/>
              </a:rPr>
              <a:t>bb.Cpp</a:t>
            </a:r>
            <a:endParaRPr lang="en-US" altLang="zh-CN" sz="28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extern int ID;</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a:t>
            </a:r>
            <a:r>
              <a:rPr lang="en-US" altLang="zh-CN" sz="2800" b="1" dirty="0">
                <a:latin typeface="Times New Roman" panose="02020603050405020304" pitchFamily="18" charset="0"/>
                <a:ea typeface="宋体" panose="02010600030101010101" pitchFamily="2" charset="-122"/>
              </a:rPr>
              <a:t>xx</a:t>
            </a: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ID++;… …;</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伴随类的</a:t>
            </a:r>
            <a:endParaRPr lang="en-US" altLang="zh-CN" sz="2800" b="1" dirty="0">
              <a:latin typeface="Times New Roman" panose="02020603050405020304" pitchFamily="18" charset="0"/>
              <a:ea typeface="宋体" panose="02010600030101010101" pitchFamily="2" charset="-122"/>
            </a:endParaRPr>
          </a:p>
        </p:txBody>
      </p:sp>
      <p:cxnSp>
        <p:nvCxnSpPr>
          <p:cNvPr id="239620" name="直接连接符 2"/>
          <p:cNvCxnSpPr/>
          <p:nvPr/>
        </p:nvCxnSpPr>
        <p:spPr>
          <a:xfrm>
            <a:off x="4427538" y="115888"/>
            <a:ext cx="0" cy="6742112"/>
          </a:xfrm>
          <a:prstGeom prst="line">
            <a:avLst/>
          </a:prstGeom>
          <a:ln w="9525" cap="flat" cmpd="sng">
            <a:solidFill>
              <a:schemeClr val="bg1"/>
            </a:solidFill>
            <a:prstDash val="solid"/>
            <a:round/>
            <a:headEnd type="none" w="med" len="med"/>
            <a:tailEnd type="none" w="med" len="med"/>
          </a:ln>
        </p:spPr>
      </p:cxnSp>
      <p:cxnSp>
        <p:nvCxnSpPr>
          <p:cNvPr id="239621" name="直接连接符 5"/>
          <p:cNvCxnSpPr/>
          <p:nvPr/>
        </p:nvCxnSpPr>
        <p:spPr>
          <a:xfrm>
            <a:off x="0" y="3933825"/>
            <a:ext cx="4427538" cy="0"/>
          </a:xfrm>
          <a:prstGeom prst="line">
            <a:avLst/>
          </a:prstGeom>
          <a:ln w="9525" cap="flat" cmpd="sng">
            <a:solidFill>
              <a:schemeClr val="bg1"/>
            </a:solidFill>
            <a:prstDash val="solid"/>
            <a:round/>
            <a:headEnd type="none" w="med" len="med"/>
            <a:tailEnd type="none" w="med" len="med"/>
          </a:ln>
        </p:spPr>
      </p:cxnSp>
      <p:cxnSp>
        <p:nvCxnSpPr>
          <p:cNvPr id="239622" name="直接连接符 7"/>
          <p:cNvCxnSpPr/>
          <p:nvPr/>
        </p:nvCxnSpPr>
        <p:spPr>
          <a:xfrm>
            <a:off x="4427538" y="3933825"/>
            <a:ext cx="4716462" cy="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1" name="Rectangle 2"/>
          <p:cNvSpPr/>
          <p:nvPr/>
        </p:nvSpPr>
        <p:spPr>
          <a:xfrm>
            <a:off x="5580063" y="-9525"/>
            <a:ext cx="4176712"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40642" name="Rectangle 3"/>
          <p:cNvSpPr>
            <a:spLocks noGrp="1"/>
          </p:cNvSpPr>
          <p:nvPr>
            <p:ph idx="1"/>
          </p:nvPr>
        </p:nvSpPr>
        <p:spPr>
          <a:xfrm>
            <a:off x="0" y="0"/>
            <a:ext cx="5219700" cy="6858000"/>
          </a:xfrm>
        </p:spPr>
        <p:txBody>
          <a:bodyPr vert="horz" wrap="square" lIns="91440" tIns="45720" rIns="91440" bIns="45720" anchor="t"/>
          <a:p>
            <a:pPr eaLnBrk="1" hangingPunct="1">
              <a:lnSpc>
                <a:spcPct val="80000"/>
              </a:lnSpc>
              <a:buNone/>
            </a:pPr>
            <a:r>
              <a:rPr lang="en-US" altLang="zh-CN" sz="2600" b="1" dirty="0">
                <a:solidFill>
                  <a:schemeClr val="bg1"/>
                </a:solidFill>
              </a:rPr>
              <a:t>//</a:t>
            </a:r>
            <a:r>
              <a:rPr lang="zh-CN" altLang="en-US" sz="2600" b="1" dirty="0">
                <a:solidFill>
                  <a:schemeClr val="bg1"/>
                </a:solidFill>
              </a:rPr>
              <a:t>构造函数根据空间个数初始化</a:t>
            </a:r>
            <a:endParaRPr lang="zh-CN" altLang="en-US" sz="2600" b="1" dirty="0">
              <a:solidFill>
                <a:schemeClr val="bg1"/>
              </a:solidFill>
            </a:endParaRPr>
          </a:p>
          <a:p>
            <a:pPr eaLnBrk="1" hangingPunct="1">
              <a:lnSpc>
                <a:spcPct val="80000"/>
              </a:lnSpc>
              <a:buNone/>
            </a:pPr>
            <a:r>
              <a:rPr lang="en-US" altLang="zh-CN" sz="2600" b="1" u="sng" dirty="0">
                <a:solidFill>
                  <a:srgbClr val="FFFF00"/>
                </a:solidFill>
              </a:rPr>
              <a:t>StudentID.h</a:t>
            </a:r>
            <a:endParaRPr lang="en-US" altLang="zh-CN" sz="2600" b="1" u="sng" dirty="0">
              <a:solidFill>
                <a:srgbClr val="FFFF00"/>
              </a:solidFill>
            </a:endParaRPr>
          </a:p>
          <a:p>
            <a:pPr eaLnBrk="1" hangingPunct="1">
              <a:lnSpc>
                <a:spcPct val="80000"/>
              </a:lnSpc>
              <a:buNone/>
            </a:pPr>
            <a:r>
              <a:rPr lang="en-US" altLang="zh-CN" sz="2600" b="1" dirty="0">
                <a:solidFill>
                  <a:schemeClr val="bg1"/>
                </a:solidFill>
              </a:rPr>
              <a:t>class StudentID{</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int value;</a:t>
            </a:r>
            <a:endParaRPr lang="en-US" altLang="zh-CN" sz="2600" b="1" dirty="0">
              <a:solidFill>
                <a:schemeClr val="bg1"/>
              </a:solidFill>
            </a:endParaRPr>
          </a:p>
          <a:p>
            <a:pPr eaLnBrk="1" hangingPunct="1">
              <a:lnSpc>
                <a:spcPct val="80000"/>
              </a:lnSpc>
              <a:buNone/>
            </a:pPr>
            <a:r>
              <a:rPr lang="en-US" altLang="zh-CN" sz="2600" b="1" dirty="0">
                <a:solidFill>
                  <a:schemeClr val="bg1"/>
                </a:solidFill>
              </a:rPr>
              <a:t>public:</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a:t>
            </a:r>
            <a:r>
              <a:rPr lang="en-US" altLang="zh-CN" sz="2600" b="1" dirty="0">
                <a:solidFill>
                  <a:srgbClr val="FF9933"/>
                </a:solidFill>
              </a:rPr>
              <a:t>static int ID;</a:t>
            </a:r>
            <a:endParaRPr lang="en-US" altLang="zh-CN" sz="2600" b="1" dirty="0">
              <a:solidFill>
                <a:srgbClr val="FF9933"/>
              </a:solidFill>
            </a:endParaRPr>
          </a:p>
          <a:p>
            <a:pPr eaLnBrk="1" hangingPunct="1">
              <a:lnSpc>
                <a:spcPct val="80000"/>
              </a:lnSpc>
              <a:buNone/>
            </a:pPr>
            <a:r>
              <a:rPr lang="en-US" altLang="zh-CN" sz="2600" b="1" dirty="0">
                <a:solidFill>
                  <a:schemeClr val="bg1"/>
                </a:solidFill>
              </a:rPr>
              <a:t>  StudentID();</a:t>
            </a:r>
            <a:endParaRPr lang="en-US" altLang="zh-CN" sz="2600" b="1" dirty="0">
              <a:solidFill>
                <a:schemeClr val="bg1"/>
              </a:solidFill>
            </a:endParaRPr>
          </a:p>
          <a:p>
            <a:pPr eaLnBrk="1" hangingPunct="1">
              <a:lnSpc>
                <a:spcPct val="80000"/>
              </a:lnSpc>
              <a:buNone/>
            </a:pPr>
            <a:r>
              <a:rPr lang="en-US" altLang="zh-CN" sz="2600" b="1" dirty="0">
                <a:solidFill>
                  <a:schemeClr val="bg1"/>
                </a:solidFill>
              </a:rPr>
              <a:t>  ~StudentID();</a:t>
            </a:r>
            <a:endParaRPr lang="en-US" altLang="zh-CN" sz="2600" b="1" dirty="0">
              <a:solidFill>
                <a:schemeClr val="bg1"/>
              </a:solidFill>
            </a:endParaRPr>
          </a:p>
          <a:p>
            <a:pPr eaLnBrk="1" hangingPunct="1">
              <a:lnSpc>
                <a:spcPct val="80000"/>
              </a:lnSpc>
              <a:buNone/>
            </a:pPr>
            <a:r>
              <a:rPr lang="en-US" altLang="zh-CN" sz="2600" b="1" dirty="0">
                <a:solidFill>
                  <a:schemeClr val="bg1"/>
                </a:solidFill>
              </a:rPr>
              <a:t>};</a:t>
            </a:r>
            <a:endParaRPr lang="en-US" altLang="zh-CN" sz="2600" b="1" dirty="0">
              <a:solidFill>
                <a:schemeClr val="bg1"/>
              </a:solidFill>
            </a:endParaRPr>
          </a:p>
          <a:p>
            <a:pPr eaLnBrk="1" hangingPunct="1">
              <a:lnSpc>
                <a:spcPct val="80000"/>
              </a:lnSpc>
              <a:buNone/>
            </a:pPr>
            <a:endParaRPr lang="en-US" altLang="zh-CN" sz="2600" b="1" dirty="0">
              <a:solidFill>
                <a:schemeClr val="bg1"/>
              </a:solidFill>
            </a:endParaRPr>
          </a:p>
          <a:p>
            <a:pPr eaLnBrk="1" hangingPunct="1">
              <a:lnSpc>
                <a:spcPct val="80000"/>
              </a:lnSpc>
              <a:buNone/>
            </a:pPr>
            <a:r>
              <a:rPr lang="en-US" altLang="zh-CN" sz="2400" b="1" u="sng" dirty="0">
                <a:solidFill>
                  <a:srgbClr val="FFFF00"/>
                </a:solidFill>
              </a:rPr>
              <a:t>StudentID.cpp</a:t>
            </a:r>
            <a:endParaRPr lang="en-US" altLang="zh-CN" sz="2400" b="1" u="sng" dirty="0">
              <a:solidFill>
                <a:srgbClr val="FFFF00"/>
              </a:solidFill>
            </a:endParaRPr>
          </a:p>
          <a:p>
            <a:pPr eaLnBrk="1" hangingPunct="1">
              <a:lnSpc>
                <a:spcPct val="80000"/>
              </a:lnSpc>
              <a:buNone/>
            </a:pPr>
            <a:r>
              <a:rPr lang="en-US" altLang="zh-CN" sz="2400" b="1" dirty="0">
                <a:solidFill>
                  <a:schemeClr val="bg1"/>
                </a:solidFill>
              </a:rPr>
              <a:t> </a:t>
            </a:r>
            <a:r>
              <a:rPr lang="en-US" altLang="zh-CN" sz="2400" b="1" dirty="0">
                <a:solidFill>
                  <a:srgbClr val="FF9933"/>
                </a:solidFill>
              </a:rPr>
              <a:t>int StudentID::ID=0;</a:t>
            </a:r>
            <a:endParaRPr lang="en-US" altLang="zh-CN" sz="2400" b="1" dirty="0">
              <a:solidFill>
                <a:srgbClr val="FF9933"/>
              </a:solidFill>
            </a:endParaRPr>
          </a:p>
          <a:p>
            <a:pPr eaLnBrk="1" hangingPunct="1">
              <a:lnSpc>
                <a:spcPct val="80000"/>
              </a:lnSpc>
              <a:buNone/>
            </a:pPr>
            <a:r>
              <a:rPr lang="en-US" altLang="zh-CN" sz="2400" b="1" dirty="0">
                <a:solidFill>
                  <a:schemeClr val="bg1"/>
                </a:solidFill>
              </a:rPr>
              <a:t>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p:txBody>
      </p:sp>
      <p:sp>
        <p:nvSpPr>
          <p:cNvPr id="240643" name="Rectangle 4"/>
          <p:cNvSpPr/>
          <p:nvPr/>
        </p:nvSpPr>
        <p:spPr>
          <a:xfrm>
            <a:off x="5075238" y="404813"/>
            <a:ext cx="4176712" cy="5805487"/>
          </a:xfrm>
          <a:prstGeom prst="rect">
            <a:avLst/>
          </a:prstGeom>
          <a:noFill/>
          <a:ln w="9525">
            <a:noFill/>
          </a:ln>
        </p:spPr>
        <p:txBody>
          <a:bodyPr anchor="t"/>
          <a:p>
            <a:pPr marL="342900" indent="-342900">
              <a:lnSpc>
                <a:spcPct val="80000"/>
              </a:lnSpc>
              <a:spcBef>
                <a:spcPct val="20000"/>
              </a:spcBef>
            </a:pPr>
            <a:r>
              <a:rPr lang="en-US" altLang="zh-CN" sz="2400" b="1" u="sng" dirty="0">
                <a:solidFill>
                  <a:srgbClr val="FFFF00"/>
                </a:solidFill>
                <a:latin typeface="Times New Roman" panose="02020603050405020304" pitchFamily="18" charset="0"/>
                <a:ea typeface="宋体" panose="02010600030101010101" pitchFamily="2" charset="-122"/>
              </a:rPr>
              <a:t>aa.cpp</a:t>
            </a:r>
            <a:endParaRPr lang="en-US" altLang="zh-CN" sz="24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“StudentID.h”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void xx();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StudentID s,t;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cout&lt;&lt;StudentID::ID;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xx();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cout&lt;&lt;StudentID::ID;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u="sng" dirty="0">
                <a:solidFill>
                  <a:srgbClr val="FFFF00"/>
                </a:solidFill>
                <a:latin typeface="Times New Roman" panose="02020603050405020304" pitchFamily="18" charset="0"/>
                <a:ea typeface="宋体" panose="02010600030101010101" pitchFamily="2" charset="-122"/>
              </a:rPr>
              <a:t>bb.cpp</a:t>
            </a:r>
            <a:endParaRPr lang="en-US" altLang="zh-CN" sz="28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#include  “StudentID.h”</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800" b="1" dirty="0">
                <a:latin typeface="Times New Roman" panose="02020603050405020304" pitchFamily="18" charset="0"/>
                <a:ea typeface="宋体" panose="02010600030101010101" pitchFamily="2" charset="-122"/>
              </a:rPr>
              <a:t>void </a:t>
            </a:r>
            <a:r>
              <a:rPr lang="en-US" altLang="zh-CN" sz="2800" b="1" dirty="0">
                <a:latin typeface="Times New Roman" panose="02020603050405020304" pitchFamily="18" charset="0"/>
                <a:ea typeface="宋体" panose="02010600030101010101" pitchFamily="2" charset="-122"/>
              </a:rPr>
              <a:t>xx</a:t>
            </a:r>
            <a:r>
              <a:rPr lang="en-US" altLang="en-US" sz="2800" b="1" dirty="0">
                <a:latin typeface="Times New Roman" panose="02020603050405020304" pitchFamily="18" charset="0"/>
                <a:ea typeface="宋体" panose="02010600030101010101" pitchFamily="2" charset="-122"/>
              </a:rPr>
              <a:t>(){</a:t>
            </a:r>
            <a:endParaRPr lang="en-US" altLang="en-US"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    StudentID::ID++;</a:t>
            </a:r>
            <a:endParaRPr lang="en-US" altLang="zh-CN" sz="28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cxnSp>
        <p:nvCxnSpPr>
          <p:cNvPr id="240644" name="直接连接符 2"/>
          <p:cNvCxnSpPr/>
          <p:nvPr/>
        </p:nvCxnSpPr>
        <p:spPr>
          <a:xfrm>
            <a:off x="0" y="3933825"/>
            <a:ext cx="9144000" cy="0"/>
          </a:xfrm>
          <a:prstGeom prst="line">
            <a:avLst/>
          </a:prstGeom>
          <a:ln w="9525" cap="flat" cmpd="sng">
            <a:solidFill>
              <a:schemeClr val="bg1"/>
            </a:solidFill>
            <a:prstDash val="solid"/>
            <a:round/>
            <a:headEnd type="none" w="med" len="med"/>
            <a:tailEnd type="none" w="med" len="med"/>
          </a:ln>
        </p:spPr>
      </p:cxnSp>
      <p:cxnSp>
        <p:nvCxnSpPr>
          <p:cNvPr id="240645" name="直接连接符 4"/>
          <p:cNvCxnSpPr/>
          <p:nvPr/>
        </p:nvCxnSpPr>
        <p:spPr>
          <a:xfrm>
            <a:off x="4716463" y="0"/>
            <a:ext cx="0" cy="681355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5" name="Rectangle 2"/>
          <p:cNvSpPr/>
          <p:nvPr/>
        </p:nvSpPr>
        <p:spPr>
          <a:xfrm>
            <a:off x="-323850" y="-26987"/>
            <a:ext cx="2951163"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41666" name="Rectangle 3"/>
          <p:cNvSpPr>
            <a:spLocks noGrp="1"/>
          </p:cNvSpPr>
          <p:nvPr>
            <p:ph idx="1"/>
          </p:nvPr>
        </p:nvSpPr>
        <p:spPr>
          <a:xfrm>
            <a:off x="0" y="549275"/>
            <a:ext cx="4173538" cy="5876925"/>
          </a:xfrm>
        </p:spPr>
        <p:txBody>
          <a:bodyPr vert="horz" wrap="square" lIns="91440" tIns="45720" rIns="91440" bIns="45720" anchor="t"/>
          <a:p>
            <a:pPr eaLnBrk="1" hangingPunct="1">
              <a:lnSpc>
                <a:spcPct val="80000"/>
              </a:lnSpc>
              <a:buNone/>
            </a:pPr>
            <a:r>
              <a:rPr lang="en-US" altLang="zh-CN" sz="2400" b="1" u="sng" dirty="0">
                <a:solidFill>
                  <a:srgbClr val="FFFF00"/>
                </a:solidFill>
              </a:rPr>
              <a:t>StudentID.h</a:t>
            </a:r>
            <a:endParaRPr lang="en-US" altLang="zh-CN" sz="2400" b="1" u="sng" dirty="0">
              <a:solidFill>
                <a:srgbClr val="FFFF00"/>
              </a:solidFill>
            </a:endParaRPr>
          </a:p>
          <a:p>
            <a:pPr eaLnBrk="1" hangingPunct="1">
              <a:lnSpc>
                <a:spcPct val="80000"/>
              </a:lnSpc>
              <a:buNone/>
            </a:pPr>
            <a:r>
              <a:rPr lang="en-US" altLang="zh-CN" sz="2400" b="1" dirty="0">
                <a:solidFill>
                  <a:schemeClr val="bg1"/>
                </a:solidFill>
              </a:rPr>
              <a:t>class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int value;</a:t>
            </a:r>
            <a:endParaRPr lang="en-US" altLang="zh-CN" sz="2400" b="1" dirty="0">
              <a:solidFill>
                <a:schemeClr val="bg1"/>
              </a:solidFill>
            </a:endParaRPr>
          </a:p>
          <a:p>
            <a:pPr eaLnBrk="1" hangingPunct="1">
              <a:lnSpc>
                <a:spcPct val="80000"/>
              </a:lnSpc>
              <a:buNone/>
            </a:pPr>
            <a:r>
              <a:rPr lang="en-US" altLang="zh-CN" sz="2400" b="1" dirty="0">
                <a:solidFill>
                  <a:schemeClr val="bg1"/>
                </a:solidFill>
              </a:rPr>
              <a:t>public:</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a:t>
            </a:r>
            <a:r>
              <a:rPr lang="en-US" altLang="zh-CN" sz="2400" b="1" dirty="0">
                <a:solidFill>
                  <a:srgbClr val="FF9933"/>
                </a:solidFill>
              </a:rPr>
              <a:t>static int ID;</a:t>
            </a:r>
            <a:endParaRPr lang="en-US" altLang="zh-CN" sz="2400" b="1" dirty="0">
              <a:solidFill>
                <a:srgbClr val="FF9933"/>
              </a:solidFill>
            </a:endParaRPr>
          </a:p>
          <a:p>
            <a:pPr eaLnBrk="1" hangingPunct="1">
              <a:lnSpc>
                <a:spcPct val="80000"/>
              </a:lnSpc>
              <a:buNone/>
            </a:pPr>
            <a:r>
              <a:rPr lang="en-US" altLang="zh-CN" sz="2400" b="1" dirty="0">
                <a:solidFill>
                  <a:schemeClr val="bg1"/>
                </a:solidFill>
              </a:rPr>
              <a:t>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r>
              <a:rPr lang="en-US" altLang="zh-CN" sz="2400" b="1" u="sng" dirty="0">
                <a:solidFill>
                  <a:srgbClr val="FFFF00"/>
                </a:solidFill>
              </a:rPr>
              <a:t>StudentID.cpp</a:t>
            </a:r>
            <a:endParaRPr lang="en-US" altLang="zh-CN" sz="2400" b="1" u="sng" dirty="0">
              <a:solidFill>
                <a:srgbClr val="FFFF00"/>
              </a:solidFill>
            </a:endParaRPr>
          </a:p>
          <a:p>
            <a:pPr eaLnBrk="1" hangingPunct="1">
              <a:lnSpc>
                <a:spcPct val="80000"/>
              </a:lnSpc>
              <a:buNone/>
            </a:pPr>
            <a:r>
              <a:rPr lang="en-US" altLang="zh-CN" sz="2400" b="1" dirty="0">
                <a:solidFill>
                  <a:schemeClr val="bg1"/>
                </a:solidFill>
              </a:rPr>
              <a:t> </a:t>
            </a:r>
            <a:r>
              <a:rPr lang="en-US" altLang="zh-CN" sz="2400" b="1" dirty="0">
                <a:solidFill>
                  <a:srgbClr val="FF9933"/>
                </a:solidFill>
              </a:rPr>
              <a:t>int StudentID::ID=0;</a:t>
            </a:r>
            <a:endParaRPr lang="en-US" altLang="zh-CN" sz="2400" b="1" dirty="0">
              <a:solidFill>
                <a:srgbClr val="FF9933"/>
              </a:solidFill>
            </a:endParaRPr>
          </a:p>
          <a:p>
            <a:pPr eaLnBrk="1" hangingPunct="1">
              <a:lnSpc>
                <a:spcPct val="80000"/>
              </a:lnSpc>
              <a:buNone/>
            </a:pPr>
            <a:r>
              <a:rPr lang="en-US" altLang="zh-CN" sz="2400" b="1" dirty="0">
                <a:solidFill>
                  <a:schemeClr val="bg1"/>
                </a:solidFill>
              </a:rPr>
              <a:t>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value=++ID;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StudentID::~StudentID(){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     --ID;</a:t>
            </a:r>
            <a:endParaRPr lang="en-US" altLang="zh-CN" sz="2400" b="1" dirty="0">
              <a:solidFill>
                <a:schemeClr val="bg1"/>
              </a:solidFill>
            </a:endParaRPr>
          </a:p>
          <a:p>
            <a:pPr eaLnBrk="1" hangingPunct="1">
              <a:lnSpc>
                <a:spcPct val="80000"/>
              </a:lnSpc>
              <a:buNone/>
            </a:pPr>
            <a:r>
              <a:rPr lang="en-US" altLang="zh-CN" sz="2400" b="1" dirty="0">
                <a:solidFill>
                  <a:schemeClr val="bg1"/>
                </a:solidFill>
              </a:rPr>
              <a:t>}</a:t>
            </a: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a:p>
            <a:pPr eaLnBrk="1" hangingPunct="1">
              <a:lnSpc>
                <a:spcPct val="80000"/>
              </a:lnSpc>
              <a:buNone/>
            </a:pPr>
            <a:endParaRPr lang="en-US" altLang="zh-CN" sz="2400" b="1" dirty="0">
              <a:solidFill>
                <a:schemeClr val="bg1"/>
              </a:solidFill>
            </a:endParaRPr>
          </a:p>
        </p:txBody>
      </p:sp>
      <p:sp>
        <p:nvSpPr>
          <p:cNvPr id="241667" name="Rectangle 4"/>
          <p:cNvSpPr/>
          <p:nvPr/>
        </p:nvSpPr>
        <p:spPr>
          <a:xfrm>
            <a:off x="4427538" y="-26987"/>
            <a:ext cx="4716462" cy="6237287"/>
          </a:xfrm>
          <a:prstGeom prst="rect">
            <a:avLst/>
          </a:prstGeom>
          <a:noFill/>
          <a:ln w="9525">
            <a:noFill/>
          </a:ln>
        </p:spPr>
        <p:txBody>
          <a:bodyPr anchor="t"/>
          <a:p>
            <a:pPr marL="342900" indent="-342900">
              <a:lnSpc>
                <a:spcPct val="80000"/>
              </a:lnSpc>
              <a:spcBef>
                <a:spcPct val="20000"/>
              </a:spcBef>
            </a:pPr>
            <a:r>
              <a:rPr lang="en-US" altLang="zh-CN" sz="2400" b="1" u="sng" dirty="0">
                <a:solidFill>
                  <a:srgbClr val="FFFF00"/>
                </a:solidFill>
                <a:latin typeface="Times New Roman" panose="02020603050405020304" pitchFamily="18" charset="0"/>
                <a:ea typeface="宋体" panose="02010600030101010101" pitchFamily="2" charset="-122"/>
              </a:rPr>
              <a:t>aa.cpp</a:t>
            </a:r>
            <a:endParaRPr lang="en-US" altLang="zh-CN" sz="24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“StudentID.h”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main(){</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   void xx();</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StudentID s,t;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cout&lt;&lt;s.ID;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cout&lt;&lt;t.ID;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cout&lt;&lt;StudentID::ID;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xx(); //</a:t>
            </a:r>
            <a:r>
              <a:rPr lang="zh-CN" altLang="en-US" sz="2400" b="1" dirty="0">
                <a:latin typeface="Times New Roman" panose="02020603050405020304" pitchFamily="18" charset="0"/>
                <a:ea typeface="宋体" panose="02010600030101010101" pitchFamily="2" charset="-122"/>
              </a:rPr>
              <a:t>之后再次执行上三条语句</a:t>
            </a:r>
            <a:endParaRPr lang="zh-CN"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u="sng" dirty="0">
                <a:solidFill>
                  <a:srgbClr val="FFFF00"/>
                </a:solidFill>
                <a:latin typeface="Times New Roman" panose="02020603050405020304" pitchFamily="18" charset="0"/>
                <a:ea typeface="宋体" panose="02010600030101010101" pitchFamily="2" charset="-122"/>
              </a:rPr>
              <a:t>bb.cpp</a:t>
            </a:r>
            <a:endParaRPr lang="en-US" altLang="zh-CN" sz="2400" b="1" u="sng" dirty="0">
              <a:solidFill>
                <a:srgbClr val="FFFF00"/>
              </a:solidFill>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#include  “StudentID.h”</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en-US" sz="2400" b="1" dirty="0">
                <a:latin typeface="Times New Roman" panose="02020603050405020304" pitchFamily="18" charset="0"/>
                <a:ea typeface="宋体" panose="02010600030101010101" pitchFamily="2" charset="-122"/>
              </a:rPr>
              <a:t>void </a:t>
            </a:r>
            <a:r>
              <a:rPr lang="en-US" altLang="zh-CN" sz="2400" b="1" dirty="0">
                <a:latin typeface="Times New Roman" panose="02020603050405020304" pitchFamily="18" charset="0"/>
                <a:ea typeface="宋体" panose="02010600030101010101" pitchFamily="2" charset="-122"/>
              </a:rPr>
              <a:t>xx</a:t>
            </a:r>
            <a:r>
              <a:rPr lang="en-US" altLang="en-US" sz="2400" b="1" dirty="0">
                <a:latin typeface="Times New Roman" panose="02020603050405020304" pitchFamily="18" charset="0"/>
                <a:ea typeface="宋体" panose="02010600030101010101" pitchFamily="2" charset="-122"/>
              </a:rPr>
              <a:t>(){</a:t>
            </a:r>
            <a:endParaRPr lang="en-US" altLang="en-US"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StudentID::ID++;</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endParaRPr lang="en-US" altLang="zh-CN" sz="2400" b="1" dirty="0">
              <a:latin typeface="Times New Roman" panose="02020603050405020304" pitchFamily="18" charset="0"/>
              <a:ea typeface="宋体" panose="02010600030101010101" pitchFamily="2" charset="-122"/>
            </a:endParaRPr>
          </a:p>
        </p:txBody>
      </p:sp>
      <p:cxnSp>
        <p:nvCxnSpPr>
          <p:cNvPr id="241668" name="直接连接符 2"/>
          <p:cNvCxnSpPr/>
          <p:nvPr/>
        </p:nvCxnSpPr>
        <p:spPr>
          <a:xfrm>
            <a:off x="0" y="3789363"/>
            <a:ext cx="9144000" cy="0"/>
          </a:xfrm>
          <a:prstGeom prst="line">
            <a:avLst/>
          </a:prstGeom>
          <a:ln w="9525" cap="flat" cmpd="sng">
            <a:solidFill>
              <a:schemeClr val="bg1"/>
            </a:solidFill>
            <a:prstDash val="solid"/>
            <a:round/>
            <a:headEnd type="none" w="med" len="med"/>
            <a:tailEnd type="none" w="med" len="med"/>
          </a:ln>
        </p:spPr>
      </p:cxnSp>
      <p:cxnSp>
        <p:nvCxnSpPr>
          <p:cNvPr id="241669" name="直接连接符 4"/>
          <p:cNvCxnSpPr/>
          <p:nvPr/>
        </p:nvCxnSpPr>
        <p:spPr>
          <a:xfrm>
            <a:off x="3924300" y="0"/>
            <a:ext cx="0" cy="6858000"/>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89" name="Rectangle 2"/>
          <p:cNvSpPr/>
          <p:nvPr/>
        </p:nvSpPr>
        <p:spPr>
          <a:xfrm>
            <a:off x="6551613" y="0"/>
            <a:ext cx="2592387"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pic>
        <p:nvPicPr>
          <p:cNvPr id="242690" name="Picture 3"/>
          <p:cNvPicPr>
            <a:picLocks noChangeAspect="1"/>
          </p:cNvPicPr>
          <p:nvPr/>
        </p:nvPicPr>
        <p:blipFill>
          <a:blip r:embed="rId1"/>
          <a:stretch>
            <a:fillRect/>
          </a:stretch>
        </p:blipFill>
        <p:spPr>
          <a:xfrm>
            <a:off x="2546350" y="-1539875"/>
            <a:ext cx="4049713" cy="8415338"/>
          </a:xfrm>
          <a:prstGeom prst="rect">
            <a:avLst/>
          </a:prstGeom>
          <a:noFill/>
          <a:ln w="9525">
            <a:noFill/>
          </a:ln>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3" name="Rectangle 2"/>
          <p:cNvSpPr/>
          <p:nvPr/>
        </p:nvSpPr>
        <p:spPr>
          <a:xfrm>
            <a:off x="6551613" y="0"/>
            <a:ext cx="2592387"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61123" name="Rectangle 3"/>
          <p:cNvSpPr>
            <a:spLocks noGrp="1" noChangeArrowheads="1"/>
          </p:cNvSpPr>
          <p:nvPr>
            <p:ph idx="1"/>
          </p:nvPr>
        </p:nvSpPr>
        <p:spPr>
          <a:xfrm>
            <a:off x="1550988" y="144463"/>
            <a:ext cx="7485063" cy="609282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static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Student&amp;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nextStudent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return *this;</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 0;</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fn</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(Student&amp; s)</a:t>
            </a:r>
            <a:r>
              <a:rPr kumimoji="1" lang="en-US" altLang="zh-CN"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&lt;&lt;Student::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&lt;&lt;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&lt;&lt;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s.nextStudent</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&lt;&lt;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zh-CN"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fn</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en-US" sz="26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6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
        <p:nvSpPr>
          <p:cNvPr id="261125" name="Rectangle 5"/>
          <p:cNvSpPr>
            <a:spLocks noChangeArrowheads="1"/>
          </p:cNvSpPr>
          <p:nvPr/>
        </p:nvSpPr>
        <p:spPr bwMode="auto">
          <a:xfrm>
            <a:off x="6227763" y="6021388"/>
            <a:ext cx="2916238"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结果和书不一致</a:t>
            </a:r>
            <a:endPar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0739" name="Rectangle 3"/>
          <p:cNvSpPr>
            <a:spLocks noGrp="1" noChangeArrowheads="1"/>
          </p:cNvSpPr>
          <p:nvPr>
            <p:ph idx="1"/>
          </p:nvPr>
        </p:nvSpPr>
        <p:spPr>
          <a:xfrm>
            <a:off x="2268538" y="188913"/>
            <a:ext cx="6551613" cy="609282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static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 &amp;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nextStudent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return *this;</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 0;</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rgbClr val="FFFF00"/>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&lt;&lt;Student::</a:t>
            </a:r>
            <a:r>
              <a:rPr kumimoji="1" lang="en-US" altLang="en-US" sz="2800" b="1" i="0" u="none" strike="noStrike" kern="0" cap="none" spc="0" normalizeH="0" baseline="0" noProof="0" dirty="0" err="1">
                <a:ln>
                  <a:noFill/>
                </a:ln>
                <a:solidFill>
                  <a:srgbClr val="FFFF00"/>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&lt;&lt;</a:t>
            </a:r>
            <a:r>
              <a:rPr kumimoji="1" lang="en-US" altLang="en-US" sz="2800" b="1" i="0" u="none" strike="noStrike" kern="0" cap="none" spc="0" normalizeH="0" baseline="0" noProof="0" dirty="0" err="1">
                <a:ln>
                  <a:noFill/>
                </a:ln>
                <a:solidFill>
                  <a:srgbClr val="FFFF00"/>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静态成员的属性</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1" name="Rectangle 2"/>
          <p:cNvSpPr/>
          <p:nvPr/>
        </p:nvSpPr>
        <p:spPr>
          <a:xfrm>
            <a:off x="6551613" y="0"/>
            <a:ext cx="2592387"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61123" name="Rectangle 3"/>
          <p:cNvSpPr>
            <a:spLocks noGrp="1" noChangeArrowheads="1"/>
          </p:cNvSpPr>
          <p:nvPr>
            <p:ph idx="1"/>
          </p:nvPr>
        </p:nvSpPr>
        <p:spPr>
          <a:xfrm>
            <a:off x="1187450" y="936625"/>
            <a:ext cx="7485063" cy="486886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x</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static </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sizeof</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
        <p:nvSpPr>
          <p:cNvPr id="261125" name="Rectangle 5"/>
          <p:cNvSpPr>
            <a:spLocks noChangeArrowheads="1"/>
          </p:cNvSpPr>
          <p:nvPr/>
        </p:nvSpPr>
        <p:spPr bwMode="auto">
          <a:xfrm>
            <a:off x="5292725" y="6021388"/>
            <a:ext cx="3851275"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静态成员的空间不包含在对象内</a:t>
            </a:r>
            <a:endParaRPr kumimoji="1" lang="zh-CN" altLang="en-US" sz="2000" b="0"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63" name="Rectangle 3"/>
          <p:cNvSpPr>
            <a:spLocks noGrp="1" noChangeArrowheads="1"/>
          </p:cNvSpPr>
          <p:nvPr>
            <p:ph idx="1"/>
          </p:nvPr>
        </p:nvSpPr>
        <p:spPr>
          <a:xfrm>
            <a:off x="2195513" y="0"/>
            <a:ext cx="6553200" cy="65976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A {</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():s(9)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 is Constructing!"&lt;&lt;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R_s(){return(s);};</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x;</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static A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 Student::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不允许省略</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&lt;&lt;"Main Function is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runing</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noOfStudents.R_s</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
        <p:nvSpPr>
          <p:cNvPr id="501766" name="AutoShape 6"/>
          <p:cNvSpPr>
            <a:spLocks noChangeArrowheads="1"/>
          </p:cNvSpPr>
          <p:nvPr/>
        </p:nvSpPr>
        <p:spPr bwMode="auto">
          <a:xfrm>
            <a:off x="4716463" y="1844675"/>
            <a:ext cx="4427538" cy="1079500"/>
          </a:xfrm>
          <a:prstGeom prst="wedgeRectCallout">
            <a:avLst>
              <a:gd name="adj1" fmla="val -31141"/>
              <a:gd name="adj2" fmla="val 70202"/>
            </a:avLst>
          </a:prstGeom>
          <a:solidFill>
            <a:schemeClr val="accent1"/>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静态成员在</a:t>
            </a:r>
            <a:r>
              <a:rPr kumimoji="1" lang="en-US" altLang="zh-CN"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main</a:t>
            </a: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之前构造</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生命周期等同于全局对象</a:t>
            </a:r>
            <a:endParaRPr kumimoji="1" lang="zh-CN" altLang="en-US" sz="28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66"/>
                                        </p:tgtEl>
                                        <p:attrNameLst>
                                          <p:attrName>style.visibility</p:attrName>
                                        </p:attrNameLst>
                                      </p:cBhvr>
                                      <p:to>
                                        <p:strVal val="visible"/>
                                      </p:to>
                                    </p:set>
                                    <p:animEffect transition="in" filter="blinds(horizontal)">
                                      <p:cBhvr>
                                        <p:cTn id="7" dur="500"/>
                                        <p:tgtEl>
                                          <p:spTgt spid="501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6"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63" name="Rectangle 3"/>
          <p:cNvSpPr>
            <a:spLocks noGrp="1" noChangeArrowheads="1"/>
          </p:cNvSpPr>
          <p:nvPr>
            <p:ph idx="1"/>
          </p:nvPr>
        </p:nvSpPr>
        <p:spPr>
          <a:xfrm>
            <a:off x="755650" y="0"/>
            <a:ext cx="8353425" cy="65976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A {</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zh-CN"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a:t>
            </a:r>
            <a:r>
              <a:rPr kumimoji="1" lang="en-US" altLang="zh-CN"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&lt;&lt;s&lt;&lt;"A is Constructing!"&lt;&lt;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x;</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A y;</a:t>
            </a:r>
            <a:endParaRPr kumimoji="1" lang="en-US" altLang="en-US" sz="24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):y(</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){cout&lt;&lt;</a:t>
            </a:r>
            <a:r>
              <a:rPr kumimoji="1" lang="en-US" altLang="en-US" sz="2400" b="1" noProof="0" dirty="0">
                <a:ln>
                  <a:noFill/>
                </a:ln>
                <a:solidFill>
                  <a:schemeClr val="bg1"/>
                </a:solidFill>
                <a:effectLst>
                  <a:outerShdw blurRad="38100" dist="38100" dir="2700000" algn="tl">
                    <a:srgbClr val="000000"/>
                  </a:outerShdw>
                </a:effectLst>
                <a:uLnTx/>
                <a:uFillTx/>
                <a:sym typeface="+mn-ea"/>
              </a:rPr>
              <a:t>"Student is Constructing!"&lt;&lt;endl;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    static A </a:t>
            </a:r>
            <a:r>
              <a:rPr kumimoji="1" lang="en-US" altLang="en-US" sz="2400" b="1" i="0" u="none" strike="noStrike" kern="0" cap="none" spc="0" normalizeH="0" baseline="0" noProof="0" dirty="0" err="1">
                <a:ln>
                  <a:noFill/>
                </a:ln>
                <a:solidFill>
                  <a:srgbClr val="FFFF00"/>
                </a:solidFill>
                <a:effectLst>
                  <a:outerShdw blurRad="38100" dist="38100" dir="2700000" algn="tl">
                    <a:srgbClr val="000000"/>
                  </a:outerShdw>
                </a:effectLst>
                <a:uLnTx/>
                <a:uFillTx/>
                <a:latin typeface="+mn-lt"/>
                <a:ea typeface="+mn-ea"/>
                <a:cs typeface="+mn-cs"/>
              </a:rPr>
              <a:t>noOfStudents</a:t>
            </a:r>
            <a:r>
              <a:rPr kumimoji="1" lang="en-US" altLang="en-US" sz="24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 Student::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(1);</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&lt;&lt;"Main Function is </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runing</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4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 m(2);</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4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2" name="Rectangle 4"/>
          <p:cNvSpPr>
            <a:spLocks noChangeArrowheads="1"/>
          </p:cNvSpPr>
          <p:nvPr/>
        </p:nvSpPr>
        <p:spPr bwMode="auto">
          <a:xfrm>
            <a:off x="107950" y="1341438"/>
            <a:ext cx="8964613" cy="1150938"/>
          </a:xfrm>
          <a:prstGeom prst="rect">
            <a:avLst/>
          </a:prstGeom>
          <a:gradFill rotWithShape="0">
            <a:gsLst>
              <a:gs pos="0">
                <a:srgbClr val="F0F01E">
                  <a:gamma/>
                  <a:shade val="46275"/>
                  <a:invGamma/>
                </a:srgbClr>
              </a:gs>
              <a:gs pos="100000">
                <a:srgbClr val="F0F01E"/>
              </a:gs>
            </a:gsLst>
            <a:lin ang="5400000" scaled="1"/>
          </a:gradFill>
          <a:ln>
            <a:noFill/>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多个个体修改同一个共有数据</a:t>
            </a:r>
            <a:endParaRPr kumimoji="0" lang="zh-CN" altLang="en-US" sz="36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17093" name="Rectangle 5"/>
          <p:cNvSpPr>
            <a:spLocks noChangeArrowheads="1"/>
          </p:cNvSpPr>
          <p:nvPr/>
        </p:nvSpPr>
        <p:spPr bwMode="auto">
          <a:xfrm>
            <a:off x="107950" y="3814763"/>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链首指针</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4000" b="1" i="0" u="none" strike="noStrike" kern="1200" cap="none" spc="0" normalizeH="0" baseline="0" noProof="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17094" name="Rectangle 6"/>
          <p:cNvSpPr>
            <a:spLocks noChangeArrowheads="1"/>
          </p:cNvSpPr>
          <p:nvPr/>
        </p:nvSpPr>
        <p:spPr bwMode="auto">
          <a:xfrm>
            <a:off x="107950" y="25812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争夺标记，类似令牌</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48836" name="Rectangle 8"/>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17092"/>
                                        </p:tgtEl>
                                        <p:attrNameLst>
                                          <p:attrName>style.visibility</p:attrName>
                                        </p:attrNameLst>
                                      </p:cBhvr>
                                      <p:to>
                                        <p:strVal val="visible"/>
                                      </p:to>
                                    </p:set>
                                    <p:animEffect transition="in" filter="slide(fromLeft)">
                                      <p:cBhvr>
                                        <p:cTn id="7" dur="500"/>
                                        <p:tgtEl>
                                          <p:spTgt spid="2170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7094"/>
                                        </p:tgtEl>
                                        <p:attrNameLst>
                                          <p:attrName>style.visibility</p:attrName>
                                        </p:attrNameLst>
                                      </p:cBhvr>
                                      <p:to>
                                        <p:strVal val="visible"/>
                                      </p:to>
                                    </p:set>
                                    <p:anim calcmode="lin" valueType="num">
                                      <p:cBhvr additive="base">
                                        <p:cTn id="12" dur="2000" fill="hold"/>
                                        <p:tgtEl>
                                          <p:spTgt spid="217094"/>
                                        </p:tgtEl>
                                        <p:attrNameLst>
                                          <p:attrName>ppt_x</p:attrName>
                                        </p:attrNameLst>
                                      </p:cBhvr>
                                      <p:tavLst>
                                        <p:tav tm="0">
                                          <p:val>
                                            <p:strVal val="#ppt_x"/>
                                          </p:val>
                                        </p:tav>
                                        <p:tav tm="100000">
                                          <p:val>
                                            <p:strVal val="#ppt_x"/>
                                          </p:val>
                                        </p:tav>
                                      </p:tavLst>
                                    </p:anim>
                                    <p:anim calcmode="lin" valueType="num">
                                      <p:cBhvr additive="base">
                                        <p:cTn id="13" dur="2000" fill="hold"/>
                                        <p:tgtEl>
                                          <p:spTgt spid="21709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6" presetClass="entr" presetSubtype="0" fill="hold" grpId="0" nodeType="clickEffect">
                                  <p:stCondLst>
                                    <p:cond delay="0"/>
                                  </p:stCondLst>
                                  <p:iterate type="lt">
                                    <p:tmPct val="10000"/>
                                  </p:iterate>
                                  <p:childTnLst>
                                    <p:set>
                                      <p:cBhvr>
                                        <p:cTn id="17" dur="1" fill="hold">
                                          <p:stCondLst>
                                            <p:cond delay="0"/>
                                          </p:stCondLst>
                                        </p:cTn>
                                        <p:tgtEl>
                                          <p:spTgt spid="217093"/>
                                        </p:tgtEl>
                                        <p:attrNameLst>
                                          <p:attrName>style.visibility</p:attrName>
                                        </p:attrNameLst>
                                      </p:cBhvr>
                                      <p:to>
                                        <p:strVal val="visible"/>
                                      </p:to>
                                    </p:set>
                                    <p:anim by="(-#ppt_w*2)" calcmode="lin" valueType="num">
                                      <p:cBhvr rctx="PPT">
                                        <p:cTn id="18" dur="500" autoRev="1" fill="hold">
                                          <p:stCondLst>
                                            <p:cond delay="0"/>
                                          </p:stCondLst>
                                        </p:cTn>
                                        <p:tgtEl>
                                          <p:spTgt spid="217093"/>
                                        </p:tgtEl>
                                        <p:attrNameLst>
                                          <p:attrName>ppt_w</p:attrName>
                                        </p:attrNameLst>
                                      </p:cBhvr>
                                    </p:anim>
                                    <p:anim by="(#ppt_w*0.50)" calcmode="lin" valueType="num">
                                      <p:cBhvr>
                                        <p:cTn id="19" dur="500" decel="50000" autoRev="1" fill="hold">
                                          <p:stCondLst>
                                            <p:cond delay="0"/>
                                          </p:stCondLst>
                                        </p:cTn>
                                        <p:tgtEl>
                                          <p:spTgt spid="217093"/>
                                        </p:tgtEl>
                                        <p:attrNameLst>
                                          <p:attrName>ppt_x</p:attrName>
                                        </p:attrNameLst>
                                      </p:cBhvr>
                                    </p:anim>
                                    <p:anim from="(-#ppt_h/2)" to="(#ppt_y)" calcmode="lin" valueType="num">
                                      <p:cBhvr>
                                        <p:cTn id="20" dur="1000" fill="hold">
                                          <p:stCondLst>
                                            <p:cond delay="0"/>
                                          </p:stCondLst>
                                        </p:cTn>
                                        <p:tgtEl>
                                          <p:spTgt spid="217093"/>
                                        </p:tgtEl>
                                        <p:attrNameLst>
                                          <p:attrName>ppt_y</p:attrName>
                                        </p:attrNameLst>
                                      </p:cBhvr>
                                    </p:anim>
                                    <p:animRot by="21600000">
                                      <p:cBhvr>
                                        <p:cTn id="21" dur="1000" fill="hold">
                                          <p:stCondLst>
                                            <p:cond delay="0"/>
                                          </p:stCondLst>
                                        </p:cTn>
                                        <p:tgtEl>
                                          <p:spTgt spid="21709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animBg="1"/>
      <p:bldP spid="217093" grpId="0" animBg="1"/>
      <p:bldP spid="217094" grpId="0" animBg="1"/>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7" name="Rectangle 2"/>
          <p:cNvSpPr/>
          <p:nvPr/>
        </p:nvSpPr>
        <p:spPr>
          <a:xfrm>
            <a:off x="-252412" y="-26987"/>
            <a:ext cx="3960812"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49858" name="Rectangle 3"/>
          <p:cNvSpPr>
            <a:spLocks noGrp="1"/>
          </p:cNvSpPr>
          <p:nvPr>
            <p:ph idx="1"/>
          </p:nvPr>
        </p:nvSpPr>
        <p:spPr>
          <a:xfrm>
            <a:off x="-36512" y="981075"/>
            <a:ext cx="4537075" cy="5876925"/>
          </a:xfrm>
        </p:spPr>
        <p:txBody>
          <a:bodyPr vert="horz" wrap="square" lIns="91440" tIns="45720" rIns="91440" bIns="45720" anchor="t"/>
          <a:p>
            <a:pPr eaLnBrk="1" hangingPunct="1">
              <a:lnSpc>
                <a:spcPct val="90000"/>
              </a:lnSpc>
              <a:buNone/>
            </a:pPr>
            <a:r>
              <a:rPr lang="en-US" altLang="en-US" sz="2400" b="1" dirty="0">
                <a:solidFill>
                  <a:schemeClr val="bg1"/>
                </a:solidFill>
              </a:rPr>
              <a:t>class Student{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public:</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Student(char* pName);</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~Student();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static Student* pFirst;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Student* pNext;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a:t>
            </a:r>
            <a:r>
              <a:rPr lang="en-US" altLang="zh-CN" sz="2400" b="1" dirty="0">
                <a:solidFill>
                  <a:schemeClr val="bg1"/>
                </a:solidFill>
              </a:rPr>
              <a:t>string</a:t>
            </a:r>
            <a:r>
              <a:rPr lang="en-US" altLang="en-US" sz="2400" b="1" dirty="0">
                <a:solidFill>
                  <a:schemeClr val="bg1"/>
                </a:solidFill>
              </a:rPr>
              <a:t> name;</a:t>
            </a:r>
            <a:endParaRPr lang="en-US" altLang="en-US" sz="2400" b="1" dirty="0">
              <a:solidFill>
                <a:schemeClr val="bg1"/>
              </a:solidFill>
            </a:endParaRPr>
          </a:p>
          <a:p>
            <a:pPr eaLnBrk="1" hangingPunct="1">
              <a:lnSpc>
                <a:spcPct val="90000"/>
              </a:lnSpc>
              <a:buNone/>
            </a:pPr>
            <a:r>
              <a:rPr lang="en-US" altLang="en-US" sz="2400" b="1" dirty="0">
                <a:solidFill>
                  <a:schemeClr val="bg1"/>
                </a:solidFill>
              </a:rPr>
              <a: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Student* Student::pFirst =0;</a:t>
            </a:r>
            <a:endParaRPr lang="en-US" altLang="en-US" sz="2400" b="1" dirty="0">
              <a:solidFill>
                <a:schemeClr val="bg1"/>
              </a:solidFill>
            </a:endParaRPr>
          </a:p>
          <a:p>
            <a:pPr eaLnBrk="1" hangingPunct="1">
              <a:lnSpc>
                <a:spcPct val="90000"/>
              </a:lnSpc>
              <a:buNone/>
            </a:pPr>
            <a:endParaRPr lang="en-US" altLang="en-US" sz="2400" b="1" dirty="0">
              <a:solidFill>
                <a:schemeClr val="bg1"/>
              </a:solidFill>
            </a:endParaRPr>
          </a:p>
          <a:p>
            <a:pPr eaLnBrk="1" hangingPunct="1">
              <a:lnSpc>
                <a:spcPct val="90000"/>
              </a:lnSpc>
              <a:buNone/>
            </a:pPr>
            <a:r>
              <a:rPr lang="en-US" altLang="en-US" sz="2400" b="1" dirty="0">
                <a:solidFill>
                  <a:schemeClr val="bg1"/>
                </a:solidFill>
              </a:rPr>
              <a:t>Student::Student(</a:t>
            </a:r>
            <a:r>
              <a:rPr lang="en-US" altLang="zh-CN" sz="2400" b="1" dirty="0">
                <a:solidFill>
                  <a:schemeClr val="bg1"/>
                </a:solidFill>
              </a:rPr>
              <a:t>string</a:t>
            </a:r>
            <a:r>
              <a:rPr lang="en-US" altLang="en-US" sz="2400" b="1" dirty="0">
                <a:solidFill>
                  <a:schemeClr val="bg1"/>
                </a:solidFill>
              </a:rPr>
              <a:t> pName)</a:t>
            </a:r>
            <a:r>
              <a:rPr lang="en-US" altLang="zh-CN" sz="2400" b="1" dirty="0">
                <a:solidFill>
                  <a:schemeClr val="bg1"/>
                </a:solidFill>
              </a:rPr>
              <a:t>{</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name </a:t>
            </a:r>
            <a:r>
              <a:rPr lang="en-US" altLang="zh-CN" sz="2400" b="1" dirty="0">
                <a:solidFill>
                  <a:schemeClr val="bg1"/>
                </a:solidFill>
              </a:rPr>
              <a:t>= </a:t>
            </a:r>
            <a:r>
              <a:rPr lang="en-US" altLang="en-US" sz="2400" b="1" dirty="0">
                <a:solidFill>
                  <a:schemeClr val="bg1"/>
                </a:solidFill>
              </a:rPr>
              <a:t>pName;</a:t>
            </a:r>
            <a:endParaRPr lang="en-US" altLang="en-US" sz="2400" b="1" dirty="0">
              <a:solidFill>
                <a:schemeClr val="bg1"/>
              </a:solidFill>
            </a:endParaRPr>
          </a:p>
          <a:p>
            <a:pPr eaLnBrk="1" hangingPunct="1">
              <a:lnSpc>
                <a:spcPct val="90000"/>
              </a:lnSpc>
              <a:buNone/>
            </a:pPr>
            <a:r>
              <a:rPr lang="en-US" altLang="en-US" sz="2400" b="1" dirty="0">
                <a:solidFill>
                  <a:schemeClr val="bg1"/>
                </a:solidFill>
              </a:rPr>
              <a:t>  pNext =pFirst; pFirst =this;</a:t>
            </a:r>
            <a:endParaRPr lang="en-US" altLang="en-US" sz="2400" b="1" dirty="0">
              <a:solidFill>
                <a:schemeClr val="bg1"/>
              </a:solidFill>
            </a:endParaRPr>
          </a:p>
          <a:p>
            <a:pPr eaLnBrk="1" hangingPunct="1">
              <a:lnSpc>
                <a:spcPct val="90000"/>
              </a:lnSpc>
              <a:buNone/>
            </a:pPr>
            <a:r>
              <a:rPr lang="en-US" altLang="en-US" sz="2400" b="1" dirty="0">
                <a:solidFill>
                  <a:schemeClr val="bg1"/>
                </a:solidFill>
              </a:rPr>
              <a:t>}</a:t>
            </a:r>
            <a:endParaRPr lang="en-US" altLang="en-US" sz="2400" b="1" dirty="0">
              <a:solidFill>
                <a:schemeClr val="bg1"/>
              </a:solidFill>
            </a:endParaRPr>
          </a:p>
        </p:txBody>
      </p:sp>
      <p:sp>
        <p:nvSpPr>
          <p:cNvPr id="249859" name="Rectangle 4"/>
          <p:cNvSpPr/>
          <p:nvPr/>
        </p:nvSpPr>
        <p:spPr>
          <a:xfrm>
            <a:off x="4643438" y="44450"/>
            <a:ext cx="5292725" cy="6237288"/>
          </a:xfrm>
          <a:prstGeom prst="rect">
            <a:avLst/>
          </a:prstGeom>
          <a:noFill/>
          <a:ln w="9525">
            <a:noFill/>
          </a:ln>
        </p:spPr>
        <p:txBody>
          <a:bodyPr anchor="t"/>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Student::~Student(){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if(pFirst==this){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pFirst=pNext; return;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for(Student* pS=pFirst; pS;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pS=pS-&gt;pNext)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if(pS-&gt;pNext==this){</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pS-&gt;pNext=pNext;return;}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fn(){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s5("S5");</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print();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void main(){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s1("S1");</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*s2=new Student(“s2”);</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Student s3("S3");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fn();</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   delete s2;                </a:t>
            </a:r>
            <a:endParaRPr lang="en-US" altLang="zh-CN" sz="2400" b="1" dirty="0">
              <a:latin typeface="Times New Roman" panose="02020603050405020304" pitchFamily="18" charset="0"/>
              <a:ea typeface="宋体" panose="02010600030101010101" pitchFamily="2" charset="-122"/>
            </a:endParaRPr>
          </a:p>
          <a:p>
            <a:pPr marL="342900" indent="-342900">
              <a:lnSpc>
                <a:spcPct val="80000"/>
              </a:lnSpc>
              <a:spcBef>
                <a:spcPct val="20000"/>
              </a:spcBef>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cxnSp>
        <p:nvCxnSpPr>
          <p:cNvPr id="249860" name="直接连接符 2"/>
          <p:cNvCxnSpPr/>
          <p:nvPr/>
        </p:nvCxnSpPr>
        <p:spPr>
          <a:xfrm>
            <a:off x="4500563" y="115888"/>
            <a:ext cx="0" cy="6742112"/>
          </a:xfrm>
          <a:prstGeom prst="line">
            <a:avLst/>
          </a:prstGeom>
          <a:ln w="9525" cap="flat" cmpd="sng">
            <a:solidFill>
              <a:schemeClr val="bg1"/>
            </a:solidFill>
            <a:prstDash val="solid"/>
            <a:round/>
            <a:headEnd type="none" w="med" len="med"/>
            <a:tailEnd type="none" w="med" len="med"/>
          </a:ln>
        </p:spPr>
      </p:cxn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1" name="Rectangle 2"/>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02792" name="Rectangle 8"/>
          <p:cNvSpPr>
            <a:spLocks noGrp="1" noChangeArrowheads="1"/>
          </p:cNvSpPr>
          <p:nvPr>
            <p:ph idx="1"/>
          </p:nvPr>
        </p:nvSpPr>
        <p:spPr>
          <a:xfrm>
            <a:off x="971550" y="503238"/>
            <a:ext cx="8172450" cy="65976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static </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x;</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Get(){return(</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 0</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错误</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Get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普通成员函数别扭</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&lt;&lt;Student::Get();//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希望</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29" name="Rectangle 2"/>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75492" name="Rectangle 4"/>
          <p:cNvSpPr>
            <a:spLocks noGrp="1" noChangeArrowheads="1"/>
          </p:cNvSpPr>
          <p:nvPr>
            <p:ph idx="1"/>
          </p:nvPr>
        </p:nvSpPr>
        <p:spPr>
          <a:xfrm>
            <a:off x="395288" y="404813"/>
            <a:ext cx="8569325" cy="65976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class Student{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static </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x;</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public:</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static </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Get(){return(</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int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noOfStudents</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 0</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void main(</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Student::Get()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正确</a:t>
            </a:r>
            <a:endPar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Student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    </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cout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ss.</a:t>
            </a:r>
            <a:r>
              <a:rPr kumimoji="1" lang="en-US" altLang="zh-CN"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Get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&lt;&lt;</a:t>
            </a:r>
            <a:r>
              <a:rPr kumimoji="1" lang="en-US" altLang="en-US" sz="2800" b="1" i="0" u="none" strike="noStrike" kern="0" cap="none" spc="0" normalizeH="0" baseline="0" noProof="0" dirty="0" err="1">
                <a:ln>
                  <a:noFill/>
                </a:ln>
                <a:solidFill>
                  <a:schemeClr val="bg1"/>
                </a:solidFill>
                <a:effectLst>
                  <a:outerShdw blurRad="38100" dist="38100" dir="2700000" algn="tl">
                    <a:srgbClr val="000000"/>
                  </a:outerShdw>
                </a:effectLst>
                <a:uLnTx/>
                <a:uFillTx/>
                <a:latin typeface="+mn-lt"/>
                <a:ea typeface="+mn-ea"/>
                <a:cs typeface="+mn-cs"/>
              </a:rPr>
              <a:t>endl</a:t>
            </a: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依然正确；不再必要</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endPar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静态成员函数和普通成员函数的区别点在哪里</a:t>
            </a:r>
            <a:endParaRPr kumimoji="1" lang="en-US" altLang="zh-CN"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en-US"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函数</a:t>
            </a:r>
            <a:r>
              <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rPr>
              <a:t>不再需要和对象默认联系</a:t>
            </a:r>
            <a:endParaRPr kumimoji="1" lang="zh-CN" altLang="en-US" sz="2800" b="1" i="0" u="none" strike="noStrike" kern="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3" name="Rectangle 5"/>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63176" name="Text Box 8"/>
          <p:cNvSpPr txBox="1">
            <a:spLocks noChangeArrowheads="1"/>
          </p:cNvSpPr>
          <p:nvPr/>
        </p:nvSpPr>
        <p:spPr bwMode="auto">
          <a:xfrm>
            <a:off x="1042988" y="333375"/>
            <a:ext cx="7705725" cy="6554788"/>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static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 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&lt;&lt;this-&gt;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&lt;&lt;b;}</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static void p(){</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&lt;&lt;this-&gt;a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static void q(){</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b&lt;&lt;</a:t>
            </a:r>
            <a:r>
              <a:rPr kumimoji="1" lang="en-US" altLang="zh-CN" sz="28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GetB</a:t>
            </a:r>
            <a:r>
              <a:rPr kumimoji="1" lang="en-US" altLang="zh-CN" sz="28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r(aa &amp;t){t.b = 6; b=7;}</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static void s(</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=6;cout&lt;&lt;</a:t>
            </a: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t.GetB</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aa::a=0;</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 a;	a.r(a);      a.s(a);  </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没有</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this</a:t>
            </a:r>
            <a:r>
              <a:rPr kumimoji="1" lang="zh-CN" altLang="en-US"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；可以访问非</a:t>
            </a:r>
            <a:r>
              <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8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63176"/>
                                        </p:tgtEl>
                                        <p:attrNameLst>
                                          <p:attrName>style.visibility</p:attrName>
                                        </p:attrNameLst>
                                      </p:cBhvr>
                                      <p:to>
                                        <p:strVal val="visible"/>
                                      </p:to>
                                    </p:set>
                                    <p:animEffect transition="in" filter="barn(inHorizontal)">
                                      <p:cBhvr>
                                        <p:cTn id="7" dur="500"/>
                                        <p:tgtEl>
                                          <p:spTgt spid="2631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1" nodeType="clickEffect">
                                  <p:stCondLst>
                                    <p:cond delay="0"/>
                                  </p:stCondLst>
                                  <p:childTnLst>
                                    <p:anim calcmode="lin" valueType="num">
                                      <p:cBhvr additive="base">
                                        <p:cTn id="11" dur="500"/>
                                        <p:tgtEl>
                                          <p:spTgt spid="263176"/>
                                        </p:tgtEl>
                                        <p:attrNameLst>
                                          <p:attrName>ppt_x</p:attrName>
                                        </p:attrNameLst>
                                      </p:cBhvr>
                                      <p:tavLst>
                                        <p:tav tm="0">
                                          <p:val>
                                            <p:strVal val="ppt_x"/>
                                          </p:val>
                                        </p:tav>
                                        <p:tav tm="100000">
                                          <p:val>
                                            <p:strVal val="ppt_x"/>
                                          </p:val>
                                        </p:tav>
                                      </p:tavLst>
                                    </p:anim>
                                    <p:anim calcmode="lin" valueType="num">
                                      <p:cBhvr additive="base">
                                        <p:cTn id="12" dur="500"/>
                                        <p:tgtEl>
                                          <p:spTgt spid="263176"/>
                                        </p:tgtEl>
                                        <p:attrNameLst>
                                          <p:attrName>ppt_y</p:attrName>
                                        </p:attrNameLst>
                                      </p:cBhvr>
                                      <p:tavLst>
                                        <p:tav tm="0">
                                          <p:val>
                                            <p:strVal val="ppt_y"/>
                                          </p:val>
                                        </p:tav>
                                        <p:tav tm="100000">
                                          <p:val>
                                            <p:strVal val="1+ppt_h/2"/>
                                          </p:val>
                                        </p:tav>
                                      </p:tavLst>
                                    </p:anim>
                                    <p:set>
                                      <p:cBhvr>
                                        <p:cTn id="13" dur="1" fill="hold">
                                          <p:stCondLst>
                                            <p:cond delay="499"/>
                                          </p:stCondLst>
                                        </p:cTn>
                                        <p:tgtEl>
                                          <p:spTgt spid="2631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6" grpId="0" bldLvl="0" animBg="1"/>
      <p:bldP spid="263176" grpId="1" bldLvl="0" animBg="1"/>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7" name="Rectangle 3"/>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graphicFrame>
        <p:nvGraphicFramePr>
          <p:cNvPr id="576813" name="Group 301"/>
          <p:cNvGraphicFramePr>
            <a:graphicFrameLocks noGrp="1"/>
          </p:cNvGraphicFramePr>
          <p:nvPr>
            <p:ph idx="4294967295"/>
          </p:nvPr>
        </p:nvGraphicFramePr>
        <p:xfrm>
          <a:off x="685800" y="966788"/>
          <a:ext cx="8245475" cy="5486400"/>
        </p:xfrm>
        <a:graphic>
          <a:graphicData uri="http://schemas.openxmlformats.org/drawingml/2006/table">
            <a:tbl>
              <a:tblPr/>
              <a:tblGrid>
                <a:gridCol w="1554163"/>
                <a:gridCol w="2044700"/>
                <a:gridCol w="1538287"/>
                <a:gridCol w="1554163"/>
                <a:gridCol w="1554162"/>
              </a:tblGrid>
              <a:tr h="1828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调用→</a:t>
                      </a:r>
                      <a:endParaRPr kumimoji="1" lang="zh-CN" altLang="en-US"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普通数据成员</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静态数据成员</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普通成员函数</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静态成员函数</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r>
              <a:tr h="1828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普通成员函数</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r>
              <a:tr h="1828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静态成员函数</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  </a:t>
                      </a:r>
                      <a:r>
                        <a:rPr kumimoji="1" lang="zh-CN" altLang="en-US"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  </a:t>
                      </a:r>
                      <a:r>
                        <a:rPr kumimoji="1" lang="zh-CN" altLang="en-US"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zh-CN" altLang="en-US"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FFFF00"/>
                      </a:solidFill>
                      <a:prstDash val="solid"/>
                      <a:round/>
                      <a:headEnd type="none" w="med" len="med"/>
                      <a:tailEnd type="none" w="med" len="med"/>
                    </a:lnL>
                    <a:lnR w="12700" cap="flat" cmpd="sng" algn="ctr">
                      <a:solidFill>
                        <a:srgbClr val="FFFF00"/>
                      </a:solidFill>
                      <a:prstDash val="solid"/>
                      <a:round/>
                      <a:headEnd type="none" w="med" len="med"/>
                      <a:tailEnd type="none" w="med" len="med"/>
                    </a:lnR>
                    <a:lnT w="12700" cap="flat" cmpd="sng" algn="ctr">
                      <a:solidFill>
                        <a:srgbClr val="FFFF00"/>
                      </a:solidFill>
                      <a:prstDash val="solid"/>
                      <a:round/>
                      <a:headEnd type="none" w="med" len="med"/>
                      <a:tailEnd type="none" w="med" len="med"/>
                    </a:lnT>
                    <a:lnB w="12700" cap="flat" cmpd="sng" algn="ctr">
                      <a:solidFill>
                        <a:srgbClr val="FFFF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1" name="Rectangle 2"/>
          <p:cNvSpPr/>
          <p:nvPr/>
        </p:nvSpPr>
        <p:spPr>
          <a:xfrm>
            <a:off x="-252412" y="-26987"/>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静态成员函数</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56002" name="Rectangle 3"/>
          <p:cNvSpPr>
            <a:spLocks noGrp="1"/>
          </p:cNvSpPr>
          <p:nvPr>
            <p:ph idx="1"/>
          </p:nvPr>
        </p:nvSpPr>
        <p:spPr>
          <a:xfrm>
            <a:off x="179388" y="620713"/>
            <a:ext cx="8964612" cy="6092825"/>
          </a:xfrm>
        </p:spPr>
        <p:txBody>
          <a:bodyPr vert="horz" wrap="square" lIns="91440" tIns="45720" rIns="91440" bIns="45720" anchor="t"/>
          <a:p>
            <a:pPr eaLnBrk="1" hangingPunct="1">
              <a:lnSpc>
                <a:spcPct val="80000"/>
              </a:lnSpc>
              <a:buNone/>
            </a:pPr>
            <a:endParaRPr lang="en-US" altLang="en-US" sz="2800" b="1" dirty="0">
              <a:solidFill>
                <a:schemeClr val="bg1"/>
              </a:solidFill>
            </a:endParaRPr>
          </a:p>
          <a:p>
            <a:pPr eaLnBrk="1" hangingPunct="1">
              <a:lnSpc>
                <a:spcPct val="80000"/>
              </a:lnSpc>
              <a:buNone/>
            </a:pPr>
            <a:r>
              <a:rPr lang="en-US" altLang="en-US" sz="2800" b="1" dirty="0">
                <a:solidFill>
                  <a:schemeClr val="bg1"/>
                </a:solidFill>
              </a:rPr>
              <a:t>class aa{</a:t>
            </a:r>
            <a:endParaRPr lang="en-US" altLang="en-US" sz="2800" b="1" dirty="0">
              <a:solidFill>
                <a:schemeClr val="bg1"/>
              </a:solidFill>
            </a:endParaRPr>
          </a:p>
          <a:p>
            <a:pPr eaLnBrk="1" hangingPunct="1">
              <a:lnSpc>
                <a:spcPct val="80000"/>
              </a:lnSpc>
              <a:buNone/>
            </a:pPr>
            <a:r>
              <a:rPr lang="en-US" altLang="en-US" sz="2800" b="1" dirty="0">
                <a:solidFill>
                  <a:schemeClr val="bg1"/>
                </a:solidFill>
              </a:rPr>
              <a:t>	static aa * </a:t>
            </a:r>
            <a:r>
              <a:rPr lang="en-US" altLang="zh-CN" sz="2800" b="1" dirty="0">
                <a:solidFill>
                  <a:schemeClr val="bg1"/>
                </a:solidFill>
              </a:rPr>
              <a:t>aH</a:t>
            </a:r>
            <a:r>
              <a:rPr lang="en-US" altLang="en-US" sz="2800" b="1" dirty="0">
                <a:solidFill>
                  <a:schemeClr val="bg1"/>
                </a:solidFill>
              </a:rPr>
              <a:t>;</a:t>
            </a:r>
            <a:endParaRPr lang="en-US" altLang="en-US" sz="2800" b="1" dirty="0">
              <a:solidFill>
                <a:schemeClr val="bg1"/>
              </a:solidFill>
            </a:endParaRPr>
          </a:p>
          <a:p>
            <a:pPr eaLnBrk="1" hangingPunct="1">
              <a:lnSpc>
                <a:spcPct val="80000"/>
              </a:lnSpc>
              <a:buNone/>
            </a:pPr>
            <a:r>
              <a:rPr lang="en-US" altLang="en-US" sz="2800" b="1" dirty="0">
                <a:solidFill>
                  <a:schemeClr val="bg1"/>
                </a:solidFill>
              </a:rPr>
              <a:t>    aa(){};</a:t>
            </a:r>
            <a:endParaRPr lang="en-US" altLang="en-US" sz="2800" b="1" dirty="0">
              <a:solidFill>
                <a:schemeClr val="bg1"/>
              </a:solidFill>
            </a:endParaRPr>
          </a:p>
          <a:p>
            <a:pPr eaLnBrk="1" hangingPunct="1">
              <a:lnSpc>
                <a:spcPct val="80000"/>
              </a:lnSpc>
              <a:buNone/>
            </a:pPr>
            <a:r>
              <a:rPr lang="en-US" altLang="en-US" sz="2800" b="1" dirty="0">
                <a:solidFill>
                  <a:schemeClr val="bg1"/>
                </a:solidFill>
              </a:rPr>
              <a:t>    aa(aa const &amp;){}</a:t>
            </a:r>
            <a:endParaRPr lang="en-US" altLang="en-US" sz="2800" b="1" dirty="0">
              <a:solidFill>
                <a:schemeClr val="bg1"/>
              </a:solidFill>
            </a:endParaRPr>
          </a:p>
          <a:p>
            <a:pPr eaLnBrk="1" hangingPunct="1">
              <a:lnSpc>
                <a:spcPct val="80000"/>
              </a:lnSpc>
              <a:buNone/>
            </a:pPr>
            <a:r>
              <a:rPr lang="en-US" altLang="en-US" sz="2800" b="1" dirty="0">
                <a:solidFill>
                  <a:schemeClr val="bg1"/>
                </a:solidFill>
              </a:rPr>
              <a:t>public:</a:t>
            </a:r>
            <a:endParaRPr lang="en-US" altLang="en-US" sz="2800" b="1" dirty="0">
              <a:solidFill>
                <a:schemeClr val="bg1"/>
              </a:solidFill>
            </a:endParaRPr>
          </a:p>
          <a:p>
            <a:pPr eaLnBrk="1" hangingPunct="1">
              <a:lnSpc>
                <a:spcPct val="80000"/>
              </a:lnSpc>
              <a:buNone/>
            </a:pPr>
            <a:r>
              <a:rPr lang="en-US" altLang="en-US" sz="2800" b="1" dirty="0">
                <a:solidFill>
                  <a:schemeClr val="bg1"/>
                </a:solidFill>
              </a:rPr>
              <a:t>	static aa *</a:t>
            </a:r>
            <a:r>
              <a:rPr lang="en-US" altLang="zh-CN" sz="2800" b="1" dirty="0">
                <a:solidFill>
                  <a:schemeClr val="bg1"/>
                </a:solidFill>
              </a:rPr>
              <a:t>ge</a:t>
            </a:r>
            <a:r>
              <a:rPr lang="en-US" altLang="en-US" sz="2800" b="1" dirty="0">
                <a:solidFill>
                  <a:schemeClr val="bg1"/>
                </a:solidFill>
              </a:rPr>
              <a:t>t(){  if(aH</a:t>
            </a:r>
            <a:r>
              <a:rPr lang="en-US" altLang="zh-CN" sz="2800" b="1" dirty="0">
                <a:solidFill>
                  <a:schemeClr val="bg1"/>
                </a:solidFill>
              </a:rPr>
              <a:t> </a:t>
            </a:r>
            <a:r>
              <a:rPr lang="en-US" altLang="en-US" sz="2800" b="1" dirty="0">
                <a:solidFill>
                  <a:schemeClr val="bg1"/>
                </a:solidFill>
              </a:rPr>
              <a:t>==</a:t>
            </a:r>
            <a:r>
              <a:rPr lang="en-US" altLang="zh-CN" sz="2800" b="1" dirty="0">
                <a:solidFill>
                  <a:schemeClr val="bg1"/>
                </a:solidFill>
              </a:rPr>
              <a:t> </a:t>
            </a:r>
            <a:r>
              <a:rPr lang="en-US" altLang="en-US" sz="2800" b="1" dirty="0">
                <a:solidFill>
                  <a:schemeClr val="bg1"/>
                </a:solidFill>
              </a:rPr>
              <a:t>0) aH</a:t>
            </a:r>
            <a:r>
              <a:rPr lang="en-US" altLang="zh-CN" sz="2800" b="1" dirty="0">
                <a:solidFill>
                  <a:schemeClr val="bg1"/>
                </a:solidFill>
              </a:rPr>
              <a:t> = new</a:t>
            </a:r>
            <a:r>
              <a:rPr lang="en-US" altLang="en-US" sz="2800" b="1" dirty="0">
                <a:solidFill>
                  <a:schemeClr val="bg1"/>
                </a:solidFill>
              </a:rPr>
              <a:t> aa;return(</a:t>
            </a:r>
            <a:r>
              <a:rPr lang="en-US" altLang="zh-CN" sz="2800" b="1" dirty="0">
                <a:solidFill>
                  <a:schemeClr val="bg1"/>
                </a:solidFill>
              </a:rPr>
              <a:t>aH</a:t>
            </a:r>
            <a:r>
              <a:rPr lang="en-US" altLang="en-US" sz="2800" b="1" dirty="0">
                <a:solidFill>
                  <a:schemeClr val="bg1"/>
                </a:solidFill>
              </a:rPr>
              <a:t>);}</a:t>
            </a:r>
            <a:endParaRPr lang="en-US" altLang="en-US" sz="2800" b="1" dirty="0">
              <a:solidFill>
                <a:schemeClr val="bg1"/>
              </a:solidFill>
            </a:endParaRPr>
          </a:p>
          <a:p>
            <a:pPr eaLnBrk="1" hangingPunct="1">
              <a:lnSpc>
                <a:spcPct val="80000"/>
              </a:lnSpc>
              <a:buNone/>
            </a:pPr>
            <a:r>
              <a:rPr lang="en-US" altLang="en-US" sz="2800" b="1" dirty="0">
                <a:solidFill>
                  <a:schemeClr val="bg1"/>
                </a:solidFill>
              </a:rPr>
              <a:t>};</a:t>
            </a:r>
            <a:endParaRPr lang="en-US" altLang="en-US" sz="2800" b="1" dirty="0">
              <a:solidFill>
                <a:schemeClr val="bg1"/>
              </a:solidFill>
            </a:endParaRPr>
          </a:p>
          <a:p>
            <a:pPr eaLnBrk="1" hangingPunct="1">
              <a:lnSpc>
                <a:spcPct val="80000"/>
              </a:lnSpc>
              <a:buNone/>
            </a:pPr>
            <a:r>
              <a:rPr lang="en-US" altLang="en-US" sz="2800" b="1" dirty="0">
                <a:solidFill>
                  <a:schemeClr val="bg1"/>
                </a:solidFill>
              </a:rPr>
              <a:t>aa * aa::</a:t>
            </a:r>
            <a:r>
              <a:rPr lang="en-US" altLang="zh-CN" sz="2800" b="1" dirty="0">
                <a:solidFill>
                  <a:schemeClr val="bg1"/>
                </a:solidFill>
              </a:rPr>
              <a:t>aH = 0</a:t>
            </a:r>
            <a:r>
              <a:rPr lang="en-US" altLang="en-US" sz="2800" b="1" dirty="0">
                <a:solidFill>
                  <a:schemeClr val="bg1"/>
                </a:solidFill>
              </a:rPr>
              <a:t>;</a:t>
            </a:r>
            <a:endParaRPr lang="en-US" altLang="en-US" sz="2800" b="1" dirty="0">
              <a:solidFill>
                <a:schemeClr val="bg1"/>
              </a:solidFill>
            </a:endParaRPr>
          </a:p>
          <a:p>
            <a:pPr eaLnBrk="1" hangingPunct="1">
              <a:lnSpc>
                <a:spcPct val="80000"/>
              </a:lnSpc>
              <a:buNone/>
            </a:pPr>
            <a:endParaRPr lang="en-US" altLang="en-US" sz="2800" b="1" dirty="0">
              <a:solidFill>
                <a:schemeClr val="bg1"/>
              </a:solidFill>
            </a:endParaRPr>
          </a:p>
          <a:p>
            <a:pPr eaLnBrk="1" hangingPunct="1">
              <a:lnSpc>
                <a:spcPct val="80000"/>
              </a:lnSpc>
              <a:buNone/>
            </a:pPr>
            <a:r>
              <a:rPr lang="en-US" altLang="en-US" sz="2800" b="1" dirty="0">
                <a:solidFill>
                  <a:schemeClr val="bg1"/>
                </a:solidFill>
              </a:rPr>
              <a:t>void main()</a:t>
            </a:r>
            <a:r>
              <a:rPr lang="en-US" altLang="zh-CN" sz="2800" b="1" dirty="0">
                <a:solidFill>
                  <a:schemeClr val="bg1"/>
                </a:solidFill>
              </a:rPr>
              <a:t>{</a:t>
            </a:r>
            <a:endParaRPr lang="en-US" altLang="en-US" sz="2800" b="1" dirty="0">
              <a:solidFill>
                <a:schemeClr val="bg1"/>
              </a:solidFill>
            </a:endParaRPr>
          </a:p>
          <a:p>
            <a:pPr eaLnBrk="1" hangingPunct="1">
              <a:lnSpc>
                <a:spcPct val="80000"/>
              </a:lnSpc>
              <a:buNone/>
            </a:pPr>
            <a:r>
              <a:rPr lang="en-US" altLang="zh-CN" sz="2800" b="1" dirty="0">
                <a:solidFill>
                  <a:schemeClr val="bg1"/>
                </a:solidFill>
              </a:rPr>
              <a:t>    </a:t>
            </a:r>
            <a:r>
              <a:rPr lang="en-US" altLang="en-US" sz="2800" b="1" dirty="0">
                <a:solidFill>
                  <a:schemeClr val="bg1"/>
                </a:solidFill>
              </a:rPr>
              <a:t>aa *</a:t>
            </a:r>
            <a:r>
              <a:rPr lang="en-US" altLang="zh-CN" sz="2800" b="1" dirty="0">
                <a:solidFill>
                  <a:schemeClr val="bg1"/>
                </a:solidFill>
              </a:rPr>
              <a:t>s = aa</a:t>
            </a:r>
            <a:r>
              <a:rPr lang="en-US" altLang="en-US" sz="2800" b="1" dirty="0">
                <a:solidFill>
                  <a:schemeClr val="bg1"/>
                </a:solidFill>
              </a:rPr>
              <a:t>::</a:t>
            </a:r>
            <a:r>
              <a:rPr lang="en-US" altLang="zh-CN" sz="2800" b="1" dirty="0">
                <a:solidFill>
                  <a:schemeClr val="bg1"/>
                </a:solidFill>
              </a:rPr>
              <a:t>ge</a:t>
            </a:r>
            <a:r>
              <a:rPr lang="en-US" altLang="en-US" sz="2800" b="1" dirty="0">
                <a:solidFill>
                  <a:schemeClr val="bg1"/>
                </a:solidFill>
              </a:rPr>
              <a:t>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aa *t = aa</a:t>
            </a:r>
            <a:r>
              <a:rPr lang="en-US" altLang="en-US" sz="2800" b="1" dirty="0">
                <a:solidFill>
                  <a:schemeClr val="bg1"/>
                </a:solidFill>
              </a:rPr>
              <a:t>::</a:t>
            </a:r>
            <a:r>
              <a:rPr lang="en-US" altLang="zh-CN" sz="2800" b="1" dirty="0">
                <a:solidFill>
                  <a:schemeClr val="bg1"/>
                </a:solidFill>
              </a:rPr>
              <a:t>ge</a:t>
            </a:r>
            <a:r>
              <a:rPr lang="en-US" altLang="en-US" sz="2800" b="1" dirty="0">
                <a:solidFill>
                  <a:schemeClr val="bg1"/>
                </a:solidFill>
              </a:rPr>
              <a:t>t();</a:t>
            </a:r>
            <a:endParaRPr lang="en-US" altLang="zh-CN" sz="2800" b="1" dirty="0">
              <a:solidFill>
                <a:schemeClr val="bg1"/>
              </a:solidFill>
            </a:endParaRPr>
          </a:p>
          <a:p>
            <a:pPr eaLnBrk="1" hangingPunct="1">
              <a:lnSpc>
                <a:spcPct val="80000"/>
              </a:lnSpc>
              <a:buNone/>
            </a:pPr>
            <a:r>
              <a:rPr lang="en-US" altLang="zh-CN" sz="2800" b="1" dirty="0">
                <a:solidFill>
                  <a:schemeClr val="bg1"/>
                </a:solidFill>
              </a:rPr>
              <a:t>    aa u;//</a:t>
            </a:r>
            <a:r>
              <a:rPr lang="zh-CN" altLang="en-US" sz="2800" b="1" dirty="0">
                <a:solidFill>
                  <a:schemeClr val="bg1"/>
                </a:solidFill>
              </a:rPr>
              <a:t>错误</a:t>
            </a:r>
            <a:endParaRPr lang="zh-CN" altLang="en-US" sz="2800" b="1" dirty="0">
              <a:solidFill>
                <a:schemeClr val="bg1"/>
              </a:solidFill>
            </a:endParaRPr>
          </a:p>
          <a:p>
            <a:pPr eaLnBrk="1" hangingPunct="1">
              <a:lnSpc>
                <a:spcPct val="80000"/>
              </a:lnSpc>
              <a:buNone/>
            </a:pPr>
            <a:r>
              <a:rPr lang="en-US" altLang="en-US" sz="2800" b="1" dirty="0">
                <a:solidFill>
                  <a:schemeClr val="bg1"/>
                </a:solidFill>
              </a:rPr>
              <a:t>}</a:t>
            </a:r>
            <a:endParaRPr lang="en-US" altLang="en-US" sz="2800" b="1" dirty="0">
              <a:solidFill>
                <a:schemeClr val="bg1"/>
              </a:solidFill>
            </a:endParaRPr>
          </a:p>
        </p:txBody>
      </p:sp>
      <p:sp>
        <p:nvSpPr>
          <p:cNvPr id="406533" name="Rectangle 5"/>
          <p:cNvSpPr>
            <a:spLocks noChangeArrowheads="1"/>
          </p:cNvSpPr>
          <p:nvPr/>
        </p:nvSpPr>
        <p:spPr bwMode="auto">
          <a:xfrm>
            <a:off x="6227763" y="6021388"/>
            <a:ext cx="2916238"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只能有一个对象的类</a:t>
            </a:r>
            <a:endPar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Text Box 2"/>
          <p:cNvSpPr txBox="1">
            <a:spLocks noChangeArrowheads="1"/>
          </p:cNvSpPr>
          <p:nvPr/>
        </p:nvSpPr>
        <p:spPr bwMode="auto">
          <a:xfrm>
            <a:off x="2195513" y="-171450"/>
            <a:ext cx="669766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Female;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Female*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Female*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{return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其它方法及实现，略。</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Female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 return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其它方法及实现，略。</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类的调用</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Femal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a.getHusband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()=&amp;b;</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57026" name="Text Box 3"/>
          <p:cNvSpPr txBox="1"/>
          <p:nvPr/>
        </p:nvSpPr>
        <p:spPr>
          <a:xfrm>
            <a:off x="622300" y="836613"/>
            <a:ext cx="854075" cy="54006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          </a:t>
            </a:r>
            <a:r>
              <a:rPr lang="zh-CN" altLang="en-US" sz="4400" b="1" dirty="0">
                <a:solidFill>
                  <a:srgbClr val="FFFF00"/>
                </a:solidFill>
                <a:latin typeface="Times New Roman" panose="02020603050405020304" pitchFamily="18" charset="0"/>
                <a:ea typeface="华文行楷" panose="02010800040101010101" pitchFamily="2" charset="-122"/>
              </a:rPr>
              <a:t>例     题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07556" name="Rectangle 4"/>
          <p:cNvSpPr>
            <a:spLocks noChangeArrowheads="1"/>
          </p:cNvSpPr>
          <p:nvPr/>
        </p:nvSpPr>
        <p:spPr bwMode="auto">
          <a:xfrm>
            <a:off x="6253163" y="11113"/>
            <a:ext cx="2916238"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双向关联</a:t>
            </a:r>
            <a:endPar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Text Box 2"/>
          <p:cNvSpPr txBox="1">
            <a:spLocks noChangeArrowheads="1"/>
          </p:cNvSpPr>
          <p:nvPr/>
        </p:nvSpPr>
        <p:spPr bwMode="auto">
          <a:xfrm>
            <a:off x="903288" y="1104900"/>
            <a:ext cx="5561013" cy="4892675"/>
          </a:xfrm>
          <a:prstGeom prst="rect">
            <a:avLst/>
          </a:prstGeom>
          <a:noFill/>
          <a:ln>
            <a:noFill/>
          </a:ln>
          <a:effectLst/>
        </p:spPr>
        <p:txBody>
          <a:bodyPr wrap="square">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Female;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Female*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m_buffer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m_sum</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Female* &amp;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{return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static  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m_buffer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[100];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存放当前产生的所有</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类对象。</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m_sum</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其它方法及实现，略。</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m_sum</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0;</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Male * 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m_buffer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[100];</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58050" name="Text Box 3"/>
          <p:cNvSpPr txBox="1"/>
          <p:nvPr/>
        </p:nvSpPr>
        <p:spPr>
          <a:xfrm>
            <a:off x="120650" y="836613"/>
            <a:ext cx="854075" cy="54006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          </a:t>
            </a:r>
            <a:r>
              <a:rPr lang="zh-CN" altLang="en-US" sz="4400" b="1" dirty="0">
                <a:solidFill>
                  <a:srgbClr val="FFFF00"/>
                </a:solidFill>
                <a:latin typeface="Times New Roman" panose="02020603050405020304" pitchFamily="18" charset="0"/>
                <a:ea typeface="华文行楷" panose="02010800040101010101" pitchFamily="2" charset="-122"/>
              </a:rPr>
              <a:t>例     题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08580" name="Rectangle 4"/>
          <p:cNvSpPr>
            <a:spLocks noChangeArrowheads="1"/>
          </p:cNvSpPr>
          <p:nvPr/>
        </p:nvSpPr>
        <p:spPr bwMode="auto">
          <a:xfrm>
            <a:off x="6253163" y="11113"/>
            <a:ext cx="2916238"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单向关联</a:t>
            </a:r>
            <a:endPar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 name="矩形 1"/>
          <p:cNvSpPr/>
          <p:nvPr/>
        </p:nvSpPr>
        <p:spPr>
          <a:xfrm>
            <a:off x="7092950" y="1989138"/>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3" name="矩形 2"/>
          <p:cNvSpPr/>
          <p:nvPr/>
        </p:nvSpPr>
        <p:spPr>
          <a:xfrm>
            <a:off x="7088188" y="2373313"/>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b</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4" name="矩形 3"/>
          <p:cNvSpPr/>
          <p:nvPr/>
        </p:nvSpPr>
        <p:spPr>
          <a:xfrm>
            <a:off x="7089775" y="2743200"/>
            <a:ext cx="431800" cy="358775"/>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c</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5" name="矩形 4"/>
          <p:cNvSpPr/>
          <p:nvPr/>
        </p:nvSpPr>
        <p:spPr>
          <a:xfrm>
            <a:off x="7092950" y="3117850"/>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d</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6" name="矩形 5"/>
          <p:cNvSpPr/>
          <p:nvPr/>
        </p:nvSpPr>
        <p:spPr>
          <a:xfrm>
            <a:off x="7089775" y="3479800"/>
            <a:ext cx="431800" cy="358775"/>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e</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7" name="矩形 6"/>
          <p:cNvSpPr/>
          <p:nvPr/>
        </p:nvSpPr>
        <p:spPr>
          <a:xfrm>
            <a:off x="7092950" y="3854450"/>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f</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8" name="矩形 7"/>
          <p:cNvSpPr/>
          <p:nvPr/>
        </p:nvSpPr>
        <p:spPr>
          <a:xfrm>
            <a:off x="7088188" y="4232275"/>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g</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9" name="矩形 8"/>
          <p:cNvSpPr/>
          <p:nvPr/>
        </p:nvSpPr>
        <p:spPr>
          <a:xfrm>
            <a:off x="7091363" y="4608513"/>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h</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p:cNvSpPr/>
          <p:nvPr/>
        </p:nvSpPr>
        <p:spPr>
          <a:xfrm>
            <a:off x="8080375" y="1995488"/>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1</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1" name="矩形 10"/>
          <p:cNvSpPr/>
          <p:nvPr/>
        </p:nvSpPr>
        <p:spPr>
          <a:xfrm>
            <a:off x="8083550" y="2347913"/>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 name="矩形 11"/>
          <p:cNvSpPr/>
          <p:nvPr/>
        </p:nvSpPr>
        <p:spPr>
          <a:xfrm>
            <a:off x="8088313" y="2725738"/>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3</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3" name="矩形 12"/>
          <p:cNvSpPr/>
          <p:nvPr/>
        </p:nvSpPr>
        <p:spPr>
          <a:xfrm>
            <a:off x="8089900" y="3101975"/>
            <a:ext cx="431800" cy="360363"/>
          </a:xfrm>
          <a:prstGeom prst="rect">
            <a:avLst/>
          </a:prstGeom>
          <a:solidFill>
            <a:schemeClr val="accent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4</a:t>
            </a:r>
            <a:endParaRPr kumimoji="1" lang="en-US" altLang="zh-CN" sz="2000" b="0" i="0" u="none" strike="noStrike" cap="none" normalizeH="0" baseline="0" noProof="1"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cxnSp>
        <p:nvCxnSpPr>
          <p:cNvPr id="258064" name="直接箭头连接符 14"/>
          <p:cNvCxnSpPr>
            <a:stCxn id="2" idx="3"/>
            <a:endCxn id="13" idx="1"/>
          </p:cNvCxnSpPr>
          <p:nvPr/>
        </p:nvCxnSpPr>
        <p:spPr>
          <a:xfrm>
            <a:off x="7524750" y="2168525"/>
            <a:ext cx="565150" cy="1114425"/>
          </a:xfrm>
          <a:prstGeom prst="straightConnector1">
            <a:avLst/>
          </a:prstGeom>
          <a:ln w="9525" cap="flat" cmpd="sng">
            <a:solidFill>
              <a:schemeClr val="bg1"/>
            </a:solidFill>
            <a:prstDash val="solid"/>
            <a:round/>
            <a:headEnd type="none" w="med" len="med"/>
            <a:tailEnd type="arrow" w="med" len="med"/>
          </a:ln>
        </p:spPr>
      </p:cxnSp>
      <p:cxnSp>
        <p:nvCxnSpPr>
          <p:cNvPr id="258065" name="直接箭头连接符 15"/>
          <p:cNvCxnSpPr>
            <a:stCxn id="4" idx="3"/>
            <a:endCxn id="11" idx="1"/>
          </p:cNvCxnSpPr>
          <p:nvPr/>
        </p:nvCxnSpPr>
        <p:spPr>
          <a:xfrm flipV="1">
            <a:off x="7521575" y="2528888"/>
            <a:ext cx="561975" cy="393700"/>
          </a:xfrm>
          <a:prstGeom prst="straightConnector1">
            <a:avLst/>
          </a:prstGeom>
          <a:ln w="9525" cap="flat" cmpd="sng">
            <a:solidFill>
              <a:schemeClr val="bg1"/>
            </a:solidFill>
            <a:prstDash val="solid"/>
            <a:round/>
            <a:headEnd type="none" w="med" len="med"/>
            <a:tailEnd type="arrow" w="med" len="med"/>
          </a:ln>
        </p:spPr>
      </p:cxnSp>
      <p:cxnSp>
        <p:nvCxnSpPr>
          <p:cNvPr id="258066" name="直接箭头连接符 16"/>
          <p:cNvCxnSpPr>
            <a:stCxn id="8" idx="3"/>
            <a:endCxn id="10" idx="1"/>
          </p:cNvCxnSpPr>
          <p:nvPr/>
        </p:nvCxnSpPr>
        <p:spPr>
          <a:xfrm flipV="1">
            <a:off x="7519988" y="2174875"/>
            <a:ext cx="560387" cy="2238375"/>
          </a:xfrm>
          <a:prstGeom prst="straightConnector1">
            <a:avLst/>
          </a:prstGeom>
          <a:ln w="9525" cap="flat" cmpd="sng">
            <a:solidFill>
              <a:schemeClr val="bg1"/>
            </a:solidFill>
            <a:prstDash val="solid"/>
            <a:round/>
            <a:headEnd type="none" w="med" len="med"/>
            <a:tailEnd type="arrow" w="med" len="med"/>
          </a:ln>
        </p:spPr>
      </p:cxn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02" name="Text Box 2"/>
          <p:cNvSpPr txBox="1">
            <a:spLocks noChangeArrowheads="1"/>
          </p:cNvSpPr>
          <p:nvPr/>
        </p:nvSpPr>
        <p:spPr bwMode="auto">
          <a:xfrm>
            <a:off x="1403350" y="188913"/>
            <a:ext cx="7740650"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Female{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无，去掉</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其它定义不变</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Male* Female::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0;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m_sum;i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 (Male::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m_buffer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 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 Male::</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m_buffer</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 0;</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类的调用</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Male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Femal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b.getWife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d.getHusband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59074" name="Text Box 3"/>
          <p:cNvSpPr txBox="1"/>
          <p:nvPr/>
        </p:nvSpPr>
        <p:spPr>
          <a:xfrm>
            <a:off x="622300" y="836613"/>
            <a:ext cx="854075" cy="54006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          </a:t>
            </a:r>
            <a:r>
              <a:rPr lang="zh-CN" altLang="en-US" sz="4400" b="1" dirty="0">
                <a:solidFill>
                  <a:srgbClr val="FFFF00"/>
                </a:solidFill>
                <a:latin typeface="Times New Roman" panose="02020603050405020304" pitchFamily="18" charset="0"/>
                <a:ea typeface="华文行楷" panose="02010800040101010101" pitchFamily="2" charset="-122"/>
              </a:rPr>
              <a:t>例     题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09604" name="Rectangle 4"/>
          <p:cNvSpPr>
            <a:spLocks noChangeArrowheads="1"/>
          </p:cNvSpPr>
          <p:nvPr/>
        </p:nvSpPr>
        <p:spPr bwMode="auto">
          <a:xfrm>
            <a:off x="6253163" y="11113"/>
            <a:ext cx="2916238" cy="836613"/>
          </a:xfrm>
          <a:prstGeom prst="rect">
            <a:avLst/>
          </a:prstGeom>
          <a:solidFill>
            <a:schemeClr val="accent1"/>
          </a:solidFill>
          <a:ln w="9525" algn="ctr">
            <a:solidFill>
              <a:schemeClr val="bg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单向关联</a:t>
            </a:r>
            <a:endParaRPr kumimoji="1" lang="zh-CN" altLang="en-US" sz="2000" b="0"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09602"/>
                                        </p:tgtEl>
                                        <p:attrNameLst>
                                          <p:attrName>style.visibility</p:attrName>
                                        </p:attrNameLst>
                                      </p:cBhvr>
                                      <p:to>
                                        <p:strVal val="visible"/>
                                      </p:to>
                                    </p:set>
                                    <p:animEffect transition="in" filter="barn(inHorizontal)">
                                      <p:cBhvr>
                                        <p:cTn id="7" dur="500"/>
                                        <p:tgtEl>
                                          <p:spTgt spid="409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2"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3810" name="Text Box 2"/>
          <p:cNvSpPr txBox="1">
            <a:spLocks noChangeArrowheads="1"/>
          </p:cNvSpPr>
          <p:nvPr/>
        </p:nvSpPr>
        <p:spPr bwMode="auto">
          <a:xfrm>
            <a:off x="1079500" y="476250"/>
            <a:ext cx="8064500" cy="2647950"/>
          </a:xfrm>
          <a:prstGeom prst="rect">
            <a:avLst/>
          </a:prstGeom>
          <a:noFill/>
          <a:ln>
            <a:noFill/>
          </a:ln>
          <a:effectLst/>
        </p:spPr>
        <p:txBody>
          <a:bodyPr>
            <a:spAutoFit/>
          </a:bodyPr>
          <a:lstStyle/>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举办歌手大奖赛。</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设计歌手类，包括：编号、姓名、各评委打分等属性。</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要求功能：</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可以打印当前最高、最低分选手属性；</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打印已出场人数；</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可以按照平均分由高到低打印已出场选手属性；</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写出</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main</a:t>
            </a: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函数中模拟</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t>
            </a: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个选手出场的过程。</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0098" name="Text Box 3"/>
          <p:cNvSpPr txBox="1"/>
          <p:nvPr/>
        </p:nvSpPr>
        <p:spPr>
          <a:xfrm>
            <a:off x="0" y="981075"/>
            <a:ext cx="1524000" cy="1727200"/>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               </a:t>
            </a:r>
            <a:r>
              <a:rPr lang="zh-CN" altLang="en-US" sz="4400" b="1" dirty="0">
                <a:solidFill>
                  <a:srgbClr val="FFFF00"/>
                </a:solidFill>
                <a:latin typeface="Times New Roman" panose="02020603050405020304" pitchFamily="18" charset="0"/>
                <a:ea typeface="华文行楷" panose="02010800040101010101" pitchFamily="2" charset="-122"/>
              </a:rPr>
              <a:t>作业</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03813" name="Text Box 5"/>
          <p:cNvSpPr txBox="1">
            <a:spLocks noChangeArrowheads="1"/>
          </p:cNvSpPr>
          <p:nvPr/>
        </p:nvSpPr>
        <p:spPr bwMode="auto">
          <a:xfrm>
            <a:off x="1295400" y="3644900"/>
            <a:ext cx="8064500" cy="2647950"/>
          </a:xfrm>
          <a:prstGeom prst="rect">
            <a:avLst/>
          </a:prstGeom>
          <a:noFill/>
          <a:ln>
            <a:noFill/>
          </a:ln>
          <a:effectLst/>
        </p:spPr>
        <p:txBody>
          <a:bodyPr>
            <a:spAutoFit/>
          </a:bodyPr>
          <a:lstStyle/>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写程序验证如下内容：</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浅拷贝仅能简单复制指针的值；</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全局对象、静态成员的构造函数在</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main</a:t>
            </a: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函数之前执行；</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构造函数可以实现类型转换；</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堆空间生命周期与申请函数不同步；</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zh-CN" altLang="en-US"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0100" name="Text Box 6"/>
          <p:cNvSpPr txBox="1"/>
          <p:nvPr/>
        </p:nvSpPr>
        <p:spPr>
          <a:xfrm>
            <a:off x="107950" y="4149725"/>
            <a:ext cx="1524000" cy="27082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               </a:t>
            </a:r>
            <a:r>
              <a:rPr lang="zh-CN" altLang="en-US" sz="4400" b="1" dirty="0">
                <a:solidFill>
                  <a:srgbClr val="FFFF00"/>
                </a:solidFill>
                <a:latin typeface="Times New Roman" panose="02020603050405020304" pitchFamily="18" charset="0"/>
                <a:ea typeface="华文行楷" panose="02010800040101010101" pitchFamily="2" charset="-122"/>
              </a:rPr>
              <a:t>上机作业</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03810"/>
                                        </p:tgtEl>
                                        <p:attrNameLst>
                                          <p:attrName>style.visibility</p:attrName>
                                        </p:attrNameLst>
                                      </p:cBhvr>
                                      <p:to>
                                        <p:strVal val="visible"/>
                                      </p:to>
                                    </p:set>
                                    <p:animEffect transition="in" filter="barn(inHorizontal)">
                                      <p:cBhvr>
                                        <p:cTn id="7" dur="500"/>
                                        <p:tgtEl>
                                          <p:spTgt spid="5038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03813"/>
                                        </p:tgtEl>
                                        <p:attrNameLst>
                                          <p:attrName>style.visibility</p:attrName>
                                        </p:attrNameLst>
                                      </p:cBhvr>
                                      <p:to>
                                        <p:strVal val="visible"/>
                                      </p:to>
                                    </p:set>
                                    <p:animEffect transition="in" filter="barn(inHorizontal)">
                                      <p:cBhvr>
                                        <p:cTn id="12" dur="500"/>
                                        <p:tgtEl>
                                          <p:spTgt spid="503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0" grpId="0"/>
      <p:bldP spid="503813"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Text Box 2"/>
          <p:cNvSpPr txBox="1">
            <a:spLocks noChangeArrowheads="1"/>
          </p:cNvSpPr>
          <p:nvPr/>
        </p:nvSpPr>
        <p:spPr bwMode="auto">
          <a:xfrm>
            <a:off x="755650" y="-144462"/>
            <a:ext cx="838835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name;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add(){id = 20060101;tel = 12345678;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=”Software”;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major=”</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Security”;topic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=”KDD”;}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  a.id = 20060101;a.dept=”Software”;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a.add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1122" name="Text Box 3"/>
          <p:cNvSpPr txBox="1"/>
          <p:nvPr/>
        </p:nvSpPr>
        <p:spPr>
          <a:xfrm>
            <a:off x="-18097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1362"/>
                                        </p:tgtEl>
                                        <p:attrNameLst>
                                          <p:attrName>style.visibility</p:attrName>
                                        </p:attrNameLst>
                                      </p:cBhvr>
                                      <p:to>
                                        <p:strVal val="visible"/>
                                      </p:to>
                                    </p:set>
                                    <p:animEffect transition="in" filter="barn(inHorizontal)">
                                      <p:cBhvr>
                                        <p:cTn id="7" dur="500"/>
                                        <p:tgtEl>
                                          <p:spTgt spid="271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2"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5"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2677" name="Rectangle 5"/>
          <p:cNvSpPr>
            <a:spLocks noChangeArrowheads="1"/>
          </p:cNvSpPr>
          <p:nvPr/>
        </p:nvSpPr>
        <p:spPr bwMode="auto">
          <a:xfrm>
            <a:off x="5337175" y="198913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0" name="Rectangle 8"/>
          <p:cNvSpPr>
            <a:spLocks noChangeArrowheads="1"/>
          </p:cNvSpPr>
          <p:nvPr/>
        </p:nvSpPr>
        <p:spPr bwMode="auto">
          <a:xfrm>
            <a:off x="6002338" y="198913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1" name="Rectangle 9"/>
          <p:cNvSpPr>
            <a:spLocks noChangeArrowheads="1"/>
          </p:cNvSpPr>
          <p:nvPr/>
        </p:nvSpPr>
        <p:spPr bwMode="auto">
          <a:xfrm>
            <a:off x="6661150" y="198913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2" name="Rectangle 10"/>
          <p:cNvSpPr>
            <a:spLocks noChangeArrowheads="1"/>
          </p:cNvSpPr>
          <p:nvPr/>
        </p:nvSpPr>
        <p:spPr bwMode="auto">
          <a:xfrm>
            <a:off x="5408613"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3" name="Rectangle 11"/>
          <p:cNvSpPr>
            <a:spLocks noChangeArrowheads="1"/>
          </p:cNvSpPr>
          <p:nvPr/>
        </p:nvSpPr>
        <p:spPr bwMode="auto">
          <a:xfrm>
            <a:off x="6073775"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4" name="Rectangle 12"/>
          <p:cNvSpPr>
            <a:spLocks noChangeArrowheads="1"/>
          </p:cNvSpPr>
          <p:nvPr/>
        </p:nvSpPr>
        <p:spPr bwMode="auto">
          <a:xfrm>
            <a:off x="6732588" y="3860800"/>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85" name="Rectangle 13"/>
          <p:cNvSpPr>
            <a:spLocks noChangeArrowheads="1"/>
          </p:cNvSpPr>
          <p:nvPr/>
        </p:nvSpPr>
        <p:spPr bwMode="auto">
          <a:xfrm>
            <a:off x="327660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6" name="Rectangle 14"/>
          <p:cNvSpPr>
            <a:spLocks noChangeArrowheads="1"/>
          </p:cNvSpPr>
          <p:nvPr/>
        </p:nvSpPr>
        <p:spPr bwMode="auto">
          <a:xfrm>
            <a:off x="3941763"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1" name="Line 19"/>
          <p:cNvSpPr>
            <a:spLocks noChangeShapeType="1"/>
          </p:cNvSpPr>
          <p:nvPr/>
        </p:nvSpPr>
        <p:spPr bwMode="auto">
          <a:xfrm>
            <a:off x="6300788" y="3213100"/>
            <a:ext cx="0" cy="576263"/>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93" name="Rectangle 21"/>
          <p:cNvSpPr>
            <a:spLocks noChangeArrowheads="1"/>
          </p:cNvSpPr>
          <p:nvPr/>
        </p:nvSpPr>
        <p:spPr bwMode="auto">
          <a:xfrm>
            <a:off x="460375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716" name="Text Box 44"/>
          <p:cNvSpPr txBox="1">
            <a:spLocks noChangeArrowheads="1"/>
          </p:cNvSpPr>
          <p:nvPr/>
        </p:nvSpPr>
        <p:spPr bwMode="auto">
          <a:xfrm>
            <a:off x="1331913" y="2205038"/>
            <a:ext cx="1223963" cy="57943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父类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38" name="Text Box 44"/>
          <p:cNvSpPr txBox="1">
            <a:spLocks noChangeArrowheads="1"/>
          </p:cNvSpPr>
          <p:nvPr/>
        </p:nvSpPr>
        <p:spPr bwMode="auto">
          <a:xfrm>
            <a:off x="1331913" y="4144963"/>
            <a:ext cx="1655763" cy="58578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派生类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39" name="Text Box 44"/>
          <p:cNvSpPr txBox="1">
            <a:spLocks noChangeArrowheads="1"/>
          </p:cNvSpPr>
          <p:nvPr/>
        </p:nvSpPr>
        <p:spPr bwMode="auto">
          <a:xfrm>
            <a:off x="6372225" y="3209925"/>
            <a:ext cx="1223963" cy="584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复用</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69" name="Text Box 3"/>
          <p:cNvSpPr txBox="1"/>
          <p:nvPr/>
        </p:nvSpPr>
        <p:spPr>
          <a:xfrm>
            <a:off x="28575" y="549275"/>
            <a:ext cx="860425" cy="1774825"/>
          </a:xfrm>
          <a:prstGeom prst="rect">
            <a:avLst/>
          </a:prstGeom>
          <a:noFill/>
          <a:ln w="9525">
            <a:noFill/>
          </a:ln>
        </p:spPr>
        <p:txBody>
          <a:bodyPr vert="eaVert" wrap="square"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2677" name="Rectangle 5"/>
          <p:cNvSpPr>
            <a:spLocks noChangeArrowheads="1"/>
          </p:cNvSpPr>
          <p:nvPr/>
        </p:nvSpPr>
        <p:spPr bwMode="auto">
          <a:xfrm>
            <a:off x="4545013"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0" name="Rectangle 8"/>
          <p:cNvSpPr>
            <a:spLocks noChangeArrowheads="1"/>
          </p:cNvSpPr>
          <p:nvPr/>
        </p:nvSpPr>
        <p:spPr bwMode="auto">
          <a:xfrm>
            <a:off x="5210175"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1" name="Rectangle 9"/>
          <p:cNvSpPr>
            <a:spLocks noChangeArrowheads="1"/>
          </p:cNvSpPr>
          <p:nvPr/>
        </p:nvSpPr>
        <p:spPr bwMode="auto">
          <a:xfrm>
            <a:off x="5868988"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2" name="Rectangle 10"/>
          <p:cNvSpPr>
            <a:spLocks noChangeArrowheads="1"/>
          </p:cNvSpPr>
          <p:nvPr/>
        </p:nvSpPr>
        <p:spPr bwMode="auto">
          <a:xfrm>
            <a:off x="4545013"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3" name="Rectangle 11"/>
          <p:cNvSpPr>
            <a:spLocks noChangeArrowheads="1"/>
          </p:cNvSpPr>
          <p:nvPr/>
        </p:nvSpPr>
        <p:spPr bwMode="auto">
          <a:xfrm>
            <a:off x="5210175"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4" name="Rectangle 12"/>
          <p:cNvSpPr>
            <a:spLocks noChangeArrowheads="1"/>
          </p:cNvSpPr>
          <p:nvPr/>
        </p:nvSpPr>
        <p:spPr bwMode="auto">
          <a:xfrm>
            <a:off x="5868988" y="3860800"/>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85" name="Rectangle 13"/>
          <p:cNvSpPr>
            <a:spLocks noChangeArrowheads="1"/>
          </p:cNvSpPr>
          <p:nvPr/>
        </p:nvSpPr>
        <p:spPr bwMode="auto">
          <a:xfrm>
            <a:off x="241300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6" name="Rectangle 14"/>
          <p:cNvSpPr>
            <a:spLocks noChangeArrowheads="1"/>
          </p:cNvSpPr>
          <p:nvPr/>
        </p:nvSpPr>
        <p:spPr bwMode="auto">
          <a:xfrm>
            <a:off x="3078163"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7" name="Line 15"/>
          <p:cNvSpPr>
            <a:spLocks noChangeShapeType="1"/>
          </p:cNvSpPr>
          <p:nvPr/>
        </p:nvSpPr>
        <p:spPr bwMode="auto">
          <a:xfrm>
            <a:off x="1765300" y="3789363"/>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88" name="Line 16"/>
          <p:cNvSpPr>
            <a:spLocks noChangeShapeType="1"/>
          </p:cNvSpPr>
          <p:nvPr/>
        </p:nvSpPr>
        <p:spPr bwMode="auto">
          <a:xfrm flipH="1">
            <a:off x="6732588" y="3789363"/>
            <a:ext cx="1588" cy="1439863"/>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89" name="Line 17"/>
          <p:cNvSpPr>
            <a:spLocks noChangeShapeType="1"/>
          </p:cNvSpPr>
          <p:nvPr/>
        </p:nvSpPr>
        <p:spPr bwMode="auto">
          <a:xfrm flipH="1">
            <a:off x="1692275" y="5229225"/>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90" name="Line 18"/>
          <p:cNvSpPr>
            <a:spLocks noChangeShapeType="1"/>
          </p:cNvSpPr>
          <p:nvPr/>
        </p:nvSpPr>
        <p:spPr bwMode="auto">
          <a:xfrm>
            <a:off x="1725613" y="3789363"/>
            <a:ext cx="0" cy="1439863"/>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91" name="Line 19"/>
          <p:cNvSpPr>
            <a:spLocks noChangeShapeType="1"/>
          </p:cNvSpPr>
          <p:nvPr/>
        </p:nvSpPr>
        <p:spPr bwMode="auto">
          <a:xfrm>
            <a:off x="5365750" y="3141663"/>
            <a:ext cx="0" cy="576263"/>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92" name="Text Box 20"/>
          <p:cNvSpPr txBox="1">
            <a:spLocks noChangeArrowheads="1"/>
          </p:cNvSpPr>
          <p:nvPr/>
        </p:nvSpPr>
        <p:spPr bwMode="auto">
          <a:xfrm>
            <a:off x="0" y="0"/>
            <a:ext cx="9144000" cy="519113"/>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8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访问：函数访问数据成员</a:t>
            </a:r>
            <a:r>
              <a:rPr kumimoji="1" lang="en-US" altLang="zh-CN" sz="28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&amp;</a:t>
            </a:r>
            <a:r>
              <a:rPr kumimoji="1" lang="zh-CN" altLang="en-US" sz="28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函数访问函数。</a:t>
            </a:r>
            <a:r>
              <a:rPr kumimoji="1" lang="zh-CN" altLang="en-US" sz="2800" b="1" u="sng"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直接</a:t>
            </a:r>
            <a:r>
              <a:rPr kumimoji="1" lang="zh-CN" altLang="en-US" sz="28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和间接 </a:t>
            </a:r>
            <a:endParaRPr kumimoji="1" lang="zh-CN" altLang="en-US" sz="28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693" name="Rectangle 21"/>
          <p:cNvSpPr>
            <a:spLocks noChangeArrowheads="1"/>
          </p:cNvSpPr>
          <p:nvPr/>
        </p:nvSpPr>
        <p:spPr bwMode="auto">
          <a:xfrm>
            <a:off x="374015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4" name="Rectangle 22"/>
          <p:cNvSpPr>
            <a:spLocks noChangeArrowheads="1"/>
          </p:cNvSpPr>
          <p:nvPr/>
        </p:nvSpPr>
        <p:spPr bwMode="auto">
          <a:xfrm>
            <a:off x="4545013" y="544512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5" name="Rectangle 23"/>
          <p:cNvSpPr>
            <a:spLocks noChangeArrowheads="1"/>
          </p:cNvSpPr>
          <p:nvPr/>
        </p:nvSpPr>
        <p:spPr bwMode="auto">
          <a:xfrm>
            <a:off x="5210175" y="5445125"/>
            <a:ext cx="647700" cy="1152525"/>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6" name="Rectangle 24"/>
          <p:cNvSpPr>
            <a:spLocks noChangeArrowheads="1"/>
          </p:cNvSpPr>
          <p:nvPr/>
        </p:nvSpPr>
        <p:spPr bwMode="auto">
          <a:xfrm>
            <a:off x="5868988" y="5445125"/>
            <a:ext cx="647700" cy="1152525"/>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7" name="Rectangle 25"/>
          <p:cNvSpPr>
            <a:spLocks noChangeArrowheads="1"/>
          </p:cNvSpPr>
          <p:nvPr/>
        </p:nvSpPr>
        <p:spPr bwMode="auto">
          <a:xfrm>
            <a:off x="2413000" y="5446713"/>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8" name="Rectangle 26"/>
          <p:cNvSpPr>
            <a:spLocks noChangeArrowheads="1"/>
          </p:cNvSpPr>
          <p:nvPr/>
        </p:nvSpPr>
        <p:spPr bwMode="auto">
          <a:xfrm>
            <a:off x="3078163" y="5446713"/>
            <a:ext cx="647700" cy="1152525"/>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9" name="Line 27"/>
          <p:cNvSpPr>
            <a:spLocks noChangeShapeType="1"/>
          </p:cNvSpPr>
          <p:nvPr/>
        </p:nvSpPr>
        <p:spPr bwMode="auto">
          <a:xfrm>
            <a:off x="1765300" y="5373688"/>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0" name="Line 28"/>
          <p:cNvSpPr>
            <a:spLocks noChangeShapeType="1"/>
          </p:cNvSpPr>
          <p:nvPr/>
        </p:nvSpPr>
        <p:spPr bwMode="auto">
          <a:xfrm>
            <a:off x="6734175" y="5373688"/>
            <a:ext cx="0" cy="1439863"/>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1" name="Line 29"/>
          <p:cNvSpPr>
            <a:spLocks noChangeShapeType="1"/>
          </p:cNvSpPr>
          <p:nvPr/>
        </p:nvSpPr>
        <p:spPr bwMode="auto">
          <a:xfrm flipH="1">
            <a:off x="1692275" y="6813550"/>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2" name="Line 30"/>
          <p:cNvSpPr>
            <a:spLocks noChangeShapeType="1"/>
          </p:cNvSpPr>
          <p:nvPr/>
        </p:nvSpPr>
        <p:spPr bwMode="auto">
          <a:xfrm>
            <a:off x="1725613" y="5373688"/>
            <a:ext cx="0" cy="1439863"/>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4" name="Rectangle 32"/>
          <p:cNvSpPr>
            <a:spLocks noChangeArrowheads="1"/>
          </p:cNvSpPr>
          <p:nvPr/>
        </p:nvSpPr>
        <p:spPr bwMode="auto">
          <a:xfrm>
            <a:off x="3740150" y="5446713"/>
            <a:ext cx="647700" cy="1152525"/>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706" name="Text Box 34"/>
          <p:cNvSpPr txBox="1">
            <a:spLocks noChangeArrowheads="1"/>
          </p:cNvSpPr>
          <p:nvPr/>
        </p:nvSpPr>
        <p:spPr bwMode="auto">
          <a:xfrm>
            <a:off x="6948488" y="3500438"/>
            <a:ext cx="2195513" cy="2124075"/>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对内（父</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父）</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a:p>
            <a:pPr marR="0" algn="just" defTabSz="914400">
              <a:spcBef>
                <a:spcPct val="50000"/>
              </a:spcBef>
              <a:buClrTx/>
              <a:buSzTx/>
              <a:buFontTx/>
              <a:defRPr/>
            </a:pP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        </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        </a:t>
            </a:r>
            <a:r>
              <a:rPr kumimoji="1" lang="zh-CN" altLang="en-US" sz="240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（父</a:t>
            </a:r>
            <a:r>
              <a:rPr kumimoji="1" lang="en-US" altLang="zh-CN" sz="240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a:t>
            </a:r>
            <a:endParaRPr kumimoji="1" lang="en-US" altLang="zh-CN" sz="240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        </a:t>
            </a:r>
            <a:r>
              <a:rPr kumimoji="1" lang="zh-CN" altLang="en-US" sz="2400"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a:t>
            </a:r>
            <a:r>
              <a:rPr kumimoji="1" lang="en-US" altLang="zh-CN" sz="2400"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父）</a:t>
            </a:r>
            <a:endParaRPr kumimoji="1" lang="zh-CN" altLang="en-US" sz="2400"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07" name="Text Box 35"/>
          <p:cNvSpPr txBox="1">
            <a:spLocks noChangeArrowheads="1"/>
          </p:cNvSpPr>
          <p:nvPr/>
        </p:nvSpPr>
        <p:spPr bwMode="auto">
          <a:xfrm>
            <a:off x="7019925" y="5851525"/>
            <a:ext cx="1347788" cy="460375"/>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endPar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1" name="Rectangle 39"/>
          <p:cNvSpPr>
            <a:spLocks noChangeArrowheads="1"/>
          </p:cNvSpPr>
          <p:nvPr/>
        </p:nvSpPr>
        <p:spPr bwMode="auto">
          <a:xfrm>
            <a:off x="4572000" y="1916113"/>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712" name="Rectangle 40"/>
          <p:cNvSpPr>
            <a:spLocks noChangeArrowheads="1"/>
          </p:cNvSpPr>
          <p:nvPr/>
        </p:nvSpPr>
        <p:spPr bwMode="auto">
          <a:xfrm>
            <a:off x="5237163" y="1916113"/>
            <a:ext cx="647700" cy="1152525"/>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713" name="Rectangle 41"/>
          <p:cNvSpPr>
            <a:spLocks noChangeArrowheads="1"/>
          </p:cNvSpPr>
          <p:nvPr/>
        </p:nvSpPr>
        <p:spPr bwMode="auto">
          <a:xfrm>
            <a:off x="5895975" y="1916113"/>
            <a:ext cx="647700" cy="1152525"/>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714" name="Text Box 42"/>
          <p:cNvSpPr txBox="1">
            <a:spLocks noChangeArrowheads="1"/>
          </p:cNvSpPr>
          <p:nvPr/>
        </p:nvSpPr>
        <p:spPr bwMode="auto">
          <a:xfrm>
            <a:off x="6875463" y="811213"/>
            <a:ext cx="935038" cy="457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对内</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5" name="Text Box 43"/>
          <p:cNvSpPr txBox="1">
            <a:spLocks noChangeArrowheads="1"/>
          </p:cNvSpPr>
          <p:nvPr/>
        </p:nvSpPr>
        <p:spPr bwMode="auto">
          <a:xfrm>
            <a:off x="6946900" y="2324100"/>
            <a:ext cx="935038" cy="457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6" name="Text Box 44"/>
          <p:cNvSpPr txBox="1">
            <a:spLocks noChangeArrowheads="1"/>
          </p:cNvSpPr>
          <p:nvPr/>
        </p:nvSpPr>
        <p:spPr bwMode="auto">
          <a:xfrm>
            <a:off x="2339975" y="1531938"/>
            <a:ext cx="1223963" cy="57943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父类</a:t>
            </a:r>
            <a:endParaRPr kumimoji="1" lang="zh-CN" altLang="en-US" sz="32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7" name="Text Box 45"/>
          <p:cNvSpPr txBox="1">
            <a:spLocks noChangeArrowheads="1"/>
          </p:cNvSpPr>
          <p:nvPr/>
        </p:nvSpPr>
        <p:spPr bwMode="auto">
          <a:xfrm>
            <a:off x="2355850" y="3049588"/>
            <a:ext cx="1512888" cy="57943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派生类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2" name="Text Box 44"/>
          <p:cNvSpPr txBox="1">
            <a:spLocks noChangeArrowheads="1"/>
          </p:cNvSpPr>
          <p:nvPr/>
        </p:nvSpPr>
        <p:spPr bwMode="auto">
          <a:xfrm>
            <a:off x="26988" y="3883025"/>
            <a:ext cx="1223963" cy="1198563"/>
          </a:xfrm>
          <a:prstGeom prst="rect">
            <a:avLst/>
          </a:prstGeom>
          <a:noFill/>
          <a:ln>
            <a:noFill/>
          </a:ln>
          <a:effectLst/>
        </p:spPr>
        <p:txBody>
          <a:bodyPr>
            <a:spAutoFit/>
          </a:bodyPr>
          <a:p>
            <a:pPr marR="0" algn="just" defTabSz="914400">
              <a:spcBef>
                <a:spcPct val="50000"/>
              </a:spcBef>
              <a:buClrTx/>
              <a:buSzTx/>
              <a:buFontTx/>
              <a:defRPr/>
            </a:pPr>
            <a:r>
              <a:rPr kumimoji="1" lang="zh-CN" altLang="en-US" sz="240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注意内外的重叠部分</a:t>
            </a:r>
            <a:endParaRPr kumimoji="1" lang="zh-CN" altLang="en-US" sz="240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Text Box 2"/>
          <p:cNvSpPr txBox="1">
            <a:spLocks noChangeArrowheads="1"/>
          </p:cNvSpPr>
          <p:nvPr/>
        </p:nvSpPr>
        <p:spPr bwMode="auto">
          <a:xfrm>
            <a:off x="62865" y="44450"/>
            <a:ext cx="9081135" cy="6862445"/>
          </a:xfrm>
          <a:prstGeom prst="rect">
            <a:avLst/>
          </a:prstGeom>
          <a:noFill/>
          <a:ln>
            <a:noFill/>
          </a:ln>
          <a:effectLst/>
        </p:spPr>
        <p:txBody>
          <a:bodyPr wrap="square">
            <a:spAutoFit/>
          </a:bodyPr>
          <a:lstStyle/>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m3;</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m1;  void x(){m1=1;m2=2;m3=3;}//</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父类对内</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m2;</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000" b="1" i="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0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Student{</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n3;</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n1; </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z(){n1=1;n2=2;n3=3;}               //</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派生类对内</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y(){m1=1;m2=2;</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m3=3;  </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x();}    //</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对上</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成员的直接和间接访问</a:t>
            </a:r>
            <a:endPar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o(Student &amp;s){s.m1=1;</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s.m2=1;s.m3=3;</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视为类外</a:t>
            </a:r>
            <a:endPar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000" b="1" noProof="0" dirty="0">
                <a:effectLst>
                  <a:outerShdw blurRad="38100" dist="38100" dir="2700000" algn="tl">
                    <a:srgbClr val="000000"/>
                  </a:outerShdw>
                </a:effectLst>
                <a:sym typeface="+mn-ea"/>
              </a:rPr>
              <a:t>   </a:t>
            </a:r>
            <a:r>
              <a:rPr kumimoji="1" lang="en-US" altLang="zh-CN" sz="2000" b="1" noProof="0" dirty="0">
                <a:effectLst>
                  <a:outerShdw blurRad="38100" dist="38100" dir="2700000" algn="tl">
                    <a:srgbClr val="000000"/>
                  </a:outerShdw>
                </a:effectLst>
                <a:sym typeface="+mn-ea"/>
              </a:rPr>
              <a:t>void p(Master &amp;s){s.n1=1;s.n2=1;s.n3=3;}//</a:t>
            </a:r>
            <a:r>
              <a:rPr kumimoji="1" lang="zh-CN" altLang="en-US" sz="2000" b="1" noProof="0" dirty="0">
                <a:effectLst>
                  <a:outerShdw blurRad="38100" dist="38100" dir="2700000" algn="tl">
                    <a:srgbClr val="000000"/>
                  </a:outerShdw>
                </a:effectLst>
                <a:sym typeface="+mn-ea"/>
              </a:rPr>
              <a:t>自己和自己</a:t>
            </a:r>
            <a:endPar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000" b="1"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   </a:t>
            </a:r>
            <a:r>
              <a:rPr kumimoji="1" lang="en-US" altLang="zh-CN" sz="2000" b="1"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void q(Master &amp;s){s.m1=1;s.m2=1;</a:t>
            </a:r>
            <a:r>
              <a:rPr kumimoji="1" lang="en-US" altLang="zh-CN" sz="2000" b="1"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s.m3=3;</a:t>
            </a:r>
            <a:r>
              <a:rPr kumimoji="1" lang="en-US" altLang="zh-CN" sz="2000" b="1"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a:t>
            </a:r>
            <a:r>
              <a:rPr kumimoji="1" lang="zh-CN" altLang="en-US" sz="2000" b="1"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自己和父类的区别</a:t>
            </a:r>
            <a:endPar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n2;</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  a.m1=1;</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a.m2=2;a.m3=3;</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a.n1=1;</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a.n2=2;a.n3=3;</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a.z</a:t>
            </a: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对外</a:t>
            </a:r>
            <a:endParaRPr kumimoji="1" lang="zh-CN" altLang="en-US" sz="20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13698"/>
                                        </p:tgtEl>
                                        <p:attrNameLst>
                                          <p:attrName>style.visibility</p:attrName>
                                        </p:attrNameLst>
                                      </p:cBhvr>
                                      <p:to>
                                        <p:strVal val="visible"/>
                                      </p:to>
                                    </p:set>
                                    <p:animEffect transition="in" filter="barn(inHorizontal)">
                                      <p:cBhvr>
                                        <p:cTn id="7" dur="500"/>
                                        <p:tgtEl>
                                          <p:spTgt spid="413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bldLvl="0"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826" name="Text Box 2"/>
          <p:cNvSpPr txBox="1">
            <a:spLocks noChangeArrowheads="1"/>
          </p:cNvSpPr>
          <p:nvPr/>
        </p:nvSpPr>
        <p:spPr bwMode="auto">
          <a:xfrm>
            <a:off x="0" y="404813"/>
            <a:ext cx="4067175" cy="60023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m1;</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m1</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717827" name="Text Box 3"/>
          <p:cNvSpPr txBox="1">
            <a:spLocks noChangeArrowheads="1"/>
          </p:cNvSpPr>
          <p:nvPr/>
        </p:nvSpPr>
        <p:spPr bwMode="auto">
          <a:xfrm>
            <a:off x="4140200" y="476250"/>
            <a:ext cx="5003800" cy="452437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MasterEnginee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p1;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m2</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p2;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p3;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n2</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MasterEnginee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7826"/>
                                        </p:tgtEl>
                                        <p:attrNameLst>
                                          <p:attrName>style.visibility</p:attrName>
                                        </p:attrNameLst>
                                      </p:cBhvr>
                                      <p:to>
                                        <p:strVal val="visible"/>
                                      </p:to>
                                    </p:set>
                                    <p:animEffect transition="in" filter="barn(inHorizontal)">
                                      <p:cBhvr>
                                        <p:cTn id="7" dur="500"/>
                                        <p:tgtEl>
                                          <p:spTgt spid="7178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717827"/>
                                        </p:tgtEl>
                                        <p:attrNameLst>
                                          <p:attrName>style.visibility</p:attrName>
                                        </p:attrNameLst>
                                      </p:cBhvr>
                                      <p:to>
                                        <p:strVal val="visible"/>
                                      </p:to>
                                    </p:set>
                                    <p:animEffect transition="in" filter="barn(inHorizontal)">
                                      <p:cBhvr>
                                        <p:cTn id="12" dur="500"/>
                                        <p:tgtEl>
                                          <p:spTgt spid="71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6" grpId="0"/>
      <p:bldP spid="717827"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0610" name="Text Box 2"/>
          <p:cNvSpPr txBox="1">
            <a:spLocks noChangeArrowheads="1"/>
          </p:cNvSpPr>
          <p:nvPr/>
        </p:nvSpPr>
        <p:spPr bwMode="auto">
          <a:xfrm>
            <a:off x="1476375" y="2420938"/>
            <a:ext cx="7272338" cy="2862263"/>
          </a:xfrm>
          <a:prstGeom prst="rect">
            <a:avLst/>
          </a:prstGeom>
          <a:noFill/>
          <a:ln>
            <a:noFill/>
          </a:ln>
          <a:effectLst/>
        </p:spPr>
        <p:txBody>
          <a:bodyPr>
            <a:spAutoFit/>
          </a:bodyPr>
          <a:lstStyle/>
          <a:p>
            <a:pPr marR="0" algn="just" defTabSz="914400">
              <a:buClrTx/>
              <a:buSzTx/>
              <a:buFontTx/>
              <a:defRPr/>
            </a:pPr>
            <a:r>
              <a:rPr kumimoji="1" lang="zh-CN" altLang="en-US" sz="36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继承的本质实际上就是由上到下完全的复制；但是在对内可见性上做了手脚，对外可见性则没有改变。</a:t>
            </a:r>
            <a:endParaRPr kumimoji="1" lang="en-US" altLang="zh-CN" sz="36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36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36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派生的内容则等同于原始类的定义。</a:t>
            </a:r>
            <a:endParaRPr kumimoji="1" lang="zh-CN" altLang="en-US" sz="36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6242" name="Text Box 3"/>
          <p:cNvSpPr txBox="1"/>
          <p:nvPr/>
        </p:nvSpPr>
        <p:spPr>
          <a:xfrm>
            <a:off x="622300"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80610"/>
                                        </p:tgtEl>
                                        <p:attrNameLst>
                                          <p:attrName>style.visibility</p:attrName>
                                        </p:attrNameLst>
                                      </p:cBhvr>
                                      <p:to>
                                        <p:strVal val="visible"/>
                                      </p:to>
                                    </p:set>
                                    <p:animEffect transition="in" filter="barn(inHorizontal)">
                                      <p:cBhvr>
                                        <p:cTn id="7" dur="500"/>
                                        <p:tgtEl>
                                          <p:spTgt spid="580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0"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5" name="Text Box 3"/>
          <p:cNvSpPr txBox="1"/>
          <p:nvPr/>
        </p:nvSpPr>
        <p:spPr>
          <a:xfrm>
            <a:off x="622300"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48835" name="Rectangle 5"/>
          <p:cNvSpPr>
            <a:spLocks noGrp="1" noChangeArrowheads="1"/>
          </p:cNvSpPr>
          <p:nvPr>
            <p:ph idx="1"/>
          </p:nvPr>
        </p:nvSpPr>
        <p:spPr>
          <a:xfrm>
            <a:off x="1411605" y="908050"/>
            <a:ext cx="7731760" cy="5113655"/>
          </a:xfrm>
        </p:spPr>
        <p:txBody>
          <a:bodyPr vert="horz" wrap="square" lIns="92075" tIns="46037" rIns="92075" bIns="46037" numCol="1" anchor="t" anchorCtr="0" compatLnSpc="1"/>
          <a:lstStyle/>
          <a:p>
            <a:pPr marL="342900" marR="0" lvl="0" indent="-342900" algn="just" defTabSz="914400" rtl="0" eaLnBrk="1" fontAlgn="base" latinLnBrk="0" hangingPunct="1">
              <a:lnSpc>
                <a:spcPct val="80000"/>
              </a:lnSpc>
              <a:spcBef>
                <a:spcPct val="20000"/>
              </a:spcBef>
              <a:spcAft>
                <a:spcPct val="0"/>
              </a:spcAft>
              <a:buClrTx/>
              <a:buSzTx/>
              <a:buFontTx/>
              <a:buBlip>
                <a:blip r:embed="rId1"/>
              </a:buBlip>
              <a:defRPr/>
            </a:pPr>
            <a:r>
              <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宇宙万事万物都是分类分层的，解决问题可以从事物之间的上下关系中着手．这是继承引入程序设计的前提．</a:t>
            </a:r>
            <a:endPar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Blip>
                <a:blip r:embed="rId1"/>
              </a:buBlip>
              <a:defRPr/>
            </a:pPr>
            <a:endParaRPr kumimoji="1" lang="zh-CN" altLang="en-US" sz="1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Blip>
                <a:blip r:embed="rId1"/>
              </a:buBlip>
              <a:defRPr/>
            </a:pPr>
            <a:r>
              <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例如：已知鸟的属性，燕子是什么的描述便</a:t>
            </a:r>
            <a:r>
              <a:rPr kumimoji="1" lang="zh-CN" altLang="en-US" sz="2800" b="0" i="0" u="sng"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可以在鸟的基础上进行（复用）</a:t>
            </a:r>
            <a:r>
              <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a:t>
            </a:r>
            <a:endPar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rPr>
              <a:t>　　　</a:t>
            </a:r>
            <a:endParaRPr kumimoji="1" lang="zh-CN" altLang="en-US" sz="2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rPr>
              <a:t>燕子是鸟。    （全部：脊椎、翅膀、羽毛、喙；走、飞、吃虫）</a:t>
            </a:r>
            <a:endParaRPr kumimoji="1" lang="en-US" altLang="zh-CN"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rPr>
              <a:t>燕子是候鸟。  （增加）</a:t>
            </a:r>
            <a:r>
              <a:rPr kumimoji="1" lang="en-US" altLang="zh-CN"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rPr>
              <a:t>      </a:t>
            </a:r>
            <a:endParaRPr kumimoji="1" lang="en-US" altLang="zh-CN"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rPr>
              <a:t>叫声特别好听。（改写） </a:t>
            </a:r>
            <a:endParaRPr kumimoji="1" lang="zh-CN" altLang="en-US" sz="2800" b="0"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80000"/>
              </a:lnSpc>
              <a:spcBef>
                <a:spcPct val="20000"/>
              </a:spcBef>
              <a:spcAft>
                <a:spcPct val="0"/>
              </a:spcAft>
              <a:buClrTx/>
              <a:buSzTx/>
              <a:buFontTx/>
              <a:buNone/>
              <a:defRPr/>
            </a:pPr>
            <a:endParaRPr kumimoji="1" lang="en-US" altLang="zh-CN" sz="18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89" name="Rectangle 6"/>
          <p:cNvSpPr>
            <a:spLocks noGrp="1"/>
          </p:cNvSpPr>
          <p:nvPr>
            <p:ph idx="1"/>
          </p:nvPr>
        </p:nvSpPr>
        <p:spPr>
          <a:xfrm>
            <a:off x="107950" y="0"/>
            <a:ext cx="9036050" cy="6742113"/>
          </a:xfrm>
        </p:spPr>
        <p:txBody>
          <a:bodyPr vert="horz" wrap="square" lIns="92075" tIns="46037" rIns="92075" bIns="46037" anchor="t"/>
          <a:p>
            <a:pPr algn="just" eaLnBrk="1" hangingPunct="1">
              <a:lnSpc>
                <a:spcPct val="80000"/>
              </a:lnSpc>
              <a:buNone/>
            </a:pPr>
            <a:r>
              <a:rPr lang="zh-CN" altLang="en-US" sz="2800" dirty="0">
                <a:solidFill>
                  <a:srgbClr val="FF0000"/>
                </a:solidFill>
                <a:latin typeface="黑体" panose="02010609060101010101" pitchFamily="49" charset="-122"/>
                <a:ea typeface="黑体" panose="02010609060101010101" pitchFamily="49" charset="-122"/>
              </a:rPr>
              <a:t>我公司</a:t>
            </a:r>
            <a:r>
              <a:rPr lang="zh-CN" altLang="en-US" sz="2800" dirty="0">
                <a:solidFill>
                  <a:srgbClr val="FFFF00"/>
                </a:solidFill>
                <a:latin typeface="黑体" panose="02010609060101010101" pitchFamily="49" charset="-122"/>
                <a:ea typeface="黑体" panose="02010609060101010101" pitchFamily="49" charset="-122"/>
              </a:rPr>
              <a:t>向</a:t>
            </a:r>
            <a:r>
              <a:rPr lang="en-US" altLang="zh-CN" sz="2800" dirty="0">
                <a:solidFill>
                  <a:srgbClr val="FF0000"/>
                </a:solidFill>
                <a:latin typeface="黑体" panose="02010609060101010101" pitchFamily="49" charset="-122"/>
                <a:ea typeface="黑体" panose="02010609060101010101" pitchFamily="49" charset="-122"/>
              </a:rPr>
              <a:t>A</a:t>
            </a:r>
            <a:r>
              <a:rPr lang="zh-CN" altLang="en-US" sz="2800" dirty="0">
                <a:solidFill>
                  <a:srgbClr val="FF0000"/>
                </a:solidFill>
                <a:latin typeface="黑体" panose="02010609060101010101" pitchFamily="49" charset="-122"/>
                <a:ea typeface="黑体" panose="02010609060101010101" pitchFamily="49" charset="-122"/>
              </a:rPr>
              <a:t>公司</a:t>
            </a:r>
            <a:r>
              <a:rPr lang="zh-CN" altLang="en-US" sz="2800" dirty="0">
                <a:solidFill>
                  <a:srgbClr val="FFFF00"/>
                </a:solidFill>
                <a:latin typeface="黑体" panose="02010609060101010101" pitchFamily="49" charset="-122"/>
                <a:ea typeface="黑体" panose="02010609060101010101" pitchFamily="49" charset="-122"/>
              </a:rPr>
              <a:t>采购高级相机，包含（按钮、图像质量设定、编码算法）等属性。</a:t>
            </a:r>
            <a:r>
              <a:rPr lang="en-US" altLang="zh-CN" sz="2800" dirty="0">
                <a:solidFill>
                  <a:srgbClr val="FFFF00"/>
                </a:solidFill>
                <a:latin typeface="黑体" panose="02010609060101010101" pitchFamily="49" charset="-122"/>
                <a:ea typeface="黑体" panose="02010609060101010101" pitchFamily="49" charset="-122"/>
              </a:rPr>
              <a:t>Public\protected\private</a:t>
            </a:r>
            <a:endParaRPr lang="en-US" altLang="zh-CN"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我公司连接一台电脑</a:t>
            </a:r>
            <a:r>
              <a:rPr lang="en-US" altLang="zh-CN" sz="2800" dirty="0">
                <a:solidFill>
                  <a:srgbClr val="FFFF00"/>
                </a:solidFill>
                <a:latin typeface="黑体" panose="02010609060101010101" pitchFamily="49" charset="-122"/>
                <a:ea typeface="黑体" panose="02010609060101010101" pitchFamily="49" charset="-122"/>
              </a:rPr>
              <a:t>(</a:t>
            </a:r>
            <a:r>
              <a:rPr lang="zh-CN" altLang="en-US" sz="2800" dirty="0">
                <a:solidFill>
                  <a:srgbClr val="FFFF00"/>
                </a:solidFill>
                <a:latin typeface="黑体" panose="02010609060101010101" pitchFamily="49" charset="-122"/>
                <a:ea typeface="黑体" panose="02010609060101010101" pitchFamily="49" charset="-122"/>
              </a:rPr>
              <a:t>操作菜单、硬件、源代码</a:t>
            </a:r>
            <a:r>
              <a:rPr lang="en-US" altLang="zh-CN" sz="2800" dirty="0">
                <a:solidFill>
                  <a:srgbClr val="FFFF00"/>
                </a:solidFill>
                <a:latin typeface="黑体" panose="02010609060101010101" pitchFamily="49" charset="-122"/>
                <a:ea typeface="黑体" panose="02010609060101010101" pitchFamily="49" charset="-122"/>
              </a:rPr>
              <a:t>)</a:t>
            </a:r>
            <a:r>
              <a:rPr lang="zh-CN" altLang="en-US" sz="2800" dirty="0">
                <a:solidFill>
                  <a:srgbClr val="FFFF00"/>
                </a:solidFill>
                <a:latin typeface="黑体" panose="02010609060101010101" pitchFamily="49" charset="-122"/>
                <a:ea typeface="黑体" panose="02010609060101010101" pitchFamily="49" charset="-122"/>
              </a:rPr>
              <a:t>后成为一个抓拍系统销售给</a:t>
            </a:r>
            <a:r>
              <a:rPr lang="zh-CN" altLang="en-US" sz="2800" dirty="0">
                <a:solidFill>
                  <a:srgbClr val="FF0000"/>
                </a:solidFill>
                <a:latin typeface="黑体" panose="02010609060101010101" pitchFamily="49" charset="-122"/>
                <a:ea typeface="黑体" panose="02010609060101010101" pitchFamily="49" charset="-122"/>
              </a:rPr>
              <a:t>用户</a:t>
            </a:r>
            <a:r>
              <a:rPr lang="zh-CN" altLang="en-US" sz="2800" dirty="0">
                <a:solidFill>
                  <a:srgbClr val="FFFF00"/>
                </a:solidFill>
                <a:latin typeface="黑体" panose="02010609060101010101" pitchFamily="49" charset="-122"/>
                <a:ea typeface="黑体" panose="02010609060101010101" pitchFamily="49" charset="-122"/>
              </a:rPr>
              <a:t>。</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en-US" altLang="zh-CN" sz="2800" dirty="0">
                <a:solidFill>
                  <a:srgbClr val="FFFF00"/>
                </a:solidFill>
                <a:latin typeface="黑体" panose="02010609060101010101" pitchFamily="49" charset="-122"/>
                <a:ea typeface="黑体" panose="02010609060101010101" pitchFamily="49" charset="-122"/>
              </a:rPr>
              <a:t>1</a:t>
            </a: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Public</a:t>
            </a:r>
            <a:r>
              <a:rPr lang="zh-CN" altLang="en-US" sz="2800" dirty="0">
                <a:solidFill>
                  <a:srgbClr val="FFFF00"/>
                </a:solidFill>
                <a:latin typeface="黑体" panose="02010609060101010101" pitchFamily="49" charset="-122"/>
                <a:ea typeface="黑体" panose="02010609060101010101" pitchFamily="49" charset="-122"/>
              </a:rPr>
              <a:t>继承：</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我公司可以操作电脑全部，相机前两项</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用户可以操作电脑的操作菜单和相机的按钮</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en-US" altLang="zh-CN" sz="2800" dirty="0">
                <a:solidFill>
                  <a:srgbClr val="FFFF00"/>
                </a:solidFill>
                <a:latin typeface="黑体" panose="02010609060101010101" pitchFamily="49" charset="-122"/>
                <a:ea typeface="黑体" panose="02010609060101010101" pitchFamily="49" charset="-122"/>
              </a:rPr>
              <a:t>2</a:t>
            </a: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Protected</a:t>
            </a:r>
            <a:r>
              <a:rPr lang="zh-CN" altLang="en-US" sz="2800" dirty="0">
                <a:solidFill>
                  <a:srgbClr val="FFFF00"/>
                </a:solidFill>
                <a:latin typeface="黑体" panose="02010609060101010101" pitchFamily="49" charset="-122"/>
                <a:ea typeface="黑体" panose="02010609060101010101" pitchFamily="49" charset="-122"/>
              </a:rPr>
              <a:t>继承：</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我公司可以操作电脑全部，相机前两项</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用户仅仅可以操作电脑的操作菜单</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en-US" altLang="zh-CN" sz="2800" dirty="0">
                <a:solidFill>
                  <a:srgbClr val="FFFF00"/>
                </a:solidFill>
                <a:latin typeface="黑体" panose="02010609060101010101" pitchFamily="49" charset="-122"/>
                <a:ea typeface="黑体" panose="02010609060101010101" pitchFamily="49" charset="-122"/>
              </a:rPr>
              <a:t>3</a:t>
            </a: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Private</a:t>
            </a:r>
            <a:r>
              <a:rPr lang="zh-CN" altLang="en-US" sz="2800" dirty="0">
                <a:solidFill>
                  <a:srgbClr val="FFFF00"/>
                </a:solidFill>
                <a:latin typeface="黑体" panose="02010609060101010101" pitchFamily="49" charset="-122"/>
                <a:ea typeface="黑体" panose="02010609060101010101" pitchFamily="49" charset="-122"/>
              </a:rPr>
              <a:t>继承：</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我公司可以操作电脑全部，相机前两项</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用户仅仅可以操作电脑的操作菜单</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zh-CN" altLang="en-US" sz="2800" dirty="0">
                <a:solidFill>
                  <a:srgbClr val="FFFF00"/>
                </a:solidFill>
                <a:latin typeface="黑体" panose="02010609060101010101" pitchFamily="49" charset="-122"/>
                <a:ea typeface="黑体" panose="02010609060101010101" pitchFamily="49" charset="-122"/>
              </a:rPr>
              <a:t>   同时相机公司要求我公司如果将系统卖给其它公司，因该公司也用于销售，不得向其泄露其全部内容</a:t>
            </a:r>
            <a:endParaRPr lang="zh-CN" altLang="en-US" sz="2800" dirty="0">
              <a:solidFill>
                <a:srgbClr val="FFFF00"/>
              </a:solidFill>
              <a:latin typeface="黑体" panose="02010609060101010101" pitchFamily="49" charset="-122"/>
              <a:ea typeface="黑体" panose="02010609060101010101" pitchFamily="49" charset="-122"/>
            </a:endParaRPr>
          </a:p>
          <a:p>
            <a:pPr algn="just" eaLnBrk="1" hangingPunct="1">
              <a:lnSpc>
                <a:spcPct val="80000"/>
              </a:lnSpc>
              <a:buNone/>
            </a:pPr>
            <a:r>
              <a:rPr lang="en-US" altLang="zh-CN" sz="2800" b="1" dirty="0">
                <a:solidFill>
                  <a:srgbClr val="92D050"/>
                </a:solidFill>
                <a:latin typeface="黑体" panose="02010609060101010101" pitchFamily="49" charset="-122"/>
                <a:ea typeface="黑体" panose="02010609060101010101" pitchFamily="49" charset="-122"/>
              </a:rPr>
              <a:t>A</a:t>
            </a:r>
            <a:r>
              <a:rPr lang="zh-CN" altLang="en-US" sz="2800" b="1" dirty="0">
                <a:solidFill>
                  <a:srgbClr val="92D050"/>
                </a:solidFill>
                <a:latin typeface="黑体" panose="02010609060101010101" pitchFamily="49" charset="-122"/>
                <a:ea typeface="黑体" panose="02010609060101010101" pitchFamily="49" charset="-122"/>
              </a:rPr>
              <a:t>公司：父类   我公司：派生类   用户：类外</a:t>
            </a:r>
            <a:endParaRPr lang="en-US" altLang="zh-CN" sz="2800" b="1" dirty="0">
              <a:solidFill>
                <a:srgbClr val="92D050"/>
              </a:solidFill>
              <a:latin typeface="黑体" panose="02010609060101010101" pitchFamily="49" charset="-122"/>
              <a:ea typeface="黑体" panose="02010609060101010101" pitchFamily="49" charset="-122"/>
            </a:endParaRPr>
          </a:p>
          <a:p>
            <a:pPr algn="just" eaLnBrk="1" hangingPunct="1">
              <a:lnSpc>
                <a:spcPct val="80000"/>
              </a:lnSpc>
              <a:buNone/>
            </a:pPr>
            <a:endParaRPr lang="en-US" altLang="zh-CN" sz="2800" b="1" dirty="0">
              <a:solidFill>
                <a:srgbClr val="92D050"/>
              </a:solidFill>
              <a:latin typeface="黑体" panose="02010609060101010101" pitchFamily="49" charset="-122"/>
              <a:ea typeface="黑体" panose="02010609060101010101" pitchFamily="49" charset="-122"/>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Text Box 2"/>
          <p:cNvSpPr txBox="1">
            <a:spLocks noChangeArrowheads="1"/>
          </p:cNvSpPr>
          <p:nvPr/>
        </p:nvSpPr>
        <p:spPr bwMode="auto">
          <a:xfrm>
            <a:off x="1330325" y="-171450"/>
            <a:ext cx="7345363" cy="74787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name;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对外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major;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9314" name="Text Box 3"/>
          <p:cNvSpPr txBox="1"/>
          <p:nvPr/>
        </p:nvSpPr>
        <p:spPr>
          <a:xfrm>
            <a:off x="622300" y="549275"/>
            <a:ext cx="854075" cy="5759450"/>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72388" name="AutoShape 4"/>
          <p:cNvSpPr>
            <a:spLocks noChangeArrowheads="1"/>
          </p:cNvSpPr>
          <p:nvPr/>
        </p:nvSpPr>
        <p:spPr bwMode="auto">
          <a:xfrm>
            <a:off x="6516688" y="0"/>
            <a:ext cx="2627313" cy="1368425"/>
          </a:xfrm>
          <a:prstGeom prst="wedgeRectCallout">
            <a:avLst>
              <a:gd name="adj1" fmla="val -135921"/>
              <a:gd name="adj2" fmla="val 151856"/>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和</a:t>
            </a:r>
            <a:r>
              <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继承相比</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收缩了对外权限；</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没有影响对内权限</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2386"/>
                                        </p:tgtEl>
                                        <p:attrNameLst>
                                          <p:attrName>style.visibility</p:attrName>
                                        </p:attrNameLst>
                                      </p:cBhvr>
                                      <p:to>
                                        <p:strVal val="visible"/>
                                      </p:to>
                                    </p:set>
                                    <p:animEffect transition="in" filter="barn(inHorizontal)">
                                      <p:cBhvr>
                                        <p:cTn id="7" dur="500"/>
                                        <p:tgtEl>
                                          <p:spTgt spid="272386"/>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272388"/>
                                        </p:tgtEl>
                                        <p:attrNameLst>
                                          <p:attrName>style.visibility</p:attrName>
                                        </p:attrNameLst>
                                      </p:cBhvr>
                                      <p:to>
                                        <p:strVal val="visible"/>
                                      </p:to>
                                    </p:set>
                                    <p:animEffect transition="in" filter="plus(in)">
                                      <p:cBhvr>
                                        <p:cTn id="12" dur="20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p:bldP spid="272388" grpId="0" animBg="1"/>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Text Box 2"/>
          <p:cNvSpPr txBox="1">
            <a:spLocks noChangeArrowheads="1"/>
          </p:cNvSpPr>
          <p:nvPr/>
        </p:nvSpPr>
        <p:spPr bwMode="auto">
          <a:xfrm>
            <a:off x="611188" y="-100012"/>
            <a:ext cx="853281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name;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对外</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protected: major;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0338" name="Text Box 3"/>
          <p:cNvSpPr txBox="1"/>
          <p:nvPr/>
        </p:nvSpPr>
        <p:spPr>
          <a:xfrm>
            <a:off x="34925" y="476250"/>
            <a:ext cx="854075" cy="5976938"/>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73412" name="AutoShape 4"/>
          <p:cNvSpPr>
            <a:spLocks noChangeArrowheads="1"/>
          </p:cNvSpPr>
          <p:nvPr/>
        </p:nvSpPr>
        <p:spPr bwMode="auto">
          <a:xfrm>
            <a:off x="6516688" y="0"/>
            <a:ext cx="2627313" cy="1368425"/>
          </a:xfrm>
          <a:prstGeom prst="wedgeRectCallout">
            <a:avLst>
              <a:gd name="adj1" fmla="val -135921"/>
              <a:gd name="adj2" fmla="val 151856"/>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和</a:t>
            </a:r>
            <a:r>
              <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继承相比</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收缩了对外权限；</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影响后代对内权限</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barn(inHorizontal)">
                                      <p:cBhvr>
                                        <p:cTn id="7" dur="500"/>
                                        <p:tgtEl>
                                          <p:spTgt spid="273410"/>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273412"/>
                                        </p:tgtEl>
                                        <p:attrNameLst>
                                          <p:attrName>style.visibility</p:attrName>
                                        </p:attrNameLst>
                                      </p:cBhvr>
                                      <p:to>
                                        <p:strVal val="visible"/>
                                      </p:to>
                                    </p:set>
                                    <p:animEffect transition="in" filter="plus(in)">
                                      <p:cBhvr>
                                        <p:cTn id="12" dur="2000"/>
                                        <p:tgtEl>
                                          <p:spTgt spid="273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0" grpId="0"/>
      <p:bldP spid="273412" grpId="0" animBg="1"/>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1" name="Text Box 2"/>
          <p:cNvSpPr txBox="1"/>
          <p:nvPr/>
        </p:nvSpPr>
        <p:spPr>
          <a:xfrm>
            <a:off x="622300"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6771" name="Rectangle 3"/>
          <p:cNvSpPr>
            <a:spLocks noChangeArrowheads="1"/>
          </p:cNvSpPr>
          <p:nvPr/>
        </p:nvSpPr>
        <p:spPr bwMode="auto">
          <a:xfrm>
            <a:off x="5048250" y="1158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2" name="Rectangle 4"/>
          <p:cNvSpPr>
            <a:spLocks noChangeArrowheads="1"/>
          </p:cNvSpPr>
          <p:nvPr/>
        </p:nvSpPr>
        <p:spPr bwMode="auto">
          <a:xfrm>
            <a:off x="5713413" y="1158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3" name="Rectangle 5"/>
          <p:cNvSpPr>
            <a:spLocks noChangeArrowheads="1"/>
          </p:cNvSpPr>
          <p:nvPr/>
        </p:nvSpPr>
        <p:spPr bwMode="auto">
          <a:xfrm>
            <a:off x="6372225" y="1158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4" name="Rectangle 6"/>
          <p:cNvSpPr>
            <a:spLocks noChangeArrowheads="1"/>
          </p:cNvSpPr>
          <p:nvPr/>
        </p:nvSpPr>
        <p:spPr bwMode="auto">
          <a:xfrm>
            <a:off x="5048250" y="18430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5" name="Rectangle 7"/>
          <p:cNvSpPr>
            <a:spLocks noChangeArrowheads="1"/>
          </p:cNvSpPr>
          <p:nvPr/>
        </p:nvSpPr>
        <p:spPr bwMode="auto">
          <a:xfrm>
            <a:off x="5713413" y="18430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6" name="Rectangle 8"/>
          <p:cNvSpPr>
            <a:spLocks noChangeArrowheads="1"/>
          </p:cNvSpPr>
          <p:nvPr/>
        </p:nvSpPr>
        <p:spPr bwMode="auto">
          <a:xfrm>
            <a:off x="6372225" y="1843088"/>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6777" name="Rectangle 9"/>
          <p:cNvSpPr>
            <a:spLocks noChangeArrowheads="1"/>
          </p:cNvSpPr>
          <p:nvPr/>
        </p:nvSpPr>
        <p:spPr bwMode="auto">
          <a:xfrm>
            <a:off x="2916238" y="18446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78" name="Rectangle 10"/>
          <p:cNvSpPr>
            <a:spLocks noChangeArrowheads="1"/>
          </p:cNvSpPr>
          <p:nvPr/>
        </p:nvSpPr>
        <p:spPr bwMode="auto">
          <a:xfrm>
            <a:off x="3581400" y="18446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83" name="Line 15"/>
          <p:cNvSpPr>
            <a:spLocks noChangeShapeType="1"/>
          </p:cNvSpPr>
          <p:nvPr/>
        </p:nvSpPr>
        <p:spPr bwMode="auto">
          <a:xfrm>
            <a:off x="5868988" y="1268413"/>
            <a:ext cx="0" cy="576263"/>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6785" name="Rectangle 17"/>
          <p:cNvSpPr>
            <a:spLocks noChangeArrowheads="1"/>
          </p:cNvSpPr>
          <p:nvPr/>
        </p:nvSpPr>
        <p:spPr bwMode="auto">
          <a:xfrm>
            <a:off x="4243388" y="18446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96" name="Text Box 28"/>
          <p:cNvSpPr txBox="1">
            <a:spLocks noChangeArrowheads="1"/>
          </p:cNvSpPr>
          <p:nvPr/>
        </p:nvSpPr>
        <p:spPr bwMode="auto">
          <a:xfrm>
            <a:off x="7092950" y="2203450"/>
            <a:ext cx="1565275" cy="457200"/>
          </a:xfrm>
          <a:prstGeom prst="rect">
            <a:avLst/>
          </a:prstGeom>
          <a:noFill/>
          <a:ln>
            <a:noFill/>
          </a:ln>
          <a:effectLst/>
        </p:spPr>
        <p:txBody>
          <a:bodyPr>
            <a:spAutoFit/>
          </a:bodyPr>
          <a:lstStyle/>
          <a:p>
            <a:pPr marR="0" algn="just" defTabSz="914400">
              <a:spcBef>
                <a:spcPct val="50000"/>
              </a:spcBef>
              <a:buClrTx/>
              <a:buSzTx/>
              <a:buFontTx/>
              <a:defRPr/>
            </a:pPr>
            <a:r>
              <a:rPr kumimoji="1" lang="en-US" altLang="zh-CN"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public</a:t>
            </a: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继承</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6797" name="Text Box 29"/>
          <p:cNvSpPr txBox="1">
            <a:spLocks noChangeArrowheads="1"/>
          </p:cNvSpPr>
          <p:nvPr/>
        </p:nvSpPr>
        <p:spPr bwMode="auto">
          <a:xfrm>
            <a:off x="7164388" y="3862388"/>
            <a:ext cx="1979613" cy="457200"/>
          </a:xfrm>
          <a:prstGeom prst="rect">
            <a:avLst/>
          </a:prstGeom>
          <a:noFill/>
          <a:ln>
            <a:noFill/>
          </a:ln>
          <a:effectLst/>
        </p:spPr>
        <p:txBody>
          <a:bodyPr>
            <a:spAutoFit/>
          </a:bodyPr>
          <a:lstStyle/>
          <a:p>
            <a:pPr marR="0" algn="just" defTabSz="914400">
              <a:spcBef>
                <a:spcPct val="50000"/>
              </a:spcBef>
              <a:buClrTx/>
              <a:buSzTx/>
              <a:buFontTx/>
              <a:defRPr/>
            </a:pPr>
            <a:r>
              <a:rPr kumimoji="1" lang="en-US" altLang="zh-CN"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protected</a:t>
            </a: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继承</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6798" name="Rectangle 30"/>
          <p:cNvSpPr>
            <a:spLocks noChangeArrowheads="1"/>
          </p:cNvSpPr>
          <p:nvPr/>
        </p:nvSpPr>
        <p:spPr bwMode="auto">
          <a:xfrm>
            <a:off x="5048250" y="34290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799" name="Rectangle 31"/>
          <p:cNvSpPr>
            <a:spLocks noChangeArrowheads="1"/>
          </p:cNvSpPr>
          <p:nvPr/>
        </p:nvSpPr>
        <p:spPr bwMode="auto">
          <a:xfrm>
            <a:off x="5713413" y="34290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0" name="Rectangle 32"/>
          <p:cNvSpPr>
            <a:spLocks noChangeArrowheads="1"/>
          </p:cNvSpPr>
          <p:nvPr/>
        </p:nvSpPr>
        <p:spPr bwMode="auto">
          <a:xfrm>
            <a:off x="6372225" y="3429000"/>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6801" name="Rectangle 33"/>
          <p:cNvSpPr>
            <a:spLocks noChangeArrowheads="1"/>
          </p:cNvSpPr>
          <p:nvPr/>
        </p:nvSpPr>
        <p:spPr bwMode="auto">
          <a:xfrm>
            <a:off x="2916238" y="34305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2" name="Rectangle 34"/>
          <p:cNvSpPr>
            <a:spLocks noChangeArrowheads="1"/>
          </p:cNvSpPr>
          <p:nvPr/>
        </p:nvSpPr>
        <p:spPr bwMode="auto">
          <a:xfrm>
            <a:off x="3581400" y="34305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3" name="Rectangle 35"/>
          <p:cNvSpPr>
            <a:spLocks noChangeArrowheads="1"/>
          </p:cNvSpPr>
          <p:nvPr/>
        </p:nvSpPr>
        <p:spPr bwMode="auto">
          <a:xfrm>
            <a:off x="4243388" y="34305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4" name="Text Box 36"/>
          <p:cNvSpPr txBox="1">
            <a:spLocks noChangeArrowheads="1"/>
          </p:cNvSpPr>
          <p:nvPr/>
        </p:nvSpPr>
        <p:spPr bwMode="auto">
          <a:xfrm>
            <a:off x="7164388" y="5516563"/>
            <a:ext cx="1979613" cy="457200"/>
          </a:xfrm>
          <a:prstGeom prst="rect">
            <a:avLst/>
          </a:prstGeom>
          <a:noFill/>
          <a:ln>
            <a:noFill/>
          </a:ln>
          <a:effectLst/>
        </p:spPr>
        <p:txBody>
          <a:bodyPr>
            <a:spAutoFit/>
          </a:bodyPr>
          <a:lstStyle/>
          <a:p>
            <a:pPr marR="0" algn="just" defTabSz="914400">
              <a:spcBef>
                <a:spcPct val="50000"/>
              </a:spcBef>
              <a:buClrTx/>
              <a:buSzTx/>
              <a:buFontTx/>
              <a:defRPr/>
            </a:pPr>
            <a:r>
              <a:rPr kumimoji="1" lang="en-US" altLang="zh-CN"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private</a:t>
            </a: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继承</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6805" name="Rectangle 37"/>
          <p:cNvSpPr>
            <a:spLocks noChangeArrowheads="1"/>
          </p:cNvSpPr>
          <p:nvPr/>
        </p:nvSpPr>
        <p:spPr bwMode="auto">
          <a:xfrm>
            <a:off x="5048250" y="50831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6" name="Rectangle 38"/>
          <p:cNvSpPr>
            <a:spLocks noChangeArrowheads="1"/>
          </p:cNvSpPr>
          <p:nvPr/>
        </p:nvSpPr>
        <p:spPr bwMode="auto">
          <a:xfrm>
            <a:off x="5713413" y="50831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7" name="Rectangle 39"/>
          <p:cNvSpPr>
            <a:spLocks noChangeArrowheads="1"/>
          </p:cNvSpPr>
          <p:nvPr/>
        </p:nvSpPr>
        <p:spPr bwMode="auto">
          <a:xfrm>
            <a:off x="6372225" y="5083175"/>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6808" name="Rectangle 40"/>
          <p:cNvSpPr>
            <a:spLocks noChangeArrowheads="1"/>
          </p:cNvSpPr>
          <p:nvPr/>
        </p:nvSpPr>
        <p:spPr bwMode="auto">
          <a:xfrm>
            <a:off x="2916238" y="5084763"/>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09" name="Rectangle 41"/>
          <p:cNvSpPr>
            <a:spLocks noChangeArrowheads="1"/>
          </p:cNvSpPr>
          <p:nvPr/>
        </p:nvSpPr>
        <p:spPr bwMode="auto">
          <a:xfrm>
            <a:off x="3581400" y="5084763"/>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6810" name="Rectangle 42"/>
          <p:cNvSpPr>
            <a:spLocks noChangeArrowheads="1"/>
          </p:cNvSpPr>
          <p:nvPr/>
        </p:nvSpPr>
        <p:spPr bwMode="auto">
          <a:xfrm>
            <a:off x="4243388" y="5084763"/>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4722" name="Text Box 2"/>
          <p:cNvSpPr txBox="1">
            <a:spLocks noChangeArrowheads="1"/>
          </p:cNvSpPr>
          <p:nvPr/>
        </p:nvSpPr>
        <p:spPr bwMode="auto">
          <a:xfrm>
            <a:off x="900113" y="-100012"/>
            <a:ext cx="8243888"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m1;  void x(){m1=1;m2=2;m3=3;}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n1;  void y(){m1=1;m2=2;n1=1;n2=2;n3=3;}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f(Student &amp;a){a.m1=5;</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a.n1=6;</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a.y</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*p=&amp;</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-&gt;m1=1;</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p-&gt;n1=2;</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p-&gt;x();</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p-&gt;y();</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b;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 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2386"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4724" name="AutoShape 4"/>
          <p:cNvSpPr>
            <a:spLocks noChangeArrowheads="1"/>
          </p:cNvSpPr>
          <p:nvPr/>
        </p:nvSpPr>
        <p:spPr bwMode="auto">
          <a:xfrm>
            <a:off x="2987675" y="5589588"/>
            <a:ext cx="6156325" cy="1295400"/>
          </a:xfrm>
          <a:prstGeom prst="wedgeRectCallout">
            <a:avLst>
              <a:gd name="adj1" fmla="val 24162"/>
              <a:gd name="adj2" fmla="val -80023"/>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说明派生类对象包含父类对象全部内容</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凡是父类对象可以出现的地方可以用子类对象代替，反之不可</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14722"/>
                                        </p:tgtEl>
                                        <p:attrNameLst>
                                          <p:attrName>style.visibility</p:attrName>
                                        </p:attrNameLst>
                                      </p:cBhvr>
                                      <p:to>
                                        <p:strVal val="visible"/>
                                      </p:to>
                                    </p:set>
                                    <p:animEffect transition="in" filter="barn(inHorizontal)">
                                      <p:cBhvr>
                                        <p:cTn id="7" dur="500"/>
                                        <p:tgtEl>
                                          <p:spTgt spid="41472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414724"/>
                                        </p:tgtEl>
                                        <p:attrNameLst>
                                          <p:attrName>style.visibility</p:attrName>
                                        </p:attrNameLst>
                                      </p:cBhvr>
                                      <p:to>
                                        <p:strVal val="visible"/>
                                      </p:to>
                                    </p:set>
                                    <p:animEffect transition="in" filter="plus(in)">
                                      <p:cBhvr>
                                        <p:cTn id="12" dur="2000"/>
                                        <p:tgtEl>
                                          <p:spTgt spid="4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p:bldP spid="414724" grpId="0" animBg="1"/>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5746" name="Text Box 2"/>
          <p:cNvSpPr txBox="1">
            <a:spLocks noChangeArrowheads="1"/>
          </p:cNvSpPr>
          <p:nvPr/>
        </p:nvSpPr>
        <p:spPr bwMode="auto">
          <a:xfrm>
            <a:off x="827088" y="-100012"/>
            <a:ext cx="8316913"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m3;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m1;  void x(){m1=1;m2=2;m3=3;}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n3;</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n1;  void y(){m1=1;m2=2;n1=1;n2=2;n3=3;}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n2;</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f(Master &amp;a){…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a;  Master b;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*p=&amp;a;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 a;</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3410"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5749" name="AutoShape 5"/>
          <p:cNvSpPr>
            <a:spLocks noChangeArrowheads="1"/>
          </p:cNvSpPr>
          <p:nvPr/>
        </p:nvSpPr>
        <p:spPr bwMode="auto">
          <a:xfrm>
            <a:off x="6948488" y="5489575"/>
            <a:ext cx="2195513" cy="1368425"/>
          </a:xfrm>
          <a:prstGeom prst="wedgeRectCallout">
            <a:avLst>
              <a:gd name="adj1" fmla="val -124042"/>
              <a:gd name="adj2" fmla="val -211718"/>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子类对象不可以用父类对象代替</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15746"/>
                                        </p:tgtEl>
                                        <p:attrNameLst>
                                          <p:attrName>style.visibility</p:attrName>
                                        </p:attrNameLst>
                                      </p:cBhvr>
                                      <p:to>
                                        <p:strVal val="visible"/>
                                      </p:to>
                                    </p:set>
                                    <p:animEffect transition="in" filter="barn(inHorizontal)">
                                      <p:cBhvr>
                                        <p:cTn id="7" dur="500"/>
                                        <p:tgtEl>
                                          <p:spTgt spid="415746"/>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415749"/>
                                        </p:tgtEl>
                                        <p:attrNameLst>
                                          <p:attrName>style.visibility</p:attrName>
                                        </p:attrNameLst>
                                      </p:cBhvr>
                                      <p:to>
                                        <p:strVal val="visible"/>
                                      </p:to>
                                    </p:set>
                                    <p:animEffect transition="in" filter="plus(in)">
                                      <p:cBhvr>
                                        <p:cTn id="12" dur="2000"/>
                                        <p:tgtEl>
                                          <p:spTgt spid="415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6" grpId="0"/>
      <p:bldP spid="415749"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3"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2682" name="Rectangle 10"/>
          <p:cNvSpPr>
            <a:spLocks noChangeArrowheads="1"/>
          </p:cNvSpPr>
          <p:nvPr/>
        </p:nvSpPr>
        <p:spPr bwMode="auto">
          <a:xfrm>
            <a:off x="5408613"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3" name="Rectangle 11"/>
          <p:cNvSpPr>
            <a:spLocks noChangeArrowheads="1"/>
          </p:cNvSpPr>
          <p:nvPr/>
        </p:nvSpPr>
        <p:spPr bwMode="auto">
          <a:xfrm>
            <a:off x="6073775" y="3860800"/>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4" name="Rectangle 12"/>
          <p:cNvSpPr>
            <a:spLocks noChangeArrowheads="1"/>
          </p:cNvSpPr>
          <p:nvPr/>
        </p:nvSpPr>
        <p:spPr bwMode="auto">
          <a:xfrm>
            <a:off x="6732588" y="3860800"/>
            <a:ext cx="647700" cy="1152525"/>
          </a:xfrm>
          <a:prstGeom prst="rect">
            <a:avLst/>
          </a:prstGeom>
          <a:gradFill rotWithShape="0">
            <a:gsLst>
              <a:gs pos="0">
                <a:schemeClr val="folHlink"/>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85" name="Rectangle 13"/>
          <p:cNvSpPr>
            <a:spLocks noChangeArrowheads="1"/>
          </p:cNvSpPr>
          <p:nvPr/>
        </p:nvSpPr>
        <p:spPr bwMode="auto">
          <a:xfrm>
            <a:off x="327660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6" name="Rectangle 14"/>
          <p:cNvSpPr>
            <a:spLocks noChangeArrowheads="1"/>
          </p:cNvSpPr>
          <p:nvPr/>
        </p:nvSpPr>
        <p:spPr bwMode="auto">
          <a:xfrm>
            <a:off x="3941763"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3" name="Rectangle 21"/>
          <p:cNvSpPr>
            <a:spLocks noChangeArrowheads="1"/>
          </p:cNvSpPr>
          <p:nvPr/>
        </p:nvSpPr>
        <p:spPr bwMode="auto">
          <a:xfrm>
            <a:off x="4603750" y="386238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716" name="Text Box 44"/>
          <p:cNvSpPr txBox="1">
            <a:spLocks noChangeArrowheads="1"/>
          </p:cNvSpPr>
          <p:nvPr/>
        </p:nvSpPr>
        <p:spPr bwMode="auto">
          <a:xfrm>
            <a:off x="5003800" y="1989138"/>
            <a:ext cx="2881313" cy="522288"/>
          </a:xfrm>
          <a:prstGeom prst="rect">
            <a:avLst/>
          </a:prstGeom>
          <a:noFill/>
          <a:ln w="9525" algn="ctr">
            <a:solidFill>
              <a:schemeClr val="bg1"/>
            </a:solidFill>
            <a:miter lim="800000"/>
          </a:ln>
          <a:effectLst/>
        </p:spPr>
        <p:txBody>
          <a:bodyPr>
            <a:spAutoFit/>
          </a:bodyPr>
          <a:lstStyle/>
          <a:p>
            <a:pPr marR="0" algn="just" defTabSz="914400">
              <a:spcBef>
                <a:spcPct val="50000"/>
              </a:spcBef>
              <a:buClrTx/>
              <a:buSzTx/>
              <a:buFontTx/>
              <a:defRPr/>
            </a:pPr>
            <a:r>
              <a:rPr kumimoji="1" lang="zh-CN" altLang="en-US" sz="2800" kern="1200" cap="none" spc="0" normalizeH="0" baseline="0" noProof="0" dirty="0">
                <a:effectLst>
                  <a:outerShdw blurRad="38100" dist="38100" dir="2700000" algn="tl">
                    <a:srgbClr val="000000"/>
                  </a:outerShdw>
                </a:effectLst>
                <a:latin typeface="华文仿宋" panose="02010600040101010101" pitchFamily="2" charset="-122"/>
                <a:ea typeface="华文仿宋" panose="02010600040101010101" pitchFamily="2" charset="-122"/>
                <a:cs typeface="+mn-cs"/>
              </a:rPr>
              <a:t>父类指针、引用</a:t>
            </a:r>
            <a:endParaRPr kumimoji="1" lang="zh-CN" altLang="en-US" sz="2800" kern="1200" cap="none" spc="0" normalizeH="0" baseline="0" noProof="0" dirty="0">
              <a:effectLst>
                <a:outerShdw blurRad="38100" dist="38100" dir="2700000" algn="tl">
                  <a:srgbClr val="000000"/>
                </a:outerShdw>
              </a:effectLst>
              <a:latin typeface="华文仿宋" panose="02010600040101010101" pitchFamily="2" charset="-122"/>
              <a:ea typeface="华文仿宋" panose="02010600040101010101" pitchFamily="2" charset="-122"/>
              <a:cs typeface="+mn-cs"/>
            </a:endParaRPr>
          </a:p>
        </p:txBody>
      </p:sp>
      <p:sp>
        <p:nvSpPr>
          <p:cNvPr id="38" name="Text Box 44"/>
          <p:cNvSpPr txBox="1">
            <a:spLocks noChangeArrowheads="1"/>
          </p:cNvSpPr>
          <p:nvPr/>
        </p:nvSpPr>
        <p:spPr bwMode="auto">
          <a:xfrm>
            <a:off x="1331913" y="4144963"/>
            <a:ext cx="1655763" cy="58578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派生类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16" name="Line 19"/>
          <p:cNvSpPr>
            <a:spLocks noChangeShapeType="1"/>
          </p:cNvSpPr>
          <p:nvPr/>
        </p:nvSpPr>
        <p:spPr bwMode="auto">
          <a:xfrm>
            <a:off x="6372225" y="2501900"/>
            <a:ext cx="0" cy="1216025"/>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8818" name="Text Box 2"/>
          <p:cNvSpPr txBox="1">
            <a:spLocks noChangeArrowheads="1"/>
          </p:cNvSpPr>
          <p:nvPr/>
        </p:nvSpPr>
        <p:spPr bwMode="auto">
          <a:xfrm>
            <a:off x="1547813" y="44450"/>
            <a:ext cx="7596188" cy="629920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m3;</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int m1;void x(){m1=1;m2=2;m3=m3;}</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int m2;</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n3;</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int n1; void y(){m1=1;m2=2;n1=1;n2=2;n3=3;}</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int n2;</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f(Student &amp;a){}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endPar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f(a);</a:t>
            </a:r>
            <a:endPar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*p=&amp;a;</a:t>
            </a:r>
            <a:endParaRPr kumimoji="1" lang="en-US" altLang="zh-CN" sz="2400" b="1"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5458" name="Text Box 3"/>
          <p:cNvSpPr txBox="1"/>
          <p:nvPr/>
        </p:nvSpPr>
        <p:spPr>
          <a:xfrm>
            <a:off x="622300"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8820" name="AutoShape 4"/>
          <p:cNvSpPr>
            <a:spLocks noChangeArrowheads="1"/>
          </p:cNvSpPr>
          <p:nvPr/>
        </p:nvSpPr>
        <p:spPr bwMode="auto">
          <a:xfrm>
            <a:off x="6948488" y="3716338"/>
            <a:ext cx="2195513" cy="2808288"/>
          </a:xfrm>
          <a:prstGeom prst="wedgeRectCallout">
            <a:avLst>
              <a:gd name="adj1" fmla="val -50722"/>
              <a:gd name="adj2" fmla="val -74421"/>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protected</a:t>
            </a: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继承和</a:t>
            </a:r>
            <a:r>
              <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private</a:t>
            </a: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继承得到的类都不是子类</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“凡是父类对象可以出现的地方可以用子类对象代替”，不再适用</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18818"/>
                                        </p:tgtEl>
                                        <p:attrNameLst>
                                          <p:attrName>style.visibility</p:attrName>
                                        </p:attrNameLst>
                                      </p:cBhvr>
                                      <p:to>
                                        <p:strVal val="visible"/>
                                      </p:to>
                                    </p:set>
                                    <p:animEffect transition="in" filter="barn(inHorizontal)">
                                      <p:cBhvr>
                                        <p:cTn id="7" dur="500"/>
                                        <p:tgtEl>
                                          <p:spTgt spid="418818"/>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418820"/>
                                        </p:tgtEl>
                                        <p:attrNameLst>
                                          <p:attrName>style.visibility</p:attrName>
                                        </p:attrNameLst>
                                      </p:cBhvr>
                                      <p:to>
                                        <p:strVal val="visible"/>
                                      </p:to>
                                    </p:set>
                                    <p:animEffect transition="in" filter="plus(in)">
                                      <p:cBhvr>
                                        <p:cTn id="12" dur="2000"/>
                                        <p:tgtEl>
                                          <p:spTgt spid="418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8" grpId="0"/>
      <p:bldP spid="418820" grpId="0" animBg="1"/>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2"/>
          <p:cNvSpPr>
            <a:spLocks noChangeArrowheads="1"/>
          </p:cNvSpPr>
          <p:nvPr/>
        </p:nvSpPr>
        <p:spPr bwMode="auto">
          <a:xfrm>
            <a:off x="107950" y="3557588"/>
            <a:ext cx="8964613" cy="1150938"/>
          </a:xfrm>
          <a:prstGeom prst="rect">
            <a:avLst/>
          </a:prstGeom>
          <a:gradFill rotWithShape="0">
            <a:gsLst>
              <a:gs pos="0">
                <a:srgbClr val="F0F01E">
                  <a:gamma/>
                  <a:shade val="46275"/>
                  <a:invGamma/>
                </a:srgbClr>
              </a:gs>
              <a:gs pos="100000">
                <a:srgbClr val="F0F01E"/>
              </a:gs>
            </a:gsLst>
            <a:lin ang="5400000" scaled="1"/>
          </a:gradFill>
          <a:ln>
            <a:noFill/>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继承类型省略时默认为私有继承</a:t>
            </a:r>
            <a:endParaRPr kumimoji="0" lang="zh-CN" altLang="en-US" sz="36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74435" name="Rectangle 3"/>
          <p:cNvSpPr>
            <a:spLocks noChangeArrowheads="1"/>
          </p:cNvSpPr>
          <p:nvPr/>
        </p:nvSpPr>
        <p:spPr bwMode="auto">
          <a:xfrm>
            <a:off x="107950" y="2286000"/>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继承后的对外权限等于或低于继承类型</a:t>
            </a:r>
            <a:r>
              <a:rPr kumimoji="0"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40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74436" name="Rectangle 4"/>
          <p:cNvSpPr>
            <a:spLocks noChangeArrowheads="1"/>
          </p:cNvSpPr>
          <p:nvPr/>
        </p:nvSpPr>
        <p:spPr bwMode="auto">
          <a:xfrm>
            <a:off x="107950" y="10525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private</a:t>
            </a: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成员继承后只对原来兄弟方法可见</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76484" name="Rectangle 5"/>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继承</a:t>
            </a:r>
            <a:r>
              <a:rPr lang="zh-CN" altLang="en-US" sz="4400" dirty="0">
                <a:solidFill>
                  <a:srgbClr val="FFFF00"/>
                </a:solidFill>
                <a:latin typeface="Times New Roman" panose="02020603050405020304" pitchFamily="18" charset="0"/>
                <a:ea typeface="华文行楷" panose="02010800040101010101" pitchFamily="2" charset="-122"/>
              </a:rPr>
              <a:t> </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74438" name="Rectangle 6"/>
          <p:cNvSpPr>
            <a:spLocks noChangeArrowheads="1"/>
          </p:cNvSpPr>
          <p:nvPr/>
        </p:nvSpPr>
        <p:spPr bwMode="auto">
          <a:xfrm>
            <a:off x="107950" y="4852988"/>
            <a:ext cx="8964613" cy="1127125"/>
          </a:xfrm>
          <a:prstGeom prst="rect">
            <a:avLst/>
          </a:prstGeom>
          <a:gradFill rotWithShape="0">
            <a:gsLst>
              <a:gs pos="0">
                <a:schemeClr val="hlink">
                  <a:gamma/>
                  <a:shade val="56078"/>
                  <a:invGamma/>
                </a:schemeClr>
              </a:gs>
              <a:gs pos="100000">
                <a:schemeClr val="hlink"/>
              </a:gs>
            </a:gsLst>
            <a:lin ang="5400000" scaled="1"/>
          </a:gradFill>
          <a:ln w="12700">
            <a:solidFill>
              <a:schemeClr val="hlink"/>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r>
              <a:rPr kumimoji="0" lang="zh-CN" altLang="en-US" sz="40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继承使用最多、最重要</a:t>
            </a:r>
            <a:r>
              <a:rPr kumimoji="0"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r>
              <a:rPr kumimoji="0" lang="en-US" altLang="zh-CN" sz="40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40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子类</a:t>
            </a:r>
            <a:endParaRPr kumimoji="0" lang="zh-CN" altLang="en-US" sz="4000" b="1" i="0" u="none" strike="noStrike" kern="1200" cap="none" spc="0" normalizeH="0" baseline="0" noProof="0" dirty="0">
              <a:ln>
                <a:noFill/>
              </a:ln>
              <a:solidFill>
                <a:srgbClr val="FF00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4436"/>
                                        </p:tgtEl>
                                        <p:attrNameLst>
                                          <p:attrName>style.visibility</p:attrName>
                                        </p:attrNameLst>
                                      </p:cBhvr>
                                      <p:to>
                                        <p:strVal val="visible"/>
                                      </p:to>
                                    </p:set>
                                    <p:anim calcmode="lin" valueType="num">
                                      <p:cBhvr additive="base">
                                        <p:cTn id="7" dur="2000" fill="hold"/>
                                        <p:tgtEl>
                                          <p:spTgt spid="274436"/>
                                        </p:tgtEl>
                                        <p:attrNameLst>
                                          <p:attrName>ppt_x</p:attrName>
                                        </p:attrNameLst>
                                      </p:cBhvr>
                                      <p:tavLst>
                                        <p:tav tm="0">
                                          <p:val>
                                            <p:strVal val="#ppt_x"/>
                                          </p:val>
                                        </p:tav>
                                        <p:tav tm="100000">
                                          <p:val>
                                            <p:strVal val="#ppt_x"/>
                                          </p:val>
                                        </p:tav>
                                      </p:tavLst>
                                    </p:anim>
                                    <p:anim calcmode="lin" valueType="num">
                                      <p:cBhvr additive="base">
                                        <p:cTn id="8" dur="2000" fill="hold"/>
                                        <p:tgtEl>
                                          <p:spTgt spid="2744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274435"/>
                                        </p:tgtEl>
                                        <p:attrNameLst>
                                          <p:attrName>style.visibility</p:attrName>
                                        </p:attrNameLst>
                                      </p:cBhvr>
                                      <p:to>
                                        <p:strVal val="visible"/>
                                      </p:to>
                                    </p:set>
                                    <p:anim by="(-#ppt_w*2)" calcmode="lin" valueType="num">
                                      <p:cBhvr rctx="PPT">
                                        <p:cTn id="13" dur="500" autoRev="1" fill="hold">
                                          <p:stCondLst>
                                            <p:cond delay="0"/>
                                          </p:stCondLst>
                                        </p:cTn>
                                        <p:tgtEl>
                                          <p:spTgt spid="274435"/>
                                        </p:tgtEl>
                                        <p:attrNameLst>
                                          <p:attrName>ppt_w</p:attrName>
                                        </p:attrNameLst>
                                      </p:cBhvr>
                                    </p:anim>
                                    <p:anim by="(#ppt_w*0.50)" calcmode="lin" valueType="num">
                                      <p:cBhvr>
                                        <p:cTn id="14" dur="500" decel="50000" autoRev="1" fill="hold">
                                          <p:stCondLst>
                                            <p:cond delay="0"/>
                                          </p:stCondLst>
                                        </p:cTn>
                                        <p:tgtEl>
                                          <p:spTgt spid="274435"/>
                                        </p:tgtEl>
                                        <p:attrNameLst>
                                          <p:attrName>ppt_x</p:attrName>
                                        </p:attrNameLst>
                                      </p:cBhvr>
                                    </p:anim>
                                    <p:anim from="(-#ppt_h/2)" to="(#ppt_y)" calcmode="lin" valueType="num">
                                      <p:cBhvr>
                                        <p:cTn id="15" dur="1000" fill="hold">
                                          <p:stCondLst>
                                            <p:cond delay="0"/>
                                          </p:stCondLst>
                                        </p:cTn>
                                        <p:tgtEl>
                                          <p:spTgt spid="274435"/>
                                        </p:tgtEl>
                                        <p:attrNameLst>
                                          <p:attrName>ppt_y</p:attrName>
                                        </p:attrNameLst>
                                      </p:cBhvr>
                                    </p:anim>
                                    <p:animRot by="21600000">
                                      <p:cBhvr>
                                        <p:cTn id="16" dur="1000" fill="hold">
                                          <p:stCondLst>
                                            <p:cond delay="0"/>
                                          </p:stCondLst>
                                        </p:cTn>
                                        <p:tgtEl>
                                          <p:spTgt spid="274435"/>
                                        </p:tgtEl>
                                        <p:attrNameLst>
                                          <p:attrName>r</p:attrName>
                                        </p:attrNameLst>
                                      </p:cBhvr>
                                    </p:animRot>
                                  </p:childTnLst>
                                </p:cTn>
                              </p:par>
                            </p:childTnLst>
                          </p:cTn>
                        </p:par>
                        <p:par>
                          <p:cTn id="17" fill="hold">
                            <p:stCondLst>
                              <p:cond delay="2700"/>
                            </p:stCondLst>
                            <p:childTnLst>
                              <p:par>
                                <p:cTn id="18" presetID="12" presetClass="entr" presetSubtype="8" fill="hold" grpId="0" nodeType="afterEffect">
                                  <p:stCondLst>
                                    <p:cond delay="0"/>
                                  </p:stCondLst>
                                  <p:childTnLst>
                                    <p:set>
                                      <p:cBhvr>
                                        <p:cTn id="19" dur="1" fill="hold">
                                          <p:stCondLst>
                                            <p:cond delay="0"/>
                                          </p:stCondLst>
                                        </p:cTn>
                                        <p:tgtEl>
                                          <p:spTgt spid="274434"/>
                                        </p:tgtEl>
                                        <p:attrNameLst>
                                          <p:attrName>style.visibility</p:attrName>
                                        </p:attrNameLst>
                                      </p:cBhvr>
                                      <p:to>
                                        <p:strVal val="visible"/>
                                      </p:to>
                                    </p:set>
                                    <p:animEffect transition="in" filter="slide(fromLeft)">
                                      <p:cBhvr>
                                        <p:cTn id="20" dur="500"/>
                                        <p:tgtEl>
                                          <p:spTgt spid="274434"/>
                                        </p:tgtEl>
                                      </p:cBhvr>
                                    </p:animEffect>
                                  </p:childTnLst>
                                </p:cTn>
                              </p:par>
                            </p:childTnLst>
                          </p:cTn>
                        </p:par>
                      </p:childTnLst>
                    </p:cTn>
                  </p:par>
                  <p:par>
                    <p:cTn id="21" fill="hold">
                      <p:stCondLst>
                        <p:cond delay="indefinite"/>
                      </p:stCondLst>
                      <p:childTnLst>
                        <p:par>
                          <p:cTn id="22" fill="hold">
                            <p:stCondLst>
                              <p:cond delay="0"/>
                            </p:stCondLst>
                            <p:childTnLst>
                              <p:par>
                                <p:cTn id="23" presetID="56" presetClass="entr" presetSubtype="0" fill="hold" grpId="0" nodeType="clickEffect">
                                  <p:stCondLst>
                                    <p:cond delay="0"/>
                                  </p:stCondLst>
                                  <p:iterate type="lt">
                                    <p:tmPct val="10000"/>
                                  </p:iterate>
                                  <p:childTnLst>
                                    <p:set>
                                      <p:cBhvr>
                                        <p:cTn id="24" dur="1" fill="hold">
                                          <p:stCondLst>
                                            <p:cond delay="0"/>
                                          </p:stCondLst>
                                        </p:cTn>
                                        <p:tgtEl>
                                          <p:spTgt spid="274438"/>
                                        </p:tgtEl>
                                        <p:attrNameLst>
                                          <p:attrName>style.visibility</p:attrName>
                                        </p:attrNameLst>
                                      </p:cBhvr>
                                      <p:to>
                                        <p:strVal val="visible"/>
                                      </p:to>
                                    </p:set>
                                    <p:anim by="(-#ppt_w*2)" calcmode="lin" valueType="num">
                                      <p:cBhvr rctx="PPT">
                                        <p:cTn id="25" dur="500" autoRev="1" fill="hold">
                                          <p:stCondLst>
                                            <p:cond delay="0"/>
                                          </p:stCondLst>
                                        </p:cTn>
                                        <p:tgtEl>
                                          <p:spTgt spid="274438"/>
                                        </p:tgtEl>
                                        <p:attrNameLst>
                                          <p:attrName>ppt_w</p:attrName>
                                        </p:attrNameLst>
                                      </p:cBhvr>
                                    </p:anim>
                                    <p:anim by="(#ppt_w*0.50)" calcmode="lin" valueType="num">
                                      <p:cBhvr>
                                        <p:cTn id="26" dur="500" decel="50000" autoRev="1" fill="hold">
                                          <p:stCondLst>
                                            <p:cond delay="0"/>
                                          </p:stCondLst>
                                        </p:cTn>
                                        <p:tgtEl>
                                          <p:spTgt spid="274438"/>
                                        </p:tgtEl>
                                        <p:attrNameLst>
                                          <p:attrName>ppt_x</p:attrName>
                                        </p:attrNameLst>
                                      </p:cBhvr>
                                    </p:anim>
                                    <p:anim from="(-#ppt_h/2)" to="(#ppt_y)" calcmode="lin" valueType="num">
                                      <p:cBhvr>
                                        <p:cTn id="27" dur="1000" fill="hold">
                                          <p:stCondLst>
                                            <p:cond delay="0"/>
                                          </p:stCondLst>
                                        </p:cTn>
                                        <p:tgtEl>
                                          <p:spTgt spid="274438"/>
                                        </p:tgtEl>
                                        <p:attrNameLst>
                                          <p:attrName>ppt_y</p:attrName>
                                        </p:attrNameLst>
                                      </p:cBhvr>
                                    </p:anim>
                                    <p:animRot by="21600000">
                                      <p:cBhvr>
                                        <p:cTn id="28" dur="1000" fill="hold">
                                          <p:stCondLst>
                                            <p:cond delay="0"/>
                                          </p:stCondLst>
                                        </p:cTn>
                                        <p:tgtEl>
                                          <p:spTgt spid="27443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animBg="1"/>
      <p:bldP spid="274435" grpId="0" animBg="1"/>
      <p:bldP spid="274436" grpId="0" animBg="1"/>
      <p:bldP spid="274438" grpId="0" animBg="1"/>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22" name="Text Box 2"/>
          <p:cNvSpPr txBox="1">
            <a:spLocks noChangeArrowheads="1"/>
          </p:cNvSpPr>
          <p:nvPr/>
        </p:nvSpPr>
        <p:spPr bwMode="auto">
          <a:xfrm>
            <a:off x="1330325" y="-171450"/>
            <a:ext cx="7345363" cy="71088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void x(){</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父类</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&lt;&lt;id&lt;&lt;Student::id&lt;&lt;“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派生类</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void y(){  x();     Student::x();}</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a.id = 1;</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a.Student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 = 2;//</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重名的访问形式</a:t>
            </a:r>
            <a:endPar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a.x();  a.Student::x();</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7506" name="Text Box 3"/>
          <p:cNvSpPr txBox="1"/>
          <p:nvPr/>
        </p:nvSpPr>
        <p:spPr>
          <a:xfrm>
            <a:off x="622300" y="549275"/>
            <a:ext cx="854075" cy="5759450"/>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45122"/>
                                        </p:tgtEl>
                                        <p:attrNameLst>
                                          <p:attrName>style.visibility</p:attrName>
                                        </p:attrNameLst>
                                      </p:cBhvr>
                                      <p:to>
                                        <p:strVal val="visible"/>
                                      </p:to>
                                    </p:set>
                                    <p:animEffect transition="in" filter="barn(inHorizontal)">
                                      <p:cBhvr>
                                        <p:cTn id="7" dur="500"/>
                                        <p:tgtEl>
                                          <p:spTgt spid="64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2" grpId="0" bldLvl="0" animBg="1"/>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22" name="Text Box 2"/>
          <p:cNvSpPr txBox="1">
            <a:spLocks noChangeArrowheads="1"/>
          </p:cNvSpPr>
          <p:nvPr/>
        </p:nvSpPr>
        <p:spPr bwMode="auto">
          <a:xfrm>
            <a:off x="1330325" y="-171450"/>
            <a:ext cx="734536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string name;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using Student::id;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using Student::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a.id = 1;//</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a.tel = 2;//</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正确</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8530" name="Text Box 3"/>
          <p:cNvSpPr txBox="1"/>
          <p:nvPr/>
        </p:nvSpPr>
        <p:spPr>
          <a:xfrm>
            <a:off x="622300" y="549275"/>
            <a:ext cx="854075" cy="5759450"/>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45124" name="AutoShape 4"/>
          <p:cNvSpPr>
            <a:spLocks noChangeArrowheads="1"/>
          </p:cNvSpPr>
          <p:nvPr/>
        </p:nvSpPr>
        <p:spPr bwMode="auto">
          <a:xfrm>
            <a:off x="5580063" y="2997200"/>
            <a:ext cx="3563938" cy="692150"/>
          </a:xfrm>
          <a:prstGeom prst="wedgeRectCallout">
            <a:avLst>
              <a:gd name="adj1" fmla="val -118329"/>
              <a:gd name="adj2" fmla="val 127750"/>
            </a:avLst>
          </a:prstGeom>
          <a:solidFill>
            <a:schemeClr val="accent1"/>
          </a:solidFill>
          <a:ln w="9525" algn="ctr">
            <a:solidFill>
              <a:schemeClr val="bg1"/>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Using Student::move_tel;//</a:t>
            </a:r>
            <a:r>
              <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错误</a:t>
            </a:r>
            <a:endParaRPr kumimoji="1" lang="zh-CN" altLang="en-US"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45122"/>
                                        </p:tgtEl>
                                        <p:attrNameLst>
                                          <p:attrName>style.visibility</p:attrName>
                                        </p:attrNameLst>
                                      </p:cBhvr>
                                      <p:to>
                                        <p:strVal val="visible"/>
                                      </p:to>
                                    </p:set>
                                    <p:animEffect transition="in" filter="barn(inHorizontal)">
                                      <p:cBhvr>
                                        <p:cTn id="7" dur="500"/>
                                        <p:tgtEl>
                                          <p:spTgt spid="64512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645124"/>
                                        </p:tgtEl>
                                        <p:attrNameLst>
                                          <p:attrName>style.visibility</p:attrName>
                                        </p:attrNameLst>
                                      </p:cBhvr>
                                      <p:to>
                                        <p:strVal val="visible"/>
                                      </p:to>
                                    </p:set>
                                    <p:animEffect transition="in" filter="plus(in)">
                                      <p:cBhvr>
                                        <p:cTn id="12" dur="2000"/>
                                        <p:tgtEl>
                                          <p:spTgt spid="64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2" grpId="0"/>
      <p:bldP spid="645124" grpId="0" animBg="1"/>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Text Box 2"/>
          <p:cNvSpPr txBox="1">
            <a:spLocks noChangeArrowheads="1"/>
          </p:cNvSpPr>
          <p:nvPr/>
        </p:nvSpPr>
        <p:spPr bwMode="auto">
          <a:xfrm>
            <a:off x="684213" y="-161925"/>
            <a:ext cx="4176713" cy="7478713"/>
          </a:xfrm>
          <a:prstGeom prst="rect">
            <a:avLst/>
          </a:prstGeom>
          <a:noFill/>
          <a:ln w="9525" algn="ctr">
            <a:noFill/>
            <a:miter lim="800000"/>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r(){</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软件</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 1;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2;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3;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    void y(){}</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 name="Text Box 3"/>
          <p:cNvSpPr txBox="1"/>
          <p:nvPr/>
        </p:nvSpPr>
        <p:spPr>
          <a:xfrm>
            <a:off x="-107950" y="-26987"/>
            <a:ext cx="854075" cy="68849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和组合关系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79556" name="Text Box 4"/>
          <p:cNvSpPr txBox="1">
            <a:spLocks noChangeArrowheads="1"/>
          </p:cNvSpPr>
          <p:nvPr/>
        </p:nvSpPr>
        <p:spPr bwMode="auto">
          <a:xfrm>
            <a:off x="4787900" y="-82550"/>
            <a:ext cx="4356100" cy="526256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*p=&amp;a;</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a.id = 1;</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软件</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a.tel = 2;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a.move_tel</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3;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a.topic</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zh-CN" altLang="en-US"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网络</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a.y</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未举例本类内部访问</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未讨论</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private</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继承</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cxnSp>
        <p:nvCxnSpPr>
          <p:cNvPr id="3" name="直接连接符 2"/>
          <p:cNvCxnSpPr/>
          <p:nvPr/>
        </p:nvCxnSpPr>
        <p:spPr>
          <a:xfrm>
            <a:off x="4643438" y="115888"/>
            <a:ext cx="0" cy="6742112"/>
          </a:xfrm>
          <a:prstGeom prst="line">
            <a:avLst/>
          </a:prstGeom>
          <a:ln w="9525" cap="flat" cmpd="sng">
            <a:solidFill>
              <a:schemeClr val="bg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279554"/>
                                        </p:tgtEl>
                                        <p:attrNameLst>
                                          <p:attrName>style.visibility</p:attrName>
                                        </p:attrNameLst>
                                      </p:cBhvr>
                                      <p:to>
                                        <p:strVal val="visible"/>
                                      </p:to>
                                    </p:set>
                                    <p:animEffect transition="in" filter="barn(inHorizontal)">
                                      <p:cBhvr>
                                        <p:cTn id="7" dur="500"/>
                                        <p:tgtEl>
                                          <p:spTgt spid="27955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79556"/>
                                        </p:tgtEl>
                                        <p:attrNameLst>
                                          <p:attrName>style.visibility</p:attrName>
                                        </p:attrNameLst>
                                      </p:cBhvr>
                                      <p:to>
                                        <p:strVal val="visible"/>
                                      </p:to>
                                    </p:set>
                                    <p:animEffect transition="in" filter="barn(inHorizontal)">
                                      <p:cBhvr>
                                        <p:cTn id="12" dur="500"/>
                                        <p:tgtEl>
                                          <p:spTgt spid="279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p:bldP spid="279556" grpId="0"/>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Text Box 2"/>
          <p:cNvSpPr txBox="1">
            <a:spLocks noChangeArrowheads="1"/>
          </p:cNvSpPr>
          <p:nvPr/>
        </p:nvSpPr>
        <p:spPr bwMode="auto">
          <a:xfrm>
            <a:off x="684213" y="-17462"/>
            <a:ext cx="417671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r(Master &amp;);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char topic[30];   Student s</a:t>
            </a:r>
            <a:r>
              <a:rPr kumimoji="1" lang="zh-CN" altLang="en-US"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s.id=1;                  √</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s.tel=2;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s.move_tel</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y(){}</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80578" name="Text Box 3"/>
          <p:cNvSpPr txBox="1"/>
          <p:nvPr/>
        </p:nvSpPr>
        <p:spPr>
          <a:xfrm>
            <a:off x="-107950" y="-26987"/>
            <a:ext cx="854075" cy="68849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和组合关系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79556" name="Text Box 4"/>
          <p:cNvSpPr txBox="1">
            <a:spLocks noChangeArrowheads="1"/>
          </p:cNvSpPr>
          <p:nvPr/>
        </p:nvSpPr>
        <p:spPr bwMode="auto">
          <a:xfrm>
            <a:off x="5003800" y="244475"/>
            <a:ext cx="4140200" cy="563086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Student::r(Master &amp; 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t.x</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t.y</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t.topic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Student *p=&amp;a;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a.y</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a.topic</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a.s.X</a:t>
            </a: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复用组成一致</a:t>
            </a:r>
            <a:endParaRPr kumimoji="1" lang="zh-CN" altLang="en-US" sz="2400" b="1" kern="1200" cap="none" spc="0" normalizeH="0" baseline="0" noProof="0" dirty="0">
              <a:solidFill>
                <a:srgbClr val="FF99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9554"/>
                                        </p:tgtEl>
                                        <p:attrNameLst>
                                          <p:attrName>style.visibility</p:attrName>
                                        </p:attrNameLst>
                                      </p:cBhvr>
                                      <p:to>
                                        <p:strVal val="visible"/>
                                      </p:to>
                                    </p:set>
                                    <p:animEffect transition="in" filter="barn(inHorizontal)">
                                      <p:cBhvr>
                                        <p:cTn id="7" dur="500"/>
                                        <p:tgtEl>
                                          <p:spTgt spid="27955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79556"/>
                                        </p:tgtEl>
                                        <p:attrNameLst>
                                          <p:attrName>style.visibility</p:attrName>
                                        </p:attrNameLst>
                                      </p:cBhvr>
                                      <p:to>
                                        <p:strVal val="visible"/>
                                      </p:to>
                                    </p:set>
                                    <p:animEffect transition="in" filter="barn(inHorizontal)">
                                      <p:cBhvr>
                                        <p:cTn id="12" dur="500"/>
                                        <p:tgtEl>
                                          <p:spTgt spid="279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p:bldP spid="279556" grpId="0" bldLvl="0" animBg="1"/>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1"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2677" name="Rectangle 5"/>
          <p:cNvSpPr>
            <a:spLocks noChangeArrowheads="1"/>
          </p:cNvSpPr>
          <p:nvPr/>
        </p:nvSpPr>
        <p:spPr bwMode="auto">
          <a:xfrm>
            <a:off x="3895725"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0" name="Rectangle 8"/>
          <p:cNvSpPr>
            <a:spLocks noChangeArrowheads="1"/>
          </p:cNvSpPr>
          <p:nvPr/>
        </p:nvSpPr>
        <p:spPr bwMode="auto">
          <a:xfrm>
            <a:off x="4560888"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81" name="Rectangle 9"/>
          <p:cNvSpPr>
            <a:spLocks noChangeArrowheads="1"/>
          </p:cNvSpPr>
          <p:nvPr/>
        </p:nvSpPr>
        <p:spPr bwMode="auto">
          <a:xfrm>
            <a:off x="5219700" y="549275"/>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1" name="Line 19"/>
          <p:cNvSpPr>
            <a:spLocks noChangeShapeType="1"/>
          </p:cNvSpPr>
          <p:nvPr/>
        </p:nvSpPr>
        <p:spPr bwMode="auto">
          <a:xfrm>
            <a:off x="4932363" y="2924175"/>
            <a:ext cx="0" cy="215900"/>
          </a:xfrm>
          <a:prstGeom prst="line">
            <a:avLst/>
          </a:prstGeom>
          <a:noFill/>
          <a:ln w="9525">
            <a:solidFill>
              <a:schemeClr val="bg1"/>
            </a:solidFill>
            <a:round/>
            <a:tailEnd type="triangl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692" name="Text Box 20"/>
          <p:cNvSpPr txBox="1">
            <a:spLocks noChangeArrowheads="1"/>
          </p:cNvSpPr>
          <p:nvPr/>
        </p:nvSpPr>
        <p:spPr bwMode="auto">
          <a:xfrm>
            <a:off x="33338" y="-100012"/>
            <a:ext cx="9144000" cy="647700"/>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36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组合的属性变化</a:t>
            </a:r>
            <a:endParaRPr kumimoji="1" lang="zh-CN" altLang="en-US" sz="36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grpSp>
        <p:nvGrpSpPr>
          <p:cNvPr id="281607" name="组合 1"/>
          <p:cNvGrpSpPr/>
          <p:nvPr/>
        </p:nvGrpSpPr>
        <p:grpSpPr>
          <a:xfrm>
            <a:off x="1042988" y="4725988"/>
            <a:ext cx="5041900" cy="719137"/>
            <a:chOff x="1042988" y="5373688"/>
            <a:chExt cx="5041900" cy="1439862"/>
          </a:xfrm>
        </p:grpSpPr>
        <p:sp>
          <p:nvSpPr>
            <p:cNvPr id="412694" name="Rectangle 22"/>
            <p:cNvSpPr>
              <a:spLocks noChangeArrowheads="1"/>
            </p:cNvSpPr>
            <p:nvPr/>
          </p:nvSpPr>
          <p:spPr bwMode="auto">
            <a:xfrm>
              <a:off x="3895725" y="5443615"/>
              <a:ext cx="647700" cy="1153797"/>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5" name="Rectangle 23"/>
            <p:cNvSpPr>
              <a:spLocks noChangeArrowheads="1"/>
            </p:cNvSpPr>
            <p:nvPr/>
          </p:nvSpPr>
          <p:spPr bwMode="auto">
            <a:xfrm>
              <a:off x="4560888" y="5443615"/>
              <a:ext cx="647700" cy="1153797"/>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6" name="Rectangle 24"/>
            <p:cNvSpPr>
              <a:spLocks noChangeArrowheads="1"/>
            </p:cNvSpPr>
            <p:nvPr/>
          </p:nvSpPr>
          <p:spPr bwMode="auto">
            <a:xfrm>
              <a:off x="5219700" y="5443615"/>
              <a:ext cx="647700" cy="1153797"/>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7" name="Rectangle 25"/>
            <p:cNvSpPr>
              <a:spLocks noChangeArrowheads="1"/>
            </p:cNvSpPr>
            <p:nvPr/>
          </p:nvSpPr>
          <p:spPr bwMode="auto">
            <a:xfrm>
              <a:off x="1763713" y="5446793"/>
              <a:ext cx="647700" cy="1153799"/>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698" name="Rectangle 26"/>
            <p:cNvSpPr>
              <a:spLocks noChangeArrowheads="1"/>
            </p:cNvSpPr>
            <p:nvPr/>
          </p:nvSpPr>
          <p:spPr bwMode="auto">
            <a:xfrm>
              <a:off x="2428875" y="5446793"/>
              <a:ext cx="647700" cy="1153799"/>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699" name="Line 27"/>
            <p:cNvSpPr>
              <a:spLocks noChangeShapeType="1"/>
            </p:cNvSpPr>
            <p:nvPr/>
          </p:nvSpPr>
          <p:spPr bwMode="auto">
            <a:xfrm>
              <a:off x="1116013" y="5373688"/>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0" name="Line 28"/>
            <p:cNvSpPr>
              <a:spLocks noChangeShapeType="1"/>
            </p:cNvSpPr>
            <p:nvPr/>
          </p:nvSpPr>
          <p:spPr bwMode="auto">
            <a:xfrm>
              <a:off x="6084888" y="5373688"/>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1" name="Line 29"/>
            <p:cNvSpPr>
              <a:spLocks noChangeShapeType="1"/>
            </p:cNvSpPr>
            <p:nvPr/>
          </p:nvSpPr>
          <p:spPr bwMode="auto">
            <a:xfrm flipH="1">
              <a:off x="1042988" y="6813550"/>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2" name="Line 30"/>
            <p:cNvSpPr>
              <a:spLocks noChangeShapeType="1"/>
            </p:cNvSpPr>
            <p:nvPr/>
          </p:nvSpPr>
          <p:spPr bwMode="auto">
            <a:xfrm>
              <a:off x="1076325" y="5373688"/>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12704" name="Rectangle 32"/>
            <p:cNvSpPr>
              <a:spLocks noChangeArrowheads="1"/>
            </p:cNvSpPr>
            <p:nvPr/>
          </p:nvSpPr>
          <p:spPr bwMode="auto">
            <a:xfrm>
              <a:off x="3090863" y="5446793"/>
              <a:ext cx="647700" cy="1153799"/>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
        <p:nvSpPr>
          <p:cNvPr id="412706" name="Text Box 34"/>
          <p:cNvSpPr txBox="1">
            <a:spLocks noChangeArrowheads="1"/>
          </p:cNvSpPr>
          <p:nvPr/>
        </p:nvSpPr>
        <p:spPr bwMode="auto">
          <a:xfrm>
            <a:off x="6373813" y="3213100"/>
            <a:ext cx="2662238" cy="10160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对内（组</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被组）</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        （被组</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-&gt;</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组）</a:t>
            </a:r>
            <a:endPar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07" name="Text Box 35"/>
          <p:cNvSpPr txBox="1">
            <a:spLocks noChangeArrowheads="1"/>
          </p:cNvSpPr>
          <p:nvPr/>
        </p:nvSpPr>
        <p:spPr bwMode="auto">
          <a:xfrm>
            <a:off x="6445250" y="4868863"/>
            <a:ext cx="1943100" cy="461963"/>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public</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1" name="Rectangle 39"/>
          <p:cNvSpPr>
            <a:spLocks noChangeArrowheads="1"/>
          </p:cNvSpPr>
          <p:nvPr/>
        </p:nvSpPr>
        <p:spPr bwMode="auto">
          <a:xfrm>
            <a:off x="3922713" y="1773238"/>
            <a:ext cx="647700" cy="115252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2712" name="Rectangle 40"/>
          <p:cNvSpPr>
            <a:spLocks noChangeArrowheads="1"/>
          </p:cNvSpPr>
          <p:nvPr/>
        </p:nvSpPr>
        <p:spPr bwMode="auto">
          <a:xfrm>
            <a:off x="4587875" y="1773238"/>
            <a:ext cx="647700" cy="1152525"/>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713" name="Rectangle 41"/>
          <p:cNvSpPr>
            <a:spLocks noChangeArrowheads="1"/>
          </p:cNvSpPr>
          <p:nvPr/>
        </p:nvSpPr>
        <p:spPr bwMode="auto">
          <a:xfrm>
            <a:off x="5246688" y="1773238"/>
            <a:ext cx="647700" cy="1152525"/>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2714" name="Text Box 42"/>
          <p:cNvSpPr txBox="1">
            <a:spLocks noChangeArrowheads="1"/>
          </p:cNvSpPr>
          <p:nvPr/>
        </p:nvSpPr>
        <p:spPr bwMode="auto">
          <a:xfrm>
            <a:off x="6300788" y="811213"/>
            <a:ext cx="935038" cy="457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对内</a:t>
            </a:r>
            <a:endParaRPr kumimoji="1" lang="zh-CN" altLang="en-US" sz="2400" kern="1200" cap="none" spc="0" normalizeH="0" baseline="0" noProof="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5" name="Text Box 43"/>
          <p:cNvSpPr txBox="1">
            <a:spLocks noChangeArrowheads="1"/>
          </p:cNvSpPr>
          <p:nvPr/>
        </p:nvSpPr>
        <p:spPr bwMode="auto">
          <a:xfrm>
            <a:off x="6372225" y="2060575"/>
            <a:ext cx="935038" cy="457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endPar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6" name="Text Box 44"/>
          <p:cNvSpPr txBox="1">
            <a:spLocks noChangeArrowheads="1"/>
          </p:cNvSpPr>
          <p:nvPr/>
        </p:nvSpPr>
        <p:spPr bwMode="auto">
          <a:xfrm>
            <a:off x="1403350" y="1531938"/>
            <a:ext cx="1944688" cy="584200"/>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被组合类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412717" name="Text Box 45"/>
          <p:cNvSpPr txBox="1">
            <a:spLocks noChangeArrowheads="1"/>
          </p:cNvSpPr>
          <p:nvPr/>
        </p:nvSpPr>
        <p:spPr bwMode="auto">
          <a:xfrm>
            <a:off x="1403350" y="2636838"/>
            <a:ext cx="1512888" cy="579438"/>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组合类</a:t>
            </a:r>
            <a:endParaRPr kumimoji="1" lang="zh-CN" altLang="en-US" sz="32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grpSp>
        <p:nvGrpSpPr>
          <p:cNvPr id="281627" name="组合 2"/>
          <p:cNvGrpSpPr/>
          <p:nvPr/>
        </p:nvGrpSpPr>
        <p:grpSpPr>
          <a:xfrm>
            <a:off x="1042988" y="5445125"/>
            <a:ext cx="5041900" cy="735013"/>
            <a:chOff x="3634556" y="3285282"/>
            <a:chExt cx="5041900" cy="1439862"/>
          </a:xfrm>
        </p:grpSpPr>
        <p:sp>
          <p:nvSpPr>
            <p:cNvPr id="37" name="Rectangle 22"/>
            <p:cNvSpPr>
              <a:spLocks noChangeArrowheads="1"/>
            </p:cNvSpPr>
            <p:nvPr/>
          </p:nvSpPr>
          <p:spPr bwMode="auto">
            <a:xfrm>
              <a:off x="6487293" y="3356810"/>
              <a:ext cx="647700" cy="1153754"/>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8" name="Rectangle 23"/>
            <p:cNvSpPr>
              <a:spLocks noChangeArrowheads="1"/>
            </p:cNvSpPr>
            <p:nvPr/>
          </p:nvSpPr>
          <p:spPr bwMode="auto">
            <a:xfrm>
              <a:off x="7152456" y="3356810"/>
              <a:ext cx="647700" cy="1153754"/>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9" name="Rectangle 24"/>
            <p:cNvSpPr>
              <a:spLocks noChangeArrowheads="1"/>
            </p:cNvSpPr>
            <p:nvPr/>
          </p:nvSpPr>
          <p:spPr bwMode="auto">
            <a:xfrm>
              <a:off x="7811268"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0" name="Rectangle 25"/>
            <p:cNvSpPr>
              <a:spLocks noChangeArrowheads="1"/>
            </p:cNvSpPr>
            <p:nvPr/>
          </p:nvSpPr>
          <p:spPr bwMode="auto">
            <a:xfrm>
              <a:off x="4355281" y="3356810"/>
              <a:ext cx="647700" cy="1153754"/>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1" name="Rectangle 26"/>
            <p:cNvSpPr>
              <a:spLocks noChangeArrowheads="1"/>
            </p:cNvSpPr>
            <p:nvPr/>
          </p:nvSpPr>
          <p:spPr bwMode="auto">
            <a:xfrm>
              <a:off x="5020443"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2" name="Line 27"/>
            <p:cNvSpPr>
              <a:spLocks noChangeShapeType="1"/>
            </p:cNvSpPr>
            <p:nvPr/>
          </p:nvSpPr>
          <p:spPr bwMode="auto">
            <a:xfrm>
              <a:off x="3707581" y="3285282"/>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 name="Line 28"/>
            <p:cNvSpPr>
              <a:spLocks noChangeShapeType="1"/>
            </p:cNvSpPr>
            <p:nvPr/>
          </p:nvSpPr>
          <p:spPr bwMode="auto">
            <a:xfrm>
              <a:off x="8676456"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4" name="Line 29"/>
            <p:cNvSpPr>
              <a:spLocks noChangeShapeType="1"/>
            </p:cNvSpPr>
            <p:nvPr/>
          </p:nvSpPr>
          <p:spPr bwMode="auto">
            <a:xfrm flipH="1">
              <a:off x="3634556" y="4725144"/>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5" name="Line 30"/>
            <p:cNvSpPr>
              <a:spLocks noChangeShapeType="1"/>
            </p:cNvSpPr>
            <p:nvPr/>
          </p:nvSpPr>
          <p:spPr bwMode="auto">
            <a:xfrm>
              <a:off x="3667893"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6" name="Rectangle 32"/>
            <p:cNvSpPr>
              <a:spLocks noChangeArrowheads="1"/>
            </p:cNvSpPr>
            <p:nvPr/>
          </p:nvSpPr>
          <p:spPr bwMode="auto">
            <a:xfrm>
              <a:off x="5682431"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grpSp>
        <p:nvGrpSpPr>
          <p:cNvPr id="281638" name="组合 48"/>
          <p:cNvGrpSpPr/>
          <p:nvPr/>
        </p:nvGrpSpPr>
        <p:grpSpPr>
          <a:xfrm>
            <a:off x="1033463" y="6223000"/>
            <a:ext cx="5041900" cy="735013"/>
            <a:chOff x="3634556" y="3285282"/>
            <a:chExt cx="5041900" cy="1439862"/>
          </a:xfrm>
        </p:grpSpPr>
        <p:sp>
          <p:nvSpPr>
            <p:cNvPr id="50" name="Rectangle 22"/>
            <p:cNvSpPr>
              <a:spLocks noChangeArrowheads="1"/>
            </p:cNvSpPr>
            <p:nvPr/>
          </p:nvSpPr>
          <p:spPr bwMode="auto">
            <a:xfrm>
              <a:off x="6487293" y="3356810"/>
              <a:ext cx="647700" cy="1153754"/>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51" name="Rectangle 23"/>
            <p:cNvSpPr>
              <a:spLocks noChangeArrowheads="1"/>
            </p:cNvSpPr>
            <p:nvPr/>
          </p:nvSpPr>
          <p:spPr bwMode="auto">
            <a:xfrm>
              <a:off x="7152456" y="3356810"/>
              <a:ext cx="647700" cy="1153754"/>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52" name="Rectangle 24"/>
            <p:cNvSpPr>
              <a:spLocks noChangeArrowheads="1"/>
            </p:cNvSpPr>
            <p:nvPr/>
          </p:nvSpPr>
          <p:spPr bwMode="auto">
            <a:xfrm>
              <a:off x="7811268"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53" name="Rectangle 25"/>
            <p:cNvSpPr>
              <a:spLocks noChangeArrowheads="1"/>
            </p:cNvSpPr>
            <p:nvPr/>
          </p:nvSpPr>
          <p:spPr bwMode="auto">
            <a:xfrm>
              <a:off x="4355281" y="3356810"/>
              <a:ext cx="647700" cy="1153754"/>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4" name="Rectangle 26"/>
            <p:cNvSpPr>
              <a:spLocks noChangeArrowheads="1"/>
            </p:cNvSpPr>
            <p:nvPr/>
          </p:nvSpPr>
          <p:spPr bwMode="auto">
            <a:xfrm>
              <a:off x="5020443"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55" name="Line 27"/>
            <p:cNvSpPr>
              <a:spLocks noChangeShapeType="1"/>
            </p:cNvSpPr>
            <p:nvPr/>
          </p:nvSpPr>
          <p:spPr bwMode="auto">
            <a:xfrm>
              <a:off x="3707581" y="3285282"/>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6" name="Line 28"/>
            <p:cNvSpPr>
              <a:spLocks noChangeShapeType="1"/>
            </p:cNvSpPr>
            <p:nvPr/>
          </p:nvSpPr>
          <p:spPr bwMode="auto">
            <a:xfrm>
              <a:off x="8676456"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7" name="Line 29"/>
            <p:cNvSpPr>
              <a:spLocks noChangeShapeType="1"/>
            </p:cNvSpPr>
            <p:nvPr/>
          </p:nvSpPr>
          <p:spPr bwMode="auto">
            <a:xfrm flipH="1">
              <a:off x="3634556" y="4725144"/>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8" name="Line 30"/>
            <p:cNvSpPr>
              <a:spLocks noChangeShapeType="1"/>
            </p:cNvSpPr>
            <p:nvPr/>
          </p:nvSpPr>
          <p:spPr bwMode="auto">
            <a:xfrm>
              <a:off x="3667893"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9" name="Rectangle 32"/>
            <p:cNvSpPr>
              <a:spLocks noChangeArrowheads="1"/>
            </p:cNvSpPr>
            <p:nvPr/>
          </p:nvSpPr>
          <p:spPr bwMode="auto">
            <a:xfrm>
              <a:off x="5682431"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
        <p:nvSpPr>
          <p:cNvPr id="71" name="Text Box 35"/>
          <p:cNvSpPr txBox="1">
            <a:spLocks noChangeArrowheads="1"/>
          </p:cNvSpPr>
          <p:nvPr/>
        </p:nvSpPr>
        <p:spPr bwMode="auto">
          <a:xfrm>
            <a:off x="6443663" y="5487988"/>
            <a:ext cx="2449513" cy="461963"/>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protected</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sp>
        <p:nvSpPr>
          <p:cNvPr id="72" name="Text Box 35"/>
          <p:cNvSpPr txBox="1">
            <a:spLocks noChangeArrowheads="1"/>
          </p:cNvSpPr>
          <p:nvPr/>
        </p:nvSpPr>
        <p:spPr bwMode="auto">
          <a:xfrm>
            <a:off x="6516688" y="6237288"/>
            <a:ext cx="1943100" cy="461963"/>
          </a:xfrm>
          <a:prstGeom prst="rect">
            <a:avLst/>
          </a:prstGeom>
          <a:noFill/>
          <a:ln>
            <a:noFill/>
          </a:ln>
          <a:effectLst/>
        </p:spPr>
        <p:txBody>
          <a:bodyPr>
            <a:spAutoFit/>
          </a:bodyPr>
          <a:lstStyle/>
          <a:p>
            <a:pPr marR="0" algn="just" defTabSz="914400">
              <a:spcBef>
                <a:spcPct val="50000"/>
              </a:spcBef>
              <a:buClrTx/>
              <a:buSzTx/>
              <a:buFontTx/>
              <a:defRPr/>
            </a:pP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对外（</a:t>
            </a:r>
            <a:r>
              <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private</a:t>
            </a:r>
            <a:r>
              <a:rPr kumimoji="1" lang="zh-CN" altLang="en-US"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a:t>
            </a:r>
            <a:endParaRPr kumimoji="1"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grpSp>
        <p:nvGrpSpPr>
          <p:cNvPr id="281651" name="组合 1"/>
          <p:cNvGrpSpPr/>
          <p:nvPr/>
        </p:nvGrpSpPr>
        <p:grpSpPr>
          <a:xfrm>
            <a:off x="1042988" y="3141663"/>
            <a:ext cx="5041900" cy="1354137"/>
            <a:chOff x="1042988" y="5373688"/>
            <a:chExt cx="5041900" cy="2711467"/>
          </a:xfrm>
        </p:grpSpPr>
        <p:sp>
          <p:nvSpPr>
            <p:cNvPr id="63" name="Rectangle 22"/>
            <p:cNvSpPr>
              <a:spLocks noChangeArrowheads="1"/>
            </p:cNvSpPr>
            <p:nvPr/>
          </p:nvSpPr>
          <p:spPr bwMode="auto">
            <a:xfrm>
              <a:off x="3895725" y="5443620"/>
              <a:ext cx="647700" cy="1153883"/>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64" name="Rectangle 23"/>
            <p:cNvSpPr>
              <a:spLocks noChangeArrowheads="1"/>
            </p:cNvSpPr>
            <p:nvPr/>
          </p:nvSpPr>
          <p:spPr bwMode="auto">
            <a:xfrm>
              <a:off x="4560888" y="5443620"/>
              <a:ext cx="647700" cy="1153883"/>
            </a:xfrm>
            <a:prstGeom prst="rect">
              <a:avLst/>
            </a:prstGeom>
            <a:gradFill rotWithShape="0">
              <a:gsLst>
                <a:gs pos="0">
                  <a:schemeClr val="tx1"/>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65" name="Rectangle 24"/>
            <p:cNvSpPr>
              <a:spLocks noChangeArrowheads="1"/>
            </p:cNvSpPr>
            <p:nvPr/>
          </p:nvSpPr>
          <p:spPr bwMode="auto">
            <a:xfrm>
              <a:off x="5219700" y="5443620"/>
              <a:ext cx="647700" cy="1153883"/>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2800" b="1" i="1"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66" name="Rectangle 25"/>
            <p:cNvSpPr>
              <a:spLocks noChangeArrowheads="1"/>
            </p:cNvSpPr>
            <p:nvPr/>
          </p:nvSpPr>
          <p:spPr bwMode="auto">
            <a:xfrm>
              <a:off x="1763713" y="5446798"/>
              <a:ext cx="647700" cy="115388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68" name="Line 27"/>
            <p:cNvSpPr>
              <a:spLocks noChangeShapeType="1"/>
            </p:cNvSpPr>
            <p:nvPr/>
          </p:nvSpPr>
          <p:spPr bwMode="auto">
            <a:xfrm>
              <a:off x="1116013" y="5373688"/>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9" name="Line 28"/>
            <p:cNvSpPr>
              <a:spLocks noChangeShapeType="1"/>
            </p:cNvSpPr>
            <p:nvPr/>
          </p:nvSpPr>
          <p:spPr bwMode="auto">
            <a:xfrm>
              <a:off x="6084888" y="5373688"/>
              <a:ext cx="0" cy="143997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0" name="Line 29"/>
            <p:cNvSpPr>
              <a:spLocks noChangeShapeType="1"/>
            </p:cNvSpPr>
            <p:nvPr/>
          </p:nvSpPr>
          <p:spPr bwMode="auto">
            <a:xfrm flipH="1">
              <a:off x="1042988" y="6813658"/>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73" name="Line 30"/>
            <p:cNvSpPr>
              <a:spLocks noChangeShapeType="1"/>
            </p:cNvSpPr>
            <p:nvPr/>
          </p:nvSpPr>
          <p:spPr bwMode="auto">
            <a:xfrm>
              <a:off x="1076325" y="5373688"/>
              <a:ext cx="0" cy="143997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6" name="Rectangle 25"/>
            <p:cNvSpPr>
              <a:spLocks noChangeArrowheads="1"/>
            </p:cNvSpPr>
            <p:nvPr/>
          </p:nvSpPr>
          <p:spPr bwMode="auto">
            <a:xfrm>
              <a:off x="2435225" y="5472228"/>
              <a:ext cx="647700" cy="115388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87" name="Rectangle 25"/>
            <p:cNvSpPr>
              <a:spLocks noChangeArrowheads="1"/>
            </p:cNvSpPr>
            <p:nvPr/>
          </p:nvSpPr>
          <p:spPr bwMode="auto">
            <a:xfrm>
              <a:off x="3119438" y="5472228"/>
              <a:ext cx="647700" cy="115388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88" name="Rectangle 22"/>
            <p:cNvSpPr>
              <a:spLocks noChangeArrowheads="1"/>
            </p:cNvSpPr>
            <p:nvPr/>
          </p:nvSpPr>
          <p:spPr bwMode="auto">
            <a:xfrm>
              <a:off x="3886200" y="6931272"/>
              <a:ext cx="647700" cy="1153883"/>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89" name="Line 27"/>
            <p:cNvSpPr>
              <a:spLocks noChangeShapeType="1"/>
            </p:cNvSpPr>
            <p:nvPr/>
          </p:nvSpPr>
          <p:spPr bwMode="auto">
            <a:xfrm>
              <a:off x="1106488" y="6861340"/>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90" name="Rectangle 22"/>
            <p:cNvSpPr>
              <a:spLocks noChangeArrowheads="1"/>
            </p:cNvSpPr>
            <p:nvPr/>
          </p:nvSpPr>
          <p:spPr bwMode="auto">
            <a:xfrm>
              <a:off x="4562475" y="6928092"/>
              <a:ext cx="647700" cy="115388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保护</a:t>
              </a:r>
              <a:endPar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91" name="Rectangle 22"/>
            <p:cNvSpPr>
              <a:spLocks noChangeArrowheads="1"/>
            </p:cNvSpPr>
            <p:nvPr/>
          </p:nvSpPr>
          <p:spPr bwMode="auto">
            <a:xfrm>
              <a:off x="5219700" y="6928092"/>
              <a:ext cx="647700" cy="1153885"/>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私</a:t>
              </a:r>
              <a:r>
                <a:rPr kumimoji="1" lang="zh-CN" altLang="en-US" sz="2800" b="1" i="0" u="none" strike="noStrike" kern="1200" cap="none" spc="0" normalizeH="0" baseline="0" noProof="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有</a:t>
              </a:r>
              <a:endParaRPr kumimoji="1" lang="zh-CN" altLang="en-US" sz="2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grpSp>
        <p:nvGrpSpPr>
          <p:cNvPr id="281666" name="组合 2"/>
          <p:cNvGrpSpPr/>
          <p:nvPr/>
        </p:nvGrpSpPr>
        <p:grpSpPr>
          <a:xfrm>
            <a:off x="1042988" y="3860800"/>
            <a:ext cx="5041900" cy="735013"/>
            <a:chOff x="3634556" y="3285282"/>
            <a:chExt cx="5041900" cy="1439862"/>
          </a:xfrm>
        </p:grpSpPr>
        <p:sp>
          <p:nvSpPr>
            <p:cNvPr id="79" name="Rectangle 25"/>
            <p:cNvSpPr>
              <a:spLocks noChangeArrowheads="1"/>
            </p:cNvSpPr>
            <p:nvPr/>
          </p:nvSpPr>
          <p:spPr bwMode="auto">
            <a:xfrm>
              <a:off x="4355281" y="3356810"/>
              <a:ext cx="647700" cy="1153754"/>
            </a:xfrm>
            <a:prstGeom prst="rect">
              <a:avLst/>
            </a:prstGeom>
            <a:gradFill rotWithShape="0">
              <a:gsLst>
                <a:gs pos="0">
                  <a:srgbClr val="FFFF00"/>
                </a:gs>
                <a:gs pos="100000">
                  <a:srgbClr val="FF00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a:t>
              </a:r>
              <a:endParaRPr kumimoji="1" lang="en-US" altLang="zh-CN"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公有</a:t>
              </a:r>
              <a:endParaRPr kumimoji="1" lang="zh-CN" altLang="en-US" sz="1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80" name="Rectangle 26"/>
            <p:cNvSpPr>
              <a:spLocks noChangeArrowheads="1"/>
            </p:cNvSpPr>
            <p:nvPr/>
          </p:nvSpPr>
          <p:spPr bwMode="auto">
            <a:xfrm>
              <a:off x="5020443"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保护</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81" name="Line 27"/>
            <p:cNvSpPr>
              <a:spLocks noChangeShapeType="1"/>
            </p:cNvSpPr>
            <p:nvPr/>
          </p:nvSpPr>
          <p:spPr bwMode="auto">
            <a:xfrm>
              <a:off x="3707581" y="3285282"/>
              <a:ext cx="4968875"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2" name="Line 28"/>
            <p:cNvSpPr>
              <a:spLocks noChangeShapeType="1"/>
            </p:cNvSpPr>
            <p:nvPr/>
          </p:nvSpPr>
          <p:spPr bwMode="auto">
            <a:xfrm>
              <a:off x="8676456"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3" name="Line 29"/>
            <p:cNvSpPr>
              <a:spLocks noChangeShapeType="1"/>
            </p:cNvSpPr>
            <p:nvPr/>
          </p:nvSpPr>
          <p:spPr bwMode="auto">
            <a:xfrm flipH="1">
              <a:off x="3634556" y="4725144"/>
              <a:ext cx="5041900" cy="0"/>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4" name="Line 30"/>
            <p:cNvSpPr>
              <a:spLocks noChangeShapeType="1"/>
            </p:cNvSpPr>
            <p:nvPr/>
          </p:nvSpPr>
          <p:spPr bwMode="auto">
            <a:xfrm>
              <a:off x="3667893" y="3285282"/>
              <a:ext cx="0" cy="1439862"/>
            </a:xfrm>
            <a:prstGeom prst="line">
              <a:avLst/>
            </a:prstGeom>
            <a:noFill/>
            <a:ln w="9525">
              <a:solidFill>
                <a:schemeClr val="bg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 name="Rectangle 32"/>
            <p:cNvSpPr>
              <a:spLocks noChangeArrowheads="1"/>
            </p:cNvSpPr>
            <p:nvPr/>
          </p:nvSpPr>
          <p:spPr bwMode="auto">
            <a:xfrm>
              <a:off x="5682431" y="3356810"/>
              <a:ext cx="647700" cy="1153754"/>
            </a:xfrm>
            <a:prstGeom prst="rect">
              <a:avLst/>
            </a:prstGeom>
            <a:gradFill rotWithShape="0">
              <a:gsLst>
                <a:gs pos="0">
                  <a:schemeClr val="bg2"/>
                </a:gs>
                <a:gs pos="100000">
                  <a:srgbClr val="FFFF00"/>
                </a:gs>
              </a:gsLst>
              <a:lin ang="2700000" scaled="1"/>
            </a:gradFill>
            <a:ln w="19050">
              <a:solidFill>
                <a:srgbClr val="FFFF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组合</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私有</a:t>
              </a:r>
              <a:endParaRPr kumimoji="1" lang="zh-CN" altLang="en-US" sz="1800" b="1" i="1"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5" name="Text Box 3"/>
          <p:cNvSpPr txBox="1"/>
          <p:nvPr/>
        </p:nvSpPr>
        <p:spPr>
          <a:xfrm>
            <a:off x="34925" y="549275"/>
            <a:ext cx="854075" cy="5903913"/>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12692" name="Text Box 20"/>
          <p:cNvSpPr txBox="1">
            <a:spLocks noChangeArrowheads="1"/>
          </p:cNvSpPr>
          <p:nvPr/>
        </p:nvSpPr>
        <p:spPr bwMode="auto">
          <a:xfrm>
            <a:off x="33338" y="-100012"/>
            <a:ext cx="9144000" cy="647700"/>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36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rPr>
              <a:t>组合的属性变化</a:t>
            </a:r>
            <a:endParaRPr kumimoji="1" lang="zh-CN" altLang="en-US" sz="3600" kern="1200" cap="none" spc="0" normalizeH="0" baseline="0" noProof="0" dirty="0">
              <a:effectLst>
                <a:outerShdw blurRad="38100" dist="38100" dir="2700000" algn="tl">
                  <a:srgbClr val="000000"/>
                </a:outerShdw>
              </a:effectLst>
              <a:latin typeface="Times New Roman" panose="02020603050405020304" pitchFamily="18" charset="0"/>
              <a:ea typeface="华文行楷" panose="02010800040101010101" pitchFamily="2" charset="-122"/>
              <a:cs typeface="+mn-cs"/>
            </a:endParaRPr>
          </a:p>
        </p:txBody>
      </p:sp>
      <p:graphicFrame>
        <p:nvGraphicFramePr>
          <p:cNvPr id="282627" name="图表 74"/>
          <p:cNvGraphicFramePr/>
          <p:nvPr/>
        </p:nvGraphicFramePr>
        <p:xfrm>
          <a:off x="1473200" y="1346200"/>
          <a:ext cx="6197600" cy="4165600"/>
        </p:xfrm>
        <a:graphic>
          <a:graphicData uri="http://schemas.openxmlformats.org/presentationml/2006/ole">
            <mc:AlternateContent xmlns:mc="http://schemas.openxmlformats.org/markup-compatibility/2006">
              <mc:Choice xmlns:v="urn:schemas-microsoft-com:vml" Requires="v">
                <p:oleObj spid="_x0000_s3076" name="" r:id="rId1" imgW="6205855" imgH="4175760" progId="Excel.Chart.8">
                  <p:embed/>
                </p:oleObj>
              </mc:Choice>
              <mc:Fallback>
                <p:oleObj name="" r:id="rId1" imgW="6205855" imgH="4175760" progId="Excel.Chart.8">
                  <p:embed/>
                  <p:pic>
                    <p:nvPicPr>
                      <p:cNvPr id="0" name="图片 3075"/>
                      <p:cNvPicPr/>
                      <p:nvPr/>
                    </p:nvPicPr>
                    <p:blipFill>
                      <a:blip r:embed="rId2"/>
                      <a:stretch>
                        <a:fillRect/>
                      </a:stretch>
                    </p:blipFill>
                    <p:spPr>
                      <a:xfrm>
                        <a:off x="1473200" y="1346200"/>
                        <a:ext cx="6197600" cy="4165600"/>
                      </a:xfrm>
                      <a:prstGeom prst="rect">
                        <a:avLst/>
                      </a:prstGeom>
                      <a:noFill/>
                      <a:ln w="38100">
                        <a:noFill/>
                        <a:miter/>
                      </a:ln>
                    </p:spPr>
                  </p:pic>
                </p:oleObj>
              </mc:Fallback>
            </mc:AlternateContent>
          </a:graphicData>
        </a:graphic>
      </p:graphicFrame>
      <p:graphicFrame>
        <p:nvGraphicFramePr>
          <p:cNvPr id="282628" name="图表 75"/>
          <p:cNvGraphicFramePr/>
          <p:nvPr/>
        </p:nvGraphicFramePr>
        <p:xfrm>
          <a:off x="2239963" y="1954213"/>
          <a:ext cx="4638675" cy="2949575"/>
        </p:xfrm>
        <a:graphic>
          <a:graphicData uri="http://schemas.openxmlformats.org/presentationml/2006/ole">
            <mc:AlternateContent xmlns:mc="http://schemas.openxmlformats.org/markup-compatibility/2006">
              <mc:Choice xmlns:v="urn:schemas-microsoft-com:vml" Requires="v">
                <p:oleObj spid="_x0000_s3077" name="" r:id="rId3" imgW="4645025" imgH="2956560" progId="Excel.Chart.8">
                  <p:embed/>
                </p:oleObj>
              </mc:Choice>
              <mc:Fallback>
                <p:oleObj name="" r:id="rId3" imgW="4645025" imgH="2956560" progId="Excel.Chart.8">
                  <p:embed/>
                  <p:pic>
                    <p:nvPicPr>
                      <p:cNvPr id="0" name="图片 3076"/>
                      <p:cNvPicPr/>
                      <p:nvPr/>
                    </p:nvPicPr>
                    <p:blipFill>
                      <a:blip r:embed="rId4"/>
                      <a:stretch>
                        <a:fillRect/>
                      </a:stretch>
                    </p:blipFill>
                    <p:spPr>
                      <a:xfrm>
                        <a:off x="2239963" y="1954213"/>
                        <a:ext cx="4638675" cy="2949575"/>
                      </a:xfrm>
                      <a:prstGeom prst="rect">
                        <a:avLst/>
                      </a:prstGeom>
                      <a:noFill/>
                      <a:ln w="38100">
                        <a:noFill/>
                        <a:miter/>
                      </a:ln>
                    </p:spPr>
                  </p:pic>
                </p:oleObj>
              </mc:Fallback>
            </mc:AlternateContent>
          </a:graphicData>
        </a:graphic>
      </p:graphicFrame>
      <p:graphicFrame>
        <p:nvGraphicFramePr>
          <p:cNvPr id="282629" name="图表 76"/>
          <p:cNvGraphicFramePr/>
          <p:nvPr/>
        </p:nvGraphicFramePr>
        <p:xfrm>
          <a:off x="3294063" y="2370138"/>
          <a:ext cx="2552700" cy="2046287"/>
        </p:xfrm>
        <a:graphic>
          <a:graphicData uri="http://schemas.openxmlformats.org/presentationml/2006/ole">
            <mc:AlternateContent xmlns:mc="http://schemas.openxmlformats.org/markup-compatibility/2006">
              <mc:Choice xmlns:v="urn:schemas-microsoft-com:vml" Requires="v">
                <p:oleObj spid="_x0000_s3078" name="" r:id="rId5" imgW="2560320" imgH="2054225" progId="Excel.Chart.8">
                  <p:embed/>
                </p:oleObj>
              </mc:Choice>
              <mc:Fallback>
                <p:oleObj name="" r:id="rId5" imgW="2560320" imgH="2054225" progId="Excel.Chart.8">
                  <p:embed/>
                  <p:pic>
                    <p:nvPicPr>
                      <p:cNvPr id="0" name="图片 3077"/>
                      <p:cNvPicPr/>
                      <p:nvPr/>
                    </p:nvPicPr>
                    <p:blipFill>
                      <a:blip r:embed="rId6"/>
                      <a:stretch>
                        <a:fillRect/>
                      </a:stretch>
                    </p:blipFill>
                    <p:spPr>
                      <a:xfrm>
                        <a:off x="3294063" y="2370138"/>
                        <a:ext cx="2552700" cy="2046287"/>
                      </a:xfrm>
                      <a:prstGeom prst="rect">
                        <a:avLst/>
                      </a:prstGeom>
                      <a:noFill/>
                      <a:ln w="38100">
                        <a:noFill/>
                        <a:miter/>
                      </a:ln>
                    </p:spPr>
                  </p:pic>
                </p:oleObj>
              </mc:Fallback>
            </mc:AlternateContent>
          </a:graphicData>
        </a:graphic>
      </p:graphicFrame>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1" name="Rectangle 3"/>
          <p:cNvSpPr>
            <a:spLocks noChangeArrowheads="1"/>
          </p:cNvSpPr>
          <p:nvPr/>
        </p:nvSpPr>
        <p:spPr bwMode="auto">
          <a:xfrm>
            <a:off x="107950" y="2662238"/>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被组合的成员内部的成员和本级其他成员</a:t>
            </a:r>
            <a:endParaRPr kumimoji="0"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相互访问权限相当于类外关系</a:t>
            </a:r>
            <a:r>
              <a:rPr kumimoji="0" lang="zh-CN" altLang="en-US" sz="32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78532" name="Rectangle 4"/>
          <p:cNvSpPr>
            <a:spLocks noChangeArrowheads="1"/>
          </p:cNvSpPr>
          <p:nvPr/>
        </p:nvSpPr>
        <p:spPr bwMode="auto">
          <a:xfrm>
            <a:off x="107950" y="14763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组合和继承都是实现复用的手段；</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尽量使用组合，因为是黑箱复用依赖较少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83651" name="Rectangle 5"/>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继承</a:t>
            </a:r>
            <a:r>
              <a:rPr lang="zh-CN" altLang="en-US" sz="4400" dirty="0">
                <a:solidFill>
                  <a:srgbClr val="FFFF00"/>
                </a:solidFill>
                <a:latin typeface="Times New Roman" panose="02020603050405020304" pitchFamily="18" charset="0"/>
                <a:ea typeface="华文行楷" panose="02010800040101010101" pitchFamily="2" charset="-122"/>
              </a:rPr>
              <a:t>和组合的关系</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78536" name="Rectangle 8"/>
          <p:cNvSpPr>
            <a:spLocks noChangeArrowheads="1"/>
          </p:cNvSpPr>
          <p:nvPr/>
        </p:nvSpPr>
        <p:spPr bwMode="auto">
          <a:xfrm>
            <a:off x="107950" y="38862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被组合成员内部的成员的成员的成员。。。</a:t>
            </a:r>
            <a:endPar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外面对其访问权限属于逐级类外叠加的关系</a:t>
            </a:r>
            <a:endPar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8532"/>
                                        </p:tgtEl>
                                        <p:attrNameLst>
                                          <p:attrName>style.visibility</p:attrName>
                                        </p:attrNameLst>
                                      </p:cBhvr>
                                      <p:to>
                                        <p:strVal val="visible"/>
                                      </p:to>
                                    </p:set>
                                    <p:anim calcmode="lin" valueType="num">
                                      <p:cBhvr additive="base">
                                        <p:cTn id="7" dur="2000" fill="hold"/>
                                        <p:tgtEl>
                                          <p:spTgt spid="278532"/>
                                        </p:tgtEl>
                                        <p:attrNameLst>
                                          <p:attrName>ppt_x</p:attrName>
                                        </p:attrNameLst>
                                      </p:cBhvr>
                                      <p:tavLst>
                                        <p:tav tm="0">
                                          <p:val>
                                            <p:strVal val="#ppt_x"/>
                                          </p:val>
                                        </p:tav>
                                        <p:tav tm="100000">
                                          <p:val>
                                            <p:strVal val="#ppt_x"/>
                                          </p:val>
                                        </p:tav>
                                      </p:tavLst>
                                    </p:anim>
                                    <p:anim calcmode="lin" valueType="num">
                                      <p:cBhvr additive="base">
                                        <p:cTn id="8" dur="2000" fill="hold"/>
                                        <p:tgtEl>
                                          <p:spTgt spid="2785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278531"/>
                                        </p:tgtEl>
                                        <p:attrNameLst>
                                          <p:attrName>style.visibility</p:attrName>
                                        </p:attrNameLst>
                                      </p:cBhvr>
                                      <p:to>
                                        <p:strVal val="visible"/>
                                      </p:to>
                                    </p:set>
                                    <p:anim by="(-#ppt_w*2)" calcmode="lin" valueType="num">
                                      <p:cBhvr rctx="PPT">
                                        <p:cTn id="13" dur="500" autoRev="1" fill="hold">
                                          <p:stCondLst>
                                            <p:cond delay="0"/>
                                          </p:stCondLst>
                                        </p:cTn>
                                        <p:tgtEl>
                                          <p:spTgt spid="278531"/>
                                        </p:tgtEl>
                                        <p:attrNameLst>
                                          <p:attrName>ppt_w</p:attrName>
                                        </p:attrNameLst>
                                      </p:cBhvr>
                                    </p:anim>
                                    <p:anim by="(#ppt_w*0.50)" calcmode="lin" valueType="num">
                                      <p:cBhvr>
                                        <p:cTn id="14" dur="500" decel="50000" autoRev="1" fill="hold">
                                          <p:stCondLst>
                                            <p:cond delay="0"/>
                                          </p:stCondLst>
                                        </p:cTn>
                                        <p:tgtEl>
                                          <p:spTgt spid="278531"/>
                                        </p:tgtEl>
                                        <p:attrNameLst>
                                          <p:attrName>ppt_x</p:attrName>
                                        </p:attrNameLst>
                                      </p:cBhvr>
                                    </p:anim>
                                    <p:anim from="(-#ppt_h/2)" to="(#ppt_y)" calcmode="lin" valueType="num">
                                      <p:cBhvr>
                                        <p:cTn id="15" dur="1000" fill="hold">
                                          <p:stCondLst>
                                            <p:cond delay="0"/>
                                          </p:stCondLst>
                                        </p:cTn>
                                        <p:tgtEl>
                                          <p:spTgt spid="278531"/>
                                        </p:tgtEl>
                                        <p:attrNameLst>
                                          <p:attrName>ppt_y</p:attrName>
                                        </p:attrNameLst>
                                      </p:cBhvr>
                                    </p:anim>
                                    <p:animRot by="21600000">
                                      <p:cBhvr>
                                        <p:cTn id="16" dur="1000" fill="hold">
                                          <p:stCondLst>
                                            <p:cond delay="0"/>
                                          </p:stCondLst>
                                        </p:cTn>
                                        <p:tgtEl>
                                          <p:spTgt spid="278531"/>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78536"/>
                                        </p:tgtEl>
                                        <p:attrNameLst>
                                          <p:attrName>style.visibility</p:attrName>
                                        </p:attrNameLst>
                                      </p:cBhvr>
                                      <p:to>
                                        <p:strVal val="visible"/>
                                      </p:to>
                                    </p:set>
                                    <p:anim calcmode="lin" valueType="num">
                                      <p:cBhvr additive="base">
                                        <p:cTn id="21" dur="2000" fill="hold"/>
                                        <p:tgtEl>
                                          <p:spTgt spid="278536"/>
                                        </p:tgtEl>
                                        <p:attrNameLst>
                                          <p:attrName>ppt_x</p:attrName>
                                        </p:attrNameLst>
                                      </p:cBhvr>
                                      <p:tavLst>
                                        <p:tav tm="0">
                                          <p:val>
                                            <p:strVal val="#ppt_x"/>
                                          </p:val>
                                        </p:tav>
                                        <p:tav tm="100000">
                                          <p:val>
                                            <p:strVal val="#ppt_x"/>
                                          </p:val>
                                        </p:tav>
                                      </p:tavLst>
                                    </p:anim>
                                    <p:anim calcmode="lin" valueType="num">
                                      <p:cBhvr additive="base">
                                        <p:cTn id="22" dur="2000" fill="hold"/>
                                        <p:tgtEl>
                                          <p:spTgt spid="2785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animBg="1"/>
      <p:bldP spid="278532" grpId="0" animBg="1"/>
      <p:bldP spid="278536" grpId="0" animBg="1"/>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3" name="Rectangle 5"/>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继承</a:t>
            </a:r>
            <a:r>
              <a:rPr lang="zh-CN" altLang="en-US" sz="4400" dirty="0">
                <a:solidFill>
                  <a:srgbClr val="FFFF00"/>
                </a:solidFill>
                <a:latin typeface="Times New Roman" panose="02020603050405020304" pitchFamily="18" charset="0"/>
                <a:ea typeface="华文行楷" panose="02010800040101010101" pitchFamily="2" charset="-122"/>
              </a:rPr>
              <a:t>和组合的关系</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84674" name="Rectangle 10"/>
          <p:cNvSpPr>
            <a:spLocks noGrp="1"/>
          </p:cNvSpPr>
          <p:nvPr>
            <p:ph idx="1"/>
          </p:nvPr>
        </p:nvSpPr>
        <p:spPr>
          <a:xfrm>
            <a:off x="685800" y="1600200"/>
            <a:ext cx="7772400" cy="4495800"/>
          </a:xfrm>
        </p:spPr>
        <p:txBody>
          <a:bodyPr vert="horz" wrap="square" lIns="91440" tIns="45720" rIns="91440" bIns="45720" anchor="t"/>
          <a:p>
            <a:pPr eaLnBrk="1" hangingPunct="1">
              <a:lnSpc>
                <a:spcPct val="90000"/>
              </a:lnSpc>
              <a:buNone/>
            </a:pPr>
            <a:r>
              <a:rPr lang="en-US" altLang="zh-CN" dirty="0">
                <a:solidFill>
                  <a:schemeClr val="bg1"/>
                </a:solidFill>
              </a:rPr>
              <a:t>class B{</a:t>
            </a:r>
            <a:endParaRPr lang="en-US" altLang="zh-CN" dirty="0">
              <a:solidFill>
                <a:schemeClr val="bg1"/>
              </a:solidFill>
            </a:endParaRPr>
          </a:p>
          <a:p>
            <a:pPr eaLnBrk="1" hangingPunct="1">
              <a:lnSpc>
                <a:spcPct val="90000"/>
              </a:lnSpc>
              <a:buNone/>
            </a:pPr>
            <a:r>
              <a:rPr lang="en-US" altLang="zh-CN" dirty="0">
                <a:solidFill>
                  <a:schemeClr val="bg1"/>
                </a:solidFill>
              </a:rPr>
              <a:t>public:</a:t>
            </a:r>
            <a:endParaRPr lang="en-US" altLang="zh-CN" dirty="0">
              <a:solidFill>
                <a:schemeClr val="bg1"/>
              </a:solidFill>
            </a:endParaRPr>
          </a:p>
          <a:p>
            <a:pPr eaLnBrk="1" hangingPunct="1">
              <a:lnSpc>
                <a:spcPct val="90000"/>
              </a:lnSpc>
              <a:buNone/>
            </a:pPr>
            <a:r>
              <a:rPr lang="en-US" altLang="zh-CN" dirty="0">
                <a:solidFill>
                  <a:schemeClr val="bg1"/>
                </a:solidFill>
              </a:rPr>
              <a:t>	void f( ) const{ }</a:t>
            </a:r>
            <a:endParaRPr lang="en-US" altLang="zh-CN" dirty="0">
              <a:solidFill>
                <a:schemeClr val="bg1"/>
              </a:solidFill>
            </a:endParaRPr>
          </a:p>
          <a:p>
            <a:pPr eaLnBrk="1" hangingPunct="1">
              <a:lnSpc>
                <a:spcPct val="90000"/>
              </a:lnSpc>
              <a:buNone/>
            </a:pPr>
            <a:r>
              <a:rPr lang="en-US" altLang="zh-CN" dirty="0">
                <a:solidFill>
                  <a:schemeClr val="bg1"/>
                </a:solidFill>
              </a:rPr>
              <a:t>}; </a:t>
            </a:r>
            <a:endParaRPr lang="en-US" altLang="zh-CN" dirty="0">
              <a:solidFill>
                <a:schemeClr val="bg1"/>
              </a:solidFill>
            </a:endParaRPr>
          </a:p>
          <a:p>
            <a:pPr eaLnBrk="1" hangingPunct="1">
              <a:lnSpc>
                <a:spcPct val="90000"/>
              </a:lnSpc>
              <a:buNone/>
            </a:pPr>
            <a:r>
              <a:rPr lang="en-US" altLang="zh-CN" dirty="0">
                <a:solidFill>
                  <a:schemeClr val="bg1"/>
                </a:solidFill>
              </a:rPr>
              <a:t>class D : public B{</a:t>
            </a:r>
            <a:endParaRPr lang="en-US" altLang="zh-CN" dirty="0">
              <a:solidFill>
                <a:schemeClr val="bg1"/>
              </a:solidFill>
            </a:endParaRPr>
          </a:p>
          <a:p>
            <a:pPr eaLnBrk="1" hangingPunct="1">
              <a:lnSpc>
                <a:spcPct val="90000"/>
              </a:lnSpc>
              <a:buNone/>
            </a:pPr>
            <a:r>
              <a:rPr lang="en-US" altLang="zh-CN" dirty="0">
                <a:solidFill>
                  <a:schemeClr val="bg1"/>
                </a:solidFill>
              </a:rPr>
              <a:t>public:</a:t>
            </a:r>
            <a:endParaRPr lang="en-US" altLang="zh-CN" dirty="0">
              <a:solidFill>
                <a:schemeClr val="bg1"/>
              </a:solidFill>
            </a:endParaRPr>
          </a:p>
          <a:p>
            <a:pPr eaLnBrk="1" hangingPunct="1">
              <a:lnSpc>
                <a:spcPct val="90000"/>
              </a:lnSpc>
              <a:buNone/>
            </a:pPr>
            <a:r>
              <a:rPr lang="en-US" altLang="zh-CN" dirty="0">
                <a:solidFill>
                  <a:schemeClr val="bg1"/>
                </a:solidFill>
              </a:rPr>
              <a:t>	void func( ) const{ f ( );}</a:t>
            </a:r>
            <a:endParaRPr lang="en-US" altLang="zh-CN" dirty="0">
              <a:solidFill>
                <a:schemeClr val="bg1"/>
              </a:solidFill>
            </a:endParaRPr>
          </a:p>
          <a:p>
            <a:pPr eaLnBrk="1" hangingPunct="1">
              <a:lnSpc>
                <a:spcPct val="90000"/>
              </a:lnSpc>
              <a:buNone/>
            </a:pPr>
            <a:r>
              <a:rPr lang="en-US" altLang="zh-CN" dirty="0">
                <a:solidFill>
                  <a:schemeClr val="bg1"/>
                </a:solidFill>
              </a:rPr>
              <a:t>};</a:t>
            </a:r>
            <a:endParaRPr lang="en-US" altLang="zh-CN" dirty="0">
              <a:solidFill>
                <a:schemeClr val="bg1"/>
              </a:solidFill>
            </a:endParaRPr>
          </a:p>
          <a:p>
            <a:pPr eaLnBrk="1" hangingPunct="1">
              <a:lnSpc>
                <a:spcPct val="90000"/>
              </a:lnSpc>
              <a:buNone/>
            </a:pPr>
            <a:endParaRPr lang="en-US" altLang="zh-CN" dirty="0">
              <a:solidFill>
                <a:schemeClr val="bg1"/>
              </a:solidFill>
            </a:endParaRPr>
          </a:p>
        </p:txBody>
      </p:sp>
      <p:sp>
        <p:nvSpPr>
          <p:cNvPr id="284675" name="Rectangle 11"/>
          <p:cNvSpPr/>
          <p:nvPr/>
        </p:nvSpPr>
        <p:spPr>
          <a:xfrm>
            <a:off x="5562600" y="1524000"/>
            <a:ext cx="2971800" cy="990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zh-CN" altLang="en-US" sz="2400" b="1" dirty="0">
                <a:solidFill>
                  <a:schemeClr val="tx1"/>
                </a:solidFill>
                <a:latin typeface="Times New Roman" panose="02020603050405020304" pitchFamily="18" charset="0"/>
                <a:ea typeface="宋体" panose="02010600030101010101" pitchFamily="2" charset="-122"/>
              </a:rPr>
              <a:t>去掉继承关系</a:t>
            </a:r>
            <a:endParaRPr lang="zh-CN" altLang="en-US" sz="2400" b="1" dirty="0">
              <a:solidFill>
                <a:schemeClr val="tx1"/>
              </a:solidFill>
              <a:latin typeface="Times New Roman" panose="02020603050405020304" pitchFamily="18" charset="0"/>
              <a:ea typeface="宋体" panose="02010600030101010101" pitchFamily="2" charset="-122"/>
            </a:endParaRPr>
          </a:p>
          <a:p>
            <a:pPr algn="ctr"/>
            <a:r>
              <a:rPr lang="zh-CN" altLang="en-US" sz="2400" b="1" dirty="0">
                <a:solidFill>
                  <a:schemeClr val="tx1"/>
                </a:solidFill>
                <a:latin typeface="Times New Roman" panose="02020603050405020304" pitchFamily="18" charset="0"/>
                <a:ea typeface="宋体" panose="02010600030101010101" pitchFamily="2" charset="-122"/>
              </a:rPr>
              <a:t>对象接口不变</a:t>
            </a:r>
            <a:endParaRPr lang="zh-CN" altLang="en-US" sz="2400"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7"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继承</a:t>
            </a:r>
            <a:r>
              <a:rPr lang="zh-CN" altLang="en-US" sz="4400" dirty="0">
                <a:solidFill>
                  <a:srgbClr val="FFFF00"/>
                </a:solidFill>
                <a:latin typeface="Times New Roman" panose="02020603050405020304" pitchFamily="18" charset="0"/>
                <a:ea typeface="华文行楷" panose="02010800040101010101" pitchFamily="2" charset="-122"/>
              </a:rPr>
              <a:t>和组合的关系</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85698" name="Rectangle 3"/>
          <p:cNvSpPr>
            <a:spLocks noGrp="1"/>
          </p:cNvSpPr>
          <p:nvPr>
            <p:ph idx="1"/>
          </p:nvPr>
        </p:nvSpPr>
        <p:spPr>
          <a:xfrm>
            <a:off x="685800" y="1600200"/>
            <a:ext cx="7772400" cy="4495800"/>
          </a:xfrm>
        </p:spPr>
        <p:txBody>
          <a:bodyPr vert="horz" wrap="square" lIns="91440" tIns="45720" rIns="91440" bIns="45720" anchor="t"/>
          <a:p>
            <a:pPr eaLnBrk="1" hangingPunct="1">
              <a:lnSpc>
                <a:spcPct val="90000"/>
              </a:lnSpc>
              <a:buNone/>
            </a:pPr>
            <a:r>
              <a:rPr lang="en-US" altLang="zh-CN" dirty="0">
                <a:solidFill>
                  <a:schemeClr val="bg1"/>
                </a:solidFill>
              </a:rPr>
              <a:t>void F(const B&amp; aB) {</a:t>
            </a:r>
            <a:endParaRPr lang="en-US" altLang="zh-CN" dirty="0">
              <a:solidFill>
                <a:schemeClr val="bg1"/>
              </a:solidFill>
            </a:endParaRPr>
          </a:p>
          <a:p>
            <a:pPr eaLnBrk="1" hangingPunct="1">
              <a:lnSpc>
                <a:spcPct val="90000"/>
              </a:lnSpc>
              <a:buNone/>
            </a:pPr>
            <a:r>
              <a:rPr lang="en-US" altLang="zh-CN" dirty="0">
                <a:solidFill>
                  <a:schemeClr val="bg1"/>
                </a:solidFill>
              </a:rPr>
              <a:t>	aB.f( ); </a:t>
            </a:r>
            <a:endParaRPr lang="en-US" altLang="zh-CN" dirty="0">
              <a:solidFill>
                <a:schemeClr val="bg1"/>
              </a:solidFill>
            </a:endParaRPr>
          </a:p>
          <a:p>
            <a:pPr eaLnBrk="1" hangingPunct="1">
              <a:lnSpc>
                <a:spcPct val="90000"/>
              </a:lnSpc>
              <a:buNone/>
            </a:pPr>
            <a:r>
              <a:rPr lang="en-US" altLang="zh-CN" dirty="0">
                <a:solidFill>
                  <a:schemeClr val="bg1"/>
                </a:solidFill>
              </a:rPr>
              <a:t>} </a:t>
            </a:r>
            <a:endParaRPr lang="en-US" altLang="zh-CN" dirty="0">
              <a:solidFill>
                <a:schemeClr val="bg1"/>
              </a:solidFill>
            </a:endParaRPr>
          </a:p>
          <a:p>
            <a:pPr eaLnBrk="1" hangingPunct="1">
              <a:lnSpc>
                <a:spcPct val="90000"/>
              </a:lnSpc>
              <a:buNone/>
            </a:pPr>
            <a:r>
              <a:rPr lang="en-US" altLang="zh-CN" dirty="0">
                <a:solidFill>
                  <a:schemeClr val="bg1"/>
                </a:solidFill>
              </a:rPr>
              <a:t>void main( )  { </a:t>
            </a:r>
            <a:endParaRPr lang="en-US" altLang="zh-CN" dirty="0">
              <a:solidFill>
                <a:schemeClr val="bg1"/>
              </a:solidFill>
            </a:endParaRPr>
          </a:p>
          <a:p>
            <a:pPr eaLnBrk="1" hangingPunct="1">
              <a:lnSpc>
                <a:spcPct val="90000"/>
              </a:lnSpc>
              <a:buNone/>
            </a:pPr>
            <a:r>
              <a:rPr lang="en-US" altLang="zh-CN" dirty="0">
                <a:solidFill>
                  <a:schemeClr val="bg1"/>
                </a:solidFill>
              </a:rPr>
              <a:t>	D d; 	</a:t>
            </a:r>
            <a:endParaRPr lang="en-US" altLang="zh-CN" dirty="0">
              <a:solidFill>
                <a:schemeClr val="bg1"/>
              </a:solidFill>
            </a:endParaRPr>
          </a:p>
          <a:p>
            <a:pPr eaLnBrk="1" hangingPunct="1">
              <a:lnSpc>
                <a:spcPct val="90000"/>
              </a:lnSpc>
              <a:buNone/>
            </a:pPr>
            <a:r>
              <a:rPr lang="en-US" altLang="zh-CN" dirty="0">
                <a:solidFill>
                  <a:schemeClr val="bg1"/>
                </a:solidFill>
              </a:rPr>
              <a:t>   d.func( ); </a:t>
            </a:r>
            <a:endParaRPr lang="en-US" altLang="zh-CN" dirty="0">
              <a:solidFill>
                <a:schemeClr val="bg1"/>
              </a:solidFill>
            </a:endParaRPr>
          </a:p>
          <a:p>
            <a:pPr eaLnBrk="1" hangingPunct="1">
              <a:lnSpc>
                <a:spcPct val="90000"/>
              </a:lnSpc>
              <a:buNone/>
            </a:pPr>
            <a:r>
              <a:rPr lang="en-US" altLang="zh-CN" dirty="0">
                <a:solidFill>
                  <a:schemeClr val="bg1"/>
                </a:solidFill>
              </a:rPr>
              <a:t>	F(d);</a:t>
            </a:r>
            <a:endParaRPr lang="en-US" altLang="zh-CN" dirty="0">
              <a:solidFill>
                <a:schemeClr val="bg1"/>
              </a:solidFill>
            </a:endParaRPr>
          </a:p>
          <a:p>
            <a:pPr eaLnBrk="1" hangingPunct="1">
              <a:lnSpc>
                <a:spcPct val="90000"/>
              </a:lnSpc>
              <a:buNone/>
            </a:pPr>
            <a:r>
              <a:rPr lang="en-US" altLang="zh-CN" dirty="0">
                <a:solidFill>
                  <a:schemeClr val="bg1"/>
                </a:solidFill>
              </a:rPr>
              <a:t>} </a:t>
            </a:r>
            <a:endParaRPr lang="en-US" altLang="zh-CN" dirty="0">
              <a:solidFill>
                <a:schemeClr val="bg1"/>
              </a:solidFill>
            </a:endParaRPr>
          </a:p>
          <a:p>
            <a:pPr eaLnBrk="1" hangingPunct="1">
              <a:lnSpc>
                <a:spcPct val="90000"/>
              </a:lnSpc>
              <a:buNone/>
            </a:pPr>
            <a:endParaRPr lang="en-US" altLang="zh-CN" dirty="0">
              <a:solidFill>
                <a:schemeClr val="bg1"/>
              </a:solidFill>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1" name="Rectangle 2"/>
          <p:cNvSpPr/>
          <p:nvPr/>
        </p:nvSpPr>
        <p:spPr>
          <a:xfrm>
            <a:off x="-252412" y="115888"/>
            <a:ext cx="9144000" cy="649287"/>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继承</a:t>
            </a:r>
            <a:r>
              <a:rPr lang="zh-CN" altLang="en-US" sz="4400" dirty="0">
                <a:solidFill>
                  <a:srgbClr val="FFFF00"/>
                </a:solidFill>
                <a:latin typeface="Times New Roman" panose="02020603050405020304" pitchFamily="18" charset="0"/>
                <a:ea typeface="华文行楷" panose="02010800040101010101" pitchFamily="2" charset="-122"/>
              </a:rPr>
              <a:t>和组合的关系</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86722" name="Rectangle 3"/>
          <p:cNvSpPr>
            <a:spLocks noGrp="1"/>
          </p:cNvSpPr>
          <p:nvPr>
            <p:ph idx="1"/>
          </p:nvPr>
        </p:nvSpPr>
        <p:spPr>
          <a:xfrm>
            <a:off x="685800" y="1600200"/>
            <a:ext cx="7772400" cy="4495800"/>
          </a:xfrm>
        </p:spPr>
        <p:txBody>
          <a:bodyPr vert="horz" wrap="square" lIns="91440" tIns="45720" rIns="91440" bIns="45720" anchor="t"/>
          <a:p>
            <a:pPr eaLnBrk="1" hangingPunct="1">
              <a:lnSpc>
                <a:spcPct val="90000"/>
              </a:lnSpc>
              <a:buNone/>
            </a:pPr>
            <a:r>
              <a:rPr lang="en-US" altLang="zh-CN" dirty="0">
                <a:solidFill>
                  <a:schemeClr val="bg1"/>
                </a:solidFill>
              </a:rPr>
              <a:t>class D {</a:t>
            </a:r>
            <a:endParaRPr lang="en-US" altLang="zh-CN" dirty="0">
              <a:solidFill>
                <a:schemeClr val="bg1"/>
              </a:solidFill>
            </a:endParaRPr>
          </a:p>
          <a:p>
            <a:pPr eaLnBrk="1" hangingPunct="1">
              <a:lnSpc>
                <a:spcPct val="90000"/>
              </a:lnSpc>
              <a:buNone/>
            </a:pPr>
            <a:r>
              <a:rPr lang="en-US" altLang="zh-CN" dirty="0">
                <a:solidFill>
                  <a:schemeClr val="bg1"/>
                </a:solidFill>
              </a:rPr>
              <a:t>public:</a:t>
            </a:r>
            <a:endParaRPr lang="en-US" altLang="zh-CN" dirty="0">
              <a:solidFill>
                <a:schemeClr val="bg1"/>
              </a:solidFill>
            </a:endParaRPr>
          </a:p>
          <a:p>
            <a:pPr eaLnBrk="1" hangingPunct="1">
              <a:lnSpc>
                <a:spcPct val="90000"/>
              </a:lnSpc>
              <a:buNone/>
            </a:pPr>
            <a:r>
              <a:rPr lang="en-US" altLang="zh-CN" dirty="0">
                <a:solidFill>
                  <a:schemeClr val="bg1"/>
                </a:solidFill>
              </a:rPr>
              <a:t>	void func( ) const{pb-&gt;f( ); }</a:t>
            </a:r>
            <a:endParaRPr lang="en-US" altLang="zh-CN" dirty="0">
              <a:solidFill>
                <a:schemeClr val="bg1"/>
              </a:solidFill>
            </a:endParaRPr>
          </a:p>
          <a:p>
            <a:pPr eaLnBrk="1" hangingPunct="1">
              <a:lnSpc>
                <a:spcPct val="90000"/>
              </a:lnSpc>
              <a:buNone/>
            </a:pPr>
            <a:r>
              <a:rPr lang="en-US" altLang="zh-CN" dirty="0">
                <a:solidFill>
                  <a:schemeClr val="bg1"/>
                </a:solidFill>
              </a:rPr>
              <a:t>    D(B* p=new B){pb=p;}</a:t>
            </a:r>
            <a:endParaRPr lang="en-US" altLang="zh-CN" dirty="0">
              <a:solidFill>
                <a:schemeClr val="bg1"/>
              </a:solidFill>
            </a:endParaRPr>
          </a:p>
          <a:p>
            <a:pPr eaLnBrk="1" hangingPunct="1">
              <a:lnSpc>
                <a:spcPct val="90000"/>
              </a:lnSpc>
              <a:buNone/>
            </a:pPr>
            <a:r>
              <a:rPr lang="en-US" altLang="zh-CN" dirty="0">
                <a:solidFill>
                  <a:schemeClr val="bg1"/>
                </a:solidFill>
              </a:rPr>
              <a:t>    operator B&amp;(){return *pb;}</a:t>
            </a:r>
            <a:endParaRPr lang="en-US" altLang="zh-CN" dirty="0">
              <a:solidFill>
                <a:schemeClr val="bg1"/>
              </a:solidFill>
            </a:endParaRPr>
          </a:p>
          <a:p>
            <a:pPr eaLnBrk="1" hangingPunct="1">
              <a:lnSpc>
                <a:spcPct val="90000"/>
              </a:lnSpc>
              <a:buNone/>
            </a:pPr>
            <a:r>
              <a:rPr lang="en-US" altLang="zh-CN" dirty="0">
                <a:solidFill>
                  <a:schemeClr val="bg1"/>
                </a:solidFill>
              </a:rPr>
              <a:t>private:</a:t>
            </a:r>
            <a:endParaRPr lang="en-US" altLang="zh-CN" dirty="0">
              <a:solidFill>
                <a:schemeClr val="bg1"/>
              </a:solidFill>
            </a:endParaRPr>
          </a:p>
          <a:p>
            <a:pPr eaLnBrk="1" hangingPunct="1">
              <a:lnSpc>
                <a:spcPct val="90000"/>
              </a:lnSpc>
              <a:buNone/>
            </a:pPr>
            <a:r>
              <a:rPr lang="en-US" altLang="zh-CN" dirty="0">
                <a:solidFill>
                  <a:schemeClr val="bg1"/>
                </a:solidFill>
              </a:rPr>
              <a:t>	B * pb;</a:t>
            </a:r>
            <a:endParaRPr lang="en-US" altLang="zh-CN" dirty="0">
              <a:solidFill>
                <a:schemeClr val="bg1"/>
              </a:solidFill>
            </a:endParaRPr>
          </a:p>
          <a:p>
            <a:pPr eaLnBrk="1" hangingPunct="1">
              <a:lnSpc>
                <a:spcPct val="90000"/>
              </a:lnSpc>
              <a:buNone/>
            </a:pPr>
            <a:r>
              <a:rPr lang="en-US" altLang="zh-CN" dirty="0">
                <a:solidFill>
                  <a:schemeClr val="bg1"/>
                </a:solidFill>
              </a:rPr>
              <a:t>};</a:t>
            </a:r>
            <a:endParaRPr lang="en-US" altLang="zh-CN" dirty="0">
              <a:solidFill>
                <a:schemeClr val="bg1"/>
              </a:solidFill>
            </a:endParaRPr>
          </a:p>
          <a:p>
            <a:pPr eaLnBrk="1" hangingPunct="1">
              <a:lnSpc>
                <a:spcPct val="90000"/>
              </a:lnSpc>
              <a:buNone/>
            </a:pPr>
            <a:endParaRPr lang="en-US" altLang="zh-CN" dirty="0">
              <a:solidFill>
                <a:schemeClr val="bg1"/>
              </a:solidFill>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Text Box 2"/>
          <p:cNvSpPr txBox="1">
            <a:spLocks noChangeArrowheads="1"/>
          </p:cNvSpPr>
          <p:nvPr/>
        </p:nvSpPr>
        <p:spPr bwMode="auto">
          <a:xfrm>
            <a:off x="1547813" y="-171450"/>
            <a:ext cx="67691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name;</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00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char topic[30];</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k):Student(k){major = p;}</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major;</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a("Computer",1111);}</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87746" name="Text Box 3"/>
          <p:cNvSpPr txBox="1"/>
          <p:nvPr/>
        </p:nvSpPr>
        <p:spPr>
          <a:xfrm>
            <a:off x="622300" y="404813"/>
            <a:ext cx="854075" cy="597693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76486" name="AutoShape 6"/>
          <p:cNvSpPr>
            <a:spLocks noChangeArrowheads="1"/>
          </p:cNvSpPr>
          <p:nvPr/>
        </p:nvSpPr>
        <p:spPr bwMode="auto">
          <a:xfrm>
            <a:off x="5219700" y="2420938"/>
            <a:ext cx="3889375" cy="576263"/>
          </a:xfrm>
          <a:prstGeom prst="wedgeRectCallout">
            <a:avLst>
              <a:gd name="adj1" fmla="val -17347"/>
              <a:gd name="adj2" fmla="val 266528"/>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Tel</a:t>
            </a: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可以在</a:t>
            </a:r>
            <a:r>
              <a:rPr kumimoji="1" lang="en-US" altLang="zh-CN"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Master</a:t>
            </a: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的构造函数里初始化吗？</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可以，但是不提倡！</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 name="AutoShape 6"/>
          <p:cNvSpPr>
            <a:spLocks noChangeArrowheads="1"/>
          </p:cNvSpPr>
          <p:nvPr/>
        </p:nvSpPr>
        <p:spPr bwMode="auto">
          <a:xfrm>
            <a:off x="5254625" y="5616575"/>
            <a:ext cx="3889375" cy="365125"/>
          </a:xfrm>
          <a:prstGeom prst="wedgeRectCallout">
            <a:avLst>
              <a:gd name="adj1" fmla="val -25787"/>
              <a:gd name="adj2" fmla="val -340592"/>
            </a:avLst>
          </a:prstGeom>
          <a:solidFill>
            <a:srgbClr val="0000FF"/>
          </a:solidFill>
          <a:ln w="9525" algn="ctr">
            <a:solidFill>
              <a:schemeClr val="bg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zh-CN"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出现</a:t>
            </a:r>
            <a:r>
              <a:rPr kumimoji="1" lang="en-US" altLang="zh-CN"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id</a:t>
            </a: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9</a:t>
            </a:r>
            <a:r>
              <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）可以吗？不可以</a:t>
            </a:r>
            <a:endParaRPr kumimoji="1" lang="zh-CN" altLang="en-US" sz="1600" b="0"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6482"/>
                                        </p:tgtEl>
                                        <p:attrNameLst>
                                          <p:attrName>style.visibility</p:attrName>
                                        </p:attrNameLst>
                                      </p:cBhvr>
                                      <p:to>
                                        <p:strVal val="visible"/>
                                      </p:to>
                                    </p:set>
                                    <p:animEffect transition="in" filter="barn(inHorizontal)">
                                      <p:cBhvr>
                                        <p:cTn id="7" dur="500"/>
                                        <p:tgtEl>
                                          <p:spTgt spid="2764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76486"/>
                                        </p:tgtEl>
                                        <p:attrNameLst>
                                          <p:attrName>style.visibility</p:attrName>
                                        </p:attrNameLst>
                                      </p:cBhvr>
                                      <p:to>
                                        <p:strVal val="visible"/>
                                      </p:to>
                                    </p:set>
                                    <p:anim calcmode="lin" valueType="num">
                                      <p:cBhvr additive="base">
                                        <p:cTn id="12" dur="500" fill="hold"/>
                                        <p:tgtEl>
                                          <p:spTgt spid="276486"/>
                                        </p:tgtEl>
                                        <p:attrNameLst>
                                          <p:attrName>ppt_x</p:attrName>
                                        </p:attrNameLst>
                                      </p:cBhvr>
                                      <p:tavLst>
                                        <p:tav tm="0">
                                          <p:val>
                                            <p:strVal val="#ppt_x"/>
                                          </p:val>
                                        </p:tav>
                                        <p:tav tm="100000">
                                          <p:val>
                                            <p:strVal val="#ppt_x"/>
                                          </p:val>
                                        </p:tav>
                                      </p:tavLst>
                                    </p:anim>
                                    <p:anim calcmode="lin" valueType="num">
                                      <p:cBhvr additive="base">
                                        <p:cTn id="13" dur="500" fill="hold"/>
                                        <p:tgtEl>
                                          <p:spTgt spid="27648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p:bldP spid="276486" grpId="0" animBg="1"/>
      <p:bldP spid="2" grpId="0" bldLvl="0" animBg="1"/>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9588" name="Text Box 4"/>
          <p:cNvSpPr txBox="1">
            <a:spLocks noChangeArrowheads="1"/>
          </p:cNvSpPr>
          <p:nvPr/>
        </p:nvSpPr>
        <p:spPr bwMode="auto">
          <a:xfrm>
            <a:off x="0" y="0"/>
            <a:ext cx="914400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move_tel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r>
              <a:rPr kumimoji="1" lang="en-US" altLang="zh-CN" sz="2400" i="1" kern="1200" cap="none" spc="0" normalizeH="0" baseline="0" noProof="0" dirty="0">
                <a:solidFill>
                  <a:srgbClr val="FF00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topic;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j,int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k):Student(k){</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j;}</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Student::O();</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&lt;&lt;Student::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tel</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a(13312345,13012345);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a.O</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79589" name="AutoShape 5"/>
          <p:cNvSpPr>
            <a:spLocks noChangeArrowheads="1"/>
          </p:cNvSpPr>
          <p:nvPr/>
        </p:nvSpPr>
        <p:spPr bwMode="auto">
          <a:xfrm>
            <a:off x="2843213" y="549275"/>
            <a:ext cx="6300788" cy="647700"/>
          </a:xfrm>
          <a:prstGeom prst="wedgeRectCallout">
            <a:avLst>
              <a:gd name="adj1" fmla="val -20269"/>
              <a:gd name="adj2" fmla="val 154412"/>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如果父类中出现</a:t>
            </a:r>
            <a:r>
              <a:rPr kumimoji="1" lang="en-US" altLang="zh-CN"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Master::tel</a:t>
            </a:r>
            <a:r>
              <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形式的访问，错误！！！</a:t>
            </a:r>
            <a:endPar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79590" name="AutoShape 6"/>
          <p:cNvSpPr>
            <a:spLocks noChangeArrowheads="1"/>
          </p:cNvSpPr>
          <p:nvPr/>
        </p:nvSpPr>
        <p:spPr bwMode="auto">
          <a:xfrm>
            <a:off x="3851275" y="5229225"/>
            <a:ext cx="5003800" cy="360363"/>
          </a:xfrm>
          <a:prstGeom prst="wedgeRectCallout">
            <a:avLst>
              <a:gd name="adj1" fmla="val -66815"/>
              <a:gd name="adj2" fmla="val 198898"/>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构造函数、析构函数的执行顺序</a:t>
            </a:r>
            <a:endParaRPr kumimoji="1"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79588"/>
                                        </p:tgtEl>
                                        <p:attrNameLst>
                                          <p:attrName>style.visibility</p:attrName>
                                        </p:attrNameLst>
                                      </p:cBhvr>
                                      <p:to>
                                        <p:strVal val="visible"/>
                                      </p:to>
                                    </p:set>
                                    <p:animEffect transition="in" filter="barn(inHorizontal)">
                                      <p:cBhvr>
                                        <p:cTn id="7" dur="500"/>
                                        <p:tgtEl>
                                          <p:spTgt spid="5795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79589"/>
                                        </p:tgtEl>
                                        <p:attrNameLst>
                                          <p:attrName>style.visibility</p:attrName>
                                        </p:attrNameLst>
                                      </p:cBhvr>
                                      <p:to>
                                        <p:strVal val="visible"/>
                                      </p:to>
                                    </p:set>
                                    <p:anim calcmode="lin" valueType="num">
                                      <p:cBhvr additive="base">
                                        <p:cTn id="12" dur="500" fill="hold"/>
                                        <p:tgtEl>
                                          <p:spTgt spid="579589"/>
                                        </p:tgtEl>
                                        <p:attrNameLst>
                                          <p:attrName>ppt_x</p:attrName>
                                        </p:attrNameLst>
                                      </p:cBhvr>
                                      <p:tavLst>
                                        <p:tav tm="0">
                                          <p:val>
                                            <p:strVal val="#ppt_x"/>
                                          </p:val>
                                        </p:tav>
                                        <p:tav tm="100000">
                                          <p:val>
                                            <p:strVal val="#ppt_x"/>
                                          </p:val>
                                        </p:tav>
                                      </p:tavLst>
                                    </p:anim>
                                    <p:anim calcmode="lin" valueType="num">
                                      <p:cBhvr additive="base">
                                        <p:cTn id="13" dur="500" fill="hold"/>
                                        <p:tgtEl>
                                          <p:spTgt spid="57958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79590"/>
                                        </p:tgtEl>
                                        <p:attrNameLst>
                                          <p:attrName>style.visibility</p:attrName>
                                        </p:attrNameLst>
                                      </p:cBhvr>
                                      <p:to>
                                        <p:strVal val="visible"/>
                                      </p:to>
                                    </p:set>
                                    <p:anim calcmode="lin" valueType="num">
                                      <p:cBhvr additive="base">
                                        <p:cTn id="18" dur="500" fill="hold"/>
                                        <p:tgtEl>
                                          <p:spTgt spid="579590"/>
                                        </p:tgtEl>
                                        <p:attrNameLst>
                                          <p:attrName>ppt_x</p:attrName>
                                        </p:attrNameLst>
                                      </p:cBhvr>
                                      <p:tavLst>
                                        <p:tav tm="0">
                                          <p:val>
                                            <p:strVal val="#ppt_x"/>
                                          </p:val>
                                        </p:tav>
                                        <p:tav tm="100000">
                                          <p:val>
                                            <p:strVal val="#ppt_x"/>
                                          </p:val>
                                        </p:tav>
                                      </p:tavLst>
                                    </p:anim>
                                    <p:anim calcmode="lin" valueType="num">
                                      <p:cBhvr additive="base">
                                        <p:cTn id="19" dur="500" fill="hold"/>
                                        <p:tgtEl>
                                          <p:spTgt spid="5795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8" grpId="0"/>
      <p:bldP spid="579589" grpId="0" animBg="1"/>
      <p:bldP spid="579590" grpId="0" animBg="1"/>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9874" name="Text Box 2"/>
          <p:cNvSpPr txBox="1">
            <a:spLocks noChangeArrowheads="1"/>
          </p:cNvSpPr>
          <p:nvPr/>
        </p:nvSpPr>
        <p:spPr bwMode="auto">
          <a:xfrm>
            <a:off x="0" y="-100012"/>
            <a:ext cx="9144000" cy="674052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x;</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value=0):x(value)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A&amp; s):x(</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s.x</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&amp; operator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&amp; s)       {x=</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s.x</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 *this;}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B:public A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y;</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v):A(v),y(v) {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&amp; 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&amp; operator=(</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 &amp; s);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B::B(const B &amp; s):A(s)   { y = -1*</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s.y</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 &amp; B::operator=(const B &amp; 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A::operator=(s);   y = -1*</a:t>
            </a:r>
            <a:r>
              <a:rPr kumimoji="1" lang="en-US" altLang="zh-CN" sz="2400" b="1" kern="1200" cap="none" spc="0" normalizeH="0" baseline="0" noProof="0" dirty="0" err="1">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s.y</a:t>
            </a: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return(*this);</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19874"/>
                                        </p:tgtEl>
                                        <p:attrNameLst>
                                          <p:attrName>style.visibility</p:attrName>
                                        </p:attrNameLst>
                                      </p:cBhvr>
                                      <p:to>
                                        <p:strVal val="visible"/>
                                      </p:to>
                                    </p:set>
                                    <p:animEffect transition="in" filter="barn(inHorizontal)">
                                      <p:cBhvr>
                                        <p:cTn id="7" dur="500"/>
                                        <p:tgtEl>
                                          <p:spTgt spid="719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4" grpId="0"/>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Group 19"/>
          <p:cNvGraphicFramePr/>
          <p:nvPr/>
        </p:nvGraphicFramePr>
        <p:xfrm>
          <a:off x="285750" y="1196975"/>
          <a:ext cx="8642350" cy="5041900"/>
        </p:xfrm>
        <a:graphic>
          <a:graphicData uri="http://schemas.openxmlformats.org/drawingml/2006/table">
            <a:tbl>
              <a:tblPr/>
              <a:tblGrid>
                <a:gridCol w="4321175"/>
                <a:gridCol w="4321175"/>
              </a:tblGrid>
              <a:tr h="5041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Line 23"/>
          <p:cNvSpPr>
            <a:spLocks noChangeShapeType="1"/>
          </p:cNvSpPr>
          <p:nvPr/>
        </p:nvSpPr>
        <p:spPr bwMode="auto">
          <a:xfrm>
            <a:off x="4608513" y="39687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0826" name="Rectangle 13"/>
          <p:cNvSpPr/>
          <p:nvPr/>
        </p:nvSpPr>
        <p:spPr>
          <a:xfrm>
            <a:off x="358775" y="476250"/>
            <a:ext cx="8461375" cy="720725"/>
          </a:xfrm>
          <a:prstGeom prst="rect">
            <a:avLst/>
          </a:prstGeom>
          <a:noFill/>
          <a:ln w="9525">
            <a:noFill/>
          </a:ln>
        </p:spPr>
        <p:txBody>
          <a:bodyPr lIns="92075" tIns="46037" rIns="92075" bIns="46037" anchor="ctr"/>
          <a:p>
            <a:pPr>
              <a:lnSpc>
                <a:spcPct val="70000"/>
              </a:lnSpc>
            </a:pPr>
            <a:r>
              <a:rPr lang="zh-CN" altLang="en-US" sz="2800" b="1" dirty="0">
                <a:solidFill>
                  <a:srgbClr val="FFFFCC"/>
                </a:solidFill>
                <a:latin typeface="Arial Narrow" panose="020B0606020202030204" pitchFamily="34" charset="0"/>
                <a:ea typeface="宋体" panose="02010600030101010101" pitchFamily="2" charset="-122"/>
              </a:rPr>
              <a:t>继承中的隐藏（常见方式）</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transition>
    <p:cut/>
  </p:transition>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Group 19"/>
          <p:cNvGraphicFramePr/>
          <p:nvPr/>
        </p:nvGraphicFramePr>
        <p:xfrm>
          <a:off x="285750" y="1196975"/>
          <a:ext cx="8642350" cy="5203825"/>
        </p:xfrm>
        <a:graphic>
          <a:graphicData uri="http://schemas.openxmlformats.org/drawingml/2006/table">
            <a:tbl>
              <a:tblPr/>
              <a:tblGrid>
                <a:gridCol w="4321175"/>
                <a:gridCol w="4321175"/>
              </a:tblGrid>
              <a:tr h="5165725">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25" marB="456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ObjB.Automobile</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::Run();</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自动变速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defRPr/>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defRPr/>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25" marB="456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Line 23"/>
          <p:cNvSpPr>
            <a:spLocks noChangeShapeType="1"/>
          </p:cNvSpPr>
          <p:nvPr/>
        </p:nvSpPr>
        <p:spPr bwMode="auto">
          <a:xfrm>
            <a:off x="4608513" y="39687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1850" name="Rectangle 13"/>
          <p:cNvSpPr/>
          <p:nvPr/>
        </p:nvSpPr>
        <p:spPr>
          <a:xfrm>
            <a:off x="358775" y="476250"/>
            <a:ext cx="8461375" cy="720725"/>
          </a:xfrm>
          <a:prstGeom prst="rect">
            <a:avLst/>
          </a:prstGeom>
          <a:noFill/>
          <a:ln w="9525">
            <a:noFill/>
          </a:ln>
        </p:spPr>
        <p:txBody>
          <a:bodyPr lIns="92075" tIns="46037" rIns="92075" bIns="46037" anchor="ctr"/>
          <a:p>
            <a:pPr>
              <a:lnSpc>
                <a:spcPct val="70000"/>
              </a:lnSpc>
            </a:pPr>
            <a:r>
              <a:rPr lang="zh-CN" altLang="en-US" sz="2800" b="1" dirty="0">
                <a:solidFill>
                  <a:srgbClr val="FFFFCC"/>
                </a:solidFill>
                <a:latin typeface="Arial Narrow" panose="020B0606020202030204" pitchFamily="34" charset="0"/>
                <a:ea typeface="宋体" panose="02010600030101010101" pitchFamily="2" charset="-122"/>
              </a:rPr>
              <a:t>继承中的隐藏（覆盖）</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transition>
    <p:cut/>
  </p:transition>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Group 19"/>
          <p:cNvGraphicFramePr/>
          <p:nvPr/>
        </p:nvGraphicFramePr>
        <p:xfrm>
          <a:off x="323850" y="1196975"/>
          <a:ext cx="8496300" cy="5203825"/>
        </p:xfrm>
        <a:graphic>
          <a:graphicData uri="http://schemas.openxmlformats.org/drawingml/2006/table">
            <a:tbl>
              <a:tblPr/>
              <a:tblGrid>
                <a:gridCol w="3906178"/>
                <a:gridCol w="4590122"/>
              </a:tblGrid>
              <a:tr h="5165725">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int</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3" marR="91433" marT="45625" marB="456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编译错误  为什么不是重载？</a:t>
                      </a:r>
                      <a:endParaRPr kumimoji="0" lang="en-US" altLang="zh-CN"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ObjB.Automobile</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::Run();</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关于继承体系中向上查找函数的机制</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自动变速   </a:t>
                      </a:r>
                      <a:r>
                        <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a:t>
                      </a: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出错</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defRPr/>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defRPr/>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3" marR="91433" marT="45625" marB="456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Line 23"/>
          <p:cNvSpPr>
            <a:spLocks noChangeShapeType="1"/>
          </p:cNvSpPr>
          <p:nvPr/>
        </p:nvSpPr>
        <p:spPr bwMode="auto">
          <a:xfrm>
            <a:off x="4284663" y="3968750"/>
            <a:ext cx="4535488" cy="36513"/>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2874" name="Rectangle 13"/>
          <p:cNvSpPr/>
          <p:nvPr/>
        </p:nvSpPr>
        <p:spPr>
          <a:xfrm>
            <a:off x="358775" y="476250"/>
            <a:ext cx="8461375" cy="720725"/>
          </a:xfrm>
          <a:prstGeom prst="rect">
            <a:avLst/>
          </a:prstGeom>
          <a:noFill/>
          <a:ln w="9525">
            <a:noFill/>
          </a:ln>
        </p:spPr>
        <p:txBody>
          <a:bodyPr lIns="92075" tIns="46037" rIns="92075" bIns="46037" anchor="ctr"/>
          <a:p>
            <a:pPr>
              <a:lnSpc>
                <a:spcPct val="70000"/>
              </a:lnSpc>
            </a:pPr>
            <a:r>
              <a:rPr lang="zh-CN" altLang="en-US" sz="2800" b="1" dirty="0">
                <a:solidFill>
                  <a:srgbClr val="FFFFCC"/>
                </a:solidFill>
                <a:latin typeface="Arial Narrow" panose="020B0606020202030204" pitchFamily="34" charset="0"/>
                <a:ea typeface="宋体" panose="02010600030101010101" pitchFamily="2" charset="-122"/>
              </a:rPr>
              <a:t>继承中的隐藏</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transition>
    <p:cut/>
  </p:transition>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89" name="Rectangle 13"/>
          <p:cNvSpPr/>
          <p:nvPr/>
        </p:nvSpPr>
        <p:spPr>
          <a:xfrm>
            <a:off x="358775" y="-26987"/>
            <a:ext cx="8461375" cy="720725"/>
          </a:xfrm>
          <a:prstGeom prst="rect">
            <a:avLst/>
          </a:prstGeom>
          <a:noFill/>
          <a:ln w="9525">
            <a:noFill/>
          </a:ln>
        </p:spPr>
        <p:txBody>
          <a:bodyPr lIns="92075" tIns="46037" rIns="92075" bIns="46037" anchor="ctr"/>
          <a:p>
            <a:pPr>
              <a:lnSpc>
                <a:spcPct val="70000"/>
              </a:lnSpc>
            </a:pPr>
            <a:r>
              <a:rPr lang="zh-CN" altLang="en-US" sz="2800" b="1" dirty="0">
                <a:solidFill>
                  <a:srgbClr val="FFFFCC"/>
                </a:solidFill>
                <a:latin typeface="Arial Narrow" panose="020B0606020202030204" pitchFamily="34" charset="0"/>
                <a:ea typeface="宋体" panose="02010600030101010101" pitchFamily="2" charset="-122"/>
              </a:rPr>
              <a:t>继承中的重载</a:t>
            </a:r>
            <a:endParaRPr lang="zh-CN" altLang="en-US" sz="2800" dirty="0">
              <a:solidFill>
                <a:srgbClr val="FFFFCC"/>
              </a:solidFill>
              <a:latin typeface="Arial Narrow" panose="020B0606020202030204" pitchFamily="34" charset="0"/>
              <a:ea typeface="宋体" panose="02010600030101010101" pitchFamily="2" charset="-122"/>
            </a:endParaRPr>
          </a:p>
        </p:txBody>
      </p:sp>
      <p:graphicFrame>
        <p:nvGraphicFramePr>
          <p:cNvPr id="5" name="Group 19"/>
          <p:cNvGraphicFramePr/>
          <p:nvPr/>
        </p:nvGraphicFramePr>
        <p:xfrm>
          <a:off x="285750" y="404813"/>
          <a:ext cx="8642350" cy="6381750"/>
        </p:xfrm>
        <a:graphic>
          <a:graphicData uri="http://schemas.openxmlformats.org/drawingml/2006/table">
            <a:tbl>
              <a:tblPr/>
              <a:tblGrid>
                <a:gridCol w="4321175"/>
                <a:gridCol w="4321175"/>
              </a:tblGrid>
              <a:tr h="638175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int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1.0</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int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1.0</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r>
                        <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1.0</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rPr>
                        <a:t>自动变速</a:t>
                      </a:r>
                      <a:r>
                        <a:rPr kumimoji="0" lang="en-US" altLang="zh-CN"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rPr>
                        <a:t>1.0</a:t>
                      </a:r>
                      <a:endParaRPr kumimoji="0" lang="en-US" altLang="zh-CN"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Line 23"/>
          <p:cNvSpPr>
            <a:spLocks noChangeShapeType="1"/>
          </p:cNvSpPr>
          <p:nvPr/>
        </p:nvSpPr>
        <p:spPr bwMode="auto">
          <a:xfrm>
            <a:off x="4608513" y="3357563"/>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3" name="Rectangle 13"/>
          <p:cNvSpPr/>
          <p:nvPr/>
        </p:nvSpPr>
        <p:spPr>
          <a:xfrm>
            <a:off x="358775" y="-26987"/>
            <a:ext cx="8461375" cy="720725"/>
          </a:xfrm>
          <a:prstGeom prst="rect">
            <a:avLst/>
          </a:prstGeom>
          <a:noFill/>
          <a:ln w="9525">
            <a:noFill/>
          </a:ln>
        </p:spPr>
        <p:txBody>
          <a:bodyPr lIns="92075" tIns="46037" rIns="92075" bIns="46037" anchor="ctr"/>
          <a:p>
            <a:pPr>
              <a:lnSpc>
                <a:spcPct val="70000"/>
              </a:lnSpc>
            </a:pPr>
            <a:r>
              <a:rPr lang="zh-CN" altLang="en-US" sz="2800" b="1" dirty="0">
                <a:solidFill>
                  <a:srgbClr val="FFFFCC"/>
                </a:solidFill>
                <a:latin typeface="Arial Narrow" panose="020B0606020202030204" pitchFamily="34" charset="0"/>
                <a:ea typeface="宋体" panose="02010600030101010101" pitchFamily="2" charset="-122"/>
              </a:rPr>
              <a:t>继承中的重载</a:t>
            </a:r>
            <a:endParaRPr lang="zh-CN" altLang="en-US" sz="2800" dirty="0">
              <a:solidFill>
                <a:srgbClr val="FFFFCC"/>
              </a:solidFill>
              <a:latin typeface="Arial Narrow" panose="020B0606020202030204" pitchFamily="34" charset="0"/>
              <a:ea typeface="宋体" panose="02010600030101010101" pitchFamily="2" charset="-122"/>
            </a:endParaRPr>
          </a:p>
        </p:txBody>
      </p:sp>
      <p:graphicFrame>
        <p:nvGraphicFramePr>
          <p:cNvPr id="5" name="Group 19"/>
          <p:cNvGraphicFramePr/>
          <p:nvPr/>
        </p:nvGraphicFramePr>
        <p:xfrm>
          <a:off x="285750" y="404813"/>
          <a:ext cx="8642350" cy="6381750"/>
        </p:xfrm>
        <a:graphic>
          <a:graphicData uri="http://schemas.openxmlformats.org/drawingml/2006/table">
            <a:tbl>
              <a:tblPr/>
              <a:tblGrid>
                <a:gridCol w="4321175"/>
                <a:gridCol w="4321175"/>
              </a:tblGrid>
              <a:tr h="638175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int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1.0</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  </a:t>
                      </a:r>
                      <a:r>
                        <a:rPr kumimoji="0" lang="en-US" altLang="zh-CN"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a:t>
                      </a:r>
                      <a:r>
                        <a:rPr kumimoji="0" lang="zh-CN" altLang="en-US"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出错</a:t>
                      </a:r>
                      <a:endParaRPr kumimoji="0" lang="en-US" altLang="zh-CN" sz="18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r>
                        <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1.0</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rPr>
                        <a:t>机械变速</a:t>
                      </a:r>
                      <a:r>
                        <a:rPr kumimoji="0" lang="en-US" altLang="zh-CN"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rPr>
                        <a:t>1.0   //</a:t>
                      </a:r>
                      <a:r>
                        <a:rPr kumimoji="0" lang="zh-CN" altLang="en-US"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rPr>
                        <a:t>无法显示</a:t>
                      </a:r>
                      <a:endParaRPr kumimoji="0" lang="en-US" altLang="zh-CN" sz="1800" b="0" i="0" u="none" strike="noStrike" kern="1200" cap="none" normalizeH="0" baseline="0" dirty="0">
                        <a:ln>
                          <a:noFill/>
                        </a:ln>
                        <a:solidFill>
                          <a:srgbClr val="FFFF00"/>
                        </a:solidFill>
                        <a:effectLst/>
                        <a:latin typeface="Courier New" panose="02070309020205020404" pitchFamily="49" charset="0"/>
                        <a:ea typeface="宋体" panose="02010600030101010101" pitchFamily="2" charset="-122"/>
                        <a:cs typeface="+mn-cs"/>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Line 23"/>
          <p:cNvSpPr>
            <a:spLocks noChangeShapeType="1"/>
          </p:cNvSpPr>
          <p:nvPr/>
        </p:nvSpPr>
        <p:spPr bwMode="auto">
          <a:xfrm>
            <a:off x="4608513" y="3357563"/>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9285" name="Group 21"/>
          <p:cNvGraphicFramePr>
            <a:graphicFrameLocks noGrp="1"/>
          </p:cNvGraphicFramePr>
          <p:nvPr>
            <p:ph idx="4294967295"/>
          </p:nvPr>
        </p:nvGraphicFramePr>
        <p:xfrm>
          <a:off x="2819400" y="1808163"/>
          <a:ext cx="6096000" cy="4148138"/>
        </p:xfrm>
        <a:graphic>
          <a:graphicData uri="http://schemas.openxmlformats.org/drawingml/2006/table">
            <a:tbl>
              <a:tblPr/>
              <a:tblGrid>
                <a:gridCol w="3048000"/>
                <a:gridCol w="3048000"/>
              </a:tblGrid>
              <a:tr h="6186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对象ａ的操作</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改为操作对象ｂ</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6" marB="456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295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FuncA(a);</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FuncB(a);</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FuncAX(a);</a:t>
                      </a:r>
                      <a:endParaRPr kumimoji="0" lang="en-US" altLang="zh-CN" sz="2400" b="0" i="0" u="none" strike="noStrike" cap="none" normalizeH="0" baseline="0">
                        <a:ln>
                          <a:noFill/>
                        </a:ln>
                        <a:solidFill>
                          <a:srgbClr val="FF3300"/>
                        </a:solidFill>
                        <a:effectLst/>
                        <a:latin typeface="Arial Narrow" panose="020B060602020203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FuncB(</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FuncAX(</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ｂ</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rgbClr val="FF33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86" marB="456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5948" name="Rectangle 22"/>
          <p:cNvSpPr/>
          <p:nvPr/>
        </p:nvSpPr>
        <p:spPr>
          <a:xfrm>
            <a:off x="358775" y="476250"/>
            <a:ext cx="8461375" cy="720725"/>
          </a:xfrm>
          <a:prstGeom prst="rect">
            <a:avLst/>
          </a:prstGeom>
          <a:noFill/>
          <a:ln w="9525">
            <a:noFill/>
          </a:ln>
        </p:spPr>
        <p:txBody>
          <a:bodyPr lIns="92075" tIns="46037" rIns="92075" bIns="46037" anchor="ctr"/>
          <a:p>
            <a:pPr>
              <a:lnSpc>
                <a:spcPct val="70000"/>
              </a:lnSpc>
            </a:pPr>
            <a:r>
              <a:rPr lang="en-US" altLang="zh-CN" sz="2800" b="1" dirty="0">
                <a:solidFill>
                  <a:srgbClr val="FFFFCC"/>
                </a:solidFill>
                <a:latin typeface="Arial Narrow" panose="020B0606020202030204" pitchFamily="34" charset="0"/>
                <a:ea typeface="宋体" panose="02010600030101010101" pitchFamily="2" charset="-122"/>
              </a:rPr>
              <a:t>1.  </a:t>
            </a:r>
            <a:r>
              <a:rPr lang="zh-CN" altLang="en-US" sz="2800" b="1" dirty="0">
                <a:solidFill>
                  <a:srgbClr val="FFFFCC"/>
                </a:solidFill>
                <a:latin typeface="Arial Narrow" panose="020B0606020202030204" pitchFamily="34" charset="0"/>
                <a:ea typeface="宋体" panose="02010600030101010101" pitchFamily="2" charset="-122"/>
              </a:rPr>
              <a:t>对象的管理者（</a:t>
            </a:r>
            <a:r>
              <a:rPr lang="en-US" altLang="zh-CN" sz="2800" b="1" dirty="0">
                <a:solidFill>
                  <a:srgbClr val="FFFFCC"/>
                </a:solidFill>
                <a:latin typeface="Arial Narrow" panose="020B0606020202030204" pitchFamily="34" charset="0"/>
                <a:ea typeface="宋体" panose="02010600030101010101" pitchFamily="2" charset="-122"/>
              </a:rPr>
              <a:t>1</a:t>
            </a:r>
            <a:r>
              <a:rPr lang="zh-CN" altLang="en-US" sz="2800" b="1" dirty="0">
                <a:solidFill>
                  <a:srgbClr val="FFFFCC"/>
                </a:solidFill>
                <a:latin typeface="Arial Narrow" panose="020B0606020202030204" pitchFamily="34" charset="0"/>
                <a:ea typeface="宋体" panose="02010600030101010101" pitchFamily="2" charset="-122"/>
              </a:rPr>
              <a:t>）</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transition>
    <p:cut/>
  </p:transition>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1329" name="Group 17"/>
          <p:cNvGraphicFramePr>
            <a:graphicFrameLocks noGrp="1"/>
          </p:cNvGraphicFramePr>
          <p:nvPr>
            <p:ph idx="4294967295"/>
          </p:nvPr>
        </p:nvGraphicFramePr>
        <p:xfrm>
          <a:off x="2819400" y="1233488"/>
          <a:ext cx="6096000" cy="5026025"/>
        </p:xfrm>
        <a:graphic>
          <a:graphicData uri="http://schemas.openxmlformats.org/drawingml/2006/table">
            <a:tbl>
              <a:tblPr/>
              <a:tblGrid>
                <a:gridCol w="3048000"/>
                <a:gridCol w="3048000"/>
              </a:tblGrid>
              <a:tr h="61868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对象ａ的操作</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9" marB="456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改为操作对象ｂ</a:t>
                      </a:r>
                      <a:endPar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689" marB="456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07342">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 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p = &amp;a;</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FuncB(*p);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FuncAX(*p);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89" marB="456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Student  * 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sng" strike="noStrike" cap="none" normalizeH="0" baseline="0">
                          <a:ln>
                            <a:noFill/>
                          </a:ln>
                          <a:solidFill>
                            <a:schemeClr val="tx1"/>
                          </a:solidFill>
                          <a:effectLst/>
                          <a:latin typeface="Arial" panose="020B0604020202020204" pitchFamily="34" charset="0"/>
                          <a:ea typeface="宋体" panose="02010600030101010101" pitchFamily="2" charset="-122"/>
                        </a:rPr>
                        <a:t>p = &amp;b;</a:t>
                      </a:r>
                      <a:endParaRPr kumimoji="0" lang="en-US" altLang="zh-CN" sz="2400" b="0" i="0" u="sng"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sng"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FuncB(*p);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FuncAX(*p);</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89" marB="456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6972" name="Rectangle 13"/>
          <p:cNvSpPr/>
          <p:nvPr/>
        </p:nvSpPr>
        <p:spPr>
          <a:xfrm>
            <a:off x="358775" y="476250"/>
            <a:ext cx="8461375" cy="720725"/>
          </a:xfrm>
          <a:prstGeom prst="rect">
            <a:avLst/>
          </a:prstGeom>
          <a:noFill/>
          <a:ln w="9525">
            <a:noFill/>
          </a:ln>
        </p:spPr>
        <p:txBody>
          <a:bodyPr lIns="92075" tIns="46037" rIns="92075" bIns="46037" anchor="ctr"/>
          <a:p>
            <a:pPr>
              <a:lnSpc>
                <a:spcPct val="70000"/>
              </a:lnSpc>
            </a:pPr>
            <a:r>
              <a:rPr lang="en-US" altLang="zh-CN" sz="2800" b="1" dirty="0">
                <a:solidFill>
                  <a:srgbClr val="FFFFCC"/>
                </a:solidFill>
                <a:latin typeface="Arial Narrow" panose="020B0606020202030204" pitchFamily="34" charset="0"/>
                <a:ea typeface="宋体" panose="02010600030101010101" pitchFamily="2" charset="-122"/>
              </a:rPr>
              <a:t>1.  </a:t>
            </a:r>
            <a:r>
              <a:rPr lang="zh-CN" altLang="en-US" sz="2800" b="1" dirty="0">
                <a:solidFill>
                  <a:srgbClr val="FFFFCC"/>
                </a:solidFill>
                <a:latin typeface="Arial Narrow" panose="020B0606020202030204" pitchFamily="34" charset="0"/>
                <a:ea typeface="宋体" panose="02010600030101010101" pitchFamily="2" charset="-122"/>
              </a:rPr>
              <a:t>对象的管理者（</a:t>
            </a:r>
            <a:r>
              <a:rPr lang="en-US" altLang="zh-CN" sz="2800" b="1" dirty="0">
                <a:solidFill>
                  <a:srgbClr val="FFFFCC"/>
                </a:solidFill>
                <a:latin typeface="Arial Narrow" panose="020B0606020202030204" pitchFamily="34" charset="0"/>
                <a:ea typeface="宋体" panose="02010600030101010101" pitchFamily="2" charset="-122"/>
              </a:rPr>
              <a:t>2</a:t>
            </a:r>
            <a:r>
              <a:rPr lang="zh-CN" altLang="en-US" sz="2800" b="1" dirty="0">
                <a:solidFill>
                  <a:srgbClr val="FFFFCC"/>
                </a:solidFill>
                <a:latin typeface="Arial Narrow" panose="020B0606020202030204" pitchFamily="34" charset="0"/>
                <a:ea typeface="宋体" panose="02010600030101010101" pitchFamily="2" charset="-122"/>
              </a:rPr>
              <a:t>）</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transition>
    <p:cut/>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2365" name="Group 29"/>
          <p:cNvGraphicFramePr>
            <a:graphicFrameLocks noGrp="1"/>
          </p:cNvGraphicFramePr>
          <p:nvPr>
            <p:ph idx="4294967295"/>
          </p:nvPr>
        </p:nvGraphicFramePr>
        <p:xfrm>
          <a:off x="468313" y="1484313"/>
          <a:ext cx="8316913" cy="4824413"/>
        </p:xfrm>
        <a:graphic>
          <a:graphicData uri="http://schemas.openxmlformats.org/drawingml/2006/table">
            <a:tbl>
              <a:tblPr/>
              <a:tblGrid>
                <a:gridCol w="4159250"/>
                <a:gridCol w="4157662"/>
              </a:tblGrid>
              <a:tr h="6111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类树</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指针树</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32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7996" name="Rectangle 30"/>
          <p:cNvSpPr/>
          <p:nvPr/>
        </p:nvSpPr>
        <p:spPr>
          <a:xfrm>
            <a:off x="549275" y="2087563"/>
            <a:ext cx="4635500" cy="4724400"/>
          </a:xfrm>
          <a:prstGeom prst="rect">
            <a:avLst/>
          </a:prstGeom>
          <a:noFill/>
          <a:ln w="9525">
            <a:noFill/>
          </a:ln>
        </p:spPr>
        <p:txBody>
          <a:bodyPr lIns="92075" tIns="46037" rIns="92075" bIns="46037" anchor="t"/>
          <a:p>
            <a:pPr marL="342900" indent="-342900" algn="just">
              <a:spcBef>
                <a:spcPct val="20000"/>
              </a:spcBef>
              <a:buClr>
                <a:srgbClr val="800000"/>
              </a:buClr>
              <a:buSzPct val="60000"/>
            </a:pPr>
            <a:r>
              <a:rPr lang="en-US" altLang="zh-CN" sz="2800" dirty="0">
                <a:solidFill>
                  <a:srgbClr val="FFFF00"/>
                </a:solidFill>
                <a:latin typeface="黑体" panose="02010609060101010101" pitchFamily="49" charset="-122"/>
                <a:ea typeface="黑体" panose="02010609060101010101" pitchFamily="49" charset="-122"/>
              </a:rPr>
              <a:t>          </a:t>
            </a:r>
            <a:endParaRPr lang="en-US" altLang="zh-CN" sz="2800" dirty="0">
              <a:solidFill>
                <a:srgbClr val="FFFF00"/>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sz="2400"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zh-CN" altLang="en-US"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Automobile</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Car </a:t>
            </a: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Truck</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buFont typeface="Wingdings" panose="05000000000000000000" pitchFamily="2" charset="2"/>
              <a:buBlip>
                <a:blip r:embed="rId1"/>
              </a:buBlip>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b="1" dirty="0">
                <a:solidFill>
                  <a:srgbClr val="FFFFFF"/>
                </a:solidFill>
                <a:latin typeface="黑体" panose="02010609060101010101" pitchFamily="49" charset="-122"/>
                <a:ea typeface="黑体" panose="02010609060101010101" pitchFamily="49" charset="-122"/>
              </a:rPr>
              <a:t>  </a:t>
            </a:r>
            <a:r>
              <a:rPr lang="en-US" altLang="zh-CN" sz="2400" b="1" dirty="0">
                <a:solidFill>
                  <a:srgbClr val="FFFFFF"/>
                </a:solidFill>
                <a:latin typeface="Arial" panose="020B0604020202020204" pitchFamily="34" charset="0"/>
                <a:ea typeface="黑体" panose="02010609060101010101" pitchFamily="49" charset="-122"/>
              </a:rPr>
              <a:t>Jetta   Audi</a:t>
            </a:r>
            <a:endParaRPr lang="en-US" altLang="zh-CN" sz="2400" b="1" dirty="0">
              <a:solidFill>
                <a:srgbClr val="FFFFFF"/>
              </a:solidFill>
              <a:latin typeface="Arial" panose="020B0604020202020204" pitchFamily="34" charset="0"/>
              <a:ea typeface="黑体" panose="02010609060101010101" pitchFamily="49" charset="-122"/>
            </a:endParaRPr>
          </a:p>
        </p:txBody>
      </p:sp>
      <p:sp>
        <p:nvSpPr>
          <p:cNvPr id="247822" name="Line 31"/>
          <p:cNvSpPr>
            <a:spLocks noChangeShapeType="1"/>
          </p:cNvSpPr>
          <p:nvPr/>
        </p:nvSpPr>
        <p:spPr bwMode="auto">
          <a:xfrm flipH="1">
            <a:off x="1844675" y="3382963"/>
            <a:ext cx="9144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23" name="Line 32"/>
          <p:cNvSpPr>
            <a:spLocks noChangeShapeType="1"/>
          </p:cNvSpPr>
          <p:nvPr/>
        </p:nvSpPr>
        <p:spPr bwMode="auto">
          <a:xfrm>
            <a:off x="2759075" y="3382963"/>
            <a:ext cx="9906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24" name="Line 33"/>
          <p:cNvSpPr>
            <a:spLocks noChangeShapeType="1"/>
          </p:cNvSpPr>
          <p:nvPr/>
        </p:nvSpPr>
        <p:spPr bwMode="auto">
          <a:xfrm flipH="1">
            <a:off x="1189038" y="4297363"/>
            <a:ext cx="655638"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25" name="Line 34"/>
          <p:cNvSpPr>
            <a:spLocks noChangeShapeType="1"/>
          </p:cNvSpPr>
          <p:nvPr/>
        </p:nvSpPr>
        <p:spPr bwMode="auto">
          <a:xfrm>
            <a:off x="1844675" y="4297363"/>
            <a:ext cx="568325"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8001" name="Rectangle 35"/>
          <p:cNvSpPr/>
          <p:nvPr/>
        </p:nvSpPr>
        <p:spPr>
          <a:xfrm>
            <a:off x="4932363" y="2124075"/>
            <a:ext cx="3995737" cy="4724400"/>
          </a:xfrm>
          <a:prstGeom prst="rect">
            <a:avLst/>
          </a:prstGeom>
          <a:noFill/>
          <a:ln w="9525">
            <a:noFill/>
          </a:ln>
        </p:spPr>
        <p:txBody>
          <a:bodyPr lIns="92075" tIns="46037" rIns="92075" bIns="46037" anchor="t"/>
          <a:p>
            <a:pPr marL="342900" indent="-342900" algn="just">
              <a:spcBef>
                <a:spcPct val="20000"/>
              </a:spcBef>
              <a:buClr>
                <a:srgbClr val="800000"/>
              </a:buClr>
              <a:buSzPct val="60000"/>
            </a:pPr>
            <a:r>
              <a:rPr lang="en-US" altLang="zh-CN" sz="2800" dirty="0">
                <a:solidFill>
                  <a:srgbClr val="FFFF00"/>
                </a:solidFill>
                <a:latin typeface="黑体" panose="02010609060101010101" pitchFamily="49" charset="-122"/>
                <a:ea typeface="黑体" panose="02010609060101010101" pitchFamily="49" charset="-122"/>
              </a:rPr>
              <a:t>        </a:t>
            </a:r>
            <a:endParaRPr lang="en-US" altLang="zh-CN" sz="2800" dirty="0">
              <a:solidFill>
                <a:srgbClr val="FFFF00"/>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sz="2400"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zh-CN" altLang="en-US"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Automobile *</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Car *            Truck *</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buFont typeface="Wingdings" panose="05000000000000000000" pitchFamily="2" charset="2"/>
              <a:buBlip>
                <a:blip r:embed="rId1"/>
              </a:buBlip>
            </a:pPr>
            <a:endParaRPr lang="en-US" altLang="zh-CN" b="1"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dirty="0">
                <a:solidFill>
                  <a:srgbClr val="FFFFFF"/>
                </a:solidFill>
                <a:latin typeface="黑体" panose="02010609060101010101" pitchFamily="49" charset="-122"/>
                <a:ea typeface="黑体" panose="02010609060101010101" pitchFamily="49" charset="-122"/>
              </a:rPr>
              <a:t> </a:t>
            </a:r>
            <a:r>
              <a:rPr lang="en-US" altLang="zh-CN" sz="2400" b="1" dirty="0">
                <a:solidFill>
                  <a:srgbClr val="FFFFFF"/>
                </a:solidFill>
                <a:latin typeface="Arial" panose="020B0604020202020204" pitchFamily="34" charset="0"/>
                <a:ea typeface="黑体" panose="02010609060101010101" pitchFamily="49" charset="-122"/>
              </a:rPr>
              <a:t>Jetta *      Audi *</a:t>
            </a:r>
            <a:endParaRPr lang="en-US" altLang="zh-CN" sz="2400" b="1" dirty="0">
              <a:solidFill>
                <a:srgbClr val="FFFFFF"/>
              </a:solidFill>
              <a:latin typeface="Arial" panose="020B0604020202020204" pitchFamily="34" charset="0"/>
              <a:ea typeface="黑体" panose="02010609060101010101" pitchFamily="49" charset="-122"/>
            </a:endParaRPr>
          </a:p>
        </p:txBody>
      </p:sp>
      <p:sp>
        <p:nvSpPr>
          <p:cNvPr id="247827" name="Line 36"/>
          <p:cNvSpPr>
            <a:spLocks noChangeShapeType="1"/>
          </p:cNvSpPr>
          <p:nvPr/>
        </p:nvSpPr>
        <p:spPr bwMode="auto">
          <a:xfrm flipH="1">
            <a:off x="6303963" y="3419475"/>
            <a:ext cx="914400" cy="6858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28" name="Line 37"/>
          <p:cNvSpPr>
            <a:spLocks noChangeShapeType="1"/>
          </p:cNvSpPr>
          <p:nvPr/>
        </p:nvSpPr>
        <p:spPr bwMode="auto">
          <a:xfrm>
            <a:off x="7218363" y="3419475"/>
            <a:ext cx="893763" cy="677863"/>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29" name="Line 38"/>
          <p:cNvSpPr>
            <a:spLocks noChangeShapeType="1"/>
          </p:cNvSpPr>
          <p:nvPr/>
        </p:nvSpPr>
        <p:spPr bwMode="auto">
          <a:xfrm flipH="1">
            <a:off x="5541963" y="4257675"/>
            <a:ext cx="762000" cy="8382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7830" name="Line 39"/>
          <p:cNvSpPr>
            <a:spLocks noChangeShapeType="1"/>
          </p:cNvSpPr>
          <p:nvPr/>
        </p:nvSpPr>
        <p:spPr bwMode="auto">
          <a:xfrm>
            <a:off x="6380163" y="4333875"/>
            <a:ext cx="685800" cy="7620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8006" name="Rectangle 42"/>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2.  </a:t>
            </a:r>
            <a:r>
              <a:rPr lang="zh-CN" altLang="en-US" sz="2800" b="1" dirty="0">
                <a:ea typeface="宋体" panose="02010600030101010101" pitchFamily="2" charset="-122"/>
              </a:rPr>
              <a:t>类树对象的管理者</a:t>
            </a:r>
            <a:endParaRPr lang="zh-CN" altLang="en-US" sz="2800" b="1" dirty="0">
              <a:ea typeface="宋体" panose="02010600030101010101" pitchFamily="2" charset="-122"/>
            </a:endParaRPr>
          </a:p>
        </p:txBody>
      </p:sp>
    </p:spTree>
  </p:cSld>
  <p:clrMapOvr>
    <a:masterClrMapping/>
  </p:clrMapOvr>
  <p:transition>
    <p:cut/>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4386" name="Group 2"/>
          <p:cNvGraphicFramePr>
            <a:graphicFrameLocks noGrp="1"/>
          </p:cNvGraphicFramePr>
          <p:nvPr>
            <p:ph idx="4294967295"/>
          </p:nvPr>
        </p:nvGraphicFramePr>
        <p:xfrm>
          <a:off x="468313" y="1449388"/>
          <a:ext cx="8316913" cy="4824413"/>
        </p:xfrm>
        <a:graphic>
          <a:graphicData uri="http://schemas.openxmlformats.org/drawingml/2006/table">
            <a:tbl>
              <a:tblPr/>
              <a:tblGrid>
                <a:gridCol w="4159250"/>
                <a:gridCol w="4157662"/>
              </a:tblGrid>
              <a:tr h="6111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类树</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祖先类指针</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32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rPr>
                        <a:t>Automobile *</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99020" name="Rectangle 13"/>
          <p:cNvSpPr/>
          <p:nvPr/>
        </p:nvSpPr>
        <p:spPr>
          <a:xfrm>
            <a:off x="549275" y="2089150"/>
            <a:ext cx="4635500" cy="4292600"/>
          </a:xfrm>
          <a:prstGeom prst="rect">
            <a:avLst/>
          </a:prstGeom>
          <a:noFill/>
          <a:ln w="9525">
            <a:noFill/>
          </a:ln>
        </p:spPr>
        <p:txBody>
          <a:bodyPr lIns="92075" tIns="46037" rIns="92075" bIns="46037" anchor="t"/>
          <a:p>
            <a:pPr marL="342900" indent="-342900" algn="just">
              <a:spcBef>
                <a:spcPct val="20000"/>
              </a:spcBef>
              <a:buClr>
                <a:srgbClr val="800000"/>
              </a:buClr>
              <a:buSzPct val="60000"/>
            </a:pPr>
            <a:r>
              <a:rPr lang="en-US" altLang="zh-CN" sz="2800" dirty="0">
                <a:solidFill>
                  <a:srgbClr val="FFFF00"/>
                </a:solidFill>
                <a:latin typeface="黑体" panose="02010609060101010101" pitchFamily="49" charset="-122"/>
                <a:ea typeface="黑体" panose="02010609060101010101" pitchFamily="49" charset="-122"/>
              </a:rPr>
              <a:t>          </a:t>
            </a:r>
            <a:endParaRPr lang="en-US" altLang="zh-CN" sz="2800" dirty="0">
              <a:solidFill>
                <a:srgbClr val="FFFF00"/>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sz="2400"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zh-CN" altLang="en-US"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Automobile</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Car </a:t>
            </a: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Truck</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buFont typeface="Wingdings" panose="05000000000000000000" pitchFamily="2" charset="2"/>
              <a:buBlip>
                <a:blip r:embed="rId1"/>
              </a:buBlip>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b="1" dirty="0">
                <a:solidFill>
                  <a:srgbClr val="FFFFFF"/>
                </a:solidFill>
                <a:latin typeface="黑体" panose="02010609060101010101" pitchFamily="49" charset="-122"/>
                <a:ea typeface="黑体" panose="02010609060101010101" pitchFamily="49" charset="-122"/>
              </a:rPr>
              <a:t>  </a:t>
            </a:r>
            <a:r>
              <a:rPr lang="en-US" altLang="zh-CN" sz="2400" b="1" dirty="0">
                <a:solidFill>
                  <a:srgbClr val="FFFFFF"/>
                </a:solidFill>
                <a:latin typeface="Arial" panose="020B0604020202020204" pitchFamily="34" charset="0"/>
                <a:ea typeface="黑体" panose="02010609060101010101" pitchFamily="49" charset="-122"/>
              </a:rPr>
              <a:t>Jetta   Audi</a:t>
            </a:r>
            <a:endParaRPr lang="en-US" altLang="zh-CN" sz="2400" b="1" dirty="0">
              <a:solidFill>
                <a:srgbClr val="FFFFFF"/>
              </a:solidFill>
              <a:latin typeface="Arial" panose="020B0604020202020204" pitchFamily="34" charset="0"/>
              <a:ea typeface="黑体" panose="02010609060101010101" pitchFamily="49" charset="-122"/>
            </a:endParaRPr>
          </a:p>
        </p:txBody>
      </p:sp>
      <p:sp>
        <p:nvSpPr>
          <p:cNvPr id="248846" name="Line 14"/>
          <p:cNvSpPr>
            <a:spLocks noChangeShapeType="1"/>
          </p:cNvSpPr>
          <p:nvPr/>
        </p:nvSpPr>
        <p:spPr bwMode="auto">
          <a:xfrm flipH="1">
            <a:off x="1844675" y="3384550"/>
            <a:ext cx="9144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8847" name="Line 15"/>
          <p:cNvSpPr>
            <a:spLocks noChangeShapeType="1"/>
          </p:cNvSpPr>
          <p:nvPr/>
        </p:nvSpPr>
        <p:spPr bwMode="auto">
          <a:xfrm>
            <a:off x="2759075" y="3384550"/>
            <a:ext cx="9906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8848" name="Line 16"/>
          <p:cNvSpPr>
            <a:spLocks noChangeShapeType="1"/>
          </p:cNvSpPr>
          <p:nvPr/>
        </p:nvSpPr>
        <p:spPr bwMode="auto">
          <a:xfrm flipH="1">
            <a:off x="1189038" y="4298950"/>
            <a:ext cx="655638"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8849" name="Line 17"/>
          <p:cNvSpPr>
            <a:spLocks noChangeShapeType="1"/>
          </p:cNvSpPr>
          <p:nvPr/>
        </p:nvSpPr>
        <p:spPr bwMode="auto">
          <a:xfrm>
            <a:off x="1844675" y="4298950"/>
            <a:ext cx="568325"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99025" name="Rectangle 23"/>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3.  </a:t>
            </a:r>
            <a:r>
              <a:rPr lang="zh-CN" altLang="en-US" sz="2800" b="1" dirty="0">
                <a:ea typeface="宋体" panose="02010600030101010101" pitchFamily="2" charset="-122"/>
              </a:rPr>
              <a:t>类树对象的通用管理者（</a:t>
            </a:r>
            <a:r>
              <a:rPr lang="en-US" altLang="zh-CN" sz="2800" b="1" dirty="0">
                <a:ea typeface="宋体" panose="02010600030101010101" pitchFamily="2" charset="-122"/>
              </a:rPr>
              <a:t>1</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Tree>
  </p:cSld>
  <p:clrMapOvr>
    <a:masterClrMapping/>
  </p:clrMapOvr>
  <p:transition>
    <p:cut/>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5430" name="Group 22"/>
          <p:cNvGraphicFramePr>
            <a:graphicFrameLocks noGrp="1"/>
          </p:cNvGraphicFramePr>
          <p:nvPr>
            <p:ph idx="4294967295"/>
          </p:nvPr>
        </p:nvGraphicFramePr>
        <p:xfrm>
          <a:off x="468313" y="1233488"/>
          <a:ext cx="8316913" cy="5457825"/>
        </p:xfrm>
        <a:graphic>
          <a:graphicData uri="http://schemas.openxmlformats.org/drawingml/2006/table">
            <a:tbl>
              <a:tblPr/>
              <a:tblGrid>
                <a:gridCol w="4159250"/>
                <a:gridCol w="4157662"/>
              </a:tblGrid>
              <a:tr h="611224">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类树</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800" b="0" i="0" u="none" strike="noStrike" cap="none" normalizeH="0" baseline="0">
                          <a:ln>
                            <a:noFill/>
                          </a:ln>
                          <a:solidFill>
                            <a:srgbClr val="FFFF00"/>
                          </a:solidFill>
                          <a:effectLst/>
                          <a:latin typeface="黑体" panose="02010609060101010101" pitchFamily="49" charset="-122"/>
                          <a:ea typeface="黑体" panose="02010609060101010101" pitchFamily="49" charset="-122"/>
                        </a:rPr>
                        <a:t>指针的使用</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466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Automobile   *p;</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Automobile    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Car      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Truck  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Audi    d;</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p = &amp;a;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p = &amp;b;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p = &amp;c;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p = &amp;d;</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0044" name="Rectangle 13"/>
          <p:cNvSpPr/>
          <p:nvPr/>
        </p:nvSpPr>
        <p:spPr>
          <a:xfrm>
            <a:off x="549275" y="2089150"/>
            <a:ext cx="4635500" cy="4292600"/>
          </a:xfrm>
          <a:prstGeom prst="rect">
            <a:avLst/>
          </a:prstGeom>
          <a:noFill/>
          <a:ln w="9525">
            <a:noFill/>
          </a:ln>
        </p:spPr>
        <p:txBody>
          <a:bodyPr lIns="92075" tIns="46037" rIns="92075" bIns="46037" anchor="t"/>
          <a:p>
            <a:pPr marL="342900" indent="-342900" algn="just">
              <a:spcBef>
                <a:spcPct val="20000"/>
              </a:spcBef>
              <a:buClr>
                <a:srgbClr val="800000"/>
              </a:buClr>
              <a:buSzPct val="60000"/>
            </a:pPr>
            <a:r>
              <a:rPr lang="en-US" altLang="zh-CN" sz="2800" dirty="0">
                <a:solidFill>
                  <a:srgbClr val="FFFF00"/>
                </a:solidFill>
                <a:latin typeface="黑体" panose="02010609060101010101" pitchFamily="49" charset="-122"/>
                <a:ea typeface="黑体" panose="02010609060101010101" pitchFamily="49" charset="-122"/>
              </a:rPr>
              <a:t>          </a:t>
            </a:r>
            <a:endParaRPr lang="en-US" altLang="zh-CN" sz="2800" dirty="0">
              <a:solidFill>
                <a:srgbClr val="FFFF00"/>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sz="2400"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zh-CN" altLang="en-US"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Automobile</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pP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Car </a:t>
            </a:r>
            <a:r>
              <a:rPr lang="en-US" altLang="zh-CN" sz="2400" dirty="0">
                <a:solidFill>
                  <a:srgbClr val="FFFFFF"/>
                </a:solidFill>
                <a:latin typeface="Arial" panose="020B0604020202020204" pitchFamily="34" charset="0"/>
                <a:ea typeface="宋体" panose="02010600030101010101" pitchFamily="2" charset="-122"/>
              </a:rPr>
              <a:t>               </a:t>
            </a:r>
            <a:r>
              <a:rPr lang="en-US" altLang="zh-CN" sz="2400" b="1" dirty="0">
                <a:solidFill>
                  <a:srgbClr val="FFFFFF"/>
                </a:solidFill>
                <a:latin typeface="Arial" panose="020B0604020202020204" pitchFamily="34" charset="0"/>
                <a:ea typeface="宋体" panose="02010600030101010101" pitchFamily="2" charset="-122"/>
              </a:rPr>
              <a:t>Truck</a:t>
            </a:r>
            <a:endParaRPr lang="en-US" altLang="zh-CN" sz="2400" b="1" dirty="0">
              <a:solidFill>
                <a:srgbClr val="FFFFFF"/>
              </a:solidFill>
              <a:latin typeface="Arial" panose="020B0604020202020204" pitchFamily="34" charset="0"/>
              <a:ea typeface="宋体" panose="02010600030101010101" pitchFamily="2" charset="-122"/>
            </a:endParaRPr>
          </a:p>
          <a:p>
            <a:pPr marL="342900" indent="-342900" algn="just">
              <a:spcBef>
                <a:spcPct val="20000"/>
              </a:spcBef>
              <a:buClr>
                <a:srgbClr val="800000"/>
              </a:buClr>
              <a:buSzPct val="60000"/>
              <a:buFont typeface="Wingdings" panose="05000000000000000000" pitchFamily="2" charset="2"/>
              <a:buBlip>
                <a:blip r:embed="rId1"/>
              </a:buBlip>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endParaRPr lang="en-US" altLang="zh-CN" dirty="0">
              <a:solidFill>
                <a:srgbClr val="FFFFFF"/>
              </a:solidFill>
              <a:latin typeface="黑体" panose="02010609060101010101" pitchFamily="49" charset="-122"/>
              <a:ea typeface="黑体" panose="02010609060101010101" pitchFamily="49" charset="-122"/>
            </a:endParaRPr>
          </a:p>
          <a:p>
            <a:pPr marL="342900" indent="-342900" algn="just">
              <a:spcBef>
                <a:spcPct val="20000"/>
              </a:spcBef>
              <a:buClr>
                <a:srgbClr val="800000"/>
              </a:buClr>
              <a:buSzPct val="60000"/>
            </a:pPr>
            <a:r>
              <a:rPr lang="en-US" altLang="zh-CN" sz="2400" b="1" dirty="0">
                <a:solidFill>
                  <a:srgbClr val="FFFFFF"/>
                </a:solidFill>
                <a:latin typeface="黑体" panose="02010609060101010101" pitchFamily="49" charset="-122"/>
                <a:ea typeface="黑体" panose="02010609060101010101" pitchFamily="49" charset="-122"/>
              </a:rPr>
              <a:t>  </a:t>
            </a:r>
            <a:r>
              <a:rPr lang="en-US" altLang="zh-CN" sz="2400" b="1" dirty="0">
                <a:solidFill>
                  <a:srgbClr val="FFFFFF"/>
                </a:solidFill>
                <a:latin typeface="Arial" panose="020B0604020202020204" pitchFamily="34" charset="0"/>
                <a:ea typeface="黑体" panose="02010609060101010101" pitchFamily="49" charset="-122"/>
              </a:rPr>
              <a:t>Jetta   Audi</a:t>
            </a:r>
            <a:endParaRPr lang="en-US" altLang="zh-CN" sz="2400" b="1" dirty="0">
              <a:solidFill>
                <a:srgbClr val="FFFFFF"/>
              </a:solidFill>
              <a:latin typeface="Arial" panose="020B0604020202020204" pitchFamily="34" charset="0"/>
              <a:ea typeface="黑体" panose="02010609060101010101" pitchFamily="49" charset="-122"/>
            </a:endParaRPr>
          </a:p>
        </p:txBody>
      </p:sp>
      <p:sp>
        <p:nvSpPr>
          <p:cNvPr id="249870" name="Line 14"/>
          <p:cNvSpPr>
            <a:spLocks noChangeShapeType="1"/>
          </p:cNvSpPr>
          <p:nvPr/>
        </p:nvSpPr>
        <p:spPr bwMode="auto">
          <a:xfrm flipH="1">
            <a:off x="1844675" y="3384550"/>
            <a:ext cx="9144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9871" name="Line 15"/>
          <p:cNvSpPr>
            <a:spLocks noChangeShapeType="1"/>
          </p:cNvSpPr>
          <p:nvPr/>
        </p:nvSpPr>
        <p:spPr bwMode="auto">
          <a:xfrm>
            <a:off x="2759075" y="3384550"/>
            <a:ext cx="990600" cy="6096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9872" name="Line 16"/>
          <p:cNvSpPr>
            <a:spLocks noChangeShapeType="1"/>
          </p:cNvSpPr>
          <p:nvPr/>
        </p:nvSpPr>
        <p:spPr bwMode="auto">
          <a:xfrm flipH="1">
            <a:off x="1189038" y="4298950"/>
            <a:ext cx="655638"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49873" name="Line 17"/>
          <p:cNvSpPr>
            <a:spLocks noChangeShapeType="1"/>
          </p:cNvSpPr>
          <p:nvPr/>
        </p:nvSpPr>
        <p:spPr bwMode="auto">
          <a:xfrm>
            <a:off x="1844675" y="4298950"/>
            <a:ext cx="568325" cy="77470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00049" name="Rectangle 18"/>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3.  </a:t>
            </a:r>
            <a:r>
              <a:rPr lang="zh-CN" altLang="en-US" sz="2800" b="1" dirty="0">
                <a:ea typeface="宋体" panose="02010600030101010101" pitchFamily="2" charset="-122"/>
              </a:rPr>
              <a:t>类树对象的通用管理者（</a:t>
            </a:r>
            <a:r>
              <a:rPr lang="en-US" altLang="zh-CN" sz="2800" b="1" dirty="0">
                <a:ea typeface="宋体" panose="02010600030101010101" pitchFamily="2" charset="-122"/>
              </a:rPr>
              <a:t>2</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Tree>
  </p:cSld>
  <p:clrMapOvr>
    <a:masterClrMapping/>
  </p:clrMapOvr>
  <p:transition>
    <p:cut/>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7" name="Rectangle 10"/>
          <p:cNvSpPr>
            <a:spLocks noGrp="1"/>
          </p:cNvSpPr>
          <p:nvPr>
            <p:ph type="title"/>
          </p:nvPr>
        </p:nvSpPr>
        <p:spPr>
          <a:xfrm>
            <a:off x="0" y="0"/>
            <a:ext cx="6096000" cy="1143000"/>
          </a:xfrm>
        </p:spPr>
        <p:txBody>
          <a:bodyPr vert="horz" wrap="square" lIns="92075" tIns="46037" rIns="92075" bIns="46037" anchor="ctr"/>
          <a:p>
            <a:pPr eaLnBrk="1" hangingPunct="1"/>
            <a:r>
              <a:rPr lang="en-US" altLang="zh-CN" sz="2800" b="1" dirty="0">
                <a:ea typeface="宋体" panose="02010600030101010101" pitchFamily="2" charset="-122"/>
              </a:rPr>
              <a:t>4.  </a:t>
            </a:r>
            <a:r>
              <a:rPr lang="zh-CN" altLang="en-US" sz="2800" b="1" dirty="0">
                <a:ea typeface="宋体" panose="02010600030101010101" pitchFamily="2" charset="-122"/>
              </a:rPr>
              <a:t>继承与指针（</a:t>
            </a:r>
            <a:r>
              <a:rPr lang="en-US" altLang="zh-CN" sz="2800" b="1" dirty="0">
                <a:ea typeface="宋体" panose="02010600030101010101" pitchFamily="2" charset="-122"/>
              </a:rPr>
              <a:t>1</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graphicFrame>
        <p:nvGraphicFramePr>
          <p:cNvPr id="170028" name="Group 44"/>
          <p:cNvGraphicFramePr>
            <a:graphicFrameLocks noGrp="1"/>
          </p:cNvGraphicFramePr>
          <p:nvPr>
            <p:ph sz="half" idx="4294967295"/>
          </p:nvPr>
        </p:nvGraphicFramePr>
        <p:xfrm>
          <a:off x="684213" y="1736725"/>
          <a:ext cx="3240088" cy="4106863"/>
        </p:xfrm>
        <a:graphic>
          <a:graphicData uri="http://schemas.openxmlformats.org/drawingml/2006/table">
            <a:tbl>
              <a:tblPr/>
              <a:tblGrid>
                <a:gridCol w="3240087"/>
              </a:tblGrid>
              <a:tr h="10128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数据关系</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父类定义，子类继承</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父类定义，子类覆盖</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父类没有，子类派生</a:t>
                      </a: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14" name="Group 30"/>
          <p:cNvGraphicFramePr>
            <a:graphicFrameLocks noGrp="1"/>
          </p:cNvGraphicFramePr>
          <p:nvPr>
            <p:ph sz="half" idx="4294967295"/>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41" name="Group 57"/>
          <p:cNvGraphicFramePr>
            <a:graphicFrameLocks noGrp="1"/>
          </p:cNvGraphicFramePr>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1094" name="Text Box 69"/>
          <p:cNvSpPr txBox="1"/>
          <p:nvPr/>
        </p:nvSpPr>
        <p:spPr>
          <a:xfrm>
            <a:off x="4192588" y="3105150"/>
            <a:ext cx="1260475" cy="1311275"/>
          </a:xfrm>
          <a:prstGeom prst="rect">
            <a:avLst/>
          </a:prstGeom>
          <a:noFill/>
          <a:ln w="9525">
            <a:noFill/>
          </a:ln>
        </p:spPr>
        <p:txBody>
          <a:bodyPr anchor="t">
            <a:spAutoFit/>
          </a:bodyPr>
          <a:p>
            <a:pPr eaLnBrk="0" hangingPunct="0">
              <a:spcBef>
                <a:spcPct val="50000"/>
              </a:spcBef>
            </a:pPr>
            <a:r>
              <a:rPr lang="en-US" altLang="zh-CN" sz="8000" b="1" dirty="0">
                <a:solidFill>
                  <a:srgbClr val="FFFFFF"/>
                </a:solidFill>
                <a:latin typeface="Times New Roman" panose="02020603050405020304" pitchFamily="18" charset="0"/>
                <a:ea typeface="宋体" panose="02010600030101010101" pitchFamily="2" charset="-122"/>
              </a:rPr>
              <a:t>×</a:t>
            </a:r>
            <a:endParaRPr lang="en-US" altLang="zh-CN" sz="8000" b="1" dirty="0">
              <a:solidFill>
                <a:srgbClr val="FFFFFF"/>
              </a:solidFill>
              <a:latin typeface="Times New Roman" panose="02020603050405020304" pitchFamily="18" charset="0"/>
              <a:ea typeface="宋体" panose="02010600030101010101" pitchFamily="2" charset="-122"/>
            </a:endParaRPr>
          </a:p>
        </p:txBody>
      </p:sp>
      <p:sp>
        <p:nvSpPr>
          <p:cNvPr id="259114" name="AutoShape 42"/>
          <p:cNvSpPr>
            <a:spLocks noChangeArrowheads="1"/>
          </p:cNvSpPr>
          <p:nvPr/>
        </p:nvSpPr>
        <p:spPr bwMode="auto">
          <a:xfrm>
            <a:off x="971550" y="6237288"/>
            <a:ext cx="5040313" cy="360363"/>
          </a:xfrm>
          <a:prstGeom prst="wedgeRoundRectCallout">
            <a:avLst>
              <a:gd name="adj1" fmla="val -27606"/>
              <a:gd name="adj2" fmla="val -215199"/>
              <a:gd name="adj3" fmla="val 16667"/>
            </a:avLst>
          </a:prstGeom>
          <a:solidFill>
            <a:schemeClr val="accent1">
              <a:alpha val="0"/>
            </a:schemeClr>
          </a:solidFill>
          <a:ln w="9525" algn="ctr">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相当于原始定义，属于最常见情况，故不需讨论</a:t>
            </a:r>
            <a:endPar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9114"/>
                                        </p:tgtEl>
                                        <p:attrNameLst>
                                          <p:attrName>style.visibility</p:attrName>
                                        </p:attrNameLst>
                                      </p:cBhvr>
                                      <p:to>
                                        <p:strVal val="visible"/>
                                      </p:to>
                                    </p:set>
                                    <p:animEffect transition="in" filter="checkerboard(across)">
                                      <p:cBhvr>
                                        <p:cTn id="7" dur="500"/>
                                        <p:tgtEl>
                                          <p:spTgt spid="259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114" grpId="0" animBg="1"/>
    </p:bld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0028" name="Group 44"/>
          <p:cNvGraphicFramePr>
            <a:graphicFrameLocks noGrp="1"/>
          </p:cNvGraphicFramePr>
          <p:nvPr>
            <p:ph sz="half" idx="4294967295"/>
          </p:nvPr>
        </p:nvGraphicFramePr>
        <p:xfrm>
          <a:off x="684213" y="1736725"/>
          <a:ext cx="3240088" cy="4106863"/>
        </p:xfrm>
        <a:graphic>
          <a:graphicData uri="http://schemas.openxmlformats.org/drawingml/2006/table">
            <a:tbl>
              <a:tblPr/>
              <a:tblGrid>
                <a:gridCol w="3240087"/>
              </a:tblGrid>
              <a:tr h="10128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数据关系</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父类定义，子类继承</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14" name="Group 30"/>
          <p:cNvGraphicFramePr>
            <a:graphicFrameLocks noGrp="1"/>
          </p:cNvGraphicFramePr>
          <p:nvPr>
            <p:ph sz="half" idx="4294967295"/>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41" name="Group 57"/>
          <p:cNvGraphicFramePr>
            <a:graphicFrameLocks noGrp="1"/>
          </p:cNvGraphicFramePr>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2117" name="Text Box 69"/>
          <p:cNvSpPr txBox="1"/>
          <p:nvPr/>
        </p:nvSpPr>
        <p:spPr>
          <a:xfrm>
            <a:off x="4192588" y="3105150"/>
            <a:ext cx="1260475" cy="1311275"/>
          </a:xfrm>
          <a:prstGeom prst="rect">
            <a:avLst/>
          </a:prstGeom>
          <a:noFill/>
          <a:ln w="9525">
            <a:noFill/>
          </a:ln>
        </p:spPr>
        <p:txBody>
          <a:bodyPr anchor="t">
            <a:spAutoFit/>
          </a:bodyPr>
          <a:p>
            <a:pPr eaLnBrk="0" hangingPunct="0">
              <a:spcBef>
                <a:spcPct val="50000"/>
              </a:spcBef>
            </a:pPr>
            <a:r>
              <a:rPr lang="en-US" altLang="zh-CN" sz="8000" b="1" dirty="0">
                <a:solidFill>
                  <a:srgbClr val="FFFFFF"/>
                </a:solidFill>
                <a:latin typeface="Times New Roman" panose="02020603050405020304" pitchFamily="18" charset="0"/>
                <a:ea typeface="宋体" panose="02010600030101010101" pitchFamily="2" charset="-122"/>
              </a:rPr>
              <a:t>×</a:t>
            </a:r>
            <a:endParaRPr lang="en-US" altLang="zh-CN" sz="8000" b="1" dirty="0">
              <a:solidFill>
                <a:srgbClr val="FFFFFF"/>
              </a:solidFill>
              <a:latin typeface="Times New Roman" panose="02020603050405020304" pitchFamily="18" charset="0"/>
              <a:ea typeface="宋体" panose="02010600030101010101" pitchFamily="2" charset="-122"/>
            </a:endParaRPr>
          </a:p>
        </p:txBody>
      </p:sp>
    </p:spTree>
  </p:cSld>
  <p:clrMapOvr>
    <a:masterClrMapping/>
  </p:clrMapOvr>
  <p:transition>
    <p:cut/>
  </p:transition>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3068" name="Group 12"/>
          <p:cNvGraphicFramePr>
            <a:graphicFrameLocks noGrp="1"/>
          </p:cNvGraphicFramePr>
          <p:nvPr>
            <p:ph idx="4294967295"/>
          </p:nvPr>
        </p:nvGraphicFramePr>
        <p:xfrm>
          <a:off x="285750" y="1412875"/>
          <a:ext cx="8642350" cy="4968875"/>
        </p:xfrm>
        <a:graphic>
          <a:graphicData uri="http://schemas.openxmlformats.org/drawingml/2006/table">
            <a:tbl>
              <a:tblPr/>
              <a:tblGrid>
                <a:gridCol w="4321175"/>
                <a:gridCol w="4321175"/>
              </a:tblGrid>
              <a:tr h="4968875">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3113"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4.  </a:t>
            </a:r>
            <a:r>
              <a:rPr lang="zh-CN" altLang="en-US" sz="2800" b="1" dirty="0">
                <a:ea typeface="宋体" panose="02010600030101010101" pitchFamily="2" charset="-122"/>
              </a:rPr>
              <a:t>继承与指针（</a:t>
            </a:r>
            <a:r>
              <a:rPr lang="en-US" altLang="zh-CN" sz="2800" b="1" dirty="0">
                <a:ea typeface="宋体" panose="02010600030101010101" pitchFamily="2" charset="-122"/>
              </a:rPr>
              <a:t>2</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1915" name="Line 11"/>
          <p:cNvSpPr>
            <a:spLocks noChangeShapeType="1"/>
          </p:cNvSpPr>
          <p:nvPr/>
        </p:nvSpPr>
        <p:spPr bwMode="auto">
          <a:xfrm>
            <a:off x="4608513" y="39687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4092" name="Group 12"/>
          <p:cNvGraphicFramePr>
            <a:graphicFrameLocks noGrp="1"/>
          </p:cNvGraphicFramePr>
          <p:nvPr>
            <p:ph idx="4294967295"/>
          </p:nvPr>
        </p:nvGraphicFramePr>
        <p:xfrm>
          <a:off x="285750" y="1412875"/>
          <a:ext cx="8642350" cy="4968875"/>
        </p:xfrm>
        <a:graphic>
          <a:graphicData uri="http://schemas.openxmlformats.org/drawingml/2006/table">
            <a:tbl>
              <a:tblPr/>
              <a:tblGrid>
                <a:gridCol w="4321175"/>
                <a:gridCol w="4321175"/>
              </a:tblGrid>
              <a:tr h="4968875">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&amp;</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ObiA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&amp;</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-&gt;Run();</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-&gt;Run();</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4137"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4.  </a:t>
            </a:r>
            <a:r>
              <a:rPr lang="zh-CN" altLang="en-US" sz="2800" b="1" dirty="0">
                <a:ea typeface="宋体" panose="02010600030101010101" pitchFamily="2" charset="-122"/>
              </a:rPr>
              <a:t>继承与指针（</a:t>
            </a:r>
            <a:r>
              <a:rPr lang="en-US" altLang="zh-CN" sz="2800" b="1" dirty="0">
                <a:ea typeface="宋体" panose="02010600030101010101" pitchFamily="2" charset="-122"/>
              </a:rPr>
              <a:t>3</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2939" name="Line 11"/>
          <p:cNvSpPr>
            <a:spLocks noChangeShapeType="1"/>
          </p:cNvSpPr>
          <p:nvPr/>
        </p:nvSpPr>
        <p:spPr bwMode="auto">
          <a:xfrm>
            <a:off x="4608513" y="4113213"/>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5116" name="Group 12"/>
          <p:cNvGraphicFramePr>
            <a:graphicFrameLocks noGrp="1"/>
          </p:cNvGraphicFramePr>
          <p:nvPr>
            <p:ph idx="4294967295"/>
          </p:nvPr>
        </p:nvGraphicFramePr>
        <p:xfrm>
          <a:off x="285750" y="1412875"/>
          <a:ext cx="8642350" cy="5026025"/>
        </p:xfrm>
        <a:graphic>
          <a:graphicData uri="http://schemas.openxmlformats.org/drawingml/2006/table">
            <a:tbl>
              <a:tblPr/>
              <a:tblGrid>
                <a:gridCol w="4321175"/>
                <a:gridCol w="4321175"/>
              </a:tblGrid>
              <a:tr h="5002213">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(Automobile *p){</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p-&gt;Run();</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delete p;</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(new Automobile);</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(new Car);</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5161"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4.  </a:t>
            </a:r>
            <a:r>
              <a:rPr lang="zh-CN" altLang="en-US" sz="2800" b="1" dirty="0">
                <a:ea typeface="宋体" panose="02010600030101010101" pitchFamily="2" charset="-122"/>
              </a:rPr>
              <a:t>继承与指针（</a:t>
            </a:r>
            <a:r>
              <a:rPr lang="en-US" altLang="zh-CN" sz="2800" b="1" dirty="0">
                <a:ea typeface="宋体" panose="02010600030101010101" pitchFamily="2" charset="-122"/>
              </a:rPr>
              <a:t>4</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3963" name="Line 11"/>
          <p:cNvSpPr>
            <a:spLocks noChangeShapeType="1"/>
          </p:cNvSpPr>
          <p:nvPr/>
        </p:nvSpPr>
        <p:spPr bwMode="auto">
          <a:xfrm>
            <a:off x="4608513" y="46164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0028" name="Group 44"/>
          <p:cNvGraphicFramePr>
            <a:graphicFrameLocks noGrp="1"/>
          </p:cNvGraphicFramePr>
          <p:nvPr>
            <p:ph sz="half" idx="4294967295"/>
          </p:nvPr>
        </p:nvGraphicFramePr>
        <p:xfrm>
          <a:off x="684213" y="1736725"/>
          <a:ext cx="3240088" cy="4106863"/>
        </p:xfrm>
        <a:graphic>
          <a:graphicData uri="http://schemas.openxmlformats.org/drawingml/2006/table">
            <a:tbl>
              <a:tblPr/>
              <a:tblGrid>
                <a:gridCol w="3240087"/>
              </a:tblGrid>
              <a:tr h="10128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数据关系</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父类定义，子类变异</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14" name="Group 30"/>
          <p:cNvGraphicFramePr>
            <a:graphicFrameLocks noGrp="1"/>
          </p:cNvGraphicFramePr>
          <p:nvPr>
            <p:ph sz="half" idx="4294967295"/>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0041" name="Group 57"/>
          <p:cNvGraphicFramePr>
            <a:graphicFrameLocks noGrp="1"/>
          </p:cNvGraphicFramePr>
          <p:nvPr/>
        </p:nvGraphicFramePr>
        <p:xfrm>
          <a:off x="5740400" y="1698625"/>
          <a:ext cx="2971800" cy="4114801"/>
        </p:xfrm>
        <a:graphic>
          <a:graphicData uri="http://schemas.openxmlformats.org/drawingml/2006/table">
            <a:tbl>
              <a:tblPr/>
              <a:tblGrid>
                <a:gridCol w="2971800"/>
              </a:tblGrid>
              <a:tr h="1020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rPr>
                        <a:t>访问方式</a:t>
                      </a:r>
                      <a:endParaRPr kumimoji="0" lang="zh-CN" altLang="en-US" sz="2400" b="1" i="0" u="none" strike="noStrike" cap="none" normalizeH="0" baseline="0">
                        <a:ln>
                          <a:noFill/>
                        </a:ln>
                        <a:solidFill>
                          <a:srgbClr val="FFFF00"/>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02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对象方式</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各自指针</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18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rPr>
                        <a:t>祖先指针</a:t>
                      </a:r>
                      <a:endParaRPr kumimoji="0" lang="zh-CN" altLang="en-US" sz="2400" b="1" i="0" u="sng"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6213" name="Text Box 69"/>
          <p:cNvSpPr txBox="1"/>
          <p:nvPr/>
        </p:nvSpPr>
        <p:spPr>
          <a:xfrm>
            <a:off x="4192588" y="3105150"/>
            <a:ext cx="1260475" cy="1311275"/>
          </a:xfrm>
          <a:prstGeom prst="rect">
            <a:avLst/>
          </a:prstGeom>
          <a:noFill/>
          <a:ln w="9525">
            <a:noFill/>
          </a:ln>
        </p:spPr>
        <p:txBody>
          <a:bodyPr anchor="t">
            <a:spAutoFit/>
          </a:bodyPr>
          <a:p>
            <a:pPr eaLnBrk="0" hangingPunct="0">
              <a:spcBef>
                <a:spcPct val="50000"/>
              </a:spcBef>
            </a:pPr>
            <a:r>
              <a:rPr lang="en-US" altLang="zh-CN" sz="8000" b="1" dirty="0">
                <a:solidFill>
                  <a:srgbClr val="FFFFFF"/>
                </a:solidFill>
                <a:latin typeface="Times New Roman" panose="02020603050405020304" pitchFamily="18" charset="0"/>
                <a:ea typeface="宋体" panose="02010600030101010101" pitchFamily="2" charset="-122"/>
              </a:rPr>
              <a:t>×</a:t>
            </a:r>
            <a:endParaRPr lang="en-US" altLang="zh-CN" sz="8000" b="1" dirty="0">
              <a:solidFill>
                <a:srgbClr val="FFFFFF"/>
              </a:solidFill>
              <a:latin typeface="Times New Roman" panose="02020603050405020304" pitchFamily="18" charset="0"/>
              <a:ea typeface="宋体" panose="02010600030101010101" pitchFamily="2" charset="-122"/>
            </a:endParaRPr>
          </a:p>
        </p:txBody>
      </p:sp>
    </p:spTree>
  </p:cSld>
  <p:clrMapOvr>
    <a:masterClrMapping/>
  </p:clrMapOvr>
  <p:transition>
    <p:cut/>
  </p:transition>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6451" name="Group 19"/>
          <p:cNvGraphicFramePr>
            <a:graphicFrameLocks noGrp="1"/>
          </p:cNvGraphicFramePr>
          <p:nvPr>
            <p:ph idx="4294967295"/>
          </p:nvPr>
        </p:nvGraphicFramePr>
        <p:xfrm>
          <a:off x="285750" y="1412875"/>
          <a:ext cx="8642350" cy="5041900"/>
        </p:xfrm>
        <a:graphic>
          <a:graphicData uri="http://schemas.openxmlformats.org/drawingml/2006/table">
            <a:tbl>
              <a:tblPr/>
              <a:tblGrid>
                <a:gridCol w="4321175"/>
                <a:gridCol w="4321175"/>
              </a:tblGrid>
              <a:tr h="5041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Car:public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cout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&lt;&lt;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endl</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Automobile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Car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ObjA.Run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ObjB.Run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7209" name="Rectangle 22"/>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5.  </a:t>
            </a:r>
            <a:r>
              <a:rPr lang="zh-CN" altLang="en-US" sz="2800" b="1" dirty="0">
                <a:ea typeface="宋体" panose="02010600030101010101" pitchFamily="2" charset="-122"/>
              </a:rPr>
              <a:t>覆盖（</a:t>
            </a:r>
            <a:r>
              <a:rPr lang="en-US" altLang="zh-CN" sz="2800" b="1" dirty="0">
                <a:ea typeface="宋体" panose="02010600030101010101" pitchFamily="2" charset="-122"/>
              </a:rPr>
              <a:t>1</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4987" name="Line 23"/>
          <p:cNvSpPr>
            <a:spLocks noChangeShapeType="1"/>
          </p:cNvSpPr>
          <p:nvPr/>
        </p:nvSpPr>
        <p:spPr bwMode="auto">
          <a:xfrm>
            <a:off x="4608513" y="39687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8962" name="Group 2"/>
          <p:cNvGraphicFramePr>
            <a:graphicFrameLocks noGrp="1"/>
          </p:cNvGraphicFramePr>
          <p:nvPr>
            <p:ph idx="4294967295"/>
          </p:nvPr>
        </p:nvGraphicFramePr>
        <p:xfrm>
          <a:off x="285750" y="1412875"/>
          <a:ext cx="8642350" cy="5041900"/>
        </p:xfrm>
        <a:graphic>
          <a:graphicData uri="http://schemas.openxmlformats.org/drawingml/2006/table">
            <a:tbl>
              <a:tblPr/>
              <a:tblGrid>
                <a:gridCol w="4321175"/>
                <a:gridCol w="4321175"/>
              </a:tblGrid>
              <a:tr h="5041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Car:public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Automobile  ObjA;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Car  ObjB;</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Automobile *pA = &amp;ObiA;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Car *pB = &amp;ObjB;</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pA-&gt;Run();</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pB-&gt;Run();</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8233"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5.  </a:t>
            </a:r>
            <a:r>
              <a:rPr lang="zh-CN" altLang="en-US" sz="2800" b="1" dirty="0">
                <a:ea typeface="宋体" panose="02010600030101010101" pitchFamily="2" charset="-122"/>
              </a:rPr>
              <a:t>覆盖（</a:t>
            </a:r>
            <a:r>
              <a:rPr lang="en-US" altLang="zh-CN" sz="2800" b="1" dirty="0">
                <a:ea typeface="宋体" panose="02010600030101010101" pitchFamily="2" charset="-122"/>
              </a:rPr>
              <a:t>2</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6011" name="Line 11"/>
          <p:cNvSpPr>
            <a:spLocks noChangeShapeType="1"/>
          </p:cNvSpPr>
          <p:nvPr/>
        </p:nvSpPr>
        <p:spPr bwMode="auto">
          <a:xfrm>
            <a:off x="4608513" y="4113213"/>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8497" name="Group 17"/>
          <p:cNvGraphicFramePr>
            <a:graphicFrameLocks noGrp="1"/>
          </p:cNvGraphicFramePr>
          <p:nvPr>
            <p:ph idx="4294967295"/>
          </p:nvPr>
        </p:nvGraphicFramePr>
        <p:xfrm>
          <a:off x="285750" y="1412875"/>
          <a:ext cx="8642350" cy="5041900"/>
        </p:xfrm>
        <a:graphic>
          <a:graphicData uri="http://schemas.openxmlformats.org/drawingml/2006/table">
            <a:tbl>
              <a:tblPr/>
              <a:tblGrid>
                <a:gridCol w="4321175"/>
                <a:gridCol w="4321175"/>
              </a:tblGrid>
              <a:tr h="5041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Car:public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Fn(Automobile *p){</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p-&gt;Run();</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delete p;</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Automobile);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Car);</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9257"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6.  </a:t>
            </a:r>
            <a:r>
              <a:rPr lang="zh-CN" altLang="en-US" sz="2800" b="1" dirty="0">
                <a:ea typeface="宋体" panose="02010600030101010101" pitchFamily="2" charset="-122"/>
              </a:rPr>
              <a:t>同化效应</a:t>
            </a:r>
            <a:endParaRPr lang="zh-CN" altLang="en-US" sz="2800" b="1" dirty="0">
              <a:ea typeface="宋体" panose="02010600030101010101" pitchFamily="2" charset="-122"/>
            </a:endParaRPr>
          </a:p>
        </p:txBody>
      </p:sp>
      <p:sp>
        <p:nvSpPr>
          <p:cNvPr id="257035" name="Line 11"/>
          <p:cNvSpPr>
            <a:spLocks noChangeShapeType="1"/>
          </p:cNvSpPr>
          <p:nvPr/>
        </p:nvSpPr>
        <p:spPr bwMode="auto">
          <a:xfrm>
            <a:off x="4608513" y="46164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9506" name="Group 2"/>
          <p:cNvGraphicFramePr>
            <a:graphicFrameLocks noGrp="1"/>
          </p:cNvGraphicFramePr>
          <p:nvPr>
            <p:ph idx="4294967295"/>
          </p:nvPr>
        </p:nvGraphicFramePr>
        <p:xfrm>
          <a:off x="285750" y="1412875"/>
          <a:ext cx="8642350" cy="5041900"/>
        </p:xfrm>
        <a:graphic>
          <a:graphicData uri="http://schemas.openxmlformats.org/drawingml/2006/table">
            <a:tbl>
              <a:tblPr/>
              <a:tblGrid>
                <a:gridCol w="4321175"/>
                <a:gridCol w="4321175"/>
              </a:tblGrid>
              <a:tr h="5041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Car:public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Fn(Automobile *p){</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p-&gt;Run();</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Automobile);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Car);</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0281"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7.  </a:t>
            </a:r>
            <a:r>
              <a:rPr lang="zh-CN" altLang="en-US" sz="2800" b="1" dirty="0">
                <a:ea typeface="宋体" panose="02010600030101010101" pitchFamily="2" charset="-122"/>
              </a:rPr>
              <a:t>多态（期望</a:t>
            </a:r>
            <a:r>
              <a:rPr lang="en-US" altLang="zh-CN" sz="2800" b="1" dirty="0">
                <a:ea typeface="宋体" panose="02010600030101010101" pitchFamily="2" charset="-122"/>
              </a:rPr>
              <a:t>…</a:t>
            </a:r>
            <a:r>
              <a:rPr lang="zh-CN" altLang="en-US" sz="2800" b="1" dirty="0">
                <a:ea typeface="宋体" panose="02010600030101010101" pitchFamily="2" charset="-122"/>
              </a:rPr>
              <a:t>）</a:t>
            </a:r>
            <a:endParaRPr lang="zh-CN" altLang="en-US" sz="2800" b="1" dirty="0">
              <a:ea typeface="宋体" panose="02010600030101010101" pitchFamily="2" charset="-122"/>
            </a:endParaRPr>
          </a:p>
        </p:txBody>
      </p:sp>
      <p:sp>
        <p:nvSpPr>
          <p:cNvPr id="258059" name="Line 11"/>
          <p:cNvSpPr>
            <a:spLocks noChangeShapeType="1"/>
          </p:cNvSpPr>
          <p:nvPr/>
        </p:nvSpPr>
        <p:spPr bwMode="auto">
          <a:xfrm>
            <a:off x="4608513" y="4616450"/>
            <a:ext cx="4284663"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73025" y="-100012"/>
            <a:ext cx="3203575" cy="7110413"/>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while(1){</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&gt;&gt;</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switch(</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case 1:</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煎</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();break;</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case 2:</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炒</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();break;</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case 3:</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烹</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();break;</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case 4:</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炸</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();break;</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美好的希望开始</a:t>
            </a:r>
            <a:endParaRPr kumimoji="0" lang="en-US" altLang="zh-CN"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B:public A{</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煎</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8" name="Text Box 4"/>
          <p:cNvSpPr txBox="1">
            <a:spLocks noChangeArrowheads="1"/>
          </p:cNvSpPr>
          <p:nvPr/>
        </p:nvSpPr>
        <p:spPr bwMode="auto">
          <a:xfrm>
            <a:off x="4356100" y="-26987"/>
            <a:ext cx="4787900" cy="7108825"/>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C:public A{</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炒</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D:public A{</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烹</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E:public A{</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炸</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 &amp;</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chef(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换为指针如何？</a:t>
            </a:r>
            <a:endParaRPr kumimoji="0" lang="en-US" altLang="zh-CN"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return *(new B);</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return *(new C);</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   return *(new D);</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   return *(new E);</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while(1)</a:t>
            </a:r>
            <a:r>
              <a:rPr lang="zh-CN" altLang="en-US" sz="2400" b="1" kern="0" noProof="0">
                <a:solidFill>
                  <a:srgbClr val="FFFF00"/>
                </a:solidFill>
                <a:effectLst>
                  <a:outerShdw blurRad="38100" dist="38100" dir="2700000" algn="tl">
                    <a:srgbClr val="000000"/>
                  </a:outerShdw>
                </a:effectLst>
                <a:sym typeface="+mn-ea"/>
              </a:rPr>
              <a:t>//用户参与导致不确定性</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chef(</a:t>
            </a:r>
            <a:r>
              <a:rPr kumimoji="0" lang="en-US" altLang="zh-CN" sz="24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cin.get</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a:t>
            </a:r>
            <a:r>
              <a:rPr kumimoji="0" lang="en-US" altLang="zh-CN"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400" b="1" kern="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希望破了</a:t>
            </a:r>
            <a:endParaRPr kumimoji="0" lang="en-US" altLang="zh-CN" sz="2400" b="1" kern="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cxnSp>
        <p:nvCxnSpPr>
          <p:cNvPr id="311299" name="直接连接符 2"/>
          <p:cNvCxnSpPr/>
          <p:nvPr/>
        </p:nvCxnSpPr>
        <p:spPr>
          <a:xfrm>
            <a:off x="4211638" y="44450"/>
            <a:ext cx="73025" cy="6813550"/>
          </a:xfrm>
          <a:prstGeom prst="line">
            <a:avLst/>
          </a:prstGeom>
          <a:ln w="9525" cap="flat" cmpd="sng">
            <a:solidFill>
              <a:schemeClr val="tx1"/>
            </a:solidFill>
            <a:prstDash val="solid"/>
            <a:round/>
            <a:headEnd type="none" w="med" len="med"/>
            <a:tailEnd type="none" w="med" len="med"/>
          </a:ln>
        </p:spPr>
      </p:cxnSp>
      <p:cxnSp>
        <p:nvCxnSpPr>
          <p:cNvPr id="311300" name="直接连接符 4"/>
          <p:cNvCxnSpPr/>
          <p:nvPr/>
        </p:nvCxnSpPr>
        <p:spPr>
          <a:xfrm>
            <a:off x="4284663" y="3357563"/>
            <a:ext cx="4859337" cy="0"/>
          </a:xfrm>
          <a:prstGeom prst="line">
            <a:avLst/>
          </a:prstGeom>
          <a:ln w="9525" cap="flat" cmpd="sng">
            <a:solidFill>
              <a:schemeClr val="tx1"/>
            </a:solidFill>
            <a:prstDash val="solid"/>
            <a:round/>
            <a:headEnd type="none" w="med" len="med"/>
            <a:tailEnd type="none" w="med" len="med"/>
          </a:ln>
        </p:spPr>
      </p:cxnSp>
      <p:cxnSp>
        <p:nvCxnSpPr>
          <p:cNvPr id="311301" name="直接连接符 8"/>
          <p:cNvCxnSpPr/>
          <p:nvPr/>
        </p:nvCxnSpPr>
        <p:spPr>
          <a:xfrm>
            <a:off x="4284663" y="5589588"/>
            <a:ext cx="4859337" cy="0"/>
          </a:xfrm>
          <a:prstGeom prst="line">
            <a:avLst/>
          </a:prstGeom>
          <a:ln w="9525" cap="flat" cmpd="sng">
            <a:solidFill>
              <a:schemeClr val="tx1"/>
            </a:solidFill>
            <a:prstDash val="solid"/>
            <a:round/>
            <a:headEnd type="none" w="med" len="med"/>
            <a:tailEnd type="none" w="med" len="med"/>
          </a:ln>
        </p:spPr>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ldLvl="0" animBg="1"/>
    </p:bld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1571" name="Group 19"/>
          <p:cNvGraphicFramePr>
            <a:graphicFrameLocks noGrp="1"/>
          </p:cNvGraphicFramePr>
          <p:nvPr>
            <p:ph idx="4294967295"/>
          </p:nvPr>
        </p:nvGraphicFramePr>
        <p:xfrm>
          <a:off x="285750" y="1196975"/>
          <a:ext cx="8642350" cy="5551488"/>
        </p:xfrm>
        <a:graphic>
          <a:graphicData uri="http://schemas.openxmlformats.org/drawingml/2006/table">
            <a:tbl>
              <a:tblPr/>
              <a:tblGrid>
                <a:gridCol w="4321175"/>
                <a:gridCol w="4321175"/>
              </a:tblGrid>
              <a:tr h="5549900">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int flag;</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Automobile(int k):flag(k){}</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Car:public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Car(int k):Automobile(k){}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48" marB="455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(Automobile *p){</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switch(p-&gt;flag){</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case 1: p-&gt;Run();break;</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case 2: </a:t>
                      </a:r>
                      <a:r>
                        <a:rPr kumimoji="0" lang="en-US" altLang="zh-CN"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p-&gt;Car::Run();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break;</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typeid</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（）可以代替</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flag</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delete p;</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(new Automobile(1));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(new Car(2));</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1</a:t>
                      </a: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、最大的问题在于如果继承体系变动，则需要影响到程序的所有的部分，相互依赖度高，代价太大；</a:t>
                      </a:r>
                      <a:endPar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2</a:t>
                      </a:r>
                      <a:r>
                        <a:rPr kumimoji="0" lang="zh-CN" altLang="en-US" sz="1800" b="0" i="0" u="none" strike="noStrike" cap="none" normalizeH="0" baseline="0" dirty="0">
                          <a:ln>
                            <a:noFill/>
                          </a:ln>
                          <a:solidFill>
                            <a:srgbClr val="FFFF00"/>
                          </a:solidFill>
                          <a:effectLst/>
                          <a:latin typeface="Courier New" panose="02070309020205020404" pitchFamily="49" charset="0"/>
                          <a:ea typeface="宋体" panose="02010600030101010101" pitchFamily="2" charset="-122"/>
                        </a:rPr>
                        <a:t>、即使类型确定也需要类型标明函数</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548" marB="455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2329"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8.  </a:t>
            </a:r>
            <a:r>
              <a:rPr lang="zh-CN" altLang="en-US" sz="2800" b="1" dirty="0">
                <a:ea typeface="宋体" panose="02010600030101010101" pitchFamily="2" charset="-122"/>
              </a:rPr>
              <a:t>困惑的解决方案</a:t>
            </a:r>
            <a:endParaRPr lang="zh-CN" altLang="en-US" sz="2800" b="1" dirty="0">
              <a:ea typeface="宋体" panose="02010600030101010101" pitchFamily="2" charset="-122"/>
            </a:endParaRPr>
          </a:p>
        </p:txBody>
      </p:sp>
      <p:sp>
        <p:nvSpPr>
          <p:cNvPr id="259083" name="Line 11"/>
          <p:cNvSpPr>
            <a:spLocks noChangeShapeType="1"/>
          </p:cNvSpPr>
          <p:nvPr/>
        </p:nvSpPr>
        <p:spPr bwMode="auto">
          <a:xfrm>
            <a:off x="4608513" y="5408613"/>
            <a:ext cx="43195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0557" name="Group 29"/>
          <p:cNvGraphicFramePr>
            <a:graphicFrameLocks noGrp="1"/>
          </p:cNvGraphicFramePr>
          <p:nvPr>
            <p:ph idx="4294967295"/>
          </p:nvPr>
        </p:nvGraphicFramePr>
        <p:xfrm>
          <a:off x="285750" y="1196975"/>
          <a:ext cx="8858250" cy="4968875"/>
        </p:xfrm>
        <a:graphic>
          <a:graphicData uri="http://schemas.openxmlformats.org/drawingml/2006/table">
            <a:tbl>
              <a:tblPr/>
              <a:tblGrid>
                <a:gridCol w="4322763"/>
                <a:gridCol w="4535487"/>
              </a:tblGrid>
              <a:tr h="4968875">
                <a:tc>
                  <a:txBody>
                    <a:bodyPr/>
                    <a:lstStyle/>
                    <a:p>
                      <a:pPr marL="0" marR="0" lvl="0" indent="0" algn="l" defTabSz="914400" rtl="0" eaLnBrk="1" fontAlgn="base" latinLnBrk="0" hangingPunct="1">
                        <a:lnSpc>
                          <a:spcPct val="80000"/>
                        </a:lnSpc>
                        <a:spcBef>
                          <a:spcPct val="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rgbClr val="FFFF00"/>
                          </a:solidFill>
                          <a:effectLst/>
                          <a:latin typeface="Arial" panose="020B0604020202020204" pitchFamily="34" charset="0"/>
                          <a:ea typeface="宋体" panose="02010600030101010101" pitchFamily="2" charset="-122"/>
                        </a:rPr>
                        <a:t>virtual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Run(){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机械变速”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Car:public Automobile{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rgbClr val="FFFF00"/>
                          </a:solidFill>
                          <a:effectLst/>
                          <a:latin typeface="Arial" panose="020B0604020202020204" pitchFamily="34" charset="0"/>
                          <a:ea typeface="宋体" panose="02010600030101010101" pitchFamily="2" charset="-122"/>
                        </a:rPr>
                        <a:t>virtual</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void Run(){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cout&lt;&lt;“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自动变速“</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&lt;&lt;endl;</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Fn(Automobile *p){</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p-&gt;Run();</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main(){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Automobile);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Fn(new Car);</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机械变速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自动变速</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派生类中的函数只要原型相同，则自动具有虚函数性质，其</a:t>
                      </a:r>
                      <a:r>
                        <a:rPr kumimoji="0" lang="en-US" altLang="zh-CN"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virtual</a:t>
                      </a:r>
                      <a:r>
                        <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rPr>
                        <a:t>关键字可省略</a:t>
                      </a:r>
                      <a:endParaRPr kumimoji="0" lang="zh-CN" altLang="en-US" sz="1800" b="0"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3353"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9.  </a:t>
            </a:r>
            <a:r>
              <a:rPr lang="zh-CN" altLang="en-US" sz="2800" b="1" dirty="0">
                <a:ea typeface="宋体" panose="02010600030101010101" pitchFamily="2" charset="-122"/>
              </a:rPr>
              <a:t>引入虚函数支持多态</a:t>
            </a:r>
            <a:endParaRPr lang="zh-CN" altLang="en-US" sz="2800" b="1" dirty="0">
              <a:ea typeface="宋体" panose="02010600030101010101" pitchFamily="2" charset="-122"/>
            </a:endParaRPr>
          </a:p>
        </p:txBody>
      </p:sp>
      <p:sp>
        <p:nvSpPr>
          <p:cNvPr id="260107" name="Line 26"/>
          <p:cNvSpPr>
            <a:spLocks noChangeShapeType="1"/>
          </p:cNvSpPr>
          <p:nvPr/>
        </p:nvSpPr>
        <p:spPr bwMode="auto">
          <a:xfrm>
            <a:off x="4608513" y="5192713"/>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260108" name="Line 28"/>
          <p:cNvSpPr>
            <a:spLocks noChangeShapeType="1"/>
          </p:cNvSpPr>
          <p:nvPr/>
        </p:nvSpPr>
        <p:spPr bwMode="auto">
          <a:xfrm>
            <a:off x="4608513" y="4041775"/>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20" name="Group 20"/>
          <p:cNvGraphicFramePr>
            <a:graphicFrameLocks noGrp="1"/>
          </p:cNvGraphicFramePr>
          <p:nvPr>
            <p:ph idx="4294967295"/>
          </p:nvPr>
        </p:nvGraphicFramePr>
        <p:xfrm>
          <a:off x="285750" y="1196975"/>
          <a:ext cx="8858250" cy="5599113"/>
        </p:xfrm>
        <a:graphic>
          <a:graphicData uri="http://schemas.openxmlformats.org/drawingml/2006/table">
            <a:tbl>
              <a:tblPr/>
              <a:tblGrid>
                <a:gridCol w="4322763"/>
                <a:gridCol w="4535487"/>
              </a:tblGrid>
              <a:tr h="5510213">
                <a:tc>
                  <a:txBody>
                    <a:bodyPr/>
                    <a:lstStyle/>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Circle:public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Triangle:public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 .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类定义由程序员</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完成</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99" marB="454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vector&lt;shape*&gt; a</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void Fn(){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a[0] = new Circle;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a[1] = new Triangle;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a[2] = new </a:t>
                      </a:r>
                      <a:r>
                        <a:rPr kumimoji="0" lang="en-US" altLang="zh-CN" sz="2000" b="1" i="0" u="none" strike="noStrike" cap="none" normalizeH="0" baseline="0">
                          <a:ln>
                            <a:noFill/>
                          </a:ln>
                          <a:solidFill>
                            <a:srgbClr val="FFFF00"/>
                          </a:solidFill>
                          <a:effectLst/>
                          <a:latin typeface="Arial" panose="020B0604020202020204" pitchFamily="34" charset="0"/>
                          <a:ea typeface="宋体" panose="02010600030101010101" pitchFamily="2" charset="-122"/>
                        </a:rPr>
                        <a:t>X</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本函数由程序员</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完成</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double Sum(){</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double s = 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for(int i=0; i&lt;a.size(); ++i)</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s = s+a[i]-&gt;area();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return(s);</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本函数由程序员</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完成</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99" marB="454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4377"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10.  </a:t>
            </a:r>
            <a:r>
              <a:rPr lang="zh-CN" altLang="en-US" sz="2800" b="1" dirty="0">
                <a:ea typeface="宋体" panose="02010600030101010101" pitchFamily="2" charset="-122"/>
              </a:rPr>
              <a:t>多态编程体验</a:t>
            </a:r>
            <a:endParaRPr lang="zh-CN" altLang="en-US" sz="2800" b="1" dirty="0">
              <a:ea typeface="宋体" panose="02010600030101010101" pitchFamily="2" charset="-122"/>
            </a:endParaRPr>
          </a:p>
        </p:txBody>
      </p:sp>
      <p:sp>
        <p:nvSpPr>
          <p:cNvPr id="261131" name="Line 12"/>
          <p:cNvSpPr>
            <a:spLocks noChangeShapeType="1"/>
          </p:cNvSpPr>
          <p:nvPr/>
        </p:nvSpPr>
        <p:spPr bwMode="auto">
          <a:xfrm>
            <a:off x="4608513" y="3752850"/>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Group 19"/>
          <p:cNvGraphicFramePr/>
          <p:nvPr/>
        </p:nvGraphicFramePr>
        <p:xfrm>
          <a:off x="285750" y="615950"/>
          <a:ext cx="8642350" cy="5981700"/>
        </p:xfrm>
        <a:graphic>
          <a:graphicData uri="http://schemas.openxmlformats.org/drawingml/2006/table">
            <a:tbl>
              <a:tblPr/>
              <a:tblGrid>
                <a:gridCol w="4321175"/>
                <a:gridCol w="4321175"/>
              </a:tblGrid>
              <a:tr h="59817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class A{</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     virtual void cook(){}</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class B:public A{</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    void cook(){</a:t>
                      </a:r>
                      <a:r>
                        <a:rPr kumimoji="0" lang="zh-CN" altLang="en-US"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煎</a:t>
                      </a: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class C:public A{</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    void cook(){</a:t>
                      </a:r>
                      <a:r>
                        <a:rPr kumimoji="0" lang="zh-CN" altLang="en-US"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炒</a:t>
                      </a: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class D:public A{</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    void cook(){</a:t>
                      </a:r>
                      <a:r>
                        <a:rPr kumimoji="0" lang="zh-CN" altLang="en-US"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烹</a:t>
                      </a: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class E:public A{</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    void cook(){</a:t>
                      </a:r>
                      <a:r>
                        <a:rPr kumimoji="0" lang="zh-CN" altLang="en-US"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炸</a:t>
                      </a: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a:t>
                      </a:r>
                      <a:endParaRPr kumimoji="0" lang="en-US" altLang="zh-CN" sz="20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 * chef(int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if(</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   return new B;</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if(</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   return new 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if(</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==3)   return new D;</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if(</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==4)   return new 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main(){</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while(1)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chef(</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cin.get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())-&gt;cook();</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达到动态目的</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7" name="Rectangle 5"/>
          <p:cNvSpPr>
            <a:spLocks noGrp="1"/>
          </p:cNvSpPr>
          <p:nvPr>
            <p:ph type="title"/>
          </p:nvPr>
        </p:nvSpPr>
        <p:spPr>
          <a:xfrm>
            <a:off x="250825" y="692150"/>
            <a:ext cx="8821738" cy="5616575"/>
          </a:xfrm>
        </p:spPr>
        <p:txBody>
          <a:bodyPr vert="horz" wrap="square" lIns="92075" tIns="46037" rIns="92075" bIns="46037" anchor="ctr"/>
          <a:p>
            <a:pPr eaLnBrk="1" hangingPunct="1">
              <a:lnSpc>
                <a:spcPct val="100000"/>
              </a:lnSpc>
              <a:spcBef>
                <a:spcPct val="100000"/>
              </a:spcBef>
            </a:pPr>
            <a:r>
              <a:rPr lang="en-US" altLang="zh-CN" sz="2800" dirty="0">
                <a:solidFill>
                  <a:srgbClr val="FFFF00"/>
                </a:solidFill>
                <a:latin typeface="Courier New" panose="02070309020205020404" pitchFamily="49" charset="0"/>
                <a:ea typeface="宋体" panose="02010600030101010101" pitchFamily="2" charset="-122"/>
              </a:rPr>
              <a:t>   </a:t>
            </a:r>
            <a:r>
              <a:rPr lang="zh-CN" altLang="en-US" sz="2800" dirty="0">
                <a:solidFill>
                  <a:srgbClr val="FFFF00"/>
                </a:solidFill>
                <a:latin typeface="Courier New" panose="02070309020205020404" pitchFamily="49" charset="0"/>
                <a:ea typeface="宋体" panose="02010600030101010101" pitchFamily="2" charset="-122"/>
              </a:rPr>
              <a:t>（</a:t>
            </a:r>
            <a:r>
              <a:rPr lang="en-US" altLang="zh-CN" sz="2800" dirty="0">
                <a:solidFill>
                  <a:srgbClr val="FFFF00"/>
                </a:solidFill>
                <a:latin typeface="Courier New" panose="02070309020205020404" pitchFamily="49" charset="0"/>
                <a:ea typeface="宋体" panose="02010600030101010101" pitchFamily="2" charset="-122"/>
              </a:rPr>
              <a:t>1</a:t>
            </a:r>
            <a:r>
              <a:rPr lang="zh-CN" altLang="en-US" sz="2800" dirty="0">
                <a:solidFill>
                  <a:srgbClr val="FFFF00"/>
                </a:solidFill>
                <a:latin typeface="Courier New" panose="02070309020205020404" pitchFamily="49" charset="0"/>
                <a:ea typeface="宋体" panose="02010600030101010101" pitchFamily="2" charset="-122"/>
              </a:rPr>
              <a:t>）是追求用指针管理继承体系对象的结果。</a:t>
            </a:r>
            <a:br>
              <a:rPr lang="zh-CN" altLang="en-US" sz="2800" dirty="0">
                <a:solidFill>
                  <a:srgbClr val="FFFF00"/>
                </a:solidFill>
                <a:latin typeface="Courier New" panose="02070309020205020404" pitchFamily="49" charset="0"/>
                <a:ea typeface="宋体" panose="02010600030101010101" pitchFamily="2" charset="-122"/>
              </a:rPr>
            </a:br>
            <a:br>
              <a:rPr lang="zh-CN" altLang="en-US" sz="2800" dirty="0">
                <a:solidFill>
                  <a:srgbClr val="FFFF00"/>
                </a:solidFill>
                <a:latin typeface="Courier New" panose="02070309020205020404" pitchFamily="49" charset="0"/>
                <a:ea typeface="宋体" panose="02010600030101010101" pitchFamily="2" charset="-122"/>
              </a:rPr>
            </a:br>
            <a:r>
              <a:rPr lang="zh-CN" altLang="en-US" sz="2800" dirty="0">
                <a:solidFill>
                  <a:srgbClr val="FFFF00"/>
                </a:solidFill>
                <a:latin typeface="Courier New" panose="02070309020205020404" pitchFamily="49" charset="0"/>
                <a:ea typeface="宋体" panose="02010600030101010101" pitchFamily="2" charset="-122"/>
              </a:rPr>
              <a:t>   （</a:t>
            </a:r>
            <a:r>
              <a:rPr lang="en-US" altLang="zh-CN" sz="2800" dirty="0">
                <a:solidFill>
                  <a:srgbClr val="FFFF00"/>
                </a:solidFill>
                <a:latin typeface="Courier New" panose="02070309020205020404" pitchFamily="49" charset="0"/>
                <a:ea typeface="宋体" panose="02010600030101010101" pitchFamily="2" charset="-122"/>
              </a:rPr>
              <a:t>2</a:t>
            </a:r>
            <a:r>
              <a:rPr lang="zh-CN" altLang="en-US" sz="2800" dirty="0">
                <a:solidFill>
                  <a:srgbClr val="FFFF00"/>
                </a:solidFill>
                <a:latin typeface="Courier New" panose="02070309020205020404" pitchFamily="49" charset="0"/>
                <a:ea typeface="宋体" panose="02010600030101010101" pitchFamily="2" charset="-122"/>
              </a:rPr>
              <a:t>）多态性使得应用程序使用类体系中的不同层次对象共存的复杂局面达到了一种可管理的境界；</a:t>
            </a:r>
            <a:br>
              <a:rPr lang="zh-CN" altLang="en-US" sz="2800" dirty="0">
                <a:solidFill>
                  <a:srgbClr val="FFFF00"/>
                </a:solidFill>
                <a:latin typeface="Courier New" panose="02070309020205020404" pitchFamily="49" charset="0"/>
                <a:ea typeface="宋体" panose="02010600030101010101" pitchFamily="2" charset="-122"/>
              </a:rPr>
            </a:br>
            <a:r>
              <a:rPr lang="zh-CN" altLang="en-US" sz="2800" dirty="0">
                <a:solidFill>
                  <a:srgbClr val="FFFF00"/>
                </a:solidFill>
                <a:latin typeface="Courier New" panose="02070309020205020404" pitchFamily="49" charset="0"/>
                <a:ea typeface="宋体" panose="02010600030101010101" pitchFamily="2" charset="-122"/>
              </a:rPr>
              <a:t>   </a:t>
            </a:r>
            <a:br>
              <a:rPr lang="zh-CN" altLang="en-US" sz="2800" dirty="0">
                <a:solidFill>
                  <a:srgbClr val="FFFF00"/>
                </a:solidFill>
                <a:latin typeface="Courier New" panose="02070309020205020404" pitchFamily="49" charset="0"/>
                <a:ea typeface="宋体" panose="02010600030101010101" pitchFamily="2" charset="-122"/>
              </a:rPr>
            </a:br>
            <a:r>
              <a:rPr lang="zh-CN" altLang="en-US" sz="2800" dirty="0">
                <a:solidFill>
                  <a:srgbClr val="FFFF00"/>
                </a:solidFill>
                <a:latin typeface="Courier New" panose="02070309020205020404" pitchFamily="49" charset="0"/>
                <a:ea typeface="宋体" panose="02010600030101010101" pitchFamily="2" charset="-122"/>
              </a:rPr>
              <a:t>    程序员从使用孤立的类，到使用分层的类，让各种对象“同场竞技”</a:t>
            </a:r>
            <a:r>
              <a:rPr lang="en-US" altLang="zh-CN" sz="2800" dirty="0">
                <a:solidFill>
                  <a:srgbClr val="FFFF00"/>
                </a:solidFill>
                <a:latin typeface="Courier New" panose="02070309020205020404" pitchFamily="49" charset="0"/>
                <a:ea typeface="宋体" panose="02010600030101010101" pitchFamily="2" charset="-122"/>
              </a:rPr>
              <a:t>,</a:t>
            </a:r>
            <a:r>
              <a:rPr lang="zh-CN" altLang="en-US" sz="2800" dirty="0">
                <a:solidFill>
                  <a:srgbClr val="FFFF00"/>
                </a:solidFill>
                <a:latin typeface="Courier New" panose="02070309020205020404" pitchFamily="49" charset="0"/>
                <a:ea typeface="宋体" panose="02010600030101010101" pitchFamily="2" charset="-122"/>
              </a:rPr>
              <a:t>并且能充分展现其个性。 </a:t>
            </a:r>
            <a:br>
              <a:rPr lang="zh-CN" altLang="en-US" sz="2800" dirty="0">
                <a:solidFill>
                  <a:srgbClr val="FFFF00"/>
                </a:solidFill>
                <a:latin typeface="Courier New" panose="02070309020205020404" pitchFamily="49" charset="0"/>
                <a:ea typeface="宋体" panose="02010600030101010101" pitchFamily="2" charset="-122"/>
              </a:rPr>
            </a:br>
            <a:br>
              <a:rPr lang="zh-CN" altLang="en-US" sz="2800" dirty="0">
                <a:solidFill>
                  <a:srgbClr val="FFFF00"/>
                </a:solidFill>
                <a:latin typeface="Courier New" panose="02070309020205020404" pitchFamily="49" charset="0"/>
                <a:ea typeface="宋体" panose="02010600030101010101" pitchFamily="2" charset="-122"/>
              </a:rPr>
            </a:br>
            <a:r>
              <a:rPr lang="zh-CN" altLang="en-US" sz="2800" dirty="0">
                <a:solidFill>
                  <a:srgbClr val="FFFF00"/>
                </a:solidFill>
                <a:latin typeface="Courier New" panose="02070309020205020404" pitchFamily="49" charset="0"/>
                <a:ea typeface="宋体" panose="02010600030101010101" pitchFamily="2" charset="-122"/>
              </a:rPr>
              <a:t>   （</a:t>
            </a:r>
            <a:r>
              <a:rPr lang="en-US" altLang="zh-CN" sz="2800" dirty="0">
                <a:solidFill>
                  <a:srgbClr val="FFFF00"/>
                </a:solidFill>
                <a:latin typeface="Courier New" panose="02070309020205020404" pitchFamily="49" charset="0"/>
                <a:ea typeface="宋体" panose="02010600030101010101" pitchFamily="2" charset="-122"/>
              </a:rPr>
              <a:t>3</a:t>
            </a:r>
            <a:r>
              <a:rPr lang="zh-CN" altLang="en-US" sz="2800" dirty="0">
                <a:solidFill>
                  <a:srgbClr val="FFFF00"/>
                </a:solidFill>
                <a:latin typeface="Courier New" panose="02070309020205020404" pitchFamily="49" charset="0"/>
                <a:ea typeface="宋体" panose="02010600030101010101" pitchFamily="2" charset="-122"/>
              </a:rPr>
              <a:t>）不支持多态的语言不能称为面向对象的语言。</a:t>
            </a:r>
            <a:endParaRPr lang="zh-CN" altLang="en-US" sz="2800" dirty="0">
              <a:latin typeface="Arial" panose="020B0604020202020204" pitchFamily="34" charset="0"/>
              <a:ea typeface="宋体" panose="02010600030101010101" pitchFamily="2" charset="-122"/>
            </a:endParaRPr>
          </a:p>
        </p:txBody>
      </p:sp>
      <p:sp>
        <p:nvSpPr>
          <p:cNvPr id="316418" name="Rectangle 10"/>
          <p:cNvSpPr/>
          <p:nvPr/>
        </p:nvSpPr>
        <p:spPr>
          <a:xfrm>
            <a:off x="395288" y="152400"/>
            <a:ext cx="8424862" cy="828675"/>
          </a:xfrm>
          <a:prstGeom prst="rect">
            <a:avLst/>
          </a:prstGeom>
          <a:noFill/>
          <a:ln w="9525">
            <a:noFill/>
          </a:ln>
        </p:spPr>
        <p:txBody>
          <a:bodyPr lIns="92075" tIns="46037" rIns="92075" bIns="46037" anchor="ctr"/>
          <a:p>
            <a:pPr>
              <a:lnSpc>
                <a:spcPct val="70000"/>
              </a:lnSpc>
            </a:pPr>
            <a:r>
              <a:rPr lang="en-US" altLang="zh-CN" sz="2800" b="1" dirty="0">
                <a:solidFill>
                  <a:srgbClr val="FFFFCC"/>
                </a:solidFill>
                <a:latin typeface="Arial Narrow" panose="020B0606020202030204" pitchFamily="34" charset="0"/>
                <a:ea typeface="宋体" panose="02010600030101010101" pitchFamily="2" charset="-122"/>
              </a:rPr>
              <a:t>12. </a:t>
            </a:r>
            <a:r>
              <a:rPr lang="zh-CN" altLang="en-US" sz="2800" b="1" dirty="0">
                <a:solidFill>
                  <a:srgbClr val="FFFFCC"/>
                </a:solidFill>
                <a:latin typeface="Arial Narrow" panose="020B0606020202030204" pitchFamily="34" charset="0"/>
                <a:ea typeface="宋体" panose="02010600030101010101" pitchFamily="2" charset="-122"/>
              </a:rPr>
              <a:t>多态的意义</a:t>
            </a:r>
            <a:endParaRPr lang="zh-CN" altLang="en-US" sz="2800" dirty="0">
              <a:solidFill>
                <a:srgbClr val="FFFFCC"/>
              </a:solidFill>
              <a:latin typeface="Arial Narrow" panose="020B0606020202030204" pitchFamily="34" charset="0"/>
              <a:ea typeface="宋体" panose="02010600030101010101" pitchFamily="2" charset="-122"/>
            </a:endParaRP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20" name="Group 20"/>
          <p:cNvGraphicFramePr>
            <a:graphicFrameLocks noGrp="1"/>
          </p:cNvGraphicFramePr>
          <p:nvPr>
            <p:ph idx="4294967295"/>
          </p:nvPr>
        </p:nvGraphicFramePr>
        <p:xfrm>
          <a:off x="285750" y="1196975"/>
          <a:ext cx="8858250" cy="5599113"/>
        </p:xfrm>
        <a:graphic>
          <a:graphicData uri="http://schemas.openxmlformats.org/drawingml/2006/table">
            <a:tbl>
              <a:tblPr/>
              <a:tblGrid>
                <a:gridCol w="4322763"/>
                <a:gridCol w="4535487"/>
              </a:tblGrid>
              <a:tr h="5510213">
                <a:tc>
                  <a:txBody>
                    <a:bodyPr/>
                    <a:lstStyle/>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virtual void set(){}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Na</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set(){/*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黄</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Cu</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:public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void set(){/*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绿</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光珠生产由化工厂完成</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499" marB="454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vector&lt;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*&gt;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80</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Fn</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 = new Cu</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 = new Na</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光珠</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 = new </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X</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烟花由烟花生产厂组装</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void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燃放</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for(int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.size();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烟花</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]-&gt;set();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用户燃放</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组装的动态性未知性决定了丰富多彩</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499" marB="454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7449"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zh-CN" altLang="en-US" sz="2800" b="1" dirty="0">
                <a:ea typeface="宋体" panose="02010600030101010101" pitchFamily="2" charset="-122"/>
              </a:rPr>
              <a:t>烟花的例子</a:t>
            </a:r>
            <a:endParaRPr lang="zh-CN" altLang="en-US" sz="2800" b="1" dirty="0">
              <a:ea typeface="宋体" panose="02010600030101010101" pitchFamily="2" charset="-122"/>
            </a:endParaRPr>
          </a:p>
        </p:txBody>
      </p:sp>
      <p:sp>
        <p:nvSpPr>
          <p:cNvPr id="261131" name="Line 12"/>
          <p:cNvSpPr>
            <a:spLocks noChangeShapeType="1"/>
          </p:cNvSpPr>
          <p:nvPr/>
        </p:nvSpPr>
        <p:spPr bwMode="auto">
          <a:xfrm>
            <a:off x="4608513" y="3752850"/>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5" name="Rectangle 2"/>
          <p:cNvSpPr>
            <a:spLocks noGrp="1"/>
          </p:cNvSpPr>
          <p:nvPr>
            <p:ph type="title"/>
          </p:nvPr>
        </p:nvSpPr>
        <p:spPr>
          <a:xfrm>
            <a:off x="0" y="0"/>
            <a:ext cx="6096000" cy="1143000"/>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1</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graphicFrame>
        <p:nvGraphicFramePr>
          <p:cNvPr id="163917" name="Group 77"/>
          <p:cNvGraphicFramePr>
            <a:graphicFrameLocks noGrp="1"/>
          </p:cNvGraphicFramePr>
          <p:nvPr>
            <p:ph idx="4294967295"/>
          </p:nvPr>
        </p:nvGraphicFramePr>
        <p:xfrm>
          <a:off x="250825" y="836613"/>
          <a:ext cx="8713788" cy="2633663"/>
        </p:xfrm>
        <a:graphic>
          <a:graphicData uri="http://schemas.openxmlformats.org/drawingml/2006/table">
            <a:tbl>
              <a:tblPr/>
              <a:tblGrid>
                <a:gridCol w="2017713"/>
                <a:gridCol w="3527425"/>
                <a:gridCol w="3168650"/>
              </a:tblGrid>
              <a:tr h="8230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联编</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将函数调用链接上相应于函数体的代码</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9617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静态联编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（早期联编）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编译时完成</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对象调用函数、非多态调用</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6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动态联编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（滞后联编）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运行时才能完成</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多态调用</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3918" name="Text Box 78"/>
          <p:cNvSpPr txBox="1"/>
          <p:nvPr/>
        </p:nvSpPr>
        <p:spPr>
          <a:xfrm>
            <a:off x="250825" y="3573463"/>
            <a:ext cx="8713788" cy="457200"/>
          </a:xfrm>
          <a:prstGeom prst="rect">
            <a:avLst/>
          </a:prstGeom>
          <a:noFill/>
          <a:ln w="9525">
            <a:noFill/>
          </a:ln>
        </p:spPr>
        <p:txBody>
          <a:bodyPr anchor="t">
            <a:spAutoFit/>
          </a:bodyPr>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静态联编可在编译时确定，是因为可以确定被调用函数所在类</a:t>
            </a:r>
            <a:endParaRPr lang="zh-CN" altLang="en-US" sz="2400" dirty="0">
              <a:solidFill>
                <a:srgbClr val="FFFFFF"/>
              </a:solidFill>
              <a:latin typeface="Times New Roman" panose="02020603050405020304" pitchFamily="18" charset="0"/>
              <a:ea typeface="宋体" panose="02010600030101010101" pitchFamily="2" charset="-122"/>
            </a:endParaRPr>
          </a:p>
        </p:txBody>
      </p:sp>
      <p:sp>
        <p:nvSpPr>
          <p:cNvPr id="163919" name="Text Box 79"/>
          <p:cNvSpPr txBox="1"/>
          <p:nvPr/>
        </p:nvSpPr>
        <p:spPr>
          <a:xfrm>
            <a:off x="250825" y="3938588"/>
            <a:ext cx="8893175" cy="1938337"/>
          </a:xfrm>
          <a:prstGeom prst="rect">
            <a:avLst/>
          </a:prstGeom>
          <a:noFill/>
          <a:ln w="9525">
            <a:noFill/>
          </a:ln>
        </p:spPr>
        <p:txBody>
          <a:bodyPr anchor="t">
            <a:spAutoFit/>
          </a:bodyPr>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动态联编：祖先指针指向了一个后代对象，</a:t>
            </a:r>
            <a:r>
              <a:rPr lang="zh-CN" altLang="en-US" sz="2400" dirty="0">
                <a:solidFill>
                  <a:srgbClr val="FFFF00"/>
                </a:solidFill>
                <a:latin typeface="Times New Roman" panose="02020603050405020304" pitchFamily="18" charset="0"/>
                <a:ea typeface="宋体" panose="02010600030101010101" pitchFamily="2" charset="-122"/>
              </a:rPr>
              <a:t>但是不容易知道其类型</a:t>
            </a:r>
            <a:r>
              <a:rPr lang="zh-CN" altLang="en-US" sz="2400" dirty="0">
                <a:solidFill>
                  <a:schemeClr val="tx1"/>
                </a:solidFill>
                <a:latin typeface="Times New Roman" panose="02020603050405020304" pitchFamily="18" charset="0"/>
                <a:ea typeface="宋体" panose="02010600030101010101" pitchFamily="2" charset="-122"/>
              </a:rPr>
              <a:t>（参见前页燃放部分）</a:t>
            </a:r>
            <a:r>
              <a:rPr lang="zh-CN" altLang="en-US" sz="2400" dirty="0">
                <a:solidFill>
                  <a:srgbClr val="FFFFFF"/>
                </a:solidFill>
                <a:latin typeface="Times New Roman" panose="02020603050405020304" pitchFamily="18" charset="0"/>
                <a:ea typeface="宋体" panose="02010600030101010101" pitchFamily="2" charset="-122"/>
              </a:rPr>
              <a:t>。（美猴王收贡，按照是否仙猴、几代猴、是否闹天宫等综合计算。美猴王虽然知道是自己的子孙但并不认识每个猴子，于是花果山规定每个猴子出生时就佩戴了一个智能牌子，以标识其身份，及计算方法）</a:t>
            </a:r>
            <a:endParaRPr lang="zh-CN" altLang="en-US" sz="2400" dirty="0">
              <a:solidFill>
                <a:srgbClr val="FFFFFF"/>
              </a:solidFill>
              <a:latin typeface="Times New Roman" panose="02020603050405020304" pitchFamily="18" charset="0"/>
              <a:ea typeface="宋体" panose="02010600030101010101" pitchFamily="2" charset="-122"/>
            </a:endParaRPr>
          </a:p>
        </p:txBody>
      </p:sp>
      <p:sp>
        <p:nvSpPr>
          <p:cNvPr id="163920" name="Text Box 80"/>
          <p:cNvSpPr txBox="1"/>
          <p:nvPr/>
        </p:nvSpPr>
        <p:spPr>
          <a:xfrm>
            <a:off x="287338" y="5697538"/>
            <a:ext cx="8856662" cy="1200150"/>
          </a:xfrm>
          <a:prstGeom prst="rect">
            <a:avLst/>
          </a:prstGeom>
          <a:noFill/>
          <a:ln w="9525">
            <a:noFill/>
          </a:ln>
        </p:spPr>
        <p:txBody>
          <a:bodyPr anchor="t">
            <a:spAutoFit/>
          </a:bodyPr>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解决的方法是凡有虚函数的类均维护一个虚表，</a:t>
            </a:r>
            <a:r>
              <a:rPr lang="zh-CN" altLang="en-US" sz="2400" dirty="0">
                <a:solidFill>
                  <a:srgbClr val="FFFF00"/>
                </a:solidFill>
                <a:latin typeface="Times New Roman" panose="02020603050405020304" pitchFamily="18" charset="0"/>
                <a:ea typeface="宋体" panose="02010600030101010101" pitchFamily="2" charset="-122"/>
              </a:rPr>
              <a:t>实例化每个对象时为其增加一个指针</a:t>
            </a:r>
            <a:r>
              <a:rPr lang="zh-CN" altLang="en-US" sz="2400" dirty="0">
                <a:solidFill>
                  <a:srgbClr val="FFFFFF"/>
                </a:solidFill>
                <a:latin typeface="Times New Roman" panose="02020603050405020304" pitchFamily="18" charset="0"/>
                <a:ea typeface="宋体" panose="02010600030101010101" pitchFamily="2" charset="-122"/>
              </a:rPr>
              <a:t>，并指向这个</a:t>
            </a:r>
            <a:r>
              <a:rPr lang="zh-CN" altLang="en-US" sz="2400" dirty="0">
                <a:solidFill>
                  <a:srgbClr val="FFFF00"/>
                </a:solidFill>
                <a:latin typeface="Times New Roman" panose="02020603050405020304" pitchFamily="18" charset="0"/>
                <a:ea typeface="宋体" panose="02010600030101010101" pitchFamily="2" charset="-122"/>
              </a:rPr>
              <a:t>虚表（与类型对应）</a:t>
            </a:r>
            <a:r>
              <a:rPr lang="zh-CN" altLang="en-US" sz="2400" dirty="0">
                <a:solidFill>
                  <a:srgbClr val="FFFFFF"/>
                </a:solidFill>
                <a:latin typeface="Times New Roman" panose="02020603050405020304" pitchFamily="18" charset="0"/>
                <a:ea typeface="宋体" panose="02010600030101010101" pitchFamily="2" charset="-122"/>
              </a:rPr>
              <a:t>，虚函数调用时不需确定对象类型，通过该虚指针即可找到所要链接函数</a:t>
            </a:r>
            <a:endParaRPr lang="zh-CN" altLang="en-US" sz="2400" dirty="0">
              <a:solidFill>
                <a:srgbClr val="FFFFFF"/>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918"/>
                                        </p:tgtEl>
                                        <p:attrNameLst>
                                          <p:attrName>style.visibility</p:attrName>
                                        </p:attrNameLst>
                                      </p:cBhvr>
                                      <p:to>
                                        <p:strVal val="visible"/>
                                      </p:to>
                                    </p:set>
                                    <p:animEffect transition="in" filter="blinds(horizontal)">
                                      <p:cBhvr>
                                        <p:cTn id="7" dur="500"/>
                                        <p:tgtEl>
                                          <p:spTgt spid="1639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919"/>
                                        </p:tgtEl>
                                        <p:attrNameLst>
                                          <p:attrName>style.visibility</p:attrName>
                                        </p:attrNameLst>
                                      </p:cBhvr>
                                      <p:to>
                                        <p:strVal val="visible"/>
                                      </p:to>
                                    </p:set>
                                    <p:animEffect transition="in" filter="blinds(horizontal)">
                                      <p:cBhvr>
                                        <p:cTn id="12" dur="500"/>
                                        <p:tgtEl>
                                          <p:spTgt spid="1639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920"/>
                                        </p:tgtEl>
                                        <p:attrNameLst>
                                          <p:attrName>style.visibility</p:attrName>
                                        </p:attrNameLst>
                                      </p:cBhvr>
                                      <p:to>
                                        <p:strVal val="visible"/>
                                      </p:to>
                                    </p:set>
                                    <p:animEffect transition="in" filter="blinds(horizontal)">
                                      <p:cBhvr>
                                        <p:cTn id="17" dur="500"/>
                                        <p:tgtEl>
                                          <p:spTgt spid="163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8" grpId="0"/>
      <p:bldP spid="163919" grpId="0"/>
      <p:bldP spid="163920" grpId="0"/>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89" name="Rectangle 2"/>
          <p:cNvSpPr>
            <a:spLocks noGrp="1"/>
          </p:cNvSpPr>
          <p:nvPr>
            <p:ph type="title"/>
          </p:nvPr>
        </p:nvSpPr>
        <p:spPr>
          <a:xfrm>
            <a:off x="0" y="0"/>
            <a:ext cx="6096000" cy="1143000"/>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2</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graphicFrame>
        <p:nvGraphicFramePr>
          <p:cNvPr id="165909" name="Group 21"/>
          <p:cNvGraphicFramePr>
            <a:graphicFrameLocks noGrp="1"/>
          </p:cNvGraphicFramePr>
          <p:nvPr>
            <p:ph idx="4294967295"/>
          </p:nvPr>
        </p:nvGraphicFramePr>
        <p:xfrm>
          <a:off x="468313" y="1084263"/>
          <a:ext cx="8316913" cy="4846638"/>
        </p:xfrm>
        <a:graphic>
          <a:graphicData uri="http://schemas.openxmlformats.org/drawingml/2006/table">
            <a:tbl>
              <a:tblPr/>
              <a:tblGrid>
                <a:gridCol w="4159250"/>
                <a:gridCol w="4157662"/>
              </a:tblGrid>
              <a:tr h="4846637">
                <a:tc>
                  <a:txBody>
                    <a:bodyPr/>
                    <a:lstStyle/>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int a;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void f();</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void g(int);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void h(double);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B:public 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int b;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void g(int);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C:public 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int 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void h(double);</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2400" b="1" i="0" u="none" strike="noStrike" cap="none" normalizeH="0" baseline="0">
                        <a:ln>
                          <a:noFill/>
                        </a:ln>
                        <a:solidFill>
                          <a:srgbClr val="FFFF00"/>
                        </a:solidFill>
                        <a:effectLst/>
                        <a:latin typeface="Courier New" panose="02070309020205020404" pitchFamily="49"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3" name="Rectangle 2"/>
          <p:cNvSpPr>
            <a:spLocks noGrp="1"/>
          </p:cNvSpPr>
          <p:nvPr>
            <p:ph type="title"/>
          </p:nvPr>
        </p:nvSpPr>
        <p:spPr>
          <a:xfrm>
            <a:off x="107950" y="44450"/>
            <a:ext cx="8424863" cy="828675"/>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3</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320514" name="Text Box 9"/>
          <p:cNvSpPr txBox="1"/>
          <p:nvPr/>
        </p:nvSpPr>
        <p:spPr>
          <a:xfrm>
            <a:off x="668338" y="1550988"/>
            <a:ext cx="184150" cy="579437"/>
          </a:xfrm>
          <a:prstGeom prst="rect">
            <a:avLst/>
          </a:prstGeom>
          <a:noFill/>
          <a:ln w="9525">
            <a:noFill/>
          </a:ln>
        </p:spPr>
        <p:txBody>
          <a:bodyPr wrap="none" anchor="t">
            <a:spAutoFit/>
          </a:bodyPr>
          <a:p>
            <a:endParaRPr lang="zh-CN" altLang="zh-CN" sz="3200" dirty="0">
              <a:solidFill>
                <a:srgbClr val="FFFFFF"/>
              </a:solidFill>
              <a:latin typeface="Times New Roman" panose="02020603050405020304" pitchFamily="18" charset="0"/>
              <a:ea typeface="宋体" panose="02010600030101010101" pitchFamily="2" charset="-122"/>
            </a:endParaRPr>
          </a:p>
        </p:txBody>
      </p:sp>
      <p:sp>
        <p:nvSpPr>
          <p:cNvPr id="320515" name="Text Box 25"/>
          <p:cNvSpPr txBox="1"/>
          <p:nvPr/>
        </p:nvSpPr>
        <p:spPr>
          <a:xfrm>
            <a:off x="6870700" y="3638550"/>
            <a:ext cx="184150" cy="579438"/>
          </a:xfrm>
          <a:prstGeom prst="rect">
            <a:avLst/>
          </a:prstGeom>
          <a:noFill/>
          <a:ln w="9525">
            <a:noFill/>
          </a:ln>
        </p:spPr>
        <p:txBody>
          <a:bodyPr wrap="none" anchor="t">
            <a:spAutoFit/>
          </a:bodyPr>
          <a:p>
            <a:endParaRPr lang="zh-CN" altLang="zh-CN" sz="3200" dirty="0">
              <a:solidFill>
                <a:srgbClr val="FFFFFF"/>
              </a:solidFill>
              <a:latin typeface="Times New Roman" panose="02020603050405020304" pitchFamily="18" charset="0"/>
              <a:ea typeface="宋体" panose="02010600030101010101" pitchFamily="2" charset="-122"/>
            </a:endParaRPr>
          </a:p>
        </p:txBody>
      </p:sp>
      <p:sp>
        <p:nvSpPr>
          <p:cNvPr id="320516" name="Text Box 29"/>
          <p:cNvSpPr txBox="1"/>
          <p:nvPr/>
        </p:nvSpPr>
        <p:spPr>
          <a:xfrm>
            <a:off x="6858000" y="80963"/>
            <a:ext cx="857250" cy="1570037"/>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A::h</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320517" name="Text Box 33"/>
          <p:cNvSpPr txBox="1"/>
          <p:nvPr/>
        </p:nvSpPr>
        <p:spPr>
          <a:xfrm>
            <a:off x="7924800" y="44450"/>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0518" name="Text Box 34"/>
          <p:cNvSpPr txBox="1"/>
          <p:nvPr/>
        </p:nvSpPr>
        <p:spPr>
          <a:xfrm>
            <a:off x="7864475" y="52388"/>
            <a:ext cx="592138" cy="1554162"/>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155683" name="Text Box 35"/>
          <p:cNvSpPr txBox="1"/>
          <p:nvPr/>
        </p:nvSpPr>
        <p:spPr>
          <a:xfrm>
            <a:off x="3476625" y="1312863"/>
            <a:ext cx="769938" cy="588962"/>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155684" name="Line 36"/>
          <p:cNvSpPr>
            <a:spLocks noChangeShapeType="1"/>
          </p:cNvSpPr>
          <p:nvPr/>
        </p:nvSpPr>
        <p:spPr bwMode="auto">
          <a:xfrm flipV="1">
            <a:off x="4102100" y="1377950"/>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0521" name="Text Box 39"/>
          <p:cNvSpPr txBox="1"/>
          <p:nvPr/>
        </p:nvSpPr>
        <p:spPr>
          <a:xfrm>
            <a:off x="6842125" y="4206875"/>
            <a:ext cx="858838" cy="2554288"/>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A::h</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0000"/>
                </a:solidFill>
                <a:latin typeface="Arial Narrow" panose="020B0606020202030204" pitchFamily="34" charset="0"/>
                <a:ea typeface="宋体" panose="02010600030101010101" pitchFamily="2" charset="-122"/>
              </a:rPr>
              <a:t>B::g</a:t>
            </a:r>
            <a:endParaRPr lang="en-US" altLang="zh-CN" sz="3200" b="1" dirty="0">
              <a:solidFill>
                <a:srgbClr val="FF0000"/>
              </a:solidFill>
              <a:latin typeface="Arial Narrow" panose="020B0606020202030204" pitchFamily="34" charset="0"/>
              <a:ea typeface="宋体" panose="02010600030101010101" pitchFamily="2" charset="-122"/>
            </a:endParaRPr>
          </a:p>
          <a:p>
            <a:r>
              <a:rPr lang="en-US" altLang="zh-CN" sz="3200" b="1" dirty="0">
                <a:solidFill>
                  <a:srgbClr val="FF0000"/>
                </a:solidFill>
                <a:latin typeface="Arial Narrow" panose="020B0606020202030204" pitchFamily="34" charset="0"/>
                <a:ea typeface="宋体" panose="02010600030101010101" pitchFamily="2" charset="-122"/>
              </a:rPr>
              <a:t>C::h</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320522" name="Text Box 43"/>
          <p:cNvSpPr txBox="1"/>
          <p:nvPr/>
        </p:nvSpPr>
        <p:spPr>
          <a:xfrm>
            <a:off x="7908925" y="4184650"/>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0523" name="Text Box 44"/>
          <p:cNvSpPr txBox="1"/>
          <p:nvPr/>
        </p:nvSpPr>
        <p:spPr>
          <a:xfrm>
            <a:off x="7848600" y="4192588"/>
            <a:ext cx="596900" cy="2554287"/>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0000"/>
                </a:solidFill>
                <a:latin typeface="Arial Narrow" panose="020B0606020202030204" pitchFamily="34" charset="0"/>
                <a:ea typeface="宋体" panose="02010600030101010101" pitchFamily="2" charset="-122"/>
              </a:rPr>
              <a:t>[1]</a:t>
            </a:r>
            <a:endParaRPr lang="en-US" altLang="zh-CN" sz="3200" b="1" dirty="0">
              <a:solidFill>
                <a:srgbClr val="FF0000"/>
              </a:solidFill>
              <a:latin typeface="Arial Narrow" panose="020B0606020202030204" pitchFamily="34" charset="0"/>
              <a:ea typeface="宋体" panose="02010600030101010101" pitchFamily="2" charset="-122"/>
            </a:endParaRPr>
          </a:p>
          <a:p>
            <a:r>
              <a:rPr lang="en-US" altLang="zh-CN" sz="3200" b="1" dirty="0">
                <a:solidFill>
                  <a:srgbClr val="FF0000"/>
                </a:solidFill>
                <a:latin typeface="Arial Narrow" panose="020B0606020202030204" pitchFamily="34" charset="0"/>
                <a:ea typeface="宋体" panose="02010600030101010101" pitchFamily="2" charset="-122"/>
              </a:rPr>
              <a:t>[2]</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155693" name="Text Box 45"/>
          <p:cNvSpPr txBox="1"/>
          <p:nvPr/>
        </p:nvSpPr>
        <p:spPr>
          <a:xfrm>
            <a:off x="3476625" y="4913313"/>
            <a:ext cx="769938" cy="588962"/>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155694" name="Line 46"/>
          <p:cNvSpPr>
            <a:spLocks noChangeShapeType="1"/>
          </p:cNvSpPr>
          <p:nvPr/>
        </p:nvSpPr>
        <p:spPr bwMode="auto">
          <a:xfrm flipV="1">
            <a:off x="4102100" y="4978400"/>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95" name="Text Box 47"/>
          <p:cNvSpPr txBox="1"/>
          <p:nvPr/>
        </p:nvSpPr>
        <p:spPr>
          <a:xfrm>
            <a:off x="957263" y="1387475"/>
            <a:ext cx="2771775"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A *pa = new A</a:t>
            </a:r>
            <a:r>
              <a:rPr lang="zh-CN" altLang="en-US" sz="2400" b="1" dirty="0">
                <a:solidFill>
                  <a:srgbClr val="FFFFFF"/>
                </a:solidFill>
                <a:latin typeface="Times New Roman" panose="02020603050405020304" pitchFamily="18" charset="0"/>
                <a:ea typeface="宋体" panose="02010600030101010101" pitchFamily="2" charset="-122"/>
              </a:rPr>
              <a:t>；</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155696" name="Text Box 48"/>
          <p:cNvSpPr txBox="1"/>
          <p:nvPr/>
        </p:nvSpPr>
        <p:spPr>
          <a:xfrm>
            <a:off x="920750" y="4987925"/>
            <a:ext cx="2268538"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pa</a:t>
            </a:r>
            <a:r>
              <a:rPr lang="zh-CN" altLang="en-US" sz="2400" b="1" dirty="0">
                <a:solidFill>
                  <a:srgbClr val="FFFFFF"/>
                </a:solidFill>
                <a:latin typeface="Times New Roman" panose="02020603050405020304" pitchFamily="18" charset="0"/>
                <a:ea typeface="宋体" panose="02010600030101010101" pitchFamily="2" charset="-122"/>
              </a:rPr>
              <a:t>指向</a:t>
            </a:r>
            <a:r>
              <a:rPr lang="en-US" altLang="zh-CN" sz="2400" b="1" dirty="0">
                <a:solidFill>
                  <a:srgbClr val="FFFFFF"/>
                </a:solidFill>
                <a:latin typeface="Times New Roman" panose="02020603050405020304" pitchFamily="18" charset="0"/>
                <a:ea typeface="宋体" panose="02010600030101010101" pitchFamily="2" charset="-122"/>
              </a:rPr>
              <a:t>C</a:t>
            </a:r>
            <a:r>
              <a:rPr lang="zh-CN" altLang="en-US" sz="2400" b="1" dirty="0">
                <a:solidFill>
                  <a:srgbClr val="FFFFFF"/>
                </a:solidFill>
                <a:latin typeface="Times New Roman" panose="02020603050405020304" pitchFamily="18" charset="0"/>
                <a:ea typeface="宋体" panose="02010600030101010101" pitchFamily="2" charset="-122"/>
              </a:rPr>
              <a:t>类对象</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320528" name="Text Box 49"/>
          <p:cNvSpPr txBox="1"/>
          <p:nvPr/>
        </p:nvSpPr>
        <p:spPr>
          <a:xfrm>
            <a:off x="6858000" y="1866900"/>
            <a:ext cx="857250" cy="2062163"/>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A::h</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3300"/>
                </a:solidFill>
                <a:latin typeface="Arial Narrow" panose="020B0606020202030204" pitchFamily="34" charset="0"/>
                <a:ea typeface="宋体" panose="02010600030101010101" pitchFamily="2" charset="-122"/>
              </a:rPr>
              <a:t>B::g</a:t>
            </a:r>
            <a:endParaRPr lang="en-US" altLang="zh-CN" sz="3200" b="1" dirty="0">
              <a:solidFill>
                <a:srgbClr val="FF3300"/>
              </a:solidFill>
              <a:latin typeface="Arial Narrow" panose="020B0606020202030204" pitchFamily="34" charset="0"/>
              <a:ea typeface="宋体" panose="02010600030101010101" pitchFamily="2" charset="-122"/>
            </a:endParaRPr>
          </a:p>
        </p:txBody>
      </p:sp>
      <p:sp>
        <p:nvSpPr>
          <p:cNvPr id="320529" name="Text Box 50"/>
          <p:cNvSpPr txBox="1"/>
          <p:nvPr/>
        </p:nvSpPr>
        <p:spPr>
          <a:xfrm>
            <a:off x="7924800" y="1844675"/>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0530" name="Text Box 51"/>
          <p:cNvSpPr txBox="1"/>
          <p:nvPr/>
        </p:nvSpPr>
        <p:spPr>
          <a:xfrm>
            <a:off x="7864475" y="1852613"/>
            <a:ext cx="595313" cy="2062162"/>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0000"/>
                </a:solidFill>
                <a:latin typeface="Arial Narrow" panose="020B0606020202030204" pitchFamily="34" charset="0"/>
                <a:ea typeface="宋体" panose="02010600030101010101" pitchFamily="2" charset="-122"/>
              </a:rPr>
              <a:t>[1]</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6" name="Text Box 35"/>
          <p:cNvSpPr txBox="1"/>
          <p:nvPr/>
        </p:nvSpPr>
        <p:spPr>
          <a:xfrm>
            <a:off x="3492500" y="3159125"/>
            <a:ext cx="769938" cy="588963"/>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7" name="Line 36"/>
          <p:cNvSpPr>
            <a:spLocks noChangeShapeType="1"/>
          </p:cNvSpPr>
          <p:nvPr/>
        </p:nvSpPr>
        <p:spPr bwMode="auto">
          <a:xfrm flipV="1">
            <a:off x="4117975" y="3224213"/>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Text Box 47"/>
          <p:cNvSpPr txBox="1"/>
          <p:nvPr/>
        </p:nvSpPr>
        <p:spPr>
          <a:xfrm>
            <a:off x="973138" y="3233738"/>
            <a:ext cx="2771775"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A *pa = new B</a:t>
            </a:r>
            <a:r>
              <a:rPr lang="zh-CN" altLang="en-US" sz="2400" b="1" dirty="0">
                <a:solidFill>
                  <a:srgbClr val="FFFFFF"/>
                </a:solidFill>
                <a:latin typeface="Times New Roman" panose="02020603050405020304" pitchFamily="18" charset="0"/>
                <a:ea typeface="宋体" panose="02010600030101010101" pitchFamily="2" charset="-122"/>
              </a:rPr>
              <a:t>；</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320534" name="Text Box 25"/>
          <p:cNvSpPr txBox="1"/>
          <p:nvPr/>
        </p:nvSpPr>
        <p:spPr>
          <a:xfrm>
            <a:off x="5018088" y="3509963"/>
            <a:ext cx="184150" cy="579437"/>
          </a:xfrm>
          <a:prstGeom prst="rect">
            <a:avLst/>
          </a:prstGeom>
          <a:noFill/>
          <a:ln w="9525">
            <a:noFill/>
          </a:ln>
        </p:spPr>
        <p:txBody>
          <a:bodyPr wrap="none" anchor="t">
            <a:spAutoFit/>
          </a:bodyPr>
          <a:p>
            <a:endParaRPr lang="zh-CN" altLang="zh-CN" sz="3200" dirty="0">
              <a:solidFill>
                <a:srgbClr val="FFFFFF"/>
              </a:solidFill>
              <a:latin typeface="Times New Roman" panose="02020603050405020304" pitchFamily="18" charset="0"/>
              <a:ea typeface="宋体" panose="02010600030101010101" pitchFamily="2" charset="-122"/>
            </a:endParaRPr>
          </a:p>
        </p:txBody>
      </p:sp>
      <p:sp>
        <p:nvSpPr>
          <p:cNvPr id="37" name="Text Box 28"/>
          <p:cNvSpPr txBox="1"/>
          <p:nvPr/>
        </p:nvSpPr>
        <p:spPr>
          <a:xfrm>
            <a:off x="5094288" y="1093788"/>
            <a:ext cx="371475" cy="534987"/>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39" name="Line 32"/>
          <p:cNvSpPr>
            <a:spLocks noChangeShapeType="1"/>
          </p:cNvSpPr>
          <p:nvPr/>
        </p:nvSpPr>
        <p:spPr bwMode="auto">
          <a:xfrm>
            <a:off x="5508625" y="1312863"/>
            <a:ext cx="1366838" cy="28575"/>
          </a:xfrm>
          <a:prstGeom prst="line">
            <a:avLst/>
          </a:prstGeom>
          <a:noFill/>
          <a:ln w="9525">
            <a:solidFill>
              <a:schemeClr val="tx1"/>
            </a:solidFill>
            <a:round/>
            <a:headEnd type="triangle"/>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0" name="Text Box 38"/>
          <p:cNvSpPr txBox="1"/>
          <p:nvPr/>
        </p:nvSpPr>
        <p:spPr>
          <a:xfrm>
            <a:off x="5084763" y="4292600"/>
            <a:ext cx="390525" cy="1422400"/>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b</a:t>
            </a:r>
            <a:endParaRPr lang="en-US" altLang="zh-CN" sz="3200" b="1" dirty="0">
              <a:solidFill>
                <a:srgbClr val="FF0000"/>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c</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42" name="Line 42"/>
          <p:cNvSpPr>
            <a:spLocks noChangeShapeType="1"/>
          </p:cNvSpPr>
          <p:nvPr/>
        </p:nvSpPr>
        <p:spPr bwMode="auto">
          <a:xfrm>
            <a:off x="5508625" y="4581525"/>
            <a:ext cx="1362075" cy="0"/>
          </a:xfrm>
          <a:prstGeom prst="line">
            <a:avLst/>
          </a:prstGeom>
          <a:noFill/>
          <a:ln w="9525">
            <a:solidFill>
              <a:schemeClr val="tx1"/>
            </a:solidFill>
            <a:round/>
            <a:headEnd type="triangle"/>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3" name="Text Box 28"/>
          <p:cNvSpPr txBox="1"/>
          <p:nvPr/>
        </p:nvSpPr>
        <p:spPr>
          <a:xfrm>
            <a:off x="5100638" y="2538413"/>
            <a:ext cx="390525" cy="979487"/>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b</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45" name="Line 32"/>
          <p:cNvSpPr>
            <a:spLocks noChangeShapeType="1"/>
          </p:cNvSpPr>
          <p:nvPr/>
        </p:nvSpPr>
        <p:spPr bwMode="auto">
          <a:xfrm>
            <a:off x="5508625" y="2843213"/>
            <a:ext cx="1362075" cy="9525"/>
          </a:xfrm>
          <a:prstGeom prst="line">
            <a:avLst/>
          </a:prstGeom>
          <a:noFill/>
          <a:ln w="9525">
            <a:solidFill>
              <a:schemeClr val="tx1"/>
            </a:solidFill>
            <a:round/>
            <a:headEnd type="triangle"/>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ustDataLst>
      <p:tags r:id="rId1"/>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95"/>
                                        </p:tgtEl>
                                        <p:attrNameLst>
                                          <p:attrName>style.visibility</p:attrName>
                                        </p:attrNameLst>
                                      </p:cBhvr>
                                      <p:to>
                                        <p:strVal val="visible"/>
                                      </p:to>
                                    </p:set>
                                    <p:animEffect transition="in" filter="wipe(left)">
                                      <p:cBhvr>
                                        <p:cTn id="7" dur="500"/>
                                        <p:tgtEl>
                                          <p:spTgt spid="155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83"/>
                                        </p:tgtEl>
                                        <p:attrNameLst>
                                          <p:attrName>style.visibility</p:attrName>
                                        </p:attrNameLst>
                                      </p:cBhvr>
                                      <p:to>
                                        <p:strVal val="visible"/>
                                      </p:to>
                                    </p:set>
                                    <p:animEffect transition="in" filter="wipe(left)">
                                      <p:cBhvr>
                                        <p:cTn id="12" dur="500"/>
                                        <p:tgtEl>
                                          <p:spTgt spid="155683"/>
                                        </p:tgtEl>
                                      </p:cBhvr>
                                    </p:animEffect>
                                  </p:childTnLst>
                                </p:cTn>
                              </p:par>
                              <p:par>
                                <p:cTn id="13" presetID="22" presetClass="entr" presetSubtype="8" fill="hold" nodeType="withEffect">
                                  <p:stCondLst>
                                    <p:cond delay="0"/>
                                  </p:stCondLst>
                                  <p:childTnLst>
                                    <p:set>
                                      <p:cBhvr>
                                        <p:cTn id="14" dur="1" fill="hold">
                                          <p:stCondLst>
                                            <p:cond delay="0"/>
                                          </p:stCondLst>
                                        </p:cTn>
                                        <p:tgtEl>
                                          <p:spTgt spid="155684"/>
                                        </p:tgtEl>
                                        <p:attrNameLst>
                                          <p:attrName>style.visibility</p:attrName>
                                        </p:attrNameLst>
                                      </p:cBhvr>
                                      <p:to>
                                        <p:strVal val="visible"/>
                                      </p:to>
                                    </p:set>
                                    <p:animEffect transition="in" filter="wipe(left)">
                                      <p:cBhvr>
                                        <p:cTn id="15" dur="500"/>
                                        <p:tgtEl>
                                          <p:spTgt spid="15568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5696"/>
                                        </p:tgtEl>
                                        <p:attrNameLst>
                                          <p:attrName>style.visibility</p:attrName>
                                        </p:attrNameLst>
                                      </p:cBhvr>
                                      <p:to>
                                        <p:strVal val="visible"/>
                                      </p:to>
                                    </p:set>
                                    <p:animEffect transition="in" filter="wipe(left)">
                                      <p:cBhvr>
                                        <p:cTn id="20" dur="500"/>
                                        <p:tgtEl>
                                          <p:spTgt spid="15569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5693"/>
                                        </p:tgtEl>
                                        <p:attrNameLst>
                                          <p:attrName>style.visibility</p:attrName>
                                        </p:attrNameLst>
                                      </p:cBhvr>
                                      <p:to>
                                        <p:strVal val="visible"/>
                                      </p:to>
                                    </p:set>
                                    <p:animEffect transition="in" filter="wipe(left)">
                                      <p:cBhvr>
                                        <p:cTn id="25" dur="500"/>
                                        <p:tgtEl>
                                          <p:spTgt spid="155693"/>
                                        </p:tgtEl>
                                      </p:cBhvr>
                                    </p:animEffect>
                                  </p:childTnLst>
                                </p:cTn>
                              </p:par>
                              <p:par>
                                <p:cTn id="26" presetID="22" presetClass="entr" presetSubtype="8" fill="hold" nodeType="withEffect">
                                  <p:stCondLst>
                                    <p:cond delay="0"/>
                                  </p:stCondLst>
                                  <p:childTnLst>
                                    <p:set>
                                      <p:cBhvr>
                                        <p:cTn id="27" dur="1" fill="hold">
                                          <p:stCondLst>
                                            <p:cond delay="0"/>
                                          </p:stCondLst>
                                        </p:cTn>
                                        <p:tgtEl>
                                          <p:spTgt spid="155694"/>
                                        </p:tgtEl>
                                        <p:attrNameLst>
                                          <p:attrName>style.visibility</p:attrName>
                                        </p:attrNameLst>
                                      </p:cBhvr>
                                      <p:to>
                                        <p:strVal val="visible"/>
                                      </p:to>
                                    </p:set>
                                    <p:animEffect transition="in" filter="wipe(left)">
                                      <p:cBhvr>
                                        <p:cTn id="28" dur="500"/>
                                        <p:tgtEl>
                                          <p:spTgt spid="15569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par>
                                <p:cTn id="39" presetID="22" presetClass="entr" presetSubtype="8"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left)">
                                      <p:cBhvr>
                                        <p:cTn id="46" dur="500"/>
                                        <p:tgtEl>
                                          <p:spTgt spid="37"/>
                                        </p:tgtEl>
                                      </p:cBhvr>
                                    </p:animEffect>
                                  </p:childTnLst>
                                </p:cTn>
                              </p:par>
                              <p:par>
                                <p:cTn id="47" presetID="22" presetClass="entr" presetSubtype="8"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left)">
                                      <p:cBhvr>
                                        <p:cTn id="49" dur="500"/>
                                        <p:tgtEl>
                                          <p:spTgt spid="3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500"/>
                                        <p:tgtEl>
                                          <p:spTgt spid="40"/>
                                        </p:tgtEl>
                                      </p:cBhvr>
                                    </p:animEffect>
                                  </p:childTnLst>
                                </p:cTn>
                              </p:par>
                              <p:par>
                                <p:cTn id="55" presetID="22" presetClass="entr" presetSubtype="8"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left)">
                                      <p:cBhvr>
                                        <p:cTn id="62" dur="500"/>
                                        <p:tgtEl>
                                          <p:spTgt spid="43"/>
                                        </p:tgtEl>
                                      </p:cBhvr>
                                    </p:animEffect>
                                  </p:childTnLst>
                                </p:cTn>
                              </p:par>
                              <p:par>
                                <p:cTn id="63" presetID="22" presetClass="entr" presetSubtype="8" fill="hold"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83" grpId="0" animBg="1"/>
      <p:bldP spid="155693" grpId="0" animBg="1"/>
      <p:bldP spid="155695" grpId="0"/>
      <p:bldP spid="155696" grpId="0"/>
      <p:bldP spid="6" grpId="0" animBg="1"/>
      <p:bldP spid="8" grpId="0"/>
      <p:bldP spid="37" grpId="0" animBg="1"/>
      <p:bldP spid="40" grpId="0" animBg="1"/>
      <p:bldP spid="43" grpId="0" animBg="1"/>
    </p:bld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7" name="Rectangle 2"/>
          <p:cNvSpPr>
            <a:spLocks noGrp="1"/>
          </p:cNvSpPr>
          <p:nvPr>
            <p:ph type="title"/>
          </p:nvPr>
        </p:nvSpPr>
        <p:spPr>
          <a:xfrm>
            <a:off x="107950" y="44450"/>
            <a:ext cx="8424863" cy="828675"/>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4</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321538" name="Text Box 9"/>
          <p:cNvSpPr txBox="1"/>
          <p:nvPr/>
        </p:nvSpPr>
        <p:spPr>
          <a:xfrm>
            <a:off x="668338" y="1550988"/>
            <a:ext cx="184150" cy="579437"/>
          </a:xfrm>
          <a:prstGeom prst="rect">
            <a:avLst/>
          </a:prstGeom>
          <a:noFill/>
          <a:ln w="9525">
            <a:noFill/>
          </a:ln>
        </p:spPr>
        <p:txBody>
          <a:bodyPr wrap="none" anchor="t">
            <a:spAutoFit/>
          </a:bodyPr>
          <a:p>
            <a:endParaRPr lang="zh-CN" altLang="zh-CN" sz="3200" dirty="0">
              <a:solidFill>
                <a:srgbClr val="FFFFFF"/>
              </a:solidFill>
              <a:latin typeface="Times New Roman" panose="02020603050405020304" pitchFamily="18" charset="0"/>
              <a:ea typeface="宋体" panose="02010600030101010101" pitchFamily="2" charset="-122"/>
            </a:endParaRPr>
          </a:p>
        </p:txBody>
      </p:sp>
      <p:sp>
        <p:nvSpPr>
          <p:cNvPr id="321539" name="Text Box 25"/>
          <p:cNvSpPr txBox="1"/>
          <p:nvPr/>
        </p:nvSpPr>
        <p:spPr>
          <a:xfrm>
            <a:off x="5018088" y="4070350"/>
            <a:ext cx="184150" cy="579438"/>
          </a:xfrm>
          <a:prstGeom prst="rect">
            <a:avLst/>
          </a:prstGeom>
          <a:noFill/>
          <a:ln w="9525">
            <a:noFill/>
          </a:ln>
        </p:spPr>
        <p:txBody>
          <a:bodyPr wrap="none" anchor="t">
            <a:spAutoFit/>
          </a:bodyPr>
          <a:p>
            <a:endParaRPr lang="zh-CN" altLang="zh-CN" sz="3200" dirty="0">
              <a:solidFill>
                <a:srgbClr val="FFFFFF"/>
              </a:solidFill>
              <a:latin typeface="Times New Roman" panose="02020603050405020304" pitchFamily="18" charset="0"/>
              <a:ea typeface="宋体" panose="02010600030101010101" pitchFamily="2" charset="-122"/>
            </a:endParaRPr>
          </a:p>
        </p:txBody>
      </p:sp>
      <p:sp>
        <p:nvSpPr>
          <p:cNvPr id="155676" name="Text Box 28"/>
          <p:cNvSpPr txBox="1"/>
          <p:nvPr/>
        </p:nvSpPr>
        <p:spPr>
          <a:xfrm>
            <a:off x="4756150" y="1252538"/>
            <a:ext cx="1047750" cy="977900"/>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Vptr</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321541" name="Text Box 29"/>
          <p:cNvSpPr txBox="1"/>
          <p:nvPr/>
        </p:nvSpPr>
        <p:spPr>
          <a:xfrm>
            <a:off x="6753225" y="1052513"/>
            <a:ext cx="857250" cy="1570037"/>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A::h</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155678" name="Line 30"/>
          <p:cNvSpPr>
            <a:spLocks noChangeShapeType="1"/>
          </p:cNvSpPr>
          <p:nvPr/>
        </p:nvSpPr>
        <p:spPr bwMode="auto">
          <a:xfrm>
            <a:off x="5997575" y="1341438"/>
            <a:ext cx="685800" cy="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79" name="Line 31"/>
          <p:cNvSpPr>
            <a:spLocks noChangeShapeType="1"/>
          </p:cNvSpPr>
          <p:nvPr/>
        </p:nvSpPr>
        <p:spPr bwMode="auto">
          <a:xfrm>
            <a:off x="6007100" y="1328738"/>
            <a:ext cx="0" cy="22860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80" name="Line 32"/>
          <p:cNvSpPr>
            <a:spLocks noChangeShapeType="1"/>
          </p:cNvSpPr>
          <p:nvPr/>
        </p:nvSpPr>
        <p:spPr bwMode="auto">
          <a:xfrm>
            <a:off x="5626100" y="1557338"/>
            <a:ext cx="381000" cy="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1545" name="Text Box 33"/>
          <p:cNvSpPr txBox="1"/>
          <p:nvPr/>
        </p:nvSpPr>
        <p:spPr>
          <a:xfrm>
            <a:off x="7820025" y="1016000"/>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1546" name="Text Box 34"/>
          <p:cNvSpPr txBox="1"/>
          <p:nvPr/>
        </p:nvSpPr>
        <p:spPr>
          <a:xfrm>
            <a:off x="7759700" y="1023938"/>
            <a:ext cx="592138" cy="1554162"/>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155683" name="Text Box 35"/>
          <p:cNvSpPr txBox="1"/>
          <p:nvPr/>
        </p:nvSpPr>
        <p:spPr>
          <a:xfrm>
            <a:off x="3476625" y="1312863"/>
            <a:ext cx="769938" cy="588962"/>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155684" name="Line 36"/>
          <p:cNvSpPr>
            <a:spLocks noChangeShapeType="1"/>
          </p:cNvSpPr>
          <p:nvPr/>
        </p:nvSpPr>
        <p:spPr bwMode="auto">
          <a:xfrm flipV="1">
            <a:off x="4102100" y="1377950"/>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86" name="Text Box 38"/>
          <p:cNvSpPr txBox="1"/>
          <p:nvPr/>
        </p:nvSpPr>
        <p:spPr>
          <a:xfrm>
            <a:off x="4756150" y="4852988"/>
            <a:ext cx="1047750" cy="1854200"/>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Vptr</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b</a:t>
            </a:r>
            <a:endParaRPr lang="en-US" altLang="zh-CN" sz="3200" b="1" dirty="0">
              <a:solidFill>
                <a:srgbClr val="FF0000"/>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c</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321550" name="Text Box 39"/>
          <p:cNvSpPr txBox="1"/>
          <p:nvPr/>
        </p:nvSpPr>
        <p:spPr>
          <a:xfrm>
            <a:off x="6753225" y="4638675"/>
            <a:ext cx="857250" cy="1570038"/>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B::g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C::h</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155688" name="Line 40"/>
          <p:cNvSpPr>
            <a:spLocks noChangeShapeType="1"/>
          </p:cNvSpPr>
          <p:nvPr/>
        </p:nvSpPr>
        <p:spPr bwMode="auto">
          <a:xfrm>
            <a:off x="6007100" y="4929188"/>
            <a:ext cx="685800" cy="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89" name="Line 41"/>
          <p:cNvSpPr>
            <a:spLocks noChangeShapeType="1"/>
          </p:cNvSpPr>
          <p:nvPr/>
        </p:nvSpPr>
        <p:spPr bwMode="auto">
          <a:xfrm>
            <a:off x="6007100" y="4929188"/>
            <a:ext cx="0" cy="22860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90" name="Line 42"/>
          <p:cNvSpPr>
            <a:spLocks noChangeShapeType="1"/>
          </p:cNvSpPr>
          <p:nvPr/>
        </p:nvSpPr>
        <p:spPr bwMode="auto">
          <a:xfrm>
            <a:off x="5626100" y="5157788"/>
            <a:ext cx="381000" cy="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321554" name="Text Box 43"/>
          <p:cNvSpPr txBox="1"/>
          <p:nvPr/>
        </p:nvSpPr>
        <p:spPr>
          <a:xfrm>
            <a:off x="7820025" y="4616450"/>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1555" name="Text Box 44"/>
          <p:cNvSpPr txBox="1"/>
          <p:nvPr/>
        </p:nvSpPr>
        <p:spPr>
          <a:xfrm>
            <a:off x="7759700" y="4624388"/>
            <a:ext cx="592138" cy="1554162"/>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155693" name="Text Box 45"/>
          <p:cNvSpPr txBox="1"/>
          <p:nvPr/>
        </p:nvSpPr>
        <p:spPr>
          <a:xfrm>
            <a:off x="3476625" y="4913313"/>
            <a:ext cx="769938" cy="588962"/>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155694" name="Line 46"/>
          <p:cNvSpPr>
            <a:spLocks noChangeShapeType="1"/>
          </p:cNvSpPr>
          <p:nvPr/>
        </p:nvSpPr>
        <p:spPr bwMode="auto">
          <a:xfrm flipV="1">
            <a:off x="4102100" y="4978400"/>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155695" name="Text Box 47"/>
          <p:cNvSpPr txBox="1"/>
          <p:nvPr/>
        </p:nvSpPr>
        <p:spPr>
          <a:xfrm>
            <a:off x="957263" y="1387475"/>
            <a:ext cx="2771775"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A *pa = new A</a:t>
            </a:r>
            <a:r>
              <a:rPr lang="zh-CN" altLang="en-US" sz="2400" b="1" dirty="0">
                <a:solidFill>
                  <a:srgbClr val="FFFFFF"/>
                </a:solidFill>
                <a:latin typeface="Times New Roman" panose="02020603050405020304" pitchFamily="18" charset="0"/>
                <a:ea typeface="宋体" panose="02010600030101010101" pitchFamily="2" charset="-122"/>
              </a:rPr>
              <a:t>；</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155696" name="Text Box 48"/>
          <p:cNvSpPr txBox="1"/>
          <p:nvPr/>
        </p:nvSpPr>
        <p:spPr>
          <a:xfrm>
            <a:off x="920750" y="4987925"/>
            <a:ext cx="2268538"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pa</a:t>
            </a:r>
            <a:r>
              <a:rPr lang="zh-CN" altLang="en-US" sz="2400" b="1" dirty="0">
                <a:solidFill>
                  <a:srgbClr val="FFFFFF"/>
                </a:solidFill>
                <a:latin typeface="Times New Roman" panose="02020603050405020304" pitchFamily="18" charset="0"/>
                <a:ea typeface="宋体" panose="02010600030101010101" pitchFamily="2" charset="-122"/>
              </a:rPr>
              <a:t>指向</a:t>
            </a:r>
            <a:r>
              <a:rPr lang="en-US" altLang="zh-CN" sz="2400" b="1" dirty="0">
                <a:solidFill>
                  <a:srgbClr val="FFFFFF"/>
                </a:solidFill>
                <a:latin typeface="Times New Roman" panose="02020603050405020304" pitchFamily="18" charset="0"/>
                <a:ea typeface="宋体" panose="02010600030101010101" pitchFamily="2" charset="-122"/>
              </a:rPr>
              <a:t>C</a:t>
            </a:r>
            <a:r>
              <a:rPr lang="zh-CN" altLang="en-US" sz="2400" b="1" dirty="0">
                <a:solidFill>
                  <a:srgbClr val="FFFFFF"/>
                </a:solidFill>
                <a:latin typeface="Times New Roman" panose="02020603050405020304" pitchFamily="18" charset="0"/>
                <a:ea typeface="宋体" panose="02010600030101010101" pitchFamily="2" charset="-122"/>
              </a:rPr>
              <a:t>类对象</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321560" name="Text Box 49"/>
          <p:cNvSpPr txBox="1"/>
          <p:nvPr/>
        </p:nvSpPr>
        <p:spPr>
          <a:xfrm>
            <a:off x="6789738" y="2838450"/>
            <a:ext cx="857250" cy="1570038"/>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A::f</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B::g</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A::h</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321561" name="Text Box 50"/>
          <p:cNvSpPr txBox="1"/>
          <p:nvPr/>
        </p:nvSpPr>
        <p:spPr>
          <a:xfrm>
            <a:off x="7856538" y="2816225"/>
            <a:ext cx="184150" cy="579438"/>
          </a:xfrm>
          <a:prstGeom prst="rect">
            <a:avLst/>
          </a:prstGeom>
          <a:noFill/>
          <a:ln w="9525">
            <a:noFill/>
          </a:ln>
        </p:spPr>
        <p:txBody>
          <a:bodyPr wrap="none" anchor="t">
            <a:spAutoFit/>
          </a:bodyPr>
          <a:p>
            <a:endParaRPr lang="en-US" altLang="zh-CN" sz="3200" b="1" dirty="0">
              <a:solidFill>
                <a:srgbClr val="FFFFFF"/>
              </a:solidFill>
              <a:latin typeface="Times New Roman" panose="02020603050405020304" pitchFamily="18" charset="0"/>
              <a:ea typeface="宋体" panose="02010600030101010101" pitchFamily="2" charset="-122"/>
            </a:endParaRPr>
          </a:p>
        </p:txBody>
      </p:sp>
      <p:sp>
        <p:nvSpPr>
          <p:cNvPr id="321562" name="Text Box 51"/>
          <p:cNvSpPr txBox="1"/>
          <p:nvPr/>
        </p:nvSpPr>
        <p:spPr>
          <a:xfrm>
            <a:off x="7796213" y="2824163"/>
            <a:ext cx="592137" cy="1554162"/>
          </a:xfrm>
          <a:prstGeom prst="rect">
            <a:avLst/>
          </a:prstGeom>
          <a:noFill/>
          <a:ln w="9525">
            <a:noFill/>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[0]</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[1]</a:t>
            </a:r>
            <a:endParaRPr lang="en-US" altLang="zh-CN" sz="3200" b="1" dirty="0">
              <a:solidFill>
                <a:srgbClr val="FFFFFF"/>
              </a:solidFill>
              <a:latin typeface="Arial Narrow" panose="020B0606020202030204" pitchFamily="34" charset="0"/>
              <a:ea typeface="宋体" panose="02010600030101010101" pitchFamily="2" charset="-122"/>
            </a:endParaRPr>
          </a:p>
          <a:p>
            <a:r>
              <a:rPr lang="en-US" altLang="zh-CN" sz="3200" b="1" dirty="0">
                <a:solidFill>
                  <a:srgbClr val="FFFFFF"/>
                </a:solidFill>
                <a:latin typeface="Arial Narrow" panose="020B0606020202030204" pitchFamily="34" charset="0"/>
                <a:ea typeface="宋体" panose="02010600030101010101" pitchFamily="2" charset="-122"/>
              </a:rPr>
              <a:t>[2]</a:t>
            </a:r>
            <a:endParaRPr lang="en-US" altLang="zh-CN" sz="3200" b="1" dirty="0">
              <a:solidFill>
                <a:srgbClr val="FFFFFF"/>
              </a:solidFill>
              <a:latin typeface="Arial Narrow" panose="020B0606020202030204" pitchFamily="34" charset="0"/>
              <a:ea typeface="宋体" panose="02010600030101010101" pitchFamily="2" charset="-122"/>
            </a:endParaRPr>
          </a:p>
        </p:txBody>
      </p:sp>
      <p:sp>
        <p:nvSpPr>
          <p:cNvPr id="321563" name="Text Box 52"/>
          <p:cNvSpPr txBox="1"/>
          <p:nvPr/>
        </p:nvSpPr>
        <p:spPr>
          <a:xfrm>
            <a:off x="6300788" y="368300"/>
            <a:ext cx="2519362"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A</a:t>
            </a:r>
            <a:r>
              <a:rPr lang="zh-CN" altLang="en-US" sz="2400" b="1" dirty="0">
                <a:solidFill>
                  <a:srgbClr val="FFFFFF"/>
                </a:solidFill>
                <a:latin typeface="Times New Roman" panose="02020603050405020304" pitchFamily="18" charset="0"/>
                <a:ea typeface="宋体" panose="02010600030101010101" pitchFamily="2" charset="-122"/>
              </a:rPr>
              <a:t>、</a:t>
            </a:r>
            <a:r>
              <a:rPr lang="en-US" altLang="zh-CN" sz="2400" b="1" dirty="0">
                <a:solidFill>
                  <a:srgbClr val="FFFFFF"/>
                </a:solidFill>
                <a:latin typeface="Times New Roman" panose="02020603050405020304" pitchFamily="18" charset="0"/>
                <a:ea typeface="宋体" panose="02010600030101010101" pitchFamily="2" charset="-122"/>
              </a:rPr>
              <a:t>B</a:t>
            </a:r>
            <a:r>
              <a:rPr lang="zh-CN" altLang="en-US" sz="2400" b="1" dirty="0">
                <a:solidFill>
                  <a:srgbClr val="FFFFFF"/>
                </a:solidFill>
                <a:latin typeface="Times New Roman" panose="02020603050405020304" pitchFamily="18" charset="0"/>
                <a:ea typeface="宋体" panose="02010600030101010101" pitchFamily="2" charset="-122"/>
              </a:rPr>
              <a:t>、</a:t>
            </a:r>
            <a:r>
              <a:rPr lang="en-US" altLang="zh-CN" sz="2400" b="1" dirty="0">
                <a:solidFill>
                  <a:srgbClr val="FFFFFF"/>
                </a:solidFill>
                <a:latin typeface="Times New Roman" panose="02020603050405020304" pitchFamily="18" charset="0"/>
                <a:ea typeface="宋体" panose="02010600030101010101" pitchFamily="2" charset="-122"/>
              </a:rPr>
              <a:t>C</a:t>
            </a:r>
            <a:r>
              <a:rPr lang="zh-CN" altLang="en-US" sz="2400" b="1" dirty="0">
                <a:solidFill>
                  <a:srgbClr val="FFFFFF"/>
                </a:solidFill>
                <a:latin typeface="Times New Roman" panose="02020603050405020304" pitchFamily="18" charset="0"/>
                <a:ea typeface="宋体" panose="02010600030101010101" pitchFamily="2" charset="-122"/>
              </a:rPr>
              <a:t>的虚表</a:t>
            </a:r>
            <a:endParaRPr lang="zh-CN" altLang="en-US" sz="2400" b="1" dirty="0">
              <a:solidFill>
                <a:srgbClr val="FFFFFF"/>
              </a:solidFill>
              <a:latin typeface="Times New Roman" panose="02020603050405020304" pitchFamily="18" charset="0"/>
              <a:ea typeface="宋体" panose="02010600030101010101" pitchFamily="2" charset="-122"/>
            </a:endParaRPr>
          </a:p>
        </p:txBody>
      </p:sp>
      <p:sp>
        <p:nvSpPr>
          <p:cNvPr id="2" name="Text Box 28"/>
          <p:cNvSpPr txBox="1"/>
          <p:nvPr/>
        </p:nvSpPr>
        <p:spPr>
          <a:xfrm>
            <a:off x="4772025" y="3098800"/>
            <a:ext cx="1047750" cy="1416050"/>
          </a:xfrm>
          <a:prstGeom prst="rect">
            <a:avLst/>
          </a:prstGeom>
          <a:noFill/>
          <a:ln w="9525" cap="flat" cmpd="sng">
            <a:solidFill>
              <a:schemeClr val="accent1"/>
            </a:solidFill>
            <a:prstDash val="solid"/>
            <a:miter/>
            <a:headEnd type="none" w="med" len="med"/>
            <a:tailEnd type="none" w="med" len="med"/>
          </a:ln>
        </p:spPr>
        <p:txBody>
          <a:bodyPr wrap="none" anchor="t">
            <a:spAutoFit/>
          </a:bodyPr>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Vptr</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FFFF"/>
                </a:solidFill>
                <a:latin typeface="Arial Narrow" panose="020B0606020202030204" pitchFamily="34" charset="0"/>
                <a:ea typeface="宋体" panose="02010600030101010101" pitchFamily="2" charset="-122"/>
              </a:rPr>
              <a:t>a</a:t>
            </a:r>
            <a:endParaRPr lang="en-US" altLang="zh-CN" sz="3200" b="1" dirty="0">
              <a:solidFill>
                <a:srgbClr val="FFFFFF"/>
              </a:solidFill>
              <a:latin typeface="Arial Narrow" panose="020B0606020202030204" pitchFamily="34" charset="0"/>
              <a:ea typeface="宋体" panose="02010600030101010101" pitchFamily="2" charset="-122"/>
            </a:endParaRPr>
          </a:p>
          <a:p>
            <a:pPr algn="ctr">
              <a:lnSpc>
                <a:spcPct val="90000"/>
              </a:lnSpc>
            </a:pPr>
            <a:r>
              <a:rPr lang="en-US" altLang="zh-CN" sz="3200" b="1" dirty="0">
                <a:solidFill>
                  <a:srgbClr val="FF0000"/>
                </a:solidFill>
                <a:latin typeface="Arial Narrow" panose="020B0606020202030204" pitchFamily="34" charset="0"/>
                <a:ea typeface="宋体" panose="02010600030101010101" pitchFamily="2" charset="-122"/>
              </a:rPr>
              <a:t>b</a:t>
            </a:r>
            <a:endParaRPr lang="en-US" altLang="zh-CN" sz="3200" b="1" dirty="0">
              <a:solidFill>
                <a:srgbClr val="FF0000"/>
              </a:solidFill>
              <a:latin typeface="Arial Narrow" panose="020B0606020202030204" pitchFamily="34" charset="0"/>
              <a:ea typeface="宋体" panose="02010600030101010101" pitchFamily="2" charset="-122"/>
            </a:endParaRPr>
          </a:p>
        </p:txBody>
      </p:sp>
      <p:sp>
        <p:nvSpPr>
          <p:cNvPr id="3" name="Line 30"/>
          <p:cNvSpPr>
            <a:spLocks noChangeShapeType="1"/>
          </p:cNvSpPr>
          <p:nvPr/>
        </p:nvSpPr>
        <p:spPr bwMode="auto">
          <a:xfrm>
            <a:off x="6013450" y="3187700"/>
            <a:ext cx="685800" cy="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4" name="Line 31"/>
          <p:cNvSpPr>
            <a:spLocks noChangeShapeType="1"/>
          </p:cNvSpPr>
          <p:nvPr/>
        </p:nvSpPr>
        <p:spPr bwMode="auto">
          <a:xfrm>
            <a:off x="6022975" y="3175000"/>
            <a:ext cx="0" cy="22860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Line 32"/>
          <p:cNvSpPr>
            <a:spLocks noChangeShapeType="1"/>
          </p:cNvSpPr>
          <p:nvPr/>
        </p:nvSpPr>
        <p:spPr bwMode="auto">
          <a:xfrm>
            <a:off x="5641975" y="3403600"/>
            <a:ext cx="381000" cy="0"/>
          </a:xfrm>
          <a:prstGeom prst="line">
            <a:avLst/>
          </a:prstGeom>
          <a:noFill/>
          <a:ln w="9525">
            <a:solidFill>
              <a:schemeClr val="tx1"/>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Text Box 35"/>
          <p:cNvSpPr txBox="1"/>
          <p:nvPr/>
        </p:nvSpPr>
        <p:spPr>
          <a:xfrm>
            <a:off x="3492500" y="3159125"/>
            <a:ext cx="769938" cy="588963"/>
          </a:xfrm>
          <a:prstGeom prst="rect">
            <a:avLst/>
          </a:prstGeom>
          <a:noFill/>
          <a:ln w="9525" cap="flat" cmpd="sng">
            <a:solidFill>
              <a:schemeClr val="accent1"/>
            </a:solidFill>
            <a:prstDash val="solid"/>
            <a:miter/>
            <a:headEnd type="none" w="med" len="med"/>
            <a:tailEnd type="none" w="med" len="med"/>
          </a:ln>
        </p:spPr>
        <p:txBody>
          <a:bodyPr wrap="none" anchor="t">
            <a:spAutoFit/>
          </a:bodyPr>
          <a:p>
            <a:r>
              <a:rPr lang="en-US" altLang="zh-CN" sz="3200" b="1" dirty="0">
                <a:solidFill>
                  <a:srgbClr val="FFFFFF"/>
                </a:solidFill>
                <a:latin typeface="Arial Narrow" panose="020B0606020202030204" pitchFamily="34" charset="0"/>
                <a:ea typeface="宋体" panose="02010600030101010101" pitchFamily="2" charset="-122"/>
              </a:rPr>
              <a:t>pa</a:t>
            </a:r>
            <a:r>
              <a:rPr lang="en-US" altLang="zh-CN" sz="3200" b="1" dirty="0">
                <a:solidFill>
                  <a:srgbClr val="FFFFFF"/>
                </a:solidFill>
                <a:latin typeface="Arial Narrow" panose="020B0606020202030204" pitchFamily="34" charset="0"/>
                <a:ea typeface="宋体" panose="02010600030101010101" pitchFamily="2" charset="-122"/>
                <a:sym typeface="Symbol" panose="05050102010706020507" pitchFamily="18" charset="2"/>
              </a:rPr>
              <a:t></a:t>
            </a:r>
            <a:endParaRPr lang="en-US" altLang="zh-CN" sz="3200" b="1" dirty="0">
              <a:solidFill>
                <a:srgbClr val="777777"/>
              </a:solidFill>
              <a:latin typeface="Arial Narrow" panose="020B0606020202030204" pitchFamily="34" charset="0"/>
              <a:ea typeface="宋体" panose="02010600030101010101" pitchFamily="2" charset="-122"/>
              <a:sym typeface="Symbol" panose="05050102010706020507" pitchFamily="18" charset="2"/>
            </a:endParaRPr>
          </a:p>
        </p:txBody>
      </p:sp>
      <p:sp>
        <p:nvSpPr>
          <p:cNvPr id="7" name="Line 36"/>
          <p:cNvSpPr>
            <a:spLocks noChangeShapeType="1"/>
          </p:cNvSpPr>
          <p:nvPr/>
        </p:nvSpPr>
        <p:spPr bwMode="auto">
          <a:xfrm flipV="1">
            <a:off x="4117975" y="3224213"/>
            <a:ext cx="609600" cy="228600"/>
          </a:xfrm>
          <a:prstGeom prst="line">
            <a:avLst/>
          </a:prstGeom>
          <a:noFill/>
          <a:ln w="9525">
            <a:solidFill>
              <a:schemeClr val="tx1"/>
            </a:solidFill>
            <a:round/>
            <a:tailEnd type="triangle" w="med" len="me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 name="Text Box 47"/>
          <p:cNvSpPr txBox="1"/>
          <p:nvPr/>
        </p:nvSpPr>
        <p:spPr>
          <a:xfrm>
            <a:off x="973138" y="3233738"/>
            <a:ext cx="2771775" cy="457200"/>
          </a:xfrm>
          <a:prstGeom prst="rect">
            <a:avLst/>
          </a:prstGeom>
          <a:noFill/>
          <a:ln w="9525">
            <a:noFill/>
          </a:ln>
        </p:spPr>
        <p:txBody>
          <a:bodyPr anchor="t">
            <a:spAutoFit/>
          </a:bodyPr>
          <a:p>
            <a:pPr eaLnBrk="0" hangingPunct="0">
              <a:spcBef>
                <a:spcPct val="50000"/>
              </a:spcBef>
            </a:pPr>
            <a:r>
              <a:rPr lang="en-US" altLang="zh-CN" sz="2400" b="1" dirty="0">
                <a:solidFill>
                  <a:srgbClr val="FFFFFF"/>
                </a:solidFill>
                <a:latin typeface="Times New Roman" panose="02020603050405020304" pitchFamily="18" charset="0"/>
                <a:ea typeface="宋体" panose="02010600030101010101" pitchFamily="2" charset="-122"/>
              </a:rPr>
              <a:t>A *pa = new B</a:t>
            </a:r>
            <a:r>
              <a:rPr lang="zh-CN" altLang="en-US" sz="2400" b="1" dirty="0">
                <a:solidFill>
                  <a:srgbClr val="FFFFFF"/>
                </a:solidFill>
                <a:latin typeface="Times New Roman" panose="02020603050405020304" pitchFamily="18" charset="0"/>
                <a:ea typeface="宋体" panose="02010600030101010101" pitchFamily="2" charset="-122"/>
              </a:rPr>
              <a:t>；</a:t>
            </a:r>
            <a:endParaRPr lang="zh-CN" altLang="en-US" sz="2400" b="1" dirty="0">
              <a:solidFill>
                <a:srgbClr val="FFFFFF"/>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95"/>
                                        </p:tgtEl>
                                        <p:attrNameLst>
                                          <p:attrName>style.visibility</p:attrName>
                                        </p:attrNameLst>
                                      </p:cBhvr>
                                      <p:to>
                                        <p:strVal val="visible"/>
                                      </p:to>
                                    </p:set>
                                    <p:animEffect transition="in" filter="wipe(left)">
                                      <p:cBhvr>
                                        <p:cTn id="7" dur="500"/>
                                        <p:tgtEl>
                                          <p:spTgt spid="155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76"/>
                                        </p:tgtEl>
                                        <p:attrNameLst>
                                          <p:attrName>style.visibility</p:attrName>
                                        </p:attrNameLst>
                                      </p:cBhvr>
                                      <p:to>
                                        <p:strVal val="visible"/>
                                      </p:to>
                                    </p:set>
                                    <p:animEffect transition="in" filter="wipe(left)">
                                      <p:cBhvr>
                                        <p:cTn id="12" dur="500"/>
                                        <p:tgtEl>
                                          <p:spTgt spid="155676"/>
                                        </p:tgtEl>
                                      </p:cBhvr>
                                    </p:animEffect>
                                  </p:childTnLst>
                                </p:cTn>
                              </p:par>
                              <p:par>
                                <p:cTn id="13" presetID="22" presetClass="entr" presetSubtype="8" fill="hold" nodeType="withEffect">
                                  <p:stCondLst>
                                    <p:cond delay="0"/>
                                  </p:stCondLst>
                                  <p:childTnLst>
                                    <p:set>
                                      <p:cBhvr>
                                        <p:cTn id="14" dur="1" fill="hold">
                                          <p:stCondLst>
                                            <p:cond delay="0"/>
                                          </p:stCondLst>
                                        </p:cTn>
                                        <p:tgtEl>
                                          <p:spTgt spid="155678"/>
                                        </p:tgtEl>
                                        <p:attrNameLst>
                                          <p:attrName>style.visibility</p:attrName>
                                        </p:attrNameLst>
                                      </p:cBhvr>
                                      <p:to>
                                        <p:strVal val="visible"/>
                                      </p:to>
                                    </p:set>
                                    <p:animEffect transition="in" filter="wipe(left)">
                                      <p:cBhvr>
                                        <p:cTn id="15" dur="500"/>
                                        <p:tgtEl>
                                          <p:spTgt spid="155678"/>
                                        </p:tgtEl>
                                      </p:cBhvr>
                                    </p:animEffect>
                                  </p:childTnLst>
                                </p:cTn>
                              </p:par>
                              <p:par>
                                <p:cTn id="16" presetID="22" presetClass="entr" presetSubtype="8" fill="hold" nodeType="withEffect">
                                  <p:stCondLst>
                                    <p:cond delay="0"/>
                                  </p:stCondLst>
                                  <p:childTnLst>
                                    <p:set>
                                      <p:cBhvr>
                                        <p:cTn id="17" dur="1" fill="hold">
                                          <p:stCondLst>
                                            <p:cond delay="0"/>
                                          </p:stCondLst>
                                        </p:cTn>
                                        <p:tgtEl>
                                          <p:spTgt spid="155679"/>
                                        </p:tgtEl>
                                        <p:attrNameLst>
                                          <p:attrName>style.visibility</p:attrName>
                                        </p:attrNameLst>
                                      </p:cBhvr>
                                      <p:to>
                                        <p:strVal val="visible"/>
                                      </p:to>
                                    </p:set>
                                    <p:animEffect transition="in" filter="wipe(left)">
                                      <p:cBhvr>
                                        <p:cTn id="18" dur="500"/>
                                        <p:tgtEl>
                                          <p:spTgt spid="155679"/>
                                        </p:tgtEl>
                                      </p:cBhvr>
                                    </p:animEffect>
                                  </p:childTnLst>
                                </p:cTn>
                              </p:par>
                              <p:par>
                                <p:cTn id="19" presetID="22" presetClass="entr" presetSubtype="8" fill="hold" nodeType="withEffect">
                                  <p:stCondLst>
                                    <p:cond delay="0"/>
                                  </p:stCondLst>
                                  <p:childTnLst>
                                    <p:set>
                                      <p:cBhvr>
                                        <p:cTn id="20" dur="1" fill="hold">
                                          <p:stCondLst>
                                            <p:cond delay="0"/>
                                          </p:stCondLst>
                                        </p:cTn>
                                        <p:tgtEl>
                                          <p:spTgt spid="155680"/>
                                        </p:tgtEl>
                                        <p:attrNameLst>
                                          <p:attrName>style.visibility</p:attrName>
                                        </p:attrNameLst>
                                      </p:cBhvr>
                                      <p:to>
                                        <p:strVal val="visible"/>
                                      </p:to>
                                    </p:set>
                                    <p:animEffect transition="in" filter="wipe(left)">
                                      <p:cBhvr>
                                        <p:cTn id="21" dur="500"/>
                                        <p:tgtEl>
                                          <p:spTgt spid="15568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5683"/>
                                        </p:tgtEl>
                                        <p:attrNameLst>
                                          <p:attrName>style.visibility</p:attrName>
                                        </p:attrNameLst>
                                      </p:cBhvr>
                                      <p:to>
                                        <p:strVal val="visible"/>
                                      </p:to>
                                    </p:set>
                                    <p:animEffect transition="in" filter="wipe(left)">
                                      <p:cBhvr>
                                        <p:cTn id="26" dur="500"/>
                                        <p:tgtEl>
                                          <p:spTgt spid="155683"/>
                                        </p:tgtEl>
                                      </p:cBhvr>
                                    </p:animEffect>
                                  </p:childTnLst>
                                </p:cTn>
                              </p:par>
                              <p:par>
                                <p:cTn id="27" presetID="22" presetClass="entr" presetSubtype="8" fill="hold" nodeType="withEffect">
                                  <p:stCondLst>
                                    <p:cond delay="0"/>
                                  </p:stCondLst>
                                  <p:childTnLst>
                                    <p:set>
                                      <p:cBhvr>
                                        <p:cTn id="28" dur="1" fill="hold">
                                          <p:stCondLst>
                                            <p:cond delay="0"/>
                                          </p:stCondLst>
                                        </p:cTn>
                                        <p:tgtEl>
                                          <p:spTgt spid="155684"/>
                                        </p:tgtEl>
                                        <p:attrNameLst>
                                          <p:attrName>style.visibility</p:attrName>
                                        </p:attrNameLst>
                                      </p:cBhvr>
                                      <p:to>
                                        <p:strVal val="visible"/>
                                      </p:to>
                                    </p:set>
                                    <p:animEffect transition="in" filter="wipe(left)">
                                      <p:cBhvr>
                                        <p:cTn id="29" dur="500"/>
                                        <p:tgtEl>
                                          <p:spTgt spid="15568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5696"/>
                                        </p:tgtEl>
                                        <p:attrNameLst>
                                          <p:attrName>style.visibility</p:attrName>
                                        </p:attrNameLst>
                                      </p:cBhvr>
                                      <p:to>
                                        <p:strVal val="visible"/>
                                      </p:to>
                                    </p:set>
                                    <p:animEffect transition="in" filter="wipe(left)">
                                      <p:cBhvr>
                                        <p:cTn id="34" dur="500"/>
                                        <p:tgtEl>
                                          <p:spTgt spid="15569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5686"/>
                                        </p:tgtEl>
                                        <p:attrNameLst>
                                          <p:attrName>style.visibility</p:attrName>
                                        </p:attrNameLst>
                                      </p:cBhvr>
                                      <p:to>
                                        <p:strVal val="visible"/>
                                      </p:to>
                                    </p:set>
                                    <p:animEffect transition="in" filter="wipe(left)">
                                      <p:cBhvr>
                                        <p:cTn id="39" dur="500"/>
                                        <p:tgtEl>
                                          <p:spTgt spid="155686"/>
                                        </p:tgtEl>
                                      </p:cBhvr>
                                    </p:animEffect>
                                  </p:childTnLst>
                                </p:cTn>
                              </p:par>
                              <p:par>
                                <p:cTn id="40" presetID="22" presetClass="entr" presetSubtype="8" fill="hold" nodeType="withEffect">
                                  <p:stCondLst>
                                    <p:cond delay="0"/>
                                  </p:stCondLst>
                                  <p:childTnLst>
                                    <p:set>
                                      <p:cBhvr>
                                        <p:cTn id="41" dur="1" fill="hold">
                                          <p:stCondLst>
                                            <p:cond delay="0"/>
                                          </p:stCondLst>
                                        </p:cTn>
                                        <p:tgtEl>
                                          <p:spTgt spid="155688"/>
                                        </p:tgtEl>
                                        <p:attrNameLst>
                                          <p:attrName>style.visibility</p:attrName>
                                        </p:attrNameLst>
                                      </p:cBhvr>
                                      <p:to>
                                        <p:strVal val="visible"/>
                                      </p:to>
                                    </p:set>
                                    <p:animEffect transition="in" filter="wipe(left)">
                                      <p:cBhvr>
                                        <p:cTn id="42" dur="500"/>
                                        <p:tgtEl>
                                          <p:spTgt spid="155688"/>
                                        </p:tgtEl>
                                      </p:cBhvr>
                                    </p:animEffect>
                                  </p:childTnLst>
                                </p:cTn>
                              </p:par>
                              <p:par>
                                <p:cTn id="43" presetID="22" presetClass="entr" presetSubtype="8" fill="hold" nodeType="withEffect">
                                  <p:stCondLst>
                                    <p:cond delay="0"/>
                                  </p:stCondLst>
                                  <p:childTnLst>
                                    <p:set>
                                      <p:cBhvr>
                                        <p:cTn id="44" dur="1" fill="hold">
                                          <p:stCondLst>
                                            <p:cond delay="0"/>
                                          </p:stCondLst>
                                        </p:cTn>
                                        <p:tgtEl>
                                          <p:spTgt spid="155689"/>
                                        </p:tgtEl>
                                        <p:attrNameLst>
                                          <p:attrName>style.visibility</p:attrName>
                                        </p:attrNameLst>
                                      </p:cBhvr>
                                      <p:to>
                                        <p:strVal val="visible"/>
                                      </p:to>
                                    </p:set>
                                    <p:animEffect transition="in" filter="wipe(left)">
                                      <p:cBhvr>
                                        <p:cTn id="45" dur="500"/>
                                        <p:tgtEl>
                                          <p:spTgt spid="155689"/>
                                        </p:tgtEl>
                                      </p:cBhvr>
                                    </p:animEffect>
                                  </p:childTnLst>
                                </p:cTn>
                              </p:par>
                              <p:par>
                                <p:cTn id="46" presetID="22" presetClass="entr" presetSubtype="8" fill="hold" nodeType="withEffect">
                                  <p:stCondLst>
                                    <p:cond delay="0"/>
                                  </p:stCondLst>
                                  <p:childTnLst>
                                    <p:set>
                                      <p:cBhvr>
                                        <p:cTn id="47" dur="1" fill="hold">
                                          <p:stCondLst>
                                            <p:cond delay="0"/>
                                          </p:stCondLst>
                                        </p:cTn>
                                        <p:tgtEl>
                                          <p:spTgt spid="155690"/>
                                        </p:tgtEl>
                                        <p:attrNameLst>
                                          <p:attrName>style.visibility</p:attrName>
                                        </p:attrNameLst>
                                      </p:cBhvr>
                                      <p:to>
                                        <p:strVal val="visible"/>
                                      </p:to>
                                    </p:set>
                                    <p:animEffect transition="in" filter="wipe(left)">
                                      <p:cBhvr>
                                        <p:cTn id="48" dur="500"/>
                                        <p:tgtEl>
                                          <p:spTgt spid="15569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5693"/>
                                        </p:tgtEl>
                                        <p:attrNameLst>
                                          <p:attrName>style.visibility</p:attrName>
                                        </p:attrNameLst>
                                      </p:cBhvr>
                                      <p:to>
                                        <p:strVal val="visible"/>
                                      </p:to>
                                    </p:set>
                                    <p:animEffect transition="in" filter="wipe(left)">
                                      <p:cBhvr>
                                        <p:cTn id="53" dur="500"/>
                                        <p:tgtEl>
                                          <p:spTgt spid="155693"/>
                                        </p:tgtEl>
                                      </p:cBhvr>
                                    </p:animEffect>
                                  </p:childTnLst>
                                </p:cTn>
                              </p:par>
                              <p:par>
                                <p:cTn id="54" presetID="22" presetClass="entr" presetSubtype="8" fill="hold" nodeType="withEffect">
                                  <p:stCondLst>
                                    <p:cond delay="0"/>
                                  </p:stCondLst>
                                  <p:childTnLst>
                                    <p:set>
                                      <p:cBhvr>
                                        <p:cTn id="55" dur="1" fill="hold">
                                          <p:stCondLst>
                                            <p:cond delay="0"/>
                                          </p:stCondLst>
                                        </p:cTn>
                                        <p:tgtEl>
                                          <p:spTgt spid="155694"/>
                                        </p:tgtEl>
                                        <p:attrNameLst>
                                          <p:attrName>style.visibility</p:attrName>
                                        </p:attrNameLst>
                                      </p:cBhvr>
                                      <p:to>
                                        <p:strVal val="visible"/>
                                      </p:to>
                                    </p:set>
                                    <p:animEffect transition="in" filter="wipe(left)">
                                      <p:cBhvr>
                                        <p:cTn id="56" dur="500"/>
                                        <p:tgtEl>
                                          <p:spTgt spid="15569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wipe(left)">
                                      <p:cBhvr>
                                        <p:cTn id="66" dur="500"/>
                                        <p:tgtEl>
                                          <p:spTgt spid="2"/>
                                        </p:tgtEl>
                                      </p:cBhvr>
                                    </p:animEffect>
                                  </p:childTnLst>
                                </p:cTn>
                              </p:par>
                              <p:par>
                                <p:cTn id="67" presetID="22" presetClass="entr" presetSubtype="8" fill="hold" nodeType="with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ipe(left)">
                                      <p:cBhvr>
                                        <p:cTn id="69" dur="500"/>
                                        <p:tgtEl>
                                          <p:spTgt spid="3"/>
                                        </p:tgtEl>
                                      </p:cBhvr>
                                    </p:animEffect>
                                  </p:childTnLst>
                                </p:cTn>
                              </p:par>
                              <p:par>
                                <p:cTn id="70" presetID="22" presetClass="entr" presetSubtype="8" fill="hold"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left)">
                                      <p:cBhvr>
                                        <p:cTn id="72" dur="500"/>
                                        <p:tgtEl>
                                          <p:spTgt spid="4"/>
                                        </p:tgtEl>
                                      </p:cBhvr>
                                    </p:animEffect>
                                  </p:childTnLst>
                                </p:cTn>
                              </p:par>
                              <p:par>
                                <p:cTn id="73" presetID="22" presetClass="entr" presetSubtype="8" fill="hold" nodeType="with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wipe(left)">
                                      <p:cBhvr>
                                        <p:cTn id="75" dur="500"/>
                                        <p:tgtEl>
                                          <p:spTgt spid="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wipe(left)">
                                      <p:cBhvr>
                                        <p:cTn id="80" dur="500"/>
                                        <p:tgtEl>
                                          <p:spTgt spid="6"/>
                                        </p:tgtEl>
                                      </p:cBhvr>
                                    </p:animEffect>
                                  </p:childTnLst>
                                </p:cTn>
                              </p:par>
                              <p:par>
                                <p:cTn id="81" presetID="22" presetClass="entr" presetSubtype="8" fill="hold" nodeType="withEffect">
                                  <p:stCondLst>
                                    <p:cond delay="0"/>
                                  </p:stCondLst>
                                  <p:childTnLst>
                                    <p:set>
                                      <p:cBhvr>
                                        <p:cTn id="82" dur="1" fill="hold">
                                          <p:stCondLst>
                                            <p:cond delay="0"/>
                                          </p:stCondLst>
                                        </p:cTn>
                                        <p:tgtEl>
                                          <p:spTgt spid="7"/>
                                        </p:tgtEl>
                                        <p:attrNameLst>
                                          <p:attrName>style.visibility</p:attrName>
                                        </p:attrNameLst>
                                      </p:cBhvr>
                                      <p:to>
                                        <p:strVal val="visible"/>
                                      </p:to>
                                    </p:set>
                                    <p:animEffect transition="in" filter="wipe(left)">
                                      <p:cBhvr>
                                        <p:cTn id="8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6" grpId="0" animBg="1"/>
      <p:bldP spid="155683" grpId="0" animBg="1"/>
      <p:bldP spid="155686" grpId="0" animBg="1"/>
      <p:bldP spid="155693" grpId="0" animBg="1"/>
      <p:bldP spid="155695" grpId="0"/>
      <p:bldP spid="155696" grpId="0"/>
      <p:bldP spid="2" grpId="0" animBg="1"/>
      <p:bldP spid="6" grpId="0" animBg="1"/>
      <p:bldP spid="8" grpId="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1" name="Rectangle 2"/>
          <p:cNvSpPr>
            <a:spLocks noGrp="1"/>
          </p:cNvSpPr>
          <p:nvPr>
            <p:ph type="title"/>
          </p:nvPr>
        </p:nvSpPr>
        <p:spPr>
          <a:xfrm>
            <a:off x="107950" y="44450"/>
            <a:ext cx="8424863" cy="828675"/>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5</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37" name="Text Box 79"/>
          <p:cNvSpPr txBox="1"/>
          <p:nvPr/>
        </p:nvSpPr>
        <p:spPr>
          <a:xfrm>
            <a:off x="34925" y="692150"/>
            <a:ext cx="9432925" cy="6002338"/>
          </a:xfrm>
          <a:prstGeom prst="rect">
            <a:avLst/>
          </a:prstGeom>
          <a:noFill/>
          <a:ln w="9525">
            <a:noFill/>
          </a:ln>
        </p:spPr>
        <p:txBody>
          <a:bodyPr anchor="t">
            <a:spAutoFit/>
          </a:bodyPr>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A   objA</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B   objB</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objA = objB</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objB = objA</a:t>
            </a:r>
            <a:r>
              <a:rPr lang="zh-CN" altLang="en-US" sz="2400" dirty="0">
                <a:solidFill>
                  <a:srgbClr val="FFFFFF"/>
                </a:solidFill>
                <a:latin typeface="Times New Roman" panose="02020603050405020304" pitchFamily="18" charset="0"/>
                <a:ea typeface="宋体" panose="02010600030101010101" pitchFamily="2" charset="-122"/>
              </a:rPr>
              <a:t>；          错误 </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A  * pA =  new B</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B *  pB =  new A</a:t>
            </a:r>
            <a:r>
              <a:rPr lang="zh-CN" altLang="en-US" sz="2400" dirty="0">
                <a:solidFill>
                  <a:srgbClr val="FFFFFF"/>
                </a:solidFill>
                <a:latin typeface="Times New Roman" panose="02020603050405020304" pitchFamily="18" charset="0"/>
                <a:ea typeface="宋体" panose="02010600030101010101" pitchFamily="2" charset="-122"/>
              </a:rPr>
              <a:t>；  错误</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pB = new B</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pA = pB</a:t>
            </a:r>
            <a:r>
              <a:rPr lang="zh-CN" altLang="en-US" sz="2400" dirty="0">
                <a:solidFill>
                  <a:srgbClr val="FFFFFF"/>
                </a:solidFill>
                <a:latin typeface="Times New Roman" panose="02020603050405020304" pitchFamily="18" charset="0"/>
                <a:ea typeface="宋体" panose="02010600030101010101" pitchFamily="2" charset="-122"/>
              </a:rPr>
              <a:t>；</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pB = pA</a:t>
            </a:r>
            <a:r>
              <a:rPr lang="zh-CN" altLang="en-US" sz="2400" dirty="0">
                <a:solidFill>
                  <a:srgbClr val="FFFFFF"/>
                </a:solidFill>
                <a:latin typeface="Times New Roman" panose="02020603050405020304" pitchFamily="18" charset="0"/>
                <a:ea typeface="宋体" panose="02010600030101010101" pitchFamily="2" charset="-122"/>
              </a:rPr>
              <a:t>；                错误</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pA-&gt;g()</a:t>
            </a:r>
            <a:r>
              <a:rPr lang="zh-CN" altLang="en-US" sz="2400" dirty="0">
                <a:solidFill>
                  <a:srgbClr val="FFFFFF"/>
                </a:solidFill>
                <a:latin typeface="Times New Roman" panose="02020603050405020304" pitchFamily="18" charset="0"/>
                <a:ea typeface="宋体" panose="02010600030101010101" pitchFamily="2" charset="-122"/>
              </a:rPr>
              <a:t>；  </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虚函数</a:t>
            </a:r>
            <a:r>
              <a:rPr lang="en-US" altLang="zh-CN" sz="2400" dirty="0">
                <a:solidFill>
                  <a:srgbClr val="FFFFFF"/>
                </a:solidFill>
                <a:latin typeface="Times New Roman" panose="02020603050405020304" pitchFamily="18" charset="0"/>
                <a:ea typeface="宋体" panose="02010600030101010101" pitchFamily="2" charset="-122"/>
              </a:rPr>
              <a:t>g</a:t>
            </a:r>
            <a:r>
              <a:rPr lang="zh-CN" altLang="en-US" sz="2400" dirty="0">
                <a:solidFill>
                  <a:srgbClr val="FFFFFF"/>
                </a:solidFill>
                <a:latin typeface="Times New Roman" panose="02020603050405020304" pitchFamily="18" charset="0"/>
                <a:ea typeface="宋体" panose="02010600030101010101" pitchFamily="2" charset="-122"/>
              </a:rPr>
              <a:t>中的</a:t>
            </a:r>
            <a:r>
              <a:rPr lang="en-US" altLang="zh-CN" sz="2400" dirty="0">
                <a:solidFill>
                  <a:srgbClr val="FFFFFF"/>
                </a:solidFill>
                <a:latin typeface="Times New Roman" panose="02020603050405020304" pitchFamily="18" charset="0"/>
                <a:ea typeface="宋体" panose="02010600030101010101" pitchFamily="2" charset="-122"/>
              </a:rPr>
              <a:t>this</a:t>
            </a:r>
            <a:r>
              <a:rPr lang="zh-CN" altLang="en-US" sz="2400" dirty="0">
                <a:solidFill>
                  <a:srgbClr val="FFFFFF"/>
                </a:solidFill>
                <a:latin typeface="Times New Roman" panose="02020603050405020304" pitchFamily="18" charset="0"/>
                <a:ea typeface="宋体" panose="02010600030101010101" pitchFamily="2" charset="-122"/>
              </a:rPr>
              <a:t>是</a:t>
            </a:r>
            <a:r>
              <a:rPr lang="en-US" altLang="zh-CN" sz="2400" dirty="0">
                <a:solidFill>
                  <a:srgbClr val="FFFFFF"/>
                </a:solidFill>
                <a:latin typeface="Times New Roman" panose="02020603050405020304" pitchFamily="18" charset="0"/>
                <a:ea typeface="宋体" panose="02010600030101010101" pitchFamily="2" charset="-122"/>
              </a:rPr>
              <a:t>B*const</a:t>
            </a:r>
            <a:r>
              <a:rPr lang="zh-CN" altLang="en-US" sz="2400" dirty="0">
                <a:solidFill>
                  <a:srgbClr val="FFFFFF"/>
                </a:solidFill>
                <a:latin typeface="Times New Roman" panose="02020603050405020304" pitchFamily="18" charset="0"/>
                <a:ea typeface="宋体" panose="02010600030101010101" pitchFamily="2" charset="-122"/>
              </a:rPr>
              <a:t>类型，如何接受</a:t>
            </a:r>
            <a:r>
              <a:rPr lang="en-US" altLang="zh-CN" sz="2400" dirty="0">
                <a:solidFill>
                  <a:srgbClr val="FFFFFF"/>
                </a:solidFill>
                <a:latin typeface="Times New Roman" panose="02020603050405020304" pitchFamily="18" charset="0"/>
                <a:ea typeface="宋体" panose="02010600030101010101" pitchFamily="2" charset="-122"/>
              </a:rPr>
              <a:t>pA</a:t>
            </a:r>
            <a:r>
              <a:rPr lang="zh-CN" altLang="en-US" sz="2400" dirty="0">
                <a:solidFill>
                  <a:srgbClr val="FFFFFF"/>
                </a:solidFill>
                <a:latin typeface="Times New Roman" panose="02020603050405020304" pitchFamily="18" charset="0"/>
                <a:ea typeface="宋体" panose="02010600030101010101" pitchFamily="2" charset="-122"/>
              </a:rPr>
              <a:t>的</a:t>
            </a:r>
            <a:r>
              <a:rPr lang="en-US" altLang="zh-CN" sz="2400" dirty="0">
                <a:solidFill>
                  <a:srgbClr val="FFFFFF"/>
                </a:solidFill>
                <a:latin typeface="Times New Roman" panose="02020603050405020304" pitchFamily="18" charset="0"/>
                <a:ea typeface="宋体" panose="02010600030101010101" pitchFamily="2" charset="-122"/>
              </a:rPr>
              <a:t>A*</a:t>
            </a:r>
            <a:r>
              <a:rPr lang="zh-CN" altLang="en-US" sz="2400" dirty="0">
                <a:solidFill>
                  <a:srgbClr val="FFFFFF"/>
                </a:solidFill>
                <a:latin typeface="Times New Roman" panose="02020603050405020304" pitchFamily="18" charset="0"/>
                <a:ea typeface="宋体" panose="02010600030101010101" pitchFamily="2" charset="-122"/>
              </a:rPr>
              <a:t>类型？</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虚函数在不同层次权限发生了变化会如何？</a:t>
            </a:r>
            <a:endParaRPr lang="zh-CN" altLang="en-US" sz="2400" dirty="0">
              <a:solidFill>
                <a:srgbClr val="FFFFFF"/>
              </a:solidFill>
              <a:latin typeface="Times New Roman" panose="02020603050405020304" pitchFamily="18" charset="0"/>
              <a:ea typeface="宋体" panose="02010600030101010101" pitchFamily="2" charset="-122"/>
            </a:endParaRPr>
          </a:p>
        </p:txBody>
      </p:sp>
      <p:sp>
        <p:nvSpPr>
          <p:cNvPr id="38" name="Text Box 79"/>
          <p:cNvSpPr txBox="1"/>
          <p:nvPr/>
        </p:nvSpPr>
        <p:spPr>
          <a:xfrm>
            <a:off x="3419475" y="765175"/>
            <a:ext cx="5689600" cy="3786188"/>
          </a:xfrm>
          <a:prstGeom prst="rect">
            <a:avLst/>
          </a:prstGeom>
          <a:noFill/>
          <a:ln w="9525" cap="flat" cmpd="sng">
            <a:solidFill>
              <a:srgbClr val="FFFF00"/>
            </a:solidFill>
            <a:prstDash val="dash"/>
            <a:round/>
            <a:headEnd type="none" w="med" len="med"/>
            <a:tailEnd type="none" w="med" len="med"/>
          </a:ln>
        </p:spPr>
        <p:txBody>
          <a:bodyPr anchor="t">
            <a:spAutoFit/>
          </a:bodyPr>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1</a:t>
            </a:r>
            <a:r>
              <a:rPr lang="zh-CN" altLang="en-US" sz="2400" dirty="0">
                <a:solidFill>
                  <a:srgbClr val="FFFFFF"/>
                </a:solidFill>
                <a:latin typeface="Times New Roman" panose="02020603050405020304" pitchFamily="18" charset="0"/>
                <a:ea typeface="宋体" panose="02010600030101010101" pitchFamily="2" charset="-122"/>
              </a:rPr>
              <a:t>、调用者地址</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实现者长度（哪个类？）</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非虚函数</a:t>
            </a:r>
            <a:r>
              <a:rPr lang="en-US" altLang="zh-CN" sz="2400" dirty="0">
                <a:solidFill>
                  <a:srgbClr val="FFFFFF"/>
                </a:solidFill>
                <a:latin typeface="Times New Roman" panose="02020603050405020304" pitchFamily="18" charset="0"/>
                <a:ea typeface="宋体" panose="02010600030101010101" pitchFamily="2" charset="-122"/>
              </a:rPr>
              <a:t>this</a:t>
            </a:r>
            <a:r>
              <a:rPr lang="zh-CN" altLang="en-US" sz="2400" dirty="0">
                <a:solidFill>
                  <a:srgbClr val="FFFFFF"/>
                </a:solidFill>
                <a:latin typeface="Times New Roman" panose="02020603050405020304" pitchFamily="18" charset="0"/>
                <a:ea typeface="宋体" panose="02010600030101010101" pitchFamily="2" charset="-122"/>
              </a:rPr>
              <a:t>指针自调用者开始，</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调用者类型长度止（实现者</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调用者）</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虚函数</a:t>
            </a:r>
            <a:r>
              <a:rPr lang="en-US" altLang="zh-CN" sz="2400" dirty="0">
                <a:solidFill>
                  <a:srgbClr val="FFFFFF"/>
                </a:solidFill>
                <a:latin typeface="Times New Roman" panose="02020603050405020304" pitchFamily="18" charset="0"/>
                <a:ea typeface="宋体" panose="02010600030101010101" pitchFamily="2" charset="-122"/>
              </a:rPr>
              <a:t>this</a:t>
            </a:r>
            <a:r>
              <a:rPr lang="zh-CN" altLang="en-US" sz="2400" dirty="0">
                <a:solidFill>
                  <a:srgbClr val="FFFFFF"/>
                </a:solidFill>
                <a:latin typeface="Times New Roman" panose="02020603050405020304" pitchFamily="18" charset="0"/>
                <a:ea typeface="宋体" panose="02010600030101010101" pitchFamily="2" charset="-122"/>
              </a:rPr>
              <a:t>指针自调用者开始，</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实现者类型长度止（实现者</a:t>
            </a:r>
            <a:r>
              <a:rPr lang="en-US" altLang="zh-CN" sz="2400" dirty="0">
                <a:solidFill>
                  <a:srgbClr val="FFFFFF"/>
                </a:solidFill>
                <a:latin typeface="Times New Roman" panose="02020603050405020304" pitchFamily="18" charset="0"/>
                <a:ea typeface="宋体" panose="02010600030101010101" pitchFamily="2" charset="-122"/>
              </a:rPr>
              <a:t>=</a:t>
            </a:r>
            <a:r>
              <a:rPr lang="zh-CN" altLang="en-US" sz="2400" dirty="0">
                <a:solidFill>
                  <a:srgbClr val="FFFFFF"/>
                </a:solidFill>
                <a:latin typeface="Times New Roman" panose="02020603050405020304" pitchFamily="18" charset="0"/>
                <a:ea typeface="宋体" panose="02010600030101010101" pitchFamily="2" charset="-122"/>
              </a:rPr>
              <a:t>对象的类型）</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en-US" altLang="zh-CN" sz="2400" dirty="0">
                <a:solidFill>
                  <a:srgbClr val="FFFFFF"/>
                </a:solidFill>
                <a:latin typeface="Times New Roman" panose="02020603050405020304" pitchFamily="18" charset="0"/>
                <a:ea typeface="宋体" panose="02010600030101010101" pitchFamily="2" charset="-122"/>
              </a:rPr>
              <a:t>2</a:t>
            </a:r>
            <a:r>
              <a:rPr lang="zh-CN" altLang="en-US" sz="2400" dirty="0">
                <a:solidFill>
                  <a:srgbClr val="FFFFFF"/>
                </a:solidFill>
                <a:latin typeface="Times New Roman" panose="02020603050405020304" pitchFamily="18" charset="0"/>
                <a:ea typeface="宋体" panose="02010600030101010101" pitchFamily="2" charset="-122"/>
              </a:rPr>
              <a:t>、虚函数不予编译检查（虚指针的值无法确认而无法检查），因此无错</a:t>
            </a:r>
            <a:endParaRPr lang="en-US" altLang="zh-CN" sz="2400" dirty="0">
              <a:solidFill>
                <a:srgbClr val="FFFFFF"/>
              </a:solidFill>
              <a:latin typeface="Times New Roman" panose="02020603050405020304" pitchFamily="18" charset="0"/>
              <a:ea typeface="宋体" panose="02010600030101010101" pitchFamily="2" charset="-122"/>
            </a:endParaRPr>
          </a:p>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执行时则实现者类型已知（虚表）</a:t>
            </a:r>
            <a:endParaRPr lang="en-US" altLang="zh-CN" sz="2400" dirty="0">
              <a:solidFill>
                <a:srgbClr val="FFFFFF"/>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1" name="Rectangle 2"/>
          <p:cNvSpPr>
            <a:spLocks noGrp="1"/>
          </p:cNvSpPr>
          <p:nvPr>
            <p:ph type="title"/>
          </p:nvPr>
        </p:nvSpPr>
        <p:spPr>
          <a:xfrm>
            <a:off x="107950" y="44450"/>
            <a:ext cx="8424863" cy="828675"/>
          </a:xfrm>
        </p:spPr>
        <p:txBody>
          <a:bodyPr vert="horz" wrap="square" lIns="92075" tIns="46037" rIns="92075" bIns="46037" anchor="ctr"/>
          <a:p>
            <a:pPr eaLnBrk="1" hangingPunct="1"/>
            <a:r>
              <a:rPr lang="en-US" altLang="zh-CN" sz="2800" b="1" dirty="0">
                <a:ea typeface="宋体" panose="02010600030101010101" pitchFamily="2" charset="-122"/>
              </a:rPr>
              <a:t>13. </a:t>
            </a:r>
            <a:r>
              <a:rPr lang="zh-CN" altLang="en-US" sz="2800" b="1" dirty="0">
                <a:ea typeface="宋体" panose="02010600030101010101" pitchFamily="2" charset="-122"/>
              </a:rPr>
              <a:t>虚函数的工作机理（</a:t>
            </a:r>
            <a:r>
              <a:rPr lang="en-US" altLang="zh-CN" sz="2800" b="1" dirty="0">
                <a:ea typeface="宋体" panose="02010600030101010101" pitchFamily="2" charset="-122"/>
              </a:rPr>
              <a:t>6</a:t>
            </a:r>
            <a:r>
              <a:rPr lang="zh-CN" altLang="en-US" sz="2800" b="1" dirty="0">
                <a:ea typeface="宋体" panose="02010600030101010101" pitchFamily="2" charset="-122"/>
              </a:rPr>
              <a:t>）</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38" name="Text Box 79"/>
          <p:cNvSpPr txBox="1"/>
          <p:nvPr/>
        </p:nvSpPr>
        <p:spPr>
          <a:xfrm>
            <a:off x="1112520" y="814705"/>
            <a:ext cx="6550025" cy="5916930"/>
          </a:xfrm>
          <a:prstGeom prst="rect">
            <a:avLst/>
          </a:prstGeom>
          <a:noFill/>
          <a:ln w="9525" cap="flat" cmpd="sng">
            <a:solidFill>
              <a:srgbClr val="FFFF00"/>
            </a:solidFill>
            <a:prstDash val="dash"/>
            <a:round/>
            <a:headEnd type="none" w="med" len="med"/>
            <a:tailEnd type="none" w="med" len="med"/>
          </a:ln>
        </p:spPr>
        <p:txBody>
          <a:bodyPr wrap="square" anchor="t">
            <a:spAutoFit/>
          </a:bodyPr>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class 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int a;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public: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virtual void f(int s=1){a = s;}    </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void g(){}</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class B:public 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int b; </a:t>
            </a:r>
            <a:endParaRPr lang="en-US" altLang="zh-CN" sz="2400" b="1">
              <a:ln>
                <a:noFill/>
              </a:ln>
              <a:solidFill>
                <a:schemeClr val="tx1"/>
              </a:solidFill>
              <a:effectLst/>
              <a:latin typeface="Arial" panose="020B0604020202020204" pitchFamily="34" charset="0"/>
              <a:sym typeface="+mn-ea"/>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void h(){}</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public: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       virtual void f(int s=2){b = s; g();h();}</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sym typeface="+mn-ea"/>
              </a:rPr>
              <a:t>};</a:t>
            </a:r>
            <a:endParaRPr lang="en-US" altLang="zh-CN" sz="2400" b="1">
              <a:ln>
                <a:noFill/>
              </a:ln>
              <a:solidFill>
                <a:schemeClr val="tx1"/>
              </a:solidFill>
              <a:effectLst/>
              <a:latin typeface="Arial" panose="020B0604020202020204" pitchFamily="34" charset="0"/>
              <a:sym typeface="+mn-ea"/>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ea typeface="宋体" panose="02010600030101010101" pitchFamily="2" charset="-122"/>
              </a:rPr>
              <a:t>void main(){</a:t>
            </a:r>
            <a:endParaRPr lang="en-US" altLang="zh-CN" sz="2400" b="1">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ea typeface="宋体" panose="02010600030101010101" pitchFamily="2" charset="-122"/>
              </a:rPr>
              <a:t>   A * p = new B;</a:t>
            </a:r>
            <a:endParaRPr lang="en-US" altLang="zh-CN" sz="2400" b="1">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ea typeface="宋体" panose="02010600030101010101" pitchFamily="2" charset="-122"/>
              </a:rPr>
              <a:t>   p-&gt;f();</a:t>
            </a:r>
            <a:endParaRPr lang="en-US" altLang="zh-CN" sz="2400" b="1">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lang="en-US" altLang="zh-CN" sz="2400" b="1">
                <a:ln>
                  <a:noFill/>
                </a:ln>
                <a:solidFill>
                  <a:schemeClr val="tx1"/>
                </a:solidFill>
                <a:effectLst/>
                <a:latin typeface="Arial" panose="020B0604020202020204" pitchFamily="34" charset="0"/>
                <a:ea typeface="宋体" panose="02010600030101010101" pitchFamily="2" charset="-122"/>
              </a:rPr>
              <a:t>}//B</a:t>
            </a:r>
            <a:r>
              <a:rPr lang="zh-CN" altLang="en-US" sz="2400" b="1">
                <a:ln>
                  <a:noFill/>
                </a:ln>
                <a:solidFill>
                  <a:schemeClr val="tx1"/>
                </a:solidFill>
                <a:effectLst/>
                <a:latin typeface="Arial" panose="020B0604020202020204" pitchFamily="34" charset="0"/>
                <a:ea typeface="宋体" panose="02010600030101010101" pitchFamily="2" charset="-122"/>
              </a:rPr>
              <a:t>类的</a:t>
            </a:r>
            <a:r>
              <a:rPr lang="en-US" altLang="zh-CN" sz="2400" b="1">
                <a:ln>
                  <a:noFill/>
                </a:ln>
                <a:solidFill>
                  <a:schemeClr val="tx1"/>
                </a:solidFill>
                <a:effectLst/>
                <a:latin typeface="Arial" panose="020B0604020202020204" pitchFamily="34" charset="0"/>
                <a:ea typeface="宋体" panose="02010600030101010101" pitchFamily="2" charset="-122"/>
              </a:rPr>
              <a:t>f</a:t>
            </a:r>
            <a:r>
              <a:rPr lang="zh-CN" altLang="en-US" sz="2400" b="1">
                <a:ln>
                  <a:noFill/>
                </a:ln>
                <a:solidFill>
                  <a:schemeClr val="tx1"/>
                </a:solidFill>
                <a:effectLst/>
                <a:latin typeface="Arial" panose="020B0604020202020204" pitchFamily="34" charset="0"/>
                <a:ea typeface="宋体" panose="02010600030101010101" pitchFamily="2" charset="-122"/>
              </a:rPr>
              <a:t>可以是非</a:t>
            </a:r>
            <a:r>
              <a:rPr lang="en-US" altLang="zh-CN" sz="2400" b="1">
                <a:ln>
                  <a:noFill/>
                </a:ln>
                <a:solidFill>
                  <a:schemeClr val="tx1"/>
                </a:solidFill>
                <a:effectLst/>
                <a:latin typeface="Arial" panose="020B0604020202020204" pitchFamily="34" charset="0"/>
                <a:ea typeface="宋体" panose="02010600030101010101" pitchFamily="2" charset="-122"/>
              </a:rPr>
              <a:t>public</a:t>
            </a:r>
            <a:r>
              <a:rPr lang="zh-CN" altLang="en-US" sz="2400" b="1">
                <a:ln>
                  <a:noFill/>
                </a:ln>
                <a:solidFill>
                  <a:schemeClr val="tx1"/>
                </a:solidFill>
                <a:effectLst/>
                <a:latin typeface="Arial" panose="020B0604020202020204" pitchFamily="34" charset="0"/>
                <a:ea typeface="宋体" panose="02010600030101010101" pitchFamily="2" charset="-122"/>
              </a:rPr>
              <a:t>；</a:t>
            </a:r>
            <a:r>
              <a:rPr lang="en-US" altLang="zh-CN" sz="2400" b="1">
                <a:ln>
                  <a:noFill/>
                </a:ln>
                <a:solidFill>
                  <a:schemeClr val="tx1"/>
                </a:solidFill>
                <a:effectLst/>
                <a:latin typeface="Arial" panose="020B0604020202020204" pitchFamily="34" charset="0"/>
                <a:ea typeface="宋体" panose="02010600030101010101" pitchFamily="2" charset="-122"/>
              </a:rPr>
              <a:t>f</a:t>
            </a:r>
            <a:r>
              <a:rPr lang="zh-CN" altLang="en-US" sz="2400" b="1">
                <a:ln>
                  <a:noFill/>
                </a:ln>
                <a:solidFill>
                  <a:schemeClr val="tx1"/>
                </a:solidFill>
                <a:effectLst/>
                <a:latin typeface="Arial" panose="020B0604020202020204" pitchFamily="34" charset="0"/>
                <a:ea typeface="宋体" panose="02010600030101010101" pitchFamily="2" charset="-122"/>
              </a:rPr>
              <a:t>可以混合调用</a:t>
            </a:r>
            <a:r>
              <a:rPr lang="en-US" altLang="zh-CN" sz="2400" b="1">
                <a:ln>
                  <a:noFill/>
                </a:ln>
                <a:solidFill>
                  <a:schemeClr val="tx1"/>
                </a:solidFill>
                <a:effectLst/>
                <a:latin typeface="Arial" panose="020B0604020202020204" pitchFamily="34" charset="0"/>
                <a:ea typeface="宋体" panose="02010600030101010101" pitchFamily="2" charset="-122"/>
              </a:rPr>
              <a:t>g</a:t>
            </a:r>
            <a:r>
              <a:rPr lang="zh-CN" altLang="en-US" sz="2400" b="1">
                <a:ln>
                  <a:noFill/>
                </a:ln>
                <a:solidFill>
                  <a:schemeClr val="tx1"/>
                </a:solidFill>
                <a:effectLst/>
                <a:latin typeface="Arial" panose="020B0604020202020204" pitchFamily="34" charset="0"/>
                <a:ea typeface="宋体" panose="02010600030101010101" pitchFamily="2" charset="-122"/>
              </a:rPr>
              <a:t>和</a:t>
            </a:r>
            <a:r>
              <a:rPr lang="en-US" altLang="zh-CN" sz="2400" b="1">
                <a:ln>
                  <a:noFill/>
                </a:ln>
                <a:solidFill>
                  <a:schemeClr val="tx1"/>
                </a:solidFill>
                <a:effectLst/>
                <a:latin typeface="Arial" panose="020B0604020202020204" pitchFamily="34" charset="0"/>
                <a:ea typeface="宋体" panose="02010600030101010101" pitchFamily="2" charset="-122"/>
              </a:rPr>
              <a:t>h</a:t>
            </a:r>
            <a:endParaRPr lang="en-US" altLang="zh-CN" sz="2400" b="1">
              <a:ln>
                <a:noFill/>
              </a:ln>
              <a:solidFill>
                <a:schemeClr val="tx1"/>
              </a:solidFill>
              <a:effectLst/>
              <a:latin typeface="Arial" panose="020B0604020202020204" pitchFamily="34" charset="0"/>
              <a:ea typeface="宋体" panose="02010600030101010101" pitchFamily="2" charset="-122"/>
            </a:endParaRPr>
          </a:p>
        </p:txBody>
      </p:sp>
    </p:spTree>
    <p:custDataLst>
      <p:tags r:id="rId1"/>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ldLvl="0" animBg="1"/>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1807" name="Group 15"/>
          <p:cNvGraphicFramePr>
            <a:graphicFrameLocks noGrp="1"/>
          </p:cNvGraphicFramePr>
          <p:nvPr>
            <p:ph idx="4294967295"/>
          </p:nvPr>
        </p:nvGraphicFramePr>
        <p:xfrm>
          <a:off x="285750" y="1196975"/>
          <a:ext cx="8858250" cy="4968875"/>
        </p:xfrm>
        <a:graphic>
          <a:graphicData uri="http://schemas.openxmlformats.org/drawingml/2006/table">
            <a:tbl>
              <a:tblPr/>
              <a:tblGrid>
                <a:gridCol w="4322763"/>
                <a:gridCol w="4535487"/>
              </a:tblGrid>
              <a:tr h="4968875">
                <a:tc>
                  <a:txBody>
                    <a:bodyPr/>
                    <a:lstStyle/>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virtual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Circle:public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Triangle:public Shape{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 .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class Manage{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shape  *a[100];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public: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要求完成</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Manage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类的拷贝构造函数，实现深度拷贝；可以改动所有的类</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23593" name="Rectangle 10"/>
          <p:cNvSpPr>
            <a:spLocks noGrp="1"/>
          </p:cNvSpPr>
          <p:nvPr>
            <p:ph type="title"/>
          </p:nvPr>
        </p:nvSpPr>
        <p:spPr>
          <a:xfrm>
            <a:off x="358775" y="476250"/>
            <a:ext cx="8461375" cy="720725"/>
          </a:xfrm>
        </p:spPr>
        <p:txBody>
          <a:bodyPr vert="horz" wrap="square" lIns="92075" tIns="46037" rIns="92075" bIns="46037" anchor="ctr"/>
          <a:p>
            <a:pPr eaLnBrk="1" hangingPunct="1"/>
            <a:r>
              <a:rPr lang="en-US" altLang="zh-CN" sz="2800" b="1" dirty="0">
                <a:ea typeface="宋体" panose="02010600030101010101" pitchFamily="2" charset="-122"/>
              </a:rPr>
              <a:t>15.  </a:t>
            </a:r>
            <a:r>
              <a:rPr lang="zh-CN" altLang="en-US" sz="2800" b="1" dirty="0">
                <a:ea typeface="宋体" panose="02010600030101010101" pitchFamily="2" charset="-122"/>
              </a:rPr>
              <a:t>一个拷贝的例子</a:t>
            </a:r>
            <a:endParaRPr lang="zh-CN" altLang="en-US" sz="2800" b="1" dirty="0">
              <a:ea typeface="宋体" panose="02010600030101010101" pitchFamily="2" charset="-122"/>
            </a:endParaRPr>
          </a:p>
        </p:txBody>
      </p:sp>
      <p:sp>
        <p:nvSpPr>
          <p:cNvPr id="266251" name="Line 11"/>
          <p:cNvSpPr>
            <a:spLocks noChangeShapeType="1"/>
          </p:cNvSpPr>
          <p:nvPr/>
        </p:nvSpPr>
        <p:spPr bwMode="auto">
          <a:xfrm>
            <a:off x="4608513" y="3752850"/>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1807" name="Group 15"/>
          <p:cNvGraphicFramePr>
            <a:graphicFrameLocks noGrp="1"/>
          </p:cNvGraphicFramePr>
          <p:nvPr>
            <p:ph idx="4294967295"/>
          </p:nvPr>
        </p:nvGraphicFramePr>
        <p:xfrm>
          <a:off x="285750" y="44450"/>
          <a:ext cx="8858250" cy="6797675"/>
        </p:xfrm>
        <a:graphic>
          <a:graphicData uri="http://schemas.openxmlformats.org/drawingml/2006/table">
            <a:tbl>
              <a:tblPr/>
              <a:tblGrid>
                <a:gridCol w="4322763"/>
                <a:gridCol w="4535487"/>
              </a:tblGrid>
              <a:tr h="6797675">
                <a:tc>
                  <a:txBody>
                    <a:bodyPr/>
                    <a:lstStyle/>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Shape{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virtual double area(){}</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virtual Shape *copy(){}</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Circle:public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Shape{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double r;</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Shape *copy(){</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return new Circle(*this)</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Triangle:public</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Shape{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double </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x,y,z</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double area(){…}</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class Manage{</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shape  *a[100];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public: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Manage(Manage </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const</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&amp;s ){</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for(</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int</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=0;i&lt;100;i++)</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a[</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 = </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s.a</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err="1">
                          <a:ln>
                            <a:noFill/>
                          </a:ln>
                          <a:solidFill>
                            <a:srgbClr val="FFFF00"/>
                          </a:solidFill>
                          <a:effectLst/>
                          <a:latin typeface="Arial" panose="020B0604020202020204" pitchFamily="34" charset="0"/>
                          <a:ea typeface="宋体" panose="02010600030101010101" pitchFamily="2" charset="-122"/>
                        </a:rPr>
                        <a:t>i</a:t>
                      </a:r>
                      <a:r>
                        <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rPr>
                        <a:t>]-&gt;copy();</a:t>
                      </a:r>
                      <a:endParaRPr kumimoji="0" lang="en-US" altLang="zh-CN" sz="2000" b="1" i="0" u="none" strike="noStrike" cap="none" normalizeH="0" baseline="0" dirty="0">
                        <a:ln>
                          <a:noFill/>
                        </a:ln>
                        <a:solidFill>
                          <a:srgbClr val="FFFF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 . .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50000"/>
                        </a:spcAft>
                        <a:buClr>
                          <a:schemeClr val="hlink"/>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要求完成</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Manage</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类的拷贝构造函数，实现深度拷贝；可以改动所有的类</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66251" name="Line 11"/>
          <p:cNvSpPr>
            <a:spLocks noChangeShapeType="1"/>
          </p:cNvSpPr>
          <p:nvPr/>
        </p:nvSpPr>
        <p:spPr bwMode="auto">
          <a:xfrm>
            <a:off x="4608513" y="2600325"/>
            <a:ext cx="4535488" cy="0"/>
          </a:xfrm>
          <a:prstGeom prst="line">
            <a:avLst/>
          </a:prstGeom>
          <a:noFill/>
          <a:ln w="9525">
            <a:solidFill>
              <a:schemeClr val="tx1"/>
            </a:solidFill>
            <a:roun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3" name="Rectangle 10"/>
          <p:cNvSpPr>
            <a:spLocks noGrp="1"/>
          </p:cNvSpPr>
          <p:nvPr>
            <p:ph type="title"/>
          </p:nvPr>
        </p:nvSpPr>
        <p:spPr>
          <a:xfrm>
            <a:off x="215900" y="404813"/>
            <a:ext cx="8461375" cy="720725"/>
          </a:xfrm>
        </p:spPr>
        <p:txBody>
          <a:bodyPr vert="horz" wrap="square" lIns="92075" tIns="46037" rIns="92075" bIns="46037" anchor="ctr"/>
          <a:p>
            <a:pPr eaLnBrk="1" hangingPunct="1"/>
            <a:r>
              <a:rPr lang="en-US" altLang="zh-CN" sz="2800" b="1" dirty="0">
                <a:ea typeface="宋体" panose="02010600030101010101" pitchFamily="2" charset="-122"/>
              </a:rPr>
              <a:t>16.</a:t>
            </a:r>
            <a:r>
              <a:rPr lang="zh-CN" altLang="en-US" sz="2800" b="1" dirty="0">
                <a:ea typeface="宋体" panose="02010600030101010101" pitchFamily="2" charset="-122"/>
              </a:rPr>
              <a:t>关于析构函数</a:t>
            </a:r>
            <a:endParaRPr lang="zh-CN" altLang="en-US" sz="2800" b="1" dirty="0">
              <a:ea typeface="宋体" panose="02010600030101010101" pitchFamily="2" charset="-122"/>
            </a:endParaRPr>
          </a:p>
        </p:txBody>
      </p:sp>
      <p:sp>
        <p:nvSpPr>
          <p:cNvPr id="167950" name="Text Box 14"/>
          <p:cNvSpPr txBox="1">
            <a:spLocks noChangeArrowheads="1"/>
          </p:cNvSpPr>
          <p:nvPr/>
        </p:nvSpPr>
        <p:spPr bwMode="auto">
          <a:xfrm>
            <a:off x="2411413" y="915988"/>
            <a:ext cx="5292725" cy="593407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class A{</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char *p;</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public:</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A(){p=new char[5];}</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~A(){delete [] p;}</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class B:public A{</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char *q;</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public:</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B(){q=new char[500];}</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~B(){delete [] q;}</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void f(){A *p;p=new B;delete p;}</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void main(){</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  f(); f(); f();… …</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rPr>
              <a:t>}</a:t>
            </a:r>
            <a:endParaRPr kumimoji="1" lang="en-US" altLang="zh-CN" sz="2400" b="1" kern="1200" cap="none" spc="0" normalizeH="0" baseline="0" noProof="0">
              <a:solidFill>
                <a:srgbClr val="FFFFFF"/>
              </a:solidFill>
              <a:effectLst>
                <a:outerShdw blurRad="38100" dist="38100" dir="2700000" algn="tl">
                  <a:srgbClr val="800000"/>
                </a:outerShdw>
              </a:effectLst>
              <a:latin typeface="Arial" panose="020B0604020202020204" pitchFamily="34" charset="0"/>
              <a:ea typeface="宋体" panose="02010600030101010101" pitchFamily="2" charset="-122"/>
              <a:cs typeface="+mn-cs"/>
            </a:endParaRPr>
          </a:p>
        </p:txBody>
      </p:sp>
      <p:sp>
        <p:nvSpPr>
          <p:cNvPr id="275461" name="AutoShape 5"/>
          <p:cNvSpPr>
            <a:spLocks noChangeArrowheads="1"/>
          </p:cNvSpPr>
          <p:nvPr/>
        </p:nvSpPr>
        <p:spPr bwMode="auto">
          <a:xfrm>
            <a:off x="4103688" y="6497638"/>
            <a:ext cx="5040313" cy="360363"/>
          </a:xfrm>
          <a:prstGeom prst="wedgeRoundRectCallout">
            <a:avLst>
              <a:gd name="adj1" fmla="val -27606"/>
              <a:gd name="adj2" fmla="val -215199"/>
              <a:gd name="adj3" fmla="val 16667"/>
            </a:avLst>
          </a:prstGeom>
          <a:solidFill>
            <a:schemeClr val="accent1">
              <a:alpha val="0"/>
            </a:schemeClr>
          </a:solidFill>
          <a:ln w="9525" algn="ctr">
            <a:solidFill>
              <a:schemeClr val="tx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析构函数要尽可能的设置为虚函数；构造函数呢？</a:t>
            </a:r>
            <a:endPar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67950"/>
                                        </p:tgtEl>
                                        <p:attrNameLst>
                                          <p:attrName>style.visibility</p:attrName>
                                        </p:attrNameLst>
                                      </p:cBhvr>
                                      <p:to>
                                        <p:strVal val="visible"/>
                                      </p:to>
                                    </p:set>
                                    <p:animEffect transition="in" filter="barn(inHorizontal)">
                                      <p:cBhvr>
                                        <p:cTn id="7" dur="500"/>
                                        <p:tgtEl>
                                          <p:spTgt spid="16795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75461"/>
                                        </p:tgtEl>
                                        <p:attrNameLst>
                                          <p:attrName>style.visibility</p:attrName>
                                        </p:attrNameLst>
                                      </p:cBhvr>
                                      <p:to>
                                        <p:strVal val="visible"/>
                                      </p:to>
                                    </p:set>
                                    <p:animEffect transition="in" filter="checkerboard(across)">
                                      <p:cBhvr>
                                        <p:cTn id="12" dur="500"/>
                                        <p:tgtEl>
                                          <p:spTgt spid="275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50" grpId="0"/>
      <p:bldP spid="275461" grpId="0" animBg="1"/>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7" name="Rectangle 2"/>
          <p:cNvSpPr>
            <a:spLocks noGrp="1"/>
          </p:cNvSpPr>
          <p:nvPr>
            <p:ph type="title"/>
          </p:nvPr>
        </p:nvSpPr>
        <p:spPr>
          <a:xfrm>
            <a:off x="395288" y="152400"/>
            <a:ext cx="8424862" cy="828675"/>
          </a:xfrm>
        </p:spPr>
        <p:txBody>
          <a:bodyPr vert="horz" wrap="square" lIns="92075" tIns="46037" rIns="92075" bIns="46037" anchor="ctr"/>
          <a:p>
            <a:pPr eaLnBrk="1" hangingPunct="1"/>
            <a:r>
              <a:rPr lang="en-US" altLang="zh-CN" sz="2800" b="1" dirty="0">
                <a:ea typeface="宋体" panose="02010600030101010101" pitchFamily="2" charset="-122"/>
              </a:rPr>
              <a:t>17. </a:t>
            </a:r>
            <a:r>
              <a:rPr lang="zh-CN" altLang="en-US" sz="2800" b="1" dirty="0">
                <a:ea typeface="宋体" panose="02010600030101010101" pitchFamily="2" charset="-122"/>
              </a:rPr>
              <a:t>多态应用的三种场景</a:t>
            </a:r>
            <a:endParaRPr lang="zh-CN" altLang="en-US" sz="2800" dirty="0">
              <a:ea typeface="宋体" panose="02010600030101010101" pitchFamily="2" charset="-122"/>
            </a:endParaRPr>
          </a:p>
        </p:txBody>
      </p:sp>
      <p:sp>
        <p:nvSpPr>
          <p:cNvPr id="326658" name="Rectangle 3"/>
          <p:cNvSpPr>
            <a:spLocks noGrp="1"/>
          </p:cNvSpPr>
          <p:nvPr>
            <p:ph idx="1"/>
          </p:nvPr>
        </p:nvSpPr>
        <p:spPr>
          <a:xfrm>
            <a:off x="503238" y="944563"/>
            <a:ext cx="8640762" cy="6264275"/>
          </a:xfrm>
        </p:spPr>
        <p:txBody>
          <a:bodyPr vert="horz" wrap="square" lIns="92075" tIns="46037" rIns="92075" bIns="46037" anchor="t"/>
          <a:p>
            <a:pPr marL="533400" indent="-533400" algn="just" eaLnBrk="1" hangingPunct="1">
              <a:lnSpc>
                <a:spcPct val="80000"/>
              </a:lnSpc>
              <a:buNone/>
            </a:pPr>
            <a:r>
              <a:rPr lang="en-US" altLang="zh-CN" sz="2400" b="1" dirty="0">
                <a:ea typeface="宋体" panose="02010600030101010101" pitchFamily="2" charset="-122"/>
              </a:rPr>
              <a:t>class X{</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public:</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virtual void f1(){cout&lt;&lt;"Running </a:t>
            </a:r>
            <a:r>
              <a:rPr lang="en-US" altLang="zh-CN" sz="2400" b="1" dirty="0">
                <a:solidFill>
                  <a:srgbClr val="FFFF00"/>
                </a:solidFill>
                <a:ea typeface="宋体" panose="02010600030101010101" pitchFamily="2" charset="-122"/>
              </a:rPr>
              <a:t>X</a:t>
            </a:r>
            <a:r>
              <a:rPr lang="en-US" altLang="zh-CN" sz="2400" b="1" dirty="0">
                <a:ea typeface="宋体" panose="02010600030101010101" pitchFamily="2" charset="-122"/>
              </a:rPr>
              <a:t>::f1()"&lt;&lt;endl;  f4();}</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virtual void f2(){cout&lt;&lt;"Running </a:t>
            </a:r>
            <a:r>
              <a:rPr lang="en-US" altLang="zh-CN" sz="2400" b="1" dirty="0">
                <a:solidFill>
                  <a:srgbClr val="FFFF00"/>
                </a:solidFill>
                <a:ea typeface="宋体" panose="02010600030101010101" pitchFamily="2" charset="-122"/>
              </a:rPr>
              <a:t>X</a:t>
            </a:r>
            <a:r>
              <a:rPr lang="en-US" altLang="zh-CN" sz="2400" b="1" dirty="0">
                <a:ea typeface="宋体" panose="02010600030101010101" pitchFamily="2" charset="-122"/>
              </a:rPr>
              <a:t>::f2()"&lt;&lt;endl;  f3();}</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virtual void f3(){cout&lt;&lt;"Running </a:t>
            </a:r>
            <a:r>
              <a:rPr lang="en-US" altLang="zh-CN" sz="2400" b="1" dirty="0">
                <a:solidFill>
                  <a:srgbClr val="FFFF00"/>
                </a:solidFill>
                <a:ea typeface="宋体" panose="02010600030101010101" pitchFamily="2" charset="-122"/>
              </a:rPr>
              <a:t>X</a:t>
            </a:r>
            <a:r>
              <a:rPr lang="en-US" altLang="zh-CN" sz="2400" b="1" dirty="0">
                <a:ea typeface="宋体" panose="02010600030101010101" pitchFamily="2" charset="-122"/>
              </a:rPr>
              <a:t>::f3()"&lt;&lt;endl;  f4();}</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virtual void f4(){cout&lt;&lt;"Running </a:t>
            </a:r>
            <a:r>
              <a:rPr lang="en-US" altLang="zh-CN" sz="2400" b="1" dirty="0">
                <a:solidFill>
                  <a:srgbClr val="FFFF00"/>
                </a:solidFill>
                <a:ea typeface="宋体" panose="02010600030101010101" pitchFamily="2" charset="-122"/>
              </a:rPr>
              <a:t>X</a:t>
            </a:r>
            <a:r>
              <a:rPr lang="en-US" altLang="zh-CN" sz="2400" b="1" dirty="0">
                <a:ea typeface="宋体" panose="02010600030101010101" pitchFamily="2" charset="-122"/>
              </a:rPr>
              <a:t>::f4()"&lt;&lt;endl;}</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class Y:public X{</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public:</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void f1(){cout&lt;&lt;"Running </a:t>
            </a:r>
            <a:r>
              <a:rPr lang="en-US" altLang="zh-CN" sz="2400" b="1" dirty="0">
                <a:solidFill>
                  <a:srgbClr val="FFFF00"/>
                </a:solidFill>
                <a:ea typeface="宋体" panose="02010600030101010101" pitchFamily="2" charset="-122"/>
              </a:rPr>
              <a:t>Y</a:t>
            </a:r>
            <a:r>
              <a:rPr lang="en-US" altLang="zh-CN" sz="2400" b="1" dirty="0">
                <a:ea typeface="宋体" panose="02010600030101010101" pitchFamily="2" charset="-122"/>
              </a:rPr>
              <a:t>::f1()"&lt;&lt;endl;   f2();}</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void f3(){cout&lt;&lt;"Running </a:t>
            </a:r>
            <a:r>
              <a:rPr lang="en-US" altLang="zh-CN" sz="2400" b="1" dirty="0">
                <a:solidFill>
                  <a:srgbClr val="FFFF00"/>
                </a:solidFill>
                <a:ea typeface="宋体" panose="02010600030101010101" pitchFamily="2" charset="-122"/>
              </a:rPr>
              <a:t>Y</a:t>
            </a:r>
            <a:r>
              <a:rPr lang="en-US" altLang="zh-CN" sz="2400" b="1" dirty="0">
                <a:ea typeface="宋体" panose="02010600030101010101" pitchFamily="2" charset="-122"/>
              </a:rPr>
              <a:t>::f3()"&lt;&lt;endl;   f4();}</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void main(){</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X &amp;p = *(new Y);</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   p.f1();</a:t>
            </a:r>
            <a:endParaRPr lang="en-US" altLang="zh-CN" sz="2400" b="1" dirty="0">
              <a:ea typeface="宋体" panose="02010600030101010101" pitchFamily="2" charset="-122"/>
            </a:endParaRPr>
          </a:p>
          <a:p>
            <a:pPr marL="533400" indent="-533400" algn="just" eaLnBrk="1" hangingPunct="1">
              <a:lnSpc>
                <a:spcPct val="80000"/>
              </a:lnSpc>
              <a:buNone/>
            </a:pPr>
            <a:r>
              <a:rPr lang="en-US" altLang="zh-CN" sz="2400" b="1" dirty="0">
                <a:ea typeface="宋体" panose="02010600030101010101" pitchFamily="2" charset="-122"/>
              </a:rPr>
              <a:t>}</a:t>
            </a:r>
            <a:endParaRPr lang="en-US" altLang="zh-CN" sz="2400" b="1" dirty="0">
              <a:ea typeface="宋体" panose="02010600030101010101" pitchFamily="2" charset="-122"/>
            </a:endParaRPr>
          </a:p>
        </p:txBody>
      </p:sp>
      <p:pic>
        <p:nvPicPr>
          <p:cNvPr id="135173" name="Picture 5"/>
          <p:cNvPicPr>
            <a:picLocks noChangeAspect="1"/>
          </p:cNvPicPr>
          <p:nvPr/>
        </p:nvPicPr>
        <p:blipFill>
          <a:blip r:embed="rId1"/>
          <a:srcRect t="9322" r="69627" b="75302"/>
          <a:stretch>
            <a:fillRect/>
          </a:stretch>
        </p:blipFill>
        <p:spPr>
          <a:xfrm>
            <a:off x="5867400" y="5408613"/>
            <a:ext cx="3276600" cy="1006475"/>
          </a:xfrm>
          <a:prstGeom prst="rect">
            <a:avLst/>
          </a:prstGeom>
          <a:noFill/>
          <a:ln w="9525">
            <a:noFill/>
          </a:ln>
        </p:spPr>
      </p:pic>
      <p:sp>
        <p:nvSpPr>
          <p:cNvPr id="135174" name="Text Box 6"/>
          <p:cNvSpPr txBox="1"/>
          <p:nvPr/>
        </p:nvSpPr>
        <p:spPr>
          <a:xfrm>
            <a:off x="5184775" y="296863"/>
            <a:ext cx="3959225" cy="457200"/>
          </a:xfrm>
          <a:prstGeom prst="rect">
            <a:avLst/>
          </a:prstGeom>
          <a:noFill/>
          <a:ln w="9525">
            <a:noFill/>
          </a:ln>
        </p:spPr>
        <p:txBody>
          <a:bodyPr anchor="t">
            <a:spAutoFit/>
          </a:bodyPr>
          <a:p>
            <a:pPr eaLnBrk="0" hangingPunct="0">
              <a:spcBef>
                <a:spcPct val="50000"/>
              </a:spcBef>
            </a:pPr>
            <a:r>
              <a:rPr lang="zh-CN" altLang="en-US" sz="2400" dirty="0">
                <a:solidFill>
                  <a:srgbClr val="FFFFFF"/>
                </a:solidFill>
                <a:latin typeface="Times New Roman" panose="02020603050405020304" pitchFamily="18" charset="0"/>
                <a:ea typeface="宋体" panose="02010600030101010101" pitchFamily="2" charset="-122"/>
              </a:rPr>
              <a:t>（指针、引用、成员函数）</a:t>
            </a:r>
            <a:endParaRPr lang="zh-CN" altLang="en-US" sz="2400" dirty="0">
              <a:solidFill>
                <a:srgbClr val="FFFFFF"/>
              </a:solidFill>
              <a:latin typeface="Times New Roman" panose="02020603050405020304" pitchFamily="18" charset="0"/>
              <a:ea typeface="宋体" panose="02010600030101010101" pitchFamily="2" charset="-122"/>
            </a:endParaRPr>
          </a:p>
        </p:txBody>
      </p:sp>
    </p:spTree>
    <p:custDataLst>
      <p:tags r:id="rId2"/>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5173"/>
                                        </p:tgtEl>
                                        <p:attrNameLst>
                                          <p:attrName>style.visibility</p:attrName>
                                        </p:attrNameLst>
                                      </p:cBhvr>
                                      <p:to>
                                        <p:strVal val="visible"/>
                                      </p:to>
                                    </p:set>
                                    <p:animEffect transition="in" filter="diamond(in)">
                                      <p:cBhvr>
                                        <p:cTn id="7" dur="2000"/>
                                        <p:tgtEl>
                                          <p:spTgt spid="1351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174"/>
                                        </p:tgtEl>
                                        <p:attrNameLst>
                                          <p:attrName>style.visibility</p:attrName>
                                        </p:attrNameLst>
                                      </p:cBhvr>
                                      <p:to>
                                        <p:strVal val="visible"/>
                                      </p:to>
                                    </p:set>
                                    <p:animEffect transition="in" filter="blinds(horizontal)">
                                      <p:cBhvr>
                                        <p:cTn id="12" dur="500"/>
                                        <p:tgtEl>
                                          <p:spTgt spid="135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4" grpId="0"/>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1" name="Rectangle 2"/>
          <p:cNvSpPr>
            <a:spLocks noGrp="1"/>
          </p:cNvSpPr>
          <p:nvPr>
            <p:ph type="title"/>
          </p:nvPr>
        </p:nvSpPr>
        <p:spPr>
          <a:xfrm>
            <a:off x="395288" y="-100012"/>
            <a:ext cx="8424862" cy="828675"/>
          </a:xfrm>
        </p:spPr>
        <p:txBody>
          <a:bodyPr vert="horz" wrap="square" lIns="92075" tIns="46037" rIns="92075" bIns="46037" anchor="ctr"/>
          <a:p>
            <a:pPr eaLnBrk="1" hangingPunct="1"/>
            <a:r>
              <a:rPr lang="en-US" altLang="zh-CN" sz="2800" b="1" dirty="0">
                <a:ea typeface="宋体" panose="02010600030101010101" pitchFamily="2" charset="-122"/>
              </a:rPr>
              <a:t>18. </a:t>
            </a:r>
            <a:r>
              <a:rPr lang="zh-CN" altLang="en-US" sz="2800" b="1" dirty="0">
                <a:ea typeface="宋体" panose="02010600030101010101" pitchFamily="2" charset="-122"/>
              </a:rPr>
              <a:t>构造函数、析构函数调用虚函数不支持多态</a:t>
            </a:r>
            <a:endParaRPr lang="zh-CN" altLang="en-US" sz="2800" dirty="0">
              <a:ea typeface="宋体" panose="02010600030101010101" pitchFamily="2" charset="-122"/>
            </a:endParaRPr>
          </a:p>
        </p:txBody>
      </p:sp>
      <p:sp>
        <p:nvSpPr>
          <p:cNvPr id="296963" name="Rectangle 3"/>
          <p:cNvSpPr>
            <a:spLocks noGrp="1" noChangeArrowheads="1"/>
          </p:cNvSpPr>
          <p:nvPr>
            <p:ph idx="1"/>
          </p:nvPr>
        </p:nvSpPr>
        <p:spPr>
          <a:xfrm>
            <a:off x="503238" y="476250"/>
            <a:ext cx="8640763" cy="6264275"/>
          </a:xfrm>
        </p:spPr>
        <p:txBody>
          <a:bodyPr vert="horz" wrap="square" lIns="92075" tIns="46037" rIns="92075" bIns="46037" numCol="1" anchor="t" anchorCtr="0" compatLnSpc="1"/>
          <a:lstStyle/>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class A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x;</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public:</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virtual void f(){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cout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&lt;&lt;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父类</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&lt;&lt;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endl</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test(){ f();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f();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class B:public A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y;</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public:</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f(){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cout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&lt;&lt;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子类</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&lt;&lt; </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endl</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test(){ f();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~B(){ f();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void main(){</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33400" marR="0" lvl="0" indent="-533400" algn="just"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 = new B;         p-&gt;test();           delete p;</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33400" marR="0" lvl="0" indent="-533400" algn="just"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不举例构造函数了</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cut/>
  </p:transition>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7202488"/>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Fish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KindName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operation(){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KindName.c_str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做菜</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Fish(string name="</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鲤鱼</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KindName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(name){}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Cook:public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Fish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protected:</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Fish * process;</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cook(Fish *p){ process = p;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operation(){ process-&gt;operation();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Cook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operation(){ process-&gt;operation();</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煎</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CookB</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Cook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operation(){ process-&gt;operation();</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炒</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6862763"/>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Cook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operation(){ process-&gt;operation();</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烹</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Fish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Factory(){</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Fish *p = new Fish;</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Cook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Cook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Cook *qA1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CookA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-&gt;cook(p);</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-&gt;cook(</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qA1-&gt;cook(</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return(qA1);</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chef(){</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Factory()-&gt;operation();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5848350"/>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Case;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Turn(Case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Turn(Case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春</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StateB</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StateB</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Turn(Case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夏</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Turn(Case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秋</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StateD</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StateD</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Turn(Case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冬</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pCase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4154488"/>
          </a:xfrm>
          <a:prstGeom prst="rect">
            <a:avLst/>
          </a:prstGeom>
          <a:noFill/>
          <a:ln>
            <a:noFill/>
          </a:ln>
          <a:effectLst/>
        </p:spPr>
        <p:txBody>
          <a:bodyPr>
            <a:spAutoFit/>
          </a:bodyPr>
          <a:lstStyle/>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Case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State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Case(State *p){</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p;}</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Run(){</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pState</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-&gt;Turn(this);}</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Case *p = new Case(new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StateA</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for(</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=0;i&lt;9;i++)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p-&gt;Run();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3" name="Rectangle 3"/>
          <p:cNvSpPr>
            <a:spLocks noChangeArrowheads="1"/>
          </p:cNvSpPr>
          <p:nvPr/>
        </p:nvSpPr>
        <p:spPr bwMode="auto">
          <a:xfrm>
            <a:off x="107950" y="2733675"/>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构造函数不能是虚函数</a:t>
            </a:r>
            <a:r>
              <a:rPr kumimoji="0"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4000" b="1" i="0" u="none" strike="noStrike" kern="1200" cap="none" spc="0" normalizeH="0" baseline="0" noProof="0">
              <a:ln>
                <a:noFill/>
              </a:ln>
              <a:solidFill>
                <a:srgbClr val="3333CC"/>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86724" name="Rectangle 4"/>
          <p:cNvSpPr>
            <a:spLocks noChangeArrowheads="1"/>
          </p:cNvSpPr>
          <p:nvPr/>
        </p:nvSpPr>
        <p:spPr bwMode="auto">
          <a:xfrm>
            <a:off x="107950" y="15478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非成员、静态成员、内联函数不能是虚函数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32803" name="Rectangle 5"/>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多态注意事项</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86727" name="Rectangle 7"/>
          <p:cNvSpPr>
            <a:spLocks noChangeArrowheads="1"/>
          </p:cNvSpPr>
          <p:nvPr/>
        </p:nvSpPr>
        <p:spPr bwMode="auto">
          <a:xfrm>
            <a:off x="107950" y="3957638"/>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析构函数经常定义成虚函数  </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delete p;</a:t>
            </a:r>
            <a:endPar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24"/>
                                        </p:tgtEl>
                                        <p:attrNameLst>
                                          <p:attrName>style.visibility</p:attrName>
                                        </p:attrNameLst>
                                      </p:cBhvr>
                                      <p:to>
                                        <p:strVal val="visible"/>
                                      </p:to>
                                    </p:set>
                                    <p:anim calcmode="lin" valueType="num">
                                      <p:cBhvr additive="base">
                                        <p:cTn id="7" dur="2000" fill="hold"/>
                                        <p:tgtEl>
                                          <p:spTgt spid="286724"/>
                                        </p:tgtEl>
                                        <p:attrNameLst>
                                          <p:attrName>ppt_x</p:attrName>
                                        </p:attrNameLst>
                                      </p:cBhvr>
                                      <p:tavLst>
                                        <p:tav tm="0">
                                          <p:val>
                                            <p:strVal val="#ppt_x"/>
                                          </p:val>
                                        </p:tav>
                                        <p:tav tm="100000">
                                          <p:val>
                                            <p:strVal val="#ppt_x"/>
                                          </p:val>
                                        </p:tav>
                                      </p:tavLst>
                                    </p:anim>
                                    <p:anim calcmode="lin" valueType="num">
                                      <p:cBhvr additive="base">
                                        <p:cTn id="8" dur="2000" fill="hold"/>
                                        <p:tgtEl>
                                          <p:spTgt spid="2867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286723"/>
                                        </p:tgtEl>
                                        <p:attrNameLst>
                                          <p:attrName>style.visibility</p:attrName>
                                        </p:attrNameLst>
                                      </p:cBhvr>
                                      <p:to>
                                        <p:strVal val="visible"/>
                                      </p:to>
                                    </p:set>
                                    <p:anim by="(-#ppt_w*2)" calcmode="lin" valueType="num">
                                      <p:cBhvr rctx="PPT">
                                        <p:cTn id="13" dur="500" autoRev="1" fill="hold">
                                          <p:stCondLst>
                                            <p:cond delay="0"/>
                                          </p:stCondLst>
                                        </p:cTn>
                                        <p:tgtEl>
                                          <p:spTgt spid="286723"/>
                                        </p:tgtEl>
                                        <p:attrNameLst>
                                          <p:attrName>ppt_w</p:attrName>
                                        </p:attrNameLst>
                                      </p:cBhvr>
                                    </p:anim>
                                    <p:anim by="(#ppt_w*0.50)" calcmode="lin" valueType="num">
                                      <p:cBhvr>
                                        <p:cTn id="14" dur="500" decel="50000" autoRev="1" fill="hold">
                                          <p:stCondLst>
                                            <p:cond delay="0"/>
                                          </p:stCondLst>
                                        </p:cTn>
                                        <p:tgtEl>
                                          <p:spTgt spid="286723"/>
                                        </p:tgtEl>
                                        <p:attrNameLst>
                                          <p:attrName>ppt_x</p:attrName>
                                        </p:attrNameLst>
                                      </p:cBhvr>
                                    </p:anim>
                                    <p:anim from="(-#ppt_h/2)" to="(#ppt_y)" calcmode="lin" valueType="num">
                                      <p:cBhvr>
                                        <p:cTn id="15" dur="1000" fill="hold">
                                          <p:stCondLst>
                                            <p:cond delay="0"/>
                                          </p:stCondLst>
                                        </p:cTn>
                                        <p:tgtEl>
                                          <p:spTgt spid="286723"/>
                                        </p:tgtEl>
                                        <p:attrNameLst>
                                          <p:attrName>ppt_y</p:attrName>
                                        </p:attrNameLst>
                                      </p:cBhvr>
                                    </p:anim>
                                    <p:animRot by="21600000">
                                      <p:cBhvr>
                                        <p:cTn id="16" dur="1000" fill="hold">
                                          <p:stCondLst>
                                            <p:cond delay="0"/>
                                          </p:stCondLst>
                                        </p:cTn>
                                        <p:tgtEl>
                                          <p:spTgt spid="286723"/>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86727"/>
                                        </p:tgtEl>
                                        <p:attrNameLst>
                                          <p:attrName>style.visibility</p:attrName>
                                        </p:attrNameLst>
                                      </p:cBhvr>
                                      <p:to>
                                        <p:strVal val="visible"/>
                                      </p:to>
                                    </p:set>
                                    <p:anim calcmode="lin" valueType="num">
                                      <p:cBhvr additive="base">
                                        <p:cTn id="21" dur="2000" fill="hold"/>
                                        <p:tgtEl>
                                          <p:spTgt spid="286727"/>
                                        </p:tgtEl>
                                        <p:attrNameLst>
                                          <p:attrName>ppt_x</p:attrName>
                                        </p:attrNameLst>
                                      </p:cBhvr>
                                      <p:tavLst>
                                        <p:tav tm="0">
                                          <p:val>
                                            <p:strVal val="#ppt_x"/>
                                          </p:val>
                                        </p:tav>
                                        <p:tav tm="100000">
                                          <p:val>
                                            <p:strVal val="#ppt_x"/>
                                          </p:val>
                                        </p:tav>
                                      </p:tavLst>
                                    </p:anim>
                                    <p:anim calcmode="lin" valueType="num">
                                      <p:cBhvr additive="base">
                                        <p:cTn id="22" dur="2000" fill="hold"/>
                                        <p:tgtEl>
                                          <p:spTgt spid="2867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animBg="1"/>
      <p:bldP spid="286724" grpId="0" animBg="1"/>
      <p:bldP spid="286727" grpId="0" animBg="1"/>
    </p:bld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Text Box 2"/>
          <p:cNvSpPr txBox="1">
            <a:spLocks noChangeArrowheads="1"/>
          </p:cNvSpPr>
          <p:nvPr/>
        </p:nvSpPr>
        <p:spPr bwMode="auto">
          <a:xfrm>
            <a:off x="1476375" y="44450"/>
            <a:ext cx="7635875" cy="6862763"/>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virtual </a:t>
            </a:r>
            <a:r>
              <a:rPr kumimoji="1" lang="en-US" altLang="zh-CN" sz="2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p()=0;</a:t>
            </a:r>
            <a:endPar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&lt;&lt;“Master”;}</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position;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s; //</a:t>
            </a:r>
            <a:r>
              <a:rPr kumimoji="1" lang="zh-CN" altLang="en-US"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  不可以实例化</a:t>
            </a:r>
            <a:endPar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*m=&amp;a;   m-&gt;p();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指针是目标</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m=&amp;b;  m-&gt;p();</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有些类没有独立于具体类存在的意义</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纯粹为了抽象而存在</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33826" name="Text Box 3"/>
          <p:cNvSpPr txBox="1"/>
          <p:nvPr/>
        </p:nvSpPr>
        <p:spPr>
          <a:xfrm>
            <a:off x="622300" y="404813"/>
            <a:ext cx="854075" cy="64531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抽象类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87749" name="AutoShape 5"/>
          <p:cNvSpPr>
            <a:spLocks noChangeArrowheads="1"/>
          </p:cNvSpPr>
          <p:nvPr/>
        </p:nvSpPr>
        <p:spPr bwMode="auto">
          <a:xfrm>
            <a:off x="7164388" y="1085850"/>
            <a:ext cx="1979613" cy="542925"/>
          </a:xfrm>
          <a:prstGeom prst="wedgeRectCallout">
            <a:avLst>
              <a:gd name="adj1" fmla="val -211144"/>
              <a:gd name="adj2" fmla="val -1935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纯虚函数</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 name="AutoShape 5"/>
          <p:cNvSpPr>
            <a:spLocks noChangeArrowheads="1"/>
          </p:cNvSpPr>
          <p:nvPr/>
        </p:nvSpPr>
        <p:spPr bwMode="auto">
          <a:xfrm>
            <a:off x="7061200" y="-26987"/>
            <a:ext cx="2051050" cy="503238"/>
          </a:xfrm>
          <a:prstGeom prst="wedgeRectCallout">
            <a:avLst>
              <a:gd name="adj1" fmla="val -211144"/>
              <a:gd name="adj2" fmla="val -1935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抽象类</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barn(inHorizontal)">
                                      <p:cBhvr>
                                        <p:cTn id="7" dur="5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87749"/>
                                        </p:tgtEl>
                                        <p:attrNameLst>
                                          <p:attrName>style.visibility</p:attrName>
                                        </p:attrNameLst>
                                      </p:cBhvr>
                                      <p:to>
                                        <p:strVal val="visible"/>
                                      </p:to>
                                    </p:set>
                                    <p:anim calcmode="lin" valueType="num">
                                      <p:cBhvr additive="base">
                                        <p:cTn id="12" dur="500" fill="hold"/>
                                        <p:tgtEl>
                                          <p:spTgt spid="287749"/>
                                        </p:tgtEl>
                                        <p:attrNameLst>
                                          <p:attrName>ppt_x</p:attrName>
                                        </p:attrNameLst>
                                      </p:cBhvr>
                                      <p:tavLst>
                                        <p:tav tm="0">
                                          <p:val>
                                            <p:strVal val="#ppt_x"/>
                                          </p:val>
                                        </p:tav>
                                        <p:tav tm="100000">
                                          <p:val>
                                            <p:strVal val="#ppt_x"/>
                                          </p:val>
                                        </p:tav>
                                      </p:tavLst>
                                    </p:anim>
                                    <p:anim calcmode="lin" valueType="num">
                                      <p:cBhvr additive="base">
                                        <p:cTn id="13" dur="500" fill="hold"/>
                                        <p:tgtEl>
                                          <p:spTgt spid="28774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287749" grpId="0" animBg="1"/>
      <p:bldP spid="7" grpId="0" animBg="1"/>
    </p:bld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Text Box 2"/>
          <p:cNvSpPr txBox="1">
            <a:spLocks noChangeArrowheads="1"/>
          </p:cNvSpPr>
          <p:nvPr/>
        </p:nvSpPr>
        <p:spPr bwMode="auto">
          <a:xfrm>
            <a:off x="2051050" y="44450"/>
            <a:ext cx="6769100" cy="6556375"/>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virtual </a:t>
            </a:r>
            <a:r>
              <a:rPr kumimoji="1" lang="en-US" altLang="zh-CN" sz="20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p()=0;</a:t>
            </a:r>
            <a:endPar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Master{</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position;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s; //</a:t>
            </a:r>
            <a:r>
              <a:rPr kumimoji="1" lang="zh-CN" altLang="en-US"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  不可以实例化</a:t>
            </a:r>
            <a:endParaRPr kumimoji="1" lang="en-US" altLang="zh-CN"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 //</a:t>
            </a:r>
            <a:r>
              <a:rPr kumimoji="1" lang="zh-CN" altLang="en-US" sz="20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  不可以实例化</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Mba</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*m;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m=&amp;b;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m-&gt;p();</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34850" name="Text Box 3"/>
          <p:cNvSpPr txBox="1"/>
          <p:nvPr/>
        </p:nvSpPr>
        <p:spPr>
          <a:xfrm>
            <a:off x="622300" y="404813"/>
            <a:ext cx="854075" cy="64531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抽象类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87749" name="AutoShape 5"/>
          <p:cNvSpPr>
            <a:spLocks noChangeArrowheads="1"/>
          </p:cNvSpPr>
          <p:nvPr/>
        </p:nvSpPr>
        <p:spPr bwMode="auto">
          <a:xfrm>
            <a:off x="6732588" y="1601788"/>
            <a:ext cx="2411413" cy="542925"/>
          </a:xfrm>
          <a:prstGeom prst="wedgeRectCallout">
            <a:avLst>
              <a:gd name="adj1" fmla="val -102333"/>
              <a:gd name="adj2" fmla="val -1403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还是抽象类</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6" name="AutoShape 5"/>
          <p:cNvSpPr>
            <a:spLocks noChangeArrowheads="1"/>
          </p:cNvSpPr>
          <p:nvPr/>
        </p:nvSpPr>
        <p:spPr bwMode="auto">
          <a:xfrm>
            <a:off x="6696075" y="2525713"/>
            <a:ext cx="2413000" cy="542925"/>
          </a:xfrm>
          <a:prstGeom prst="wedgeRectCallout">
            <a:avLst>
              <a:gd name="adj1" fmla="val -102333"/>
              <a:gd name="adj2" fmla="val -1403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不是抽象类</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barn(inHorizontal)">
                                      <p:cBhvr>
                                        <p:cTn id="7" dur="5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87749"/>
                                        </p:tgtEl>
                                        <p:attrNameLst>
                                          <p:attrName>style.visibility</p:attrName>
                                        </p:attrNameLst>
                                      </p:cBhvr>
                                      <p:to>
                                        <p:strVal val="visible"/>
                                      </p:to>
                                    </p:set>
                                    <p:anim calcmode="lin" valueType="num">
                                      <p:cBhvr additive="base">
                                        <p:cTn id="12" dur="500" fill="hold"/>
                                        <p:tgtEl>
                                          <p:spTgt spid="287749"/>
                                        </p:tgtEl>
                                        <p:attrNameLst>
                                          <p:attrName>ppt_x</p:attrName>
                                        </p:attrNameLst>
                                      </p:cBhvr>
                                      <p:tavLst>
                                        <p:tav tm="0">
                                          <p:val>
                                            <p:strVal val="#ppt_x"/>
                                          </p:val>
                                        </p:tav>
                                        <p:tav tm="100000">
                                          <p:val>
                                            <p:strVal val="#ppt_x"/>
                                          </p:val>
                                        </p:tav>
                                      </p:tavLst>
                                    </p:anim>
                                    <p:anim calcmode="lin" valueType="num">
                                      <p:cBhvr additive="base">
                                        <p:cTn id="13" dur="500" fill="hold"/>
                                        <p:tgtEl>
                                          <p:spTgt spid="28774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287749" grpId="0" animBg="1"/>
      <p:bldP spid="6" grpId="0" animBg="1"/>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0850" name="Text Box 2"/>
          <p:cNvSpPr txBox="1">
            <a:spLocks noChangeArrowheads="1"/>
          </p:cNvSpPr>
          <p:nvPr/>
        </p:nvSpPr>
        <p:spPr bwMode="auto">
          <a:xfrm>
            <a:off x="2051050" y="44450"/>
            <a:ext cx="7092950" cy="60023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p()=0;</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virtual void q()=0;</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Student{//Master</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仍然是抽象类</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&lt;&lt;“Master”;}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MasterEnginee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Master{//</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不再是抽象类</a:t>
            </a: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position;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q(){</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MasterEnginee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35874" name="Text Box 3"/>
          <p:cNvSpPr txBox="1"/>
          <p:nvPr/>
        </p:nvSpPr>
        <p:spPr>
          <a:xfrm>
            <a:off x="622300" y="404813"/>
            <a:ext cx="854075" cy="64531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抽象类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90850"/>
                                        </p:tgtEl>
                                        <p:attrNameLst>
                                          <p:attrName>style.visibility</p:attrName>
                                        </p:attrNameLst>
                                      </p:cBhvr>
                                      <p:to>
                                        <p:strVal val="visible"/>
                                      </p:to>
                                    </p:set>
                                    <p:animEffect transition="in" filter="barn(inHorizontal)">
                                      <p:cBhvr>
                                        <p:cTn id="7" dur="500"/>
                                        <p:tgtEl>
                                          <p:spTgt spid="590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0" grpId="0"/>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Text Box 2"/>
          <p:cNvSpPr txBox="1">
            <a:spLocks noChangeArrowheads="1"/>
          </p:cNvSpPr>
          <p:nvPr/>
        </p:nvSpPr>
        <p:spPr bwMode="auto">
          <a:xfrm>
            <a:off x="1042988" y="44450"/>
            <a:ext cx="8101013" cy="6739255"/>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virtual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p()=0 { id = 9</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可有代码，强行访问</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9){id =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构造各司其职</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析构</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析构各司其职</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//可以纯虚但必须有代码</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dept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Mater(int k):Student(k){}</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&lt;&lt;“Master”;}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*q=new Mba(9);</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q-&gt;p();</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q-&gt;Student::p();</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36898" name="Text Box 3"/>
          <p:cNvSpPr txBox="1"/>
          <p:nvPr/>
        </p:nvSpPr>
        <p:spPr>
          <a:xfrm>
            <a:off x="250825" y="404813"/>
            <a:ext cx="854075" cy="6453187"/>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继承     抽象类</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barn(inHorizontal)">
                                      <p:cBhvr>
                                        <p:cTn id="7" dur="500"/>
                                        <p:tgtEl>
                                          <p:spTgt spid="287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bldLvl="0" animBg="1"/>
    </p:bld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4" name="Rectangle 2"/>
          <p:cNvSpPr>
            <a:spLocks noChangeArrowheads="1"/>
          </p:cNvSpPr>
          <p:nvPr/>
        </p:nvSpPr>
        <p:spPr bwMode="auto">
          <a:xfrm>
            <a:off x="107950" y="2733675"/>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纯虚函数直到被覆盖前所派生的类均为抽象类</a:t>
            </a:r>
            <a:r>
              <a:rPr kumimoji="0" lang="zh-CN" altLang="en-US" sz="32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a:ln>
                <a:noFill/>
              </a:ln>
              <a:solidFill>
                <a:srgbClr val="3333CC"/>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89795" name="Rectangle 3"/>
          <p:cNvSpPr>
            <a:spLocks noChangeArrowheads="1"/>
          </p:cNvSpPr>
          <p:nvPr/>
        </p:nvSpPr>
        <p:spPr bwMode="auto">
          <a:xfrm>
            <a:off x="107950" y="154781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抽象类不可以实例对象，但是可以定义指针和引用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37923" name="Rectangle 4"/>
          <p:cNvSpPr/>
          <p:nvPr/>
        </p:nvSpPr>
        <p:spPr>
          <a:xfrm>
            <a:off x="-252412" y="115888"/>
            <a:ext cx="9144000" cy="649287"/>
          </a:xfrm>
          <a:prstGeom prst="rect">
            <a:avLst/>
          </a:prstGeom>
          <a:noFill/>
          <a:ln w="9525">
            <a:noFill/>
          </a:ln>
        </p:spPr>
        <p:txBody>
          <a:bodyPr anchor="ctr"/>
          <a:p>
            <a:pPr algn="ctr"/>
            <a:r>
              <a:rPr lang="zh-CN" altLang="en-US" sz="4400" dirty="0">
                <a:solidFill>
                  <a:srgbClr val="FFFF00"/>
                </a:solidFill>
                <a:latin typeface="Times New Roman" panose="02020603050405020304" pitchFamily="18" charset="0"/>
                <a:ea typeface="华文行楷" panose="02010800040101010101" pitchFamily="2" charset="-122"/>
              </a:rPr>
              <a:t>关于抽象类</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289797" name="Rectangle 5"/>
          <p:cNvSpPr>
            <a:spLocks noChangeArrowheads="1"/>
          </p:cNvSpPr>
          <p:nvPr/>
        </p:nvSpPr>
        <p:spPr bwMode="auto">
          <a:xfrm>
            <a:off x="144463" y="51816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抽象类使得数据结构更加清晰，更加贴近自然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89798" name="Rectangle 6"/>
          <p:cNvSpPr>
            <a:spLocks noChangeArrowheads="1"/>
          </p:cNvSpPr>
          <p:nvPr/>
        </p:nvSpPr>
        <p:spPr bwMode="auto">
          <a:xfrm>
            <a:off x="144463" y="3957638"/>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抽象类需要有构造函数和析构函数吗？</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9795"/>
                                        </p:tgtEl>
                                        <p:attrNameLst>
                                          <p:attrName>style.visibility</p:attrName>
                                        </p:attrNameLst>
                                      </p:cBhvr>
                                      <p:to>
                                        <p:strVal val="visible"/>
                                      </p:to>
                                    </p:set>
                                    <p:anim calcmode="lin" valueType="num">
                                      <p:cBhvr additive="base">
                                        <p:cTn id="7" dur="2000" fill="hold"/>
                                        <p:tgtEl>
                                          <p:spTgt spid="289795"/>
                                        </p:tgtEl>
                                        <p:attrNameLst>
                                          <p:attrName>ppt_x</p:attrName>
                                        </p:attrNameLst>
                                      </p:cBhvr>
                                      <p:tavLst>
                                        <p:tav tm="0">
                                          <p:val>
                                            <p:strVal val="#ppt_x"/>
                                          </p:val>
                                        </p:tav>
                                        <p:tav tm="100000">
                                          <p:val>
                                            <p:strVal val="#ppt_x"/>
                                          </p:val>
                                        </p:tav>
                                      </p:tavLst>
                                    </p:anim>
                                    <p:anim calcmode="lin" valueType="num">
                                      <p:cBhvr additive="base">
                                        <p:cTn id="8" dur="2000" fill="hold"/>
                                        <p:tgtEl>
                                          <p:spTgt spid="289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289794"/>
                                        </p:tgtEl>
                                        <p:attrNameLst>
                                          <p:attrName>style.visibility</p:attrName>
                                        </p:attrNameLst>
                                      </p:cBhvr>
                                      <p:to>
                                        <p:strVal val="visible"/>
                                      </p:to>
                                    </p:set>
                                    <p:anim by="(-#ppt_w*2)" calcmode="lin" valueType="num">
                                      <p:cBhvr rctx="PPT">
                                        <p:cTn id="13" dur="500" autoRev="1" fill="hold">
                                          <p:stCondLst>
                                            <p:cond delay="0"/>
                                          </p:stCondLst>
                                        </p:cTn>
                                        <p:tgtEl>
                                          <p:spTgt spid="289794"/>
                                        </p:tgtEl>
                                        <p:attrNameLst>
                                          <p:attrName>ppt_w</p:attrName>
                                        </p:attrNameLst>
                                      </p:cBhvr>
                                    </p:anim>
                                    <p:anim by="(#ppt_w*0.50)" calcmode="lin" valueType="num">
                                      <p:cBhvr>
                                        <p:cTn id="14" dur="500" decel="50000" autoRev="1" fill="hold">
                                          <p:stCondLst>
                                            <p:cond delay="0"/>
                                          </p:stCondLst>
                                        </p:cTn>
                                        <p:tgtEl>
                                          <p:spTgt spid="289794"/>
                                        </p:tgtEl>
                                        <p:attrNameLst>
                                          <p:attrName>ppt_x</p:attrName>
                                        </p:attrNameLst>
                                      </p:cBhvr>
                                    </p:anim>
                                    <p:anim from="(-#ppt_h/2)" to="(#ppt_y)" calcmode="lin" valueType="num">
                                      <p:cBhvr>
                                        <p:cTn id="15" dur="1000" fill="hold">
                                          <p:stCondLst>
                                            <p:cond delay="0"/>
                                          </p:stCondLst>
                                        </p:cTn>
                                        <p:tgtEl>
                                          <p:spTgt spid="289794"/>
                                        </p:tgtEl>
                                        <p:attrNameLst>
                                          <p:attrName>ppt_y</p:attrName>
                                        </p:attrNameLst>
                                      </p:cBhvr>
                                    </p:anim>
                                    <p:animRot by="21600000">
                                      <p:cBhvr>
                                        <p:cTn id="16" dur="1000" fill="hold">
                                          <p:stCondLst>
                                            <p:cond delay="0"/>
                                          </p:stCondLst>
                                        </p:cTn>
                                        <p:tgtEl>
                                          <p:spTgt spid="289794"/>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89798"/>
                                        </p:tgtEl>
                                        <p:attrNameLst>
                                          <p:attrName>style.visibility</p:attrName>
                                        </p:attrNameLst>
                                      </p:cBhvr>
                                      <p:to>
                                        <p:strVal val="visible"/>
                                      </p:to>
                                    </p:set>
                                    <p:anim calcmode="lin" valueType="num">
                                      <p:cBhvr additive="base">
                                        <p:cTn id="21" dur="2000" fill="hold"/>
                                        <p:tgtEl>
                                          <p:spTgt spid="289798"/>
                                        </p:tgtEl>
                                        <p:attrNameLst>
                                          <p:attrName>ppt_x</p:attrName>
                                        </p:attrNameLst>
                                      </p:cBhvr>
                                      <p:tavLst>
                                        <p:tav tm="0">
                                          <p:val>
                                            <p:strVal val="#ppt_x"/>
                                          </p:val>
                                        </p:tav>
                                        <p:tav tm="100000">
                                          <p:val>
                                            <p:strVal val="#ppt_x"/>
                                          </p:val>
                                        </p:tav>
                                      </p:tavLst>
                                    </p:anim>
                                    <p:anim calcmode="lin" valueType="num">
                                      <p:cBhvr additive="base">
                                        <p:cTn id="22" dur="2000" fill="hold"/>
                                        <p:tgtEl>
                                          <p:spTgt spid="28979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89797"/>
                                        </p:tgtEl>
                                        <p:attrNameLst>
                                          <p:attrName>style.visibility</p:attrName>
                                        </p:attrNameLst>
                                      </p:cBhvr>
                                      <p:to>
                                        <p:strVal val="visible"/>
                                      </p:to>
                                    </p:set>
                                    <p:anim calcmode="lin" valueType="num">
                                      <p:cBhvr additive="base">
                                        <p:cTn id="27" dur="2000" fill="hold"/>
                                        <p:tgtEl>
                                          <p:spTgt spid="289797"/>
                                        </p:tgtEl>
                                        <p:attrNameLst>
                                          <p:attrName>ppt_x</p:attrName>
                                        </p:attrNameLst>
                                      </p:cBhvr>
                                      <p:tavLst>
                                        <p:tav tm="0">
                                          <p:val>
                                            <p:strVal val="#ppt_x"/>
                                          </p:val>
                                        </p:tav>
                                        <p:tav tm="100000">
                                          <p:val>
                                            <p:strVal val="#ppt_x"/>
                                          </p:val>
                                        </p:tav>
                                      </p:tavLst>
                                    </p:anim>
                                    <p:anim calcmode="lin" valueType="num">
                                      <p:cBhvr additive="base">
                                        <p:cTn id="28" dur="2000" fill="hold"/>
                                        <p:tgtEl>
                                          <p:spTgt spid="2897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4" grpId="0" animBg="1"/>
      <p:bldP spid="289795" grpId="0" animBg="1"/>
      <p:bldP spid="289797" grpId="0" animBg="1"/>
      <p:bldP spid="289798" grpId="0" animBg="1"/>
    </p:bld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5"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2659" name="Text Box 3"/>
          <p:cNvSpPr txBox="1">
            <a:spLocks noChangeArrowheads="1"/>
          </p:cNvSpPr>
          <p:nvPr/>
        </p:nvSpPr>
        <p:spPr bwMode="auto">
          <a:xfrm>
            <a:off x="900113" y="-100012"/>
            <a:ext cx="8243888"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paper;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a.pratice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a.paper</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*p = &amp;a;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 = &amp;a;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a.id=1;</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a.Phd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::id=1;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a.Master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 = 2;</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82659"/>
                                        </p:tgtEl>
                                        <p:attrNameLst>
                                          <p:attrName>style.visibility</p:attrName>
                                        </p:attrNameLst>
                                      </p:cBhvr>
                                      <p:to>
                                        <p:strVal val="visible"/>
                                      </p:to>
                                    </p:set>
                                    <p:animEffect transition="in" filter="barn(inHorizontal)">
                                      <p:cBhvr>
                                        <p:cTn id="7" dur="500"/>
                                        <p:tgtEl>
                                          <p:spTgt spid="582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p:bld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69"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2659" name="Text Box 3"/>
          <p:cNvSpPr txBox="1">
            <a:spLocks noChangeArrowheads="1"/>
          </p:cNvSpPr>
          <p:nvPr/>
        </p:nvSpPr>
        <p:spPr bwMode="auto">
          <a:xfrm>
            <a:off x="900113" y="-100012"/>
            <a:ext cx="5327650"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{public: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void x(){}};</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Student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paper;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a.id=1;</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a.Phd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::id=1;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a.Master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 = 1;</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a.Phd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::x();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a.Master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::x();</a:t>
            </a:r>
            <a:endPar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a.Student</a:t>
            </a: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::id=1;  </a:t>
            </a:r>
            <a:r>
              <a:rPr kumimoji="1" lang="en-US" altLang="zh-CN" sz="2400" b="1" kern="1200" cap="none" spc="0" normalizeH="0" baseline="0" noProof="0" dirty="0" err="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 p=&amp;a; //</a:t>
            </a:r>
            <a:r>
              <a:rPr kumimoji="1" lang="zh-CN" altLang="en-US"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无法忍受</a:t>
            </a:r>
            <a:endPar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pic>
        <p:nvPicPr>
          <p:cNvPr id="291844" name="Picture 4"/>
          <p:cNvPicPr>
            <a:picLocks noChangeAspect="1" noChangeArrowheads="1"/>
          </p:cNvPicPr>
          <p:nvPr/>
        </p:nvPicPr>
        <p:blipFill>
          <a:blip r:embed="rId1" cstate="print"/>
          <a:srcRect/>
          <a:stretch>
            <a:fillRect/>
          </a:stretch>
        </p:blipFill>
        <p:spPr bwMode="auto">
          <a:xfrm>
            <a:off x="6194648" y="542925"/>
            <a:ext cx="2890821" cy="5772150"/>
          </a:xfrm>
          <a:prstGeom prst="rect">
            <a:avLst/>
          </a:prstGeom>
          <a:ln>
            <a:noFill/>
          </a:ln>
          <a:effectLst>
            <a:reflection stA="0" endPos="65000" dist="508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82659"/>
                                        </p:tgtEl>
                                        <p:attrNameLst>
                                          <p:attrName>style.visibility</p:attrName>
                                        </p:attrNameLst>
                                      </p:cBhvr>
                                      <p:to>
                                        <p:strVal val="visible"/>
                                      </p:to>
                                    </p:set>
                                    <p:animEffect transition="in" filter="barn(inHorizontal)">
                                      <p:cBhvr>
                                        <p:cTn id="7" dur="500"/>
                                        <p:tgtEl>
                                          <p:spTgt spid="58265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1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p:bld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3"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2659" name="Text Box 3"/>
          <p:cNvSpPr txBox="1">
            <a:spLocks noChangeArrowheads="1"/>
          </p:cNvSpPr>
          <p:nvPr/>
        </p:nvSpPr>
        <p:spPr bwMode="auto">
          <a:xfrm>
            <a:off x="900113" y="-100012"/>
            <a:ext cx="8243888"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{public: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void x(){}}</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:virtual public Student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public Student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paper;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Master,public</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a.id=1;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a.Phd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::id=1;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a.Master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 = 1;</a:t>
            </a:r>
            <a:r>
              <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a.Phd</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::x();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a.Master</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::x();</a:t>
            </a:r>
            <a:endParaRPr kumimoji="1" lang="en-US" altLang="zh-CN" sz="24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a.Student</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::id=1;  </a:t>
            </a:r>
            <a:r>
              <a:rPr kumimoji="1" lang="en-US" altLang="zh-CN" sz="2400" b="1" kern="120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a.x</a:t>
            </a: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 * p=&amp;a;   p-&gt;x(); p-&gt;id = 1;</a:t>
            </a:r>
            <a:endParaRPr kumimoji="1" lang="en-US" altLang="zh-CN" sz="24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82659"/>
                                        </p:tgtEl>
                                        <p:attrNameLst>
                                          <p:attrName>style.visibility</p:attrName>
                                        </p:attrNameLst>
                                      </p:cBhvr>
                                      <p:to>
                                        <p:strVal val="visible"/>
                                      </p:to>
                                    </p:set>
                                    <p:animEffect transition="in" filter="barn(inHorizontal)">
                                      <p:cBhvr>
                                        <p:cTn id="7" dur="500"/>
                                        <p:tgtEl>
                                          <p:spTgt spid="582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p:bld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7" name="Text Box 2"/>
          <p:cNvSpPr txBox="1"/>
          <p:nvPr/>
        </p:nvSpPr>
        <p:spPr>
          <a:xfrm>
            <a:off x="4603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6755" name="Text Box 3"/>
          <p:cNvSpPr txBox="1">
            <a:spLocks noChangeArrowheads="1"/>
          </p:cNvSpPr>
          <p:nvPr/>
        </p:nvSpPr>
        <p:spPr bwMode="auto">
          <a:xfrm>
            <a:off x="684213" y="-141287"/>
            <a:ext cx="8459788" cy="7170738"/>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&lt;&lt;"Student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:virtual public Student {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机制；隐藏指针指向一个类表</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Master(string 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&lt;&lt;"Master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Phd:virtual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paper;</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(string p){paper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M_p:public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Master,public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p,string</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(q),Master(p){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","KDD");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pic>
        <p:nvPicPr>
          <p:cNvPr id="586758" name="Picture 6"/>
          <p:cNvPicPr>
            <a:picLocks noChangeAspect="1"/>
          </p:cNvPicPr>
          <p:nvPr/>
        </p:nvPicPr>
        <p:blipFill>
          <a:blip r:embed="rId1"/>
          <a:srcRect t="8362" r="67458" b="75490"/>
          <a:stretch>
            <a:fillRect/>
          </a:stretch>
        </p:blipFill>
        <p:spPr>
          <a:xfrm>
            <a:off x="5435600" y="5630863"/>
            <a:ext cx="3708400" cy="12271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86758"/>
                                        </p:tgtEl>
                                        <p:attrNameLst>
                                          <p:attrName>style.visibility</p:attrName>
                                        </p:attrNameLst>
                                      </p:cBhvr>
                                      <p:to>
                                        <p:strVal val="visible"/>
                                      </p:to>
                                    </p:set>
                                    <p:animEffect transition="in" filter="diamond(in)">
                                      <p:cBhvr>
                                        <p:cTn id="7" dur="2000"/>
                                        <p:tgtEl>
                                          <p:spTgt spid="586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1" name="Text Box 2"/>
          <p:cNvSpPr txBox="1"/>
          <p:nvPr/>
        </p:nvSpPr>
        <p:spPr>
          <a:xfrm>
            <a:off x="4603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6755" name="Text Box 3"/>
          <p:cNvSpPr txBox="1">
            <a:spLocks noChangeArrowheads="1"/>
          </p:cNvSpPr>
          <p:nvPr/>
        </p:nvSpPr>
        <p:spPr bwMode="auto">
          <a:xfrm>
            <a:off x="684213" y="-141287"/>
            <a:ext cx="8459788" cy="7170738"/>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&lt;&lt;"Student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:public Student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Master(string 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&lt;&lt;"Master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Phd:public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paper;</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(string p){paper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M_p:public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Master,public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p,string</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Phd</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(q),Master(p){</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构造！</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","KDD");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pic>
        <p:nvPicPr>
          <p:cNvPr id="5" name="Picture 5"/>
          <p:cNvPicPr>
            <a:picLocks noChangeAspect="1"/>
          </p:cNvPicPr>
          <p:nvPr/>
        </p:nvPicPr>
        <p:blipFill>
          <a:blip r:embed="rId1"/>
          <a:srcRect t="8008" r="69627" b="72354"/>
          <a:stretch>
            <a:fillRect/>
          </a:stretch>
        </p:blipFill>
        <p:spPr>
          <a:xfrm>
            <a:off x="5940425" y="5484813"/>
            <a:ext cx="3203575" cy="13731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5" name="Text Box 2"/>
          <p:cNvSpPr txBox="1"/>
          <p:nvPr/>
        </p:nvSpPr>
        <p:spPr>
          <a:xfrm>
            <a:off x="4603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pic>
        <p:nvPicPr>
          <p:cNvPr id="6" name="Picture 4"/>
          <p:cNvPicPr>
            <a:picLocks noChangeAspect="1" noChangeArrowheads="1"/>
          </p:cNvPicPr>
          <p:nvPr/>
        </p:nvPicPr>
        <p:blipFill>
          <a:blip r:embed="rId1" cstate="print"/>
          <a:srcRect/>
          <a:stretch>
            <a:fillRect/>
          </a:stretch>
        </p:blipFill>
        <p:spPr bwMode="auto">
          <a:xfrm>
            <a:off x="2977307" y="542925"/>
            <a:ext cx="2890837" cy="5772150"/>
          </a:xfrm>
          <a:prstGeom prst="rect">
            <a:avLst/>
          </a:prstGeom>
          <a:ln>
            <a:noFill/>
          </a:ln>
          <a:effectLst>
            <a:reflection stA="0" endPos="65000" dist="50800" dir="5400000" sy="-100000" algn="bl" rotWithShape="0"/>
          </a:effectLst>
        </p:spPr>
      </p:pic>
      <p:sp>
        <p:nvSpPr>
          <p:cNvPr id="3" name="任意多边形 2"/>
          <p:cNvSpPr/>
          <p:nvPr/>
        </p:nvSpPr>
        <p:spPr bwMode="auto">
          <a:xfrm>
            <a:off x="4592638" y="995363"/>
            <a:ext cx="2551113" cy="5005388"/>
          </a:xfrm>
          <a:custGeom>
            <a:avLst/>
            <a:gdLst>
              <a:gd name="connsiteX0" fmla="*/ 158786 w 2340011"/>
              <a:gd name="connsiteY0" fmla="*/ 5192620 h 5192620"/>
              <a:gd name="connsiteX1" fmla="*/ 2340011 w 2340011"/>
              <a:gd name="connsiteY1" fmla="*/ 2725645 h 5192620"/>
              <a:gd name="connsiteX2" fmla="*/ 158786 w 2340011"/>
              <a:gd name="connsiteY2" fmla="*/ 172945 h 5192620"/>
              <a:gd name="connsiteX3" fmla="*/ 158786 w 2340011"/>
              <a:gd name="connsiteY3" fmla="*/ 239620 h 5192620"/>
            </a:gdLst>
            <a:ahLst/>
            <a:cxnLst>
              <a:cxn ang="0">
                <a:pos x="connsiteX0" y="connsiteY0"/>
              </a:cxn>
              <a:cxn ang="0">
                <a:pos x="connsiteX1" y="connsiteY1"/>
              </a:cxn>
              <a:cxn ang="0">
                <a:pos x="connsiteX2" y="connsiteY2"/>
              </a:cxn>
              <a:cxn ang="0">
                <a:pos x="connsiteX3" y="connsiteY3"/>
              </a:cxn>
            </a:cxnLst>
            <a:rect l="l" t="t" r="r" b="b"/>
            <a:pathLst>
              <a:path w="2340011" h="5192620">
                <a:moveTo>
                  <a:pt x="158786" y="5192620"/>
                </a:moveTo>
                <a:cubicBezTo>
                  <a:pt x="1249398" y="4377438"/>
                  <a:pt x="2340011" y="3562257"/>
                  <a:pt x="2340011" y="2725645"/>
                </a:cubicBezTo>
                <a:cubicBezTo>
                  <a:pt x="2340011" y="1889033"/>
                  <a:pt x="522323" y="587282"/>
                  <a:pt x="158786" y="172945"/>
                </a:cubicBezTo>
                <a:cubicBezTo>
                  <a:pt x="-204751" y="-241392"/>
                  <a:pt x="171486" y="215807"/>
                  <a:pt x="158786" y="239620"/>
                </a:cubicBezTo>
              </a:path>
            </a:pathLst>
          </a:custGeom>
          <a:noFill/>
          <a:ln w="9525" cap="flat" cmpd="sng" algn="ctr">
            <a:solidFill>
              <a:schemeClr val="tx1">
                <a:lumMod val="85000"/>
                <a:lumOff val="15000"/>
              </a:schemeClr>
            </a:solidFill>
            <a:prstDash val="solid"/>
            <a:round/>
            <a:headEnd type="none" w="med" len="med"/>
            <a:tailEnd type="none" w="med" len="med"/>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3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5089" name="Text Box 2"/>
          <p:cNvSpPr txBox="1"/>
          <p:nvPr/>
        </p:nvSpPr>
        <p:spPr>
          <a:xfrm>
            <a:off x="4603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6755" name="Text Box 3"/>
          <p:cNvSpPr txBox="1">
            <a:spLocks noChangeArrowheads="1"/>
          </p:cNvSpPr>
          <p:nvPr/>
        </p:nvSpPr>
        <p:spPr bwMode="auto">
          <a:xfrm>
            <a:off x="1044575" y="225425"/>
            <a:ext cx="8053388" cy="6554788"/>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 = 1){ id = 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id &lt;&lt;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//s</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的值为</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rPr>
              <a:t>1</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mn-ea"/>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:virtual public Student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s):Student(s){cout&lt;&lt;s&lt;&lt;endl;}//s</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的值为</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9</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 Master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avg</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 :Master(s){}</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M_p</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a(9);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虚基类的直接派生类产生虚指针，指向虚基类</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虚拟继承的基类直接派生类构造函数放弃向上传导</a:t>
            </a:r>
            <a:endPar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后代类中对虚基类部分的访问通过虚指针进行</a:t>
            </a:r>
            <a:endPar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113" name="Text Box 2"/>
          <p:cNvSpPr txBox="1"/>
          <p:nvPr/>
        </p:nvSpPr>
        <p:spPr>
          <a:xfrm>
            <a:off x="46038"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多重继承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86755" name="Text Box 3"/>
          <p:cNvSpPr txBox="1">
            <a:spLocks noChangeArrowheads="1"/>
          </p:cNvSpPr>
          <p:nvPr/>
        </p:nvSpPr>
        <p:spPr bwMode="auto">
          <a:xfrm>
            <a:off x="1044575" y="225425"/>
            <a:ext cx="7704138" cy="6370638"/>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终结类</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Student {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Student(){}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id;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friend class Master;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Master :virtual public Student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string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pratice</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 :public Master{};</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Master a;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x;            //</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错误</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5730" name="Rectangle 2"/>
          <p:cNvSpPr>
            <a:spLocks noChangeArrowheads="1"/>
          </p:cNvSpPr>
          <p:nvPr/>
        </p:nvSpPr>
        <p:spPr bwMode="auto">
          <a:xfrm>
            <a:off x="107950" y="3094038"/>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多重继承使用起来困难</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585731" name="Rectangle 3"/>
          <p:cNvSpPr>
            <a:spLocks noChangeArrowheads="1"/>
          </p:cNvSpPr>
          <p:nvPr/>
        </p:nvSpPr>
        <p:spPr bwMode="auto">
          <a:xfrm>
            <a:off x="107950" y="19081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虚拟继承和虚函数</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多态、抽象类</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没有关系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7139" name="Rectangle 4"/>
          <p:cNvSpPr/>
          <p:nvPr/>
        </p:nvSpPr>
        <p:spPr>
          <a:xfrm>
            <a:off x="-180975" y="333375"/>
            <a:ext cx="9144000" cy="649288"/>
          </a:xfrm>
          <a:prstGeom prst="rect">
            <a:avLst/>
          </a:prstGeom>
          <a:noFill/>
          <a:ln w="9525">
            <a:noFill/>
          </a:ln>
        </p:spPr>
        <p:txBody>
          <a:bodyPr anchor="ctr"/>
          <a:p>
            <a:pPr algn="ctr"/>
            <a:r>
              <a:rPr lang="zh-CN" altLang="en-US" sz="4400" b="1" dirty="0">
                <a:solidFill>
                  <a:srgbClr val="FFFF00"/>
                </a:solidFill>
                <a:latin typeface="Times New Roman" panose="02020603050405020304" pitchFamily="18" charset="0"/>
                <a:ea typeface="华文行楷" panose="02010800040101010101" pitchFamily="2" charset="-122"/>
              </a:rPr>
              <a:t>多重继承</a:t>
            </a:r>
            <a:endParaRPr lang="zh-CN" altLang="en-US" sz="4400" dirty="0">
              <a:solidFill>
                <a:srgbClr val="FFFF00"/>
              </a:solidFill>
              <a:latin typeface="Times New Roman" panose="02020603050405020304" pitchFamily="18" charset="0"/>
              <a:ea typeface="华文行楷" panose="02010800040101010101" pitchFamily="2" charset="-122"/>
            </a:endParaRPr>
          </a:p>
        </p:txBody>
      </p:sp>
      <p:sp>
        <p:nvSpPr>
          <p:cNvPr id="585733" name="Rectangle 5"/>
          <p:cNvSpPr>
            <a:spLocks noChangeArrowheads="1"/>
          </p:cNvSpPr>
          <p:nvPr/>
        </p:nvSpPr>
        <p:spPr bwMode="auto">
          <a:xfrm>
            <a:off x="107950" y="43180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实际问题基本可以避免多重继承</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5731"/>
                                        </p:tgtEl>
                                        <p:attrNameLst>
                                          <p:attrName>style.visibility</p:attrName>
                                        </p:attrNameLst>
                                      </p:cBhvr>
                                      <p:to>
                                        <p:strVal val="visible"/>
                                      </p:to>
                                    </p:set>
                                    <p:anim calcmode="lin" valueType="num">
                                      <p:cBhvr additive="base">
                                        <p:cTn id="7" dur="2000" fill="hold"/>
                                        <p:tgtEl>
                                          <p:spTgt spid="585731"/>
                                        </p:tgtEl>
                                        <p:attrNameLst>
                                          <p:attrName>ppt_x</p:attrName>
                                        </p:attrNameLst>
                                      </p:cBhvr>
                                      <p:tavLst>
                                        <p:tav tm="0">
                                          <p:val>
                                            <p:strVal val="#ppt_x"/>
                                          </p:val>
                                        </p:tav>
                                        <p:tav tm="100000">
                                          <p:val>
                                            <p:strVal val="#ppt_x"/>
                                          </p:val>
                                        </p:tav>
                                      </p:tavLst>
                                    </p:anim>
                                    <p:anim calcmode="lin" valueType="num">
                                      <p:cBhvr additive="base">
                                        <p:cTn id="8" dur="2000" fill="hold"/>
                                        <p:tgtEl>
                                          <p:spTgt spid="5857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585730"/>
                                        </p:tgtEl>
                                        <p:attrNameLst>
                                          <p:attrName>style.visibility</p:attrName>
                                        </p:attrNameLst>
                                      </p:cBhvr>
                                      <p:to>
                                        <p:strVal val="visible"/>
                                      </p:to>
                                    </p:set>
                                    <p:anim by="(-#ppt_w*2)" calcmode="lin" valueType="num">
                                      <p:cBhvr rctx="PPT">
                                        <p:cTn id="13" dur="500" autoRev="1" fill="hold">
                                          <p:stCondLst>
                                            <p:cond delay="0"/>
                                          </p:stCondLst>
                                        </p:cTn>
                                        <p:tgtEl>
                                          <p:spTgt spid="585730"/>
                                        </p:tgtEl>
                                        <p:attrNameLst>
                                          <p:attrName>ppt_w</p:attrName>
                                        </p:attrNameLst>
                                      </p:cBhvr>
                                    </p:anim>
                                    <p:anim by="(#ppt_w*0.50)" calcmode="lin" valueType="num">
                                      <p:cBhvr>
                                        <p:cTn id="14" dur="500" decel="50000" autoRev="1" fill="hold">
                                          <p:stCondLst>
                                            <p:cond delay="0"/>
                                          </p:stCondLst>
                                        </p:cTn>
                                        <p:tgtEl>
                                          <p:spTgt spid="585730"/>
                                        </p:tgtEl>
                                        <p:attrNameLst>
                                          <p:attrName>ppt_x</p:attrName>
                                        </p:attrNameLst>
                                      </p:cBhvr>
                                    </p:anim>
                                    <p:anim from="(-#ppt_h/2)" to="(#ppt_y)" calcmode="lin" valueType="num">
                                      <p:cBhvr>
                                        <p:cTn id="15" dur="1000" fill="hold">
                                          <p:stCondLst>
                                            <p:cond delay="0"/>
                                          </p:stCondLst>
                                        </p:cTn>
                                        <p:tgtEl>
                                          <p:spTgt spid="585730"/>
                                        </p:tgtEl>
                                        <p:attrNameLst>
                                          <p:attrName>ppt_y</p:attrName>
                                        </p:attrNameLst>
                                      </p:cBhvr>
                                    </p:anim>
                                    <p:animRot by="21600000">
                                      <p:cBhvr>
                                        <p:cTn id="16" dur="1000" fill="hold">
                                          <p:stCondLst>
                                            <p:cond delay="0"/>
                                          </p:stCondLst>
                                        </p:cTn>
                                        <p:tgtEl>
                                          <p:spTgt spid="585730"/>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85733"/>
                                        </p:tgtEl>
                                        <p:attrNameLst>
                                          <p:attrName>style.visibility</p:attrName>
                                        </p:attrNameLst>
                                      </p:cBhvr>
                                      <p:to>
                                        <p:strVal val="visible"/>
                                      </p:to>
                                    </p:set>
                                    <p:anim calcmode="lin" valueType="num">
                                      <p:cBhvr additive="base">
                                        <p:cTn id="21" dur="2000" fill="hold"/>
                                        <p:tgtEl>
                                          <p:spTgt spid="585733"/>
                                        </p:tgtEl>
                                        <p:attrNameLst>
                                          <p:attrName>ppt_x</p:attrName>
                                        </p:attrNameLst>
                                      </p:cBhvr>
                                      <p:tavLst>
                                        <p:tav tm="0">
                                          <p:val>
                                            <p:strVal val="#ppt_x"/>
                                          </p:val>
                                        </p:tav>
                                        <p:tav tm="100000">
                                          <p:val>
                                            <p:strVal val="#ppt_x"/>
                                          </p:val>
                                        </p:tav>
                                      </p:tavLst>
                                    </p:anim>
                                    <p:anim calcmode="lin" valueType="num">
                                      <p:cBhvr additive="base">
                                        <p:cTn id="22" dur="2000" fill="hold"/>
                                        <p:tgtEl>
                                          <p:spTgt spid="5857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0" grpId="0" animBg="1"/>
      <p:bldP spid="585731" grpId="0" animBg="1"/>
      <p:bldP spid="585733" grpId="0" animBg="1"/>
    </p:bld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6862763"/>
          </a:xfrm>
          <a:prstGeom prst="rect">
            <a:avLst/>
          </a:prstGeom>
          <a:noFill/>
          <a:ln>
            <a:noFill/>
          </a:ln>
          <a:effectLst/>
        </p:spPr>
        <p:txBody>
          <a:bodyPr>
            <a:spAutoFit/>
          </a:bodyPr>
          <a:lstStyle/>
          <a:p>
            <a:pPr marR="0" algn="ctr"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类的六种关系</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一、纵向关系：</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Wingdings" panose="05000000000000000000" pitchFamily="2" charset="2"/>
              </a:rPr>
              <a:t>（耦合关系相同）</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、继承（</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虎是一种动物</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、实现接口（</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 like 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飞机和鸟都会飞</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二、横向关系</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Wingdings" panose="05000000000000000000" pitchFamily="2" charset="2"/>
              </a:rPr>
              <a:t>：（耦合关系渐弱）</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、合成、组合（</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 a part of</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鸟和翅膀；生命周期同步，一对一</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形式：成员</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、聚合（</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own 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汽车和轮胎，群体和个体，生命周期不同步</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形式：成员，一般为容器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、关联（</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know 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has 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人有朋友，不是包含关系</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形式：成员</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、依赖（</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use a</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）（运行期关系）</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动物代谢加工氧气</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形式：局部变量、方法的参数或者对静态方法的调用</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9185" name="图片 1"/>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transition>
    <p:cut/>
  </p:transition>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6956425"/>
          </a:xfrm>
          <a:prstGeom prst="rect">
            <a:avLst/>
          </a:prstGeom>
          <a:noFill/>
          <a:ln>
            <a:noFill/>
          </a:ln>
          <a:effectLst/>
        </p:spPr>
        <p:txBody>
          <a:bodyPr>
            <a:spAutoFit/>
          </a:bodyPr>
          <a:lstStyle/>
          <a:p>
            <a:pPr marR="0" algn="ctr" defTabSz="914400" fontAlgn="auto">
              <a:spcBef>
                <a:spcPts val="0"/>
              </a:spcBef>
              <a:spcAft>
                <a:spcPts val="0"/>
              </a:spcAft>
              <a:buClrTx/>
              <a:buSzTx/>
              <a:buFontTx/>
              <a:defRPr/>
            </a:pPr>
            <a:r>
              <a:rPr kumimoji="0" lang="zh-CN" altLang="en-US"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设计原则</a:t>
            </a:r>
            <a:endParaRPr kumimoji="0" lang="en-US" altLang="zh-CN"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、单一职责</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就一个类、接口、方法而言，应该仅有一个引起它变化的原因    如：手机</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、开放封闭</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软件的实体（类、模块、函数），对于扩展开放、对于修改关闭</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、依赖倒转</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抽象不应该依赖于细节，细节应该依赖于抽象；高层也不依赖底层，而共同依赖抽象（接口）</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、里氏替换</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把父类对象用子类对象代替，程序的行为没有变化。</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、合成聚合复用</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尽量使用合成</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聚合，尽量不使用继承</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6</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、迪米特</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一个对象应该对其他对象有最少的了解。</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、接口隔离</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依赖关系建立在最少的接口上      接口：类实例化对象、接口集合</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ctr" defTabSz="914400" fontAlgn="auto">
              <a:spcBef>
                <a:spcPts val="0"/>
              </a:spcBef>
              <a:spcAft>
                <a:spcPts val="0"/>
              </a:spcAft>
              <a:buClrTx/>
              <a:buSzTx/>
              <a:buFontTx/>
              <a:defRPr/>
            </a:pPr>
            <a:r>
              <a:rPr kumimoji="0" lang="zh-CN" altLang="en-US"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程度而已！</a:t>
            </a:r>
            <a:endParaRPr kumimoji="0" lang="en-US" altLang="zh-CN"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charRg st="288" end="29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9180513" cy="4154488"/>
          </a:xfrm>
          <a:prstGeom prst="rect">
            <a:avLst/>
          </a:prstGeom>
          <a:noFill/>
          <a:ln>
            <a:noFill/>
          </a:ln>
          <a:effectLst/>
        </p:spPr>
        <p:txBody>
          <a:bodyPr>
            <a:spAutoFit/>
          </a:bodyPr>
          <a:lstStyle/>
          <a:p>
            <a:pPr marR="0" algn="ctr" defTabSz="914400" fontAlgn="auto">
              <a:spcBef>
                <a:spcPts val="0"/>
              </a:spcBef>
              <a:spcAft>
                <a:spcPts val="0"/>
              </a:spcAft>
              <a:buClrTx/>
              <a:buSzTx/>
              <a:buFontTx/>
              <a:defRPr/>
            </a:pPr>
            <a:r>
              <a:rPr kumimoji="0" lang="zh-CN" altLang="en-US"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一个讨论</a:t>
            </a:r>
            <a:endParaRPr kumimoji="0" lang="en-US" altLang="zh-CN"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需求：</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手机品牌：</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I6</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I5</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I6Plus</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、小米</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、小米</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、小米</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Note</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、小米</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Max</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定位：北斗、伽利略、</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导航：百度、高德、凯立德</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设计：继承</a:t>
            </a:r>
            <a:r>
              <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a:t>
            </a:r>
            <a:endParaRPr kumimoji="0" lang="en-US" altLang="zh-CN" sz="24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fontAlgn="auto">
              <a:spcBef>
                <a:spcPts val="0"/>
              </a:spcBef>
              <a:spcAft>
                <a:spcPts val="0"/>
              </a:spcAft>
              <a:buClrTx/>
              <a:buSzTx/>
              <a:buFontTx/>
              <a:defRPr/>
            </a:pPr>
            <a:endParaRPr kumimoji="0" lang="en-US" altLang="zh-CN" sz="36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4932363" cy="6862763"/>
          </a:xfrm>
          <a:prstGeom prst="rect">
            <a:avLst/>
          </a:prstGeom>
          <a:noFill/>
          <a:ln>
            <a:noFill/>
          </a:ln>
          <a:effectLst/>
        </p:spPr>
        <p:txBody>
          <a:bodyPr>
            <a:spAutoFit/>
          </a:bodyPr>
          <a:lstStyle/>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locat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GpsBeidou:public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locat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GpsGalileo:public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locat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Map{</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MapBaidu:public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Map{</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5076825" y="52388"/>
            <a:ext cx="4067175" cy="6862763"/>
          </a:xfrm>
          <a:prstGeom prst="rect">
            <a:avLst/>
          </a:prstGeom>
          <a:noFill/>
          <a:ln>
            <a:noFill/>
          </a:ln>
          <a:effectLst/>
        </p:spPr>
        <p:txBody>
          <a:bodyPr>
            <a:spAutoFit/>
          </a:bodyPr>
          <a:lstStyle/>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MapGaode:public</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Map{</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-&gt;locate();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高德导航</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Phone{</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part;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Phone(</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){part =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(Map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ptr</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(part);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Phone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GpsBeidou</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obj.navigat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(new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MapBaidu</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0" y="-100012"/>
            <a:ext cx="4716463" cy="6524625"/>
          </a:xfrm>
          <a:prstGeom prst="rect">
            <a:avLst/>
          </a:prstGeom>
          <a:noFill/>
          <a:ln>
            <a:noFill/>
          </a:ln>
          <a:effectLst/>
        </p:spPr>
        <p:txBody>
          <a:bodyPr>
            <a:spAutoFit/>
          </a:bodyPr>
          <a:lstStyle/>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 :public A{</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 :public B{</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 = new B;</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 …;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p = </a:t>
            </a:r>
            <a:r>
              <a:rPr kumimoji="0" lang="en-US" altLang="zh-CN" sz="2200" b="1" kern="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dynamic_cast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&lt;C*&gt;(q);</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 (p)//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此时</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 = = NULL;</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指向成功</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继承体系内尝试指针与对象关联</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 name="Text Box 4"/>
          <p:cNvSpPr txBox="1">
            <a:spLocks noChangeArrowheads="1"/>
          </p:cNvSpPr>
          <p:nvPr/>
        </p:nvSpPr>
        <p:spPr bwMode="auto">
          <a:xfrm>
            <a:off x="4427538" y="-100012"/>
            <a:ext cx="5040313" cy="6524625"/>
          </a:xfrm>
          <a:prstGeom prst="rect">
            <a:avLst/>
          </a:prstGeom>
          <a:noFill/>
          <a:ln>
            <a:noFill/>
          </a:ln>
          <a:effectLst/>
        </p:spPr>
        <p:txBody>
          <a:bodyPr>
            <a:spAutoFit/>
          </a:bodyPr>
          <a:lstStyle/>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 :public A{</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 :public B{</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q = new B;</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 …; </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 * p =  </a:t>
            </a:r>
            <a:r>
              <a:rPr kumimoji="0" lang="en-US" altLang="zh-CN" sz="2200" b="1" kern="0" cap="none" spc="0" normalizeH="0" baseline="0" noProof="0" dirty="0" err="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static_cast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&lt;C*&gt;(q);</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 (p)//</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此时</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为真</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指向成功</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 </a:t>
            </a:r>
            <a:r>
              <a:rPr kumimoji="0" lang="en-US" altLang="zh-CN" sz="22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继承体系下强制指针与对象关联</a:t>
            </a:r>
            <a:endParaRPr kumimoji="0" lang="en-US" altLang="zh-CN" sz="22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a:spLocks noChangeArrowheads="1"/>
          </p:cNvSpPr>
          <p:nvPr/>
        </p:nvSpPr>
        <p:spPr bwMode="auto">
          <a:xfrm>
            <a:off x="539750" y="-100012"/>
            <a:ext cx="8353425" cy="7848600"/>
          </a:xfrm>
          <a:prstGeom prst="rect">
            <a:avLst/>
          </a:prstGeom>
          <a:noFill/>
          <a:ln>
            <a:noFill/>
          </a:ln>
          <a:effectLst/>
        </p:spPr>
        <p:txBody>
          <a:bodyPr>
            <a:spAutoFit/>
          </a:bodyPr>
          <a:lstStyle/>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M{};</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x(</a:t>
            </a:r>
            <a:r>
              <a:rPr kumimoji="0" lang="en-US" altLang="zh-CN" sz="28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 *p){</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 * q</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 = p;//</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扩大权限，因此不可以</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 = </a:t>
            </a:r>
            <a:r>
              <a:rPr kumimoji="0" lang="en-US" altLang="zh-CN" sz="28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const_cast</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&lt;M *&gt;(p);//</a:t>
            </a:r>
            <a:r>
              <a:rPr kumimoji="0" lang="en-US" altLang="zh-CN" sz="28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修饰被去掉</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q = p;//</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仍然不可以，</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本身没有被修改</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x(new M);</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8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M s;</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x(&amp;s);//</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将出现奇怪的处置，但是</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的值保持不变</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因为常量空间本身是否可以去</a:t>
            </a:r>
            <a:r>
              <a:rPr kumimoji="0" lang="en-US" altLang="zh-CN" sz="2800" b="1" kern="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const</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，标准没有规定</a:t>
            </a:r>
            <a:endParaRPr kumimoji="1" lang="en-US" altLang="zh-CN" sz="2800" kern="1200" cap="none" spc="0" normalizeH="0" baseline="0" noProof="0" dirty="0">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endParaRPr kumimoji="1" lang="en-US" altLang="zh-CN" sz="2800" kern="1200" cap="none" spc="0" normalizeH="0" baseline="0" noProof="0" dirty="0">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800" kern="1200" cap="none" spc="0" normalizeH="0" baseline="0" noProof="0" dirty="0" err="1">
                <a:latin typeface="Times New Roman" panose="02020603050405020304" pitchFamily="18" charset="0"/>
                <a:ea typeface="宋体" panose="02010600030101010101" pitchFamily="2" charset="-122"/>
                <a:cs typeface="+mn-cs"/>
              </a:rPr>
              <a:t>reinterpret_cast</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&lt;T *&gt;()</a:t>
            </a:r>
            <a:r>
              <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zh-CN" altLang="en-US"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任意类型转换 胡作非为</a:t>
            </a: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fontAlgn="auto">
              <a:spcBef>
                <a:spcPts val="0"/>
              </a:spcBef>
              <a:spcAft>
                <a:spcPts val="0"/>
              </a:spcAft>
              <a:buClrTx/>
              <a:buSzTx/>
              <a:buFontTx/>
              <a:defRPr/>
            </a:pPr>
            <a:endParaRPr kumimoji="0" lang="en-US" altLang="zh-CN" sz="2800" b="1" kern="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29" name="Text Box 3"/>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I/O</a:t>
            </a:r>
            <a:r>
              <a:rPr lang="zh-CN" altLang="en-US" sz="4400" b="1" dirty="0">
                <a:solidFill>
                  <a:srgbClr val="FFFF00"/>
                </a:solidFill>
                <a:latin typeface="Times New Roman" panose="02020603050405020304" pitchFamily="18" charset="0"/>
                <a:ea typeface="华文行楷" panose="02010800040101010101" pitchFamily="2" charset="-122"/>
              </a:rPr>
              <a:t>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10278" name="Text Box 6"/>
          <p:cNvSpPr txBox="1">
            <a:spLocks noChangeArrowheads="1"/>
          </p:cNvSpPr>
          <p:nvPr/>
        </p:nvSpPr>
        <p:spPr bwMode="auto">
          <a:xfrm>
            <a:off x="2484438" y="0"/>
            <a:ext cx="5905500" cy="766286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float a=5;</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printf</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负责解释处理数据输出；</a:t>
            </a: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public:</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b;</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 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Printf</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3600" b="1" kern="1200" cap="none" spc="0" normalizeH="0" baseline="0" noProof="0" dirty="0">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不能直接输出类的对象内容。</a:t>
            </a: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10281" name="AutoShape 9"/>
          <p:cNvSpPr>
            <a:spLocks noChangeArrowheads="1"/>
          </p:cNvSpPr>
          <p:nvPr/>
        </p:nvSpPr>
        <p:spPr bwMode="auto">
          <a:xfrm>
            <a:off x="6156325" y="3141663"/>
            <a:ext cx="2339975" cy="431800"/>
          </a:xfrm>
          <a:prstGeom prst="wedgeRectCallout">
            <a:avLst>
              <a:gd name="adj1" fmla="val -131005"/>
              <a:gd name="adj2" fmla="val -34742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传统输入输出的缺点</a:t>
            </a:r>
            <a:endParaRPr kumimoji="1" lang="zh-CN" altLang="en-US" sz="16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10278"/>
                                        </p:tgtEl>
                                        <p:attrNameLst>
                                          <p:attrName>style.visibility</p:attrName>
                                        </p:attrNameLst>
                                      </p:cBhvr>
                                      <p:to>
                                        <p:strVal val="visible"/>
                                      </p:to>
                                    </p:set>
                                    <p:animEffect transition="in" filter="barn(inHorizontal)">
                                      <p:cBhvr>
                                        <p:cTn id="7" dur="500"/>
                                        <p:tgtEl>
                                          <p:spTgt spid="31027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310281"/>
                                        </p:tgtEl>
                                        <p:attrNameLst>
                                          <p:attrName>style.visibility</p:attrName>
                                        </p:attrNameLst>
                                      </p:cBhvr>
                                      <p:to>
                                        <p:strVal val="visible"/>
                                      </p:to>
                                    </p:set>
                                    <p:anim calcmode="lin" valueType="num">
                                      <p:cBhvr additive="base">
                                        <p:cTn id="11" dur="500" fill="hold"/>
                                        <p:tgtEl>
                                          <p:spTgt spid="310281"/>
                                        </p:tgtEl>
                                        <p:attrNameLst>
                                          <p:attrName>ppt_x</p:attrName>
                                        </p:attrNameLst>
                                      </p:cBhvr>
                                      <p:tavLst>
                                        <p:tav tm="0">
                                          <p:val>
                                            <p:strVal val="#ppt_x"/>
                                          </p:val>
                                        </p:tav>
                                        <p:tav tm="100000">
                                          <p:val>
                                            <p:strVal val="#ppt_x"/>
                                          </p:val>
                                        </p:tav>
                                      </p:tavLst>
                                    </p:anim>
                                    <p:anim calcmode="lin" valueType="num">
                                      <p:cBhvr additive="base">
                                        <p:cTn id="12" dur="500" fill="hold"/>
                                        <p:tgtEl>
                                          <p:spTgt spid="3102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8" grpId="0"/>
      <p:bldP spid="310281" grpId="0" animBg="1"/>
    </p:bld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I/O</a:t>
            </a:r>
            <a:r>
              <a:rPr lang="zh-CN" altLang="en-US" sz="4400" b="1" dirty="0">
                <a:solidFill>
                  <a:srgbClr val="FFFF00"/>
                </a:solidFill>
                <a:latin typeface="Times New Roman" panose="02020603050405020304" pitchFamily="18" charset="0"/>
                <a:ea typeface="华文行楷" panose="02010800040101010101" pitchFamily="2" charset="-122"/>
              </a:rPr>
              <a:t>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11299" name="Text Box 3"/>
          <p:cNvSpPr txBox="1">
            <a:spLocks noChangeArrowheads="1"/>
          </p:cNvSpPr>
          <p:nvPr/>
        </p:nvSpPr>
        <p:spPr bwMode="auto">
          <a:xfrm>
            <a:off x="1403350" y="44450"/>
            <a:ext cx="7740650" cy="6556375"/>
          </a:xfrm>
          <a:prstGeom prst="rect">
            <a:avLst/>
          </a:prstGeom>
          <a:noFill/>
          <a:ln>
            <a:noFill/>
          </a:ln>
          <a:effectLst/>
        </p:spPr>
        <p:txBody>
          <a:bodyPr>
            <a:spAutoFit/>
          </a:bodyPr>
          <a:lstStyle/>
          <a:p>
            <a:pPr marR="0" algn="just" defTabSz="914400">
              <a:buClrTx/>
              <a:buSzTx/>
              <a:buFontTx/>
              <a:defRPr/>
            </a:pP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类名称为：</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iostream.h</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是该类的头文件</a:t>
            </a:r>
            <a:endPar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&amp;operator&lt;&lt;(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out,char</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p);</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&amp;operator&lt;&lt;(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out,int</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&amp;operator&lt;&lt;(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out,char</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&amp;operator&lt;&lt;(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out,float</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 </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为</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类的全局对象，不可复制</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默认输入输出设备、其它输入输出设备</a:t>
            </a: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stdout</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标准输出     默认屏幕</a:t>
            </a:r>
            <a:endPar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stdin</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标准输入     默认键盘 </a:t>
            </a:r>
            <a:endPar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cerr</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stderr</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标准出错     默认屏幕</a:t>
            </a:r>
            <a:endPar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clog(</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stdprn</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标准打印    默认打印机</a:t>
            </a:r>
            <a:endParaRPr kumimoji="1" lang="zh-CN"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11299"/>
                                        </p:tgtEl>
                                        <p:attrNameLst>
                                          <p:attrName>style.visibility</p:attrName>
                                        </p:attrNameLst>
                                      </p:cBhvr>
                                      <p:to>
                                        <p:strVal val="visible"/>
                                      </p:to>
                                    </p:set>
                                    <p:animEffect transition="in" filter="barn(inHorizontal)">
                                      <p:cBhvr>
                                        <p:cTn id="7" dur="500"/>
                                        <p:tgtEl>
                                          <p:spTgt spid="31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p:bld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7"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en-US" altLang="zh-CN" sz="4400" b="1" dirty="0">
                <a:solidFill>
                  <a:srgbClr val="FFFF00"/>
                </a:solidFill>
                <a:latin typeface="Times New Roman" panose="02020603050405020304" pitchFamily="18" charset="0"/>
                <a:ea typeface="华文行楷" panose="02010800040101010101" pitchFamily="2" charset="-122"/>
              </a:rPr>
              <a:t>I/O</a:t>
            </a:r>
            <a:r>
              <a:rPr lang="zh-CN" altLang="en-US" sz="4400" b="1" dirty="0">
                <a:solidFill>
                  <a:srgbClr val="FFFF00"/>
                </a:solidFill>
                <a:latin typeface="Times New Roman" panose="02020603050405020304" pitchFamily="18" charset="0"/>
                <a:ea typeface="华文行楷" panose="02010800040101010101" pitchFamily="2" charset="-122"/>
              </a:rPr>
              <a:t>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12323" name="Text Box 3"/>
          <p:cNvSpPr txBox="1">
            <a:spLocks noChangeArrowheads="1"/>
          </p:cNvSpPr>
          <p:nvPr/>
        </p:nvSpPr>
        <p:spPr bwMode="auto">
          <a:xfrm>
            <a:off x="1476375" y="-100012"/>
            <a:ext cx="7272338" cy="6924675"/>
          </a:xfrm>
          <a:prstGeom prst="rect">
            <a:avLst/>
          </a:prstGeom>
          <a:noFill/>
          <a:ln>
            <a:noFill/>
          </a:ln>
          <a:effectLst/>
        </p:spPr>
        <p:txBody>
          <a:bodyPr>
            <a:spAutoFit/>
          </a:bodyPr>
          <a:lstStyle/>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iostream.h</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float a;    float b;</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(){return(a);}</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float &amp;</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bbb</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(){return(b);}</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 operator &lt;&lt;(</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ostream</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&amp;</a:t>
            </a:r>
            <a:r>
              <a:rPr kumimoji="1" lang="en-US" altLang="zh-CN"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&amp;a){</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t&lt;&lt;</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return(out</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   </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a.aaa</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a.bbb</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8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12323"/>
                                        </p:tgtEl>
                                        <p:attrNameLst>
                                          <p:attrName>style.visibility</p:attrName>
                                        </p:attrNameLst>
                                      </p:cBhvr>
                                      <p:to>
                                        <p:strVal val="visible"/>
                                      </p:to>
                                    </p:set>
                                    <p:animEffect transition="in" filter="barn(inHorizontal)">
                                      <p:cBhvr>
                                        <p:cTn id="7" dur="500"/>
                                        <p:tgtEl>
                                          <p:spTgt spid="31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p:bld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1"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输出输入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13027" name="Text Box 3"/>
          <p:cNvSpPr txBox="1">
            <a:spLocks noChangeArrowheads="1"/>
          </p:cNvSpPr>
          <p:nvPr/>
        </p:nvSpPr>
        <p:spPr bwMode="auto">
          <a:xfrm>
            <a:off x="1979613" y="631825"/>
            <a:ext cx="6337300" cy="4789488"/>
          </a:xfrm>
          <a:prstGeom prst="rect">
            <a:avLst/>
          </a:prstGeom>
          <a:noFill/>
          <a:ln>
            <a:noFill/>
          </a:ln>
          <a:effectLst/>
        </p:spPr>
        <p:txBody>
          <a:bodyPr>
            <a:spAutoFit/>
          </a:bodyPr>
          <a:lstStyle/>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"stdafx.h"</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a:t>
            </a: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iostream</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#include&lt;iomanip&gt;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double a=0.12345;</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cout.precision(2);</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cout&lt;&lt;a&lt;&lt;endl;</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cout&lt;&lt;a&lt;&lt;setprecision(3)&lt;&lt;a&lt;&lt;endl;</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cout&lt;&lt;a&lt;&lt;endl;</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13028" name="AutoShape 4"/>
          <p:cNvSpPr>
            <a:spLocks noChangeArrowheads="1"/>
          </p:cNvSpPr>
          <p:nvPr/>
        </p:nvSpPr>
        <p:spPr bwMode="auto">
          <a:xfrm>
            <a:off x="1476375" y="5445125"/>
            <a:ext cx="1690688" cy="431800"/>
          </a:xfrm>
          <a:prstGeom prst="wedgeRectCallout">
            <a:avLst>
              <a:gd name="adj1" fmla="val -9907"/>
              <a:gd name="adj2" fmla="val -500000"/>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成员函数</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13029" name="AutoShape 5"/>
          <p:cNvSpPr>
            <a:spLocks noChangeArrowheads="1"/>
          </p:cNvSpPr>
          <p:nvPr/>
        </p:nvSpPr>
        <p:spPr bwMode="auto">
          <a:xfrm>
            <a:off x="3419475" y="5445125"/>
            <a:ext cx="1690688" cy="431800"/>
          </a:xfrm>
          <a:prstGeom prst="wedgeRectCallout">
            <a:avLst>
              <a:gd name="adj1" fmla="val 33005"/>
              <a:gd name="adj2" fmla="val -27132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控制符号</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3027"/>
                                        </p:tgtEl>
                                        <p:attrNameLst>
                                          <p:attrName>style.visibility</p:attrName>
                                        </p:attrNameLst>
                                      </p:cBhvr>
                                      <p:to>
                                        <p:strVal val="visible"/>
                                      </p:to>
                                    </p:set>
                                    <p:animEffect transition="in" filter="barn(inHorizontal)">
                                      <p:cBhvr>
                                        <p:cTn id="7" dur="500"/>
                                        <p:tgtEl>
                                          <p:spTgt spid="5130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3028"/>
                                        </p:tgtEl>
                                        <p:attrNameLst>
                                          <p:attrName>style.visibility</p:attrName>
                                        </p:attrNameLst>
                                      </p:cBhvr>
                                      <p:to>
                                        <p:strVal val="visible"/>
                                      </p:to>
                                    </p:set>
                                    <p:anim calcmode="lin" valueType="num">
                                      <p:cBhvr additive="base">
                                        <p:cTn id="12" dur="500" fill="hold"/>
                                        <p:tgtEl>
                                          <p:spTgt spid="513028"/>
                                        </p:tgtEl>
                                        <p:attrNameLst>
                                          <p:attrName>ppt_x</p:attrName>
                                        </p:attrNameLst>
                                      </p:cBhvr>
                                      <p:tavLst>
                                        <p:tav tm="0">
                                          <p:val>
                                            <p:strVal val="#ppt_x"/>
                                          </p:val>
                                        </p:tav>
                                        <p:tav tm="100000">
                                          <p:val>
                                            <p:strVal val="#ppt_x"/>
                                          </p:val>
                                        </p:tav>
                                      </p:tavLst>
                                    </p:anim>
                                    <p:anim calcmode="lin" valueType="num">
                                      <p:cBhvr additive="base">
                                        <p:cTn id="13" dur="500" fill="hold"/>
                                        <p:tgtEl>
                                          <p:spTgt spid="51302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13029"/>
                                        </p:tgtEl>
                                        <p:attrNameLst>
                                          <p:attrName>style.visibility</p:attrName>
                                        </p:attrNameLst>
                                      </p:cBhvr>
                                      <p:to>
                                        <p:strVal val="visible"/>
                                      </p:to>
                                    </p:set>
                                    <p:anim calcmode="lin" valueType="num">
                                      <p:cBhvr additive="base">
                                        <p:cTn id="18" dur="500" fill="hold"/>
                                        <p:tgtEl>
                                          <p:spTgt spid="513029"/>
                                        </p:tgtEl>
                                        <p:attrNameLst>
                                          <p:attrName>ppt_x</p:attrName>
                                        </p:attrNameLst>
                                      </p:cBhvr>
                                      <p:tavLst>
                                        <p:tav tm="0">
                                          <p:val>
                                            <p:strVal val="#ppt_x"/>
                                          </p:val>
                                        </p:tav>
                                        <p:tav tm="100000">
                                          <p:val>
                                            <p:strVal val="#ppt_x"/>
                                          </p:val>
                                        </p:tav>
                                      </p:tavLst>
                                    </p:anim>
                                    <p:anim calcmode="lin" valueType="num">
                                      <p:cBhvr additive="base">
                                        <p:cTn id="19" dur="500" fill="hold"/>
                                        <p:tgtEl>
                                          <p:spTgt spid="5130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p:bldP spid="513028" grpId="0" animBg="1"/>
      <p:bldP spid="513029" grpId="0" animBg="1"/>
    </p:bld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5"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输出输入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14051" name="Text Box 3"/>
          <p:cNvSpPr txBox="1">
            <a:spLocks noChangeArrowheads="1"/>
          </p:cNvSpPr>
          <p:nvPr/>
        </p:nvSpPr>
        <p:spPr bwMode="auto">
          <a:xfrm>
            <a:off x="1979613" y="333375"/>
            <a:ext cx="5688013" cy="4789488"/>
          </a:xfrm>
          <a:prstGeom prst="rect">
            <a:avLst/>
          </a:prstGeom>
          <a:noFill/>
          <a:ln>
            <a:noFill/>
          </a:ln>
          <a:effectLst/>
        </p:spPr>
        <p:txBody>
          <a:bodyPr>
            <a:spAutoFit/>
          </a:bodyPr>
          <a:lstStyle/>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"stdafx.h"</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a:t>
            </a: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iostream</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char a[20];</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cin&gt;&gt;a;</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cout&lt;&lt;endl&lt;&lt;a;</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cin.getline(a,11,'a');</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cout&lt;&lt;endl&lt;&lt;a;</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14052" name="AutoShape 4"/>
          <p:cNvSpPr>
            <a:spLocks noChangeArrowheads="1"/>
          </p:cNvSpPr>
          <p:nvPr/>
        </p:nvSpPr>
        <p:spPr bwMode="auto">
          <a:xfrm>
            <a:off x="1476375" y="5445125"/>
            <a:ext cx="5616575" cy="431800"/>
          </a:xfrm>
          <a:prstGeom prst="wedgeRectCallout">
            <a:avLst>
              <a:gd name="adj1" fmla="val -14611"/>
              <a:gd name="adj2" fmla="val -223162"/>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成员函数的使用可以更加精细的控制输入和输出</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4051"/>
                                        </p:tgtEl>
                                        <p:attrNameLst>
                                          <p:attrName>style.visibility</p:attrName>
                                        </p:attrNameLst>
                                      </p:cBhvr>
                                      <p:to>
                                        <p:strVal val="visible"/>
                                      </p:to>
                                    </p:set>
                                    <p:animEffect transition="in" filter="barn(inHorizontal)">
                                      <p:cBhvr>
                                        <p:cTn id="7" dur="500"/>
                                        <p:tgtEl>
                                          <p:spTgt spid="51405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4052"/>
                                        </p:tgtEl>
                                        <p:attrNameLst>
                                          <p:attrName>style.visibility</p:attrName>
                                        </p:attrNameLst>
                                      </p:cBhvr>
                                      <p:to>
                                        <p:strVal val="visible"/>
                                      </p:to>
                                    </p:set>
                                    <p:anim calcmode="lin" valueType="num">
                                      <p:cBhvr additive="base">
                                        <p:cTn id="12" dur="500" fill="hold"/>
                                        <p:tgtEl>
                                          <p:spTgt spid="514052"/>
                                        </p:tgtEl>
                                        <p:attrNameLst>
                                          <p:attrName>ppt_x</p:attrName>
                                        </p:attrNameLst>
                                      </p:cBhvr>
                                      <p:tavLst>
                                        <p:tav tm="0">
                                          <p:val>
                                            <p:strVal val="#ppt_x"/>
                                          </p:val>
                                        </p:tav>
                                        <p:tav tm="100000">
                                          <p:val>
                                            <p:strVal val="#ppt_x"/>
                                          </p:val>
                                        </p:tav>
                                      </p:tavLst>
                                    </p:anim>
                                    <p:anim calcmode="lin" valueType="num">
                                      <p:cBhvr additive="base">
                                        <p:cTn id="13" dur="500" fill="hold"/>
                                        <p:tgtEl>
                                          <p:spTgt spid="514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1" grpId="0"/>
      <p:bldP spid="514052" grpId="0" animBg="1"/>
    </p:bld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49"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文件流类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16099" name="Text Box 3"/>
          <p:cNvSpPr txBox="1">
            <a:spLocks noChangeArrowheads="1"/>
          </p:cNvSpPr>
          <p:nvPr/>
        </p:nvSpPr>
        <p:spPr bwMode="auto">
          <a:xfrm>
            <a:off x="971550" y="1125538"/>
            <a:ext cx="8172450" cy="3935413"/>
          </a:xfrm>
          <a:prstGeom prst="rect">
            <a:avLst/>
          </a:prstGeom>
          <a:noFill/>
          <a:ln>
            <a:noFill/>
          </a:ln>
          <a:effectLst/>
        </p:spPr>
        <p:txBody>
          <a:bodyPr>
            <a:spAutoFit/>
          </a:bodyPr>
          <a:lstStyle/>
          <a:p>
            <a:pPr marR="0" algn="just" defTabSz="914400">
              <a:buClrTx/>
              <a:buSzTx/>
              <a:buFontTx/>
              <a:defRPr/>
            </a:pP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ofstream   </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文件输出类</a:t>
            </a: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ifstream    </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文件输入类        </a:t>
            </a: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在</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fstream.h</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里面定义   </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fstream</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是多继承子类</a:t>
            </a: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没有</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a:t>
            </a: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r>
              <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这样的标准全局对象。</a:t>
            </a: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Ofstream::ofstream(char * pFilename,</a:t>
            </a:r>
            <a:endPar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mode=ios::out,</a:t>
            </a:r>
            <a:endPar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port=filebuf::openprot);</a:t>
            </a:r>
            <a:endParaRPr kumimoji="1" lang="en-US" altLang="zh-CN" sz="28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6099"/>
                                        </p:tgtEl>
                                        <p:attrNameLst>
                                          <p:attrName>style.visibility</p:attrName>
                                        </p:attrNameLst>
                                      </p:cBhvr>
                                      <p:to>
                                        <p:strVal val="visible"/>
                                      </p:to>
                                    </p:set>
                                    <p:animEffect transition="in" filter="barn(inHorizontal)">
                                      <p:cBhvr>
                                        <p:cTn id="7" dur="500"/>
                                        <p:tgtEl>
                                          <p:spTgt spid="516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9" grpId="0"/>
    </p:bld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7123" name="Text Box 3"/>
          <p:cNvSpPr txBox="1">
            <a:spLocks noChangeArrowheads="1"/>
          </p:cNvSpPr>
          <p:nvPr/>
        </p:nvSpPr>
        <p:spPr bwMode="auto">
          <a:xfrm>
            <a:off x="431800" y="44450"/>
            <a:ext cx="8604250" cy="6740525"/>
          </a:xfrm>
          <a:prstGeom prst="rect">
            <a:avLst/>
          </a:prstGeom>
          <a:noFill/>
          <a:ln>
            <a:noFill/>
          </a:ln>
          <a:effectLst/>
        </p:spPr>
        <p:txBody>
          <a:bodyPr>
            <a:spAutoFit/>
          </a:bodyPr>
          <a:lstStyle/>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#include&lt;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fstream.h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fn</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ofstream</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myname</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out|ios</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trunc</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学院</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n"&lt;&lt;"of </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软件</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fi(){</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char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ifstream</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myname</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nocreate,</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filebuf</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sh_none</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myf.fail</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cerr</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文件打开错误”</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&gt;&gt;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myf</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&gt;&gt;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en-US"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fn</a:t>
            </a: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fi();</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7123"/>
                                        </p:tgtEl>
                                        <p:attrNameLst>
                                          <p:attrName>style.visibility</p:attrName>
                                        </p:attrNameLst>
                                      </p:cBhvr>
                                      <p:to>
                                        <p:strVal val="visible"/>
                                      </p:to>
                                    </p:set>
                                    <p:animEffect transition="in" filter="barn(inHorizontal)">
                                      <p:cBhvr>
                                        <p:cTn id="7" dur="500"/>
                                        <p:tgtEl>
                                          <p:spTgt spid="517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p:bld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7"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文件流类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723971" name="Text Box 3"/>
          <p:cNvSpPr txBox="1">
            <a:spLocks noChangeArrowheads="1"/>
          </p:cNvSpPr>
          <p:nvPr/>
        </p:nvSpPr>
        <p:spPr bwMode="auto">
          <a:xfrm>
            <a:off x="971550" y="44450"/>
            <a:ext cx="8172450" cy="6299200"/>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Ofstream::ofstream(char * pFilename,</a:t>
            </a:r>
            <a:endPar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mode=ios::out,</a:t>
            </a:r>
            <a:endPar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int port=filebuf::openprot);</a:t>
            </a:r>
            <a:endPar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Mode:</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打开方式</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ios::ate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如果文件存在末尾追加</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ios::trunc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如果文件存在清除内容（默认）</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ios::in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输入能力（</a:t>
            </a: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ifstream</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默认）</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ios::out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输出能力（</a:t>
            </a: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ofstream</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默认）</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ios::nocreate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文件不存在返回错误</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ios::noreplace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文件存在返回错误</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ios::binary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二进制方式</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Prot</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：保护方式</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filebuf::openprot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允许共享</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filebuf::sh_none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独占</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filebuf::sh_read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读共享</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filebuf::sh_write    </a:t>
            </a:r>
            <a:r>
              <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写共享</a:t>
            </a:r>
            <a:endParaRPr kumimoji="1" lang="zh-CN" altLang="en-US" sz="24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23971"/>
                                        </p:tgtEl>
                                        <p:attrNameLst>
                                          <p:attrName>style.visibility</p:attrName>
                                        </p:attrNameLst>
                                      </p:cBhvr>
                                      <p:to>
                                        <p:strVal val="visible"/>
                                      </p:to>
                                    </p:set>
                                    <p:animEffect transition="in" filter="barn(inHorizontal)">
                                      <p:cBhvr>
                                        <p:cTn id="7" dur="500"/>
                                        <p:tgtEl>
                                          <p:spTgt spid="723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1" grpId="0"/>
    </p:bld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1"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串流类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18147" name="Text Box 3"/>
          <p:cNvSpPr txBox="1">
            <a:spLocks noChangeArrowheads="1"/>
          </p:cNvSpPr>
          <p:nvPr/>
        </p:nvSpPr>
        <p:spPr bwMode="auto">
          <a:xfrm>
            <a:off x="971550" y="44450"/>
            <a:ext cx="8172450" cy="5883275"/>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ostrstream   </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串输出类</a:t>
            </a:r>
            <a:endPar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istrstream    </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串输入类    在</a:t>
            </a: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strstrea.h</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里面定义   </a:t>
            </a: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strstream</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是多继承子类</a:t>
            </a:r>
            <a:endPar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没有</a:t>
            </a: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和</a:t>
            </a: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cin</a:t>
            </a:r>
            <a:r>
              <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这样的标准全局对象。</a:t>
            </a:r>
            <a:endPar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zh-CN" altLang="en-US"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ostrstream::ostream(char * ,int size);</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istrstream::istream(char * ,int size);</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#include “strstrea.h”</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char a[128];</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char c;</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ostrstream  oo(a,128);</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oo&lt;&lt;“Computer”;</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oo.put(‘ ‘);</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cout&lt;&lt;a;</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istrstream ii(a);</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ii&gt;&gt;c;</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ii.get(c);</a:t>
            </a:r>
            <a:endParaRPr kumimoji="1" lang="en-US" altLang="zh-CN" sz="2000" b="1" kern="1200" cap="none" spc="0" normalizeH="0" baseline="0" noProof="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518148" name="AutoShape 4"/>
          <p:cNvSpPr>
            <a:spLocks noChangeArrowheads="1"/>
          </p:cNvSpPr>
          <p:nvPr/>
        </p:nvSpPr>
        <p:spPr bwMode="auto">
          <a:xfrm>
            <a:off x="2916238" y="6165850"/>
            <a:ext cx="5616575" cy="431800"/>
          </a:xfrm>
          <a:prstGeom prst="wedgeRectCallout">
            <a:avLst>
              <a:gd name="adj1" fmla="val -40250"/>
              <a:gd name="adj2" fmla="val -39007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I/O</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流类的函数基本是通用的</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518149" name="AutoShape 5"/>
          <p:cNvSpPr>
            <a:spLocks noChangeArrowheads="1"/>
          </p:cNvSpPr>
          <p:nvPr/>
        </p:nvSpPr>
        <p:spPr bwMode="auto">
          <a:xfrm>
            <a:off x="3527425" y="4076700"/>
            <a:ext cx="5616575" cy="431800"/>
          </a:xfrm>
          <a:prstGeom prst="wedgeRectCallout">
            <a:avLst>
              <a:gd name="adj1" fmla="val -40250"/>
              <a:gd name="adj2" fmla="val -39007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标准输入输出、外存和内存统称</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I/O</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流类</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8147"/>
                                        </p:tgtEl>
                                        <p:attrNameLst>
                                          <p:attrName>style.visibility</p:attrName>
                                        </p:attrNameLst>
                                      </p:cBhvr>
                                      <p:to>
                                        <p:strVal val="visible"/>
                                      </p:to>
                                    </p:set>
                                    <p:animEffect transition="in" filter="barn(inHorizontal)">
                                      <p:cBhvr>
                                        <p:cTn id="7" dur="500"/>
                                        <p:tgtEl>
                                          <p:spTgt spid="51814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8149"/>
                                        </p:tgtEl>
                                        <p:attrNameLst>
                                          <p:attrName>style.visibility</p:attrName>
                                        </p:attrNameLst>
                                      </p:cBhvr>
                                      <p:to>
                                        <p:strVal val="visible"/>
                                      </p:to>
                                    </p:set>
                                    <p:anim calcmode="lin" valueType="num">
                                      <p:cBhvr additive="base">
                                        <p:cTn id="12" dur="500" fill="hold"/>
                                        <p:tgtEl>
                                          <p:spTgt spid="518149"/>
                                        </p:tgtEl>
                                        <p:attrNameLst>
                                          <p:attrName>ppt_x</p:attrName>
                                        </p:attrNameLst>
                                      </p:cBhvr>
                                      <p:tavLst>
                                        <p:tav tm="0">
                                          <p:val>
                                            <p:strVal val="#ppt_x"/>
                                          </p:val>
                                        </p:tav>
                                        <p:tav tm="100000">
                                          <p:val>
                                            <p:strVal val="#ppt_x"/>
                                          </p:val>
                                        </p:tav>
                                      </p:tavLst>
                                    </p:anim>
                                    <p:anim calcmode="lin" valueType="num">
                                      <p:cBhvr additive="base">
                                        <p:cTn id="13" dur="500" fill="hold"/>
                                        <p:tgtEl>
                                          <p:spTgt spid="51814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18148"/>
                                        </p:tgtEl>
                                        <p:attrNameLst>
                                          <p:attrName>style.visibility</p:attrName>
                                        </p:attrNameLst>
                                      </p:cBhvr>
                                      <p:to>
                                        <p:strVal val="visible"/>
                                      </p:to>
                                    </p:set>
                                    <p:anim calcmode="lin" valueType="num">
                                      <p:cBhvr additive="base">
                                        <p:cTn id="18" dur="500" fill="hold"/>
                                        <p:tgtEl>
                                          <p:spTgt spid="518148"/>
                                        </p:tgtEl>
                                        <p:attrNameLst>
                                          <p:attrName>ppt_x</p:attrName>
                                        </p:attrNameLst>
                                      </p:cBhvr>
                                      <p:tavLst>
                                        <p:tav tm="0">
                                          <p:val>
                                            <p:strVal val="#ppt_x"/>
                                          </p:val>
                                        </p:tav>
                                        <p:tav tm="100000">
                                          <p:val>
                                            <p:strVal val="#ppt_x"/>
                                          </p:val>
                                        </p:tav>
                                      </p:tavLst>
                                    </p:anim>
                                    <p:anim calcmode="lin" valueType="num">
                                      <p:cBhvr additive="base">
                                        <p:cTn id="19" dur="500" fill="hold"/>
                                        <p:tgtEl>
                                          <p:spTgt spid="518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p:bldP spid="518148" grpId="0" animBg="1"/>
      <p:bldP spid="518149" grpId="0" animBg="1"/>
    </p:bld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5"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39971" name="Text Box 3"/>
          <p:cNvSpPr txBox="1">
            <a:spLocks noChangeArrowheads="1"/>
          </p:cNvSpPr>
          <p:nvPr/>
        </p:nvSpPr>
        <p:spPr bwMode="auto">
          <a:xfrm>
            <a:off x="2124075" y="-26987"/>
            <a:ext cx="6551613" cy="6299200"/>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f(){</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sock a;</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a=sock(“10.100.21.61”,5670);</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send(a,”Hello!”);</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 f(){</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sock a;</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a=sock(“10.100.21.61”,5670);</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if(a&lt;0){</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cout&lt;&lt;“</a:t>
            </a:r>
            <a:r>
              <a:rPr kumimoji="1" lang="zh-CN" altLang="en-US"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不能获得网络连接”</a:t>
            </a: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&lt;&lt;endl;</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return(-1);</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send(a,”Hello!”);</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main(){if(f() == -1)  cout&lt;&lt;“</a:t>
            </a:r>
            <a:r>
              <a:rPr kumimoji="1" lang="zh-CN" altLang="en-US"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失败！”</a:t>
            </a:r>
            <a:r>
              <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39971"/>
                                        </p:tgtEl>
                                        <p:attrNameLst>
                                          <p:attrName>style.visibility</p:attrName>
                                        </p:attrNameLst>
                                      </p:cBhvr>
                                      <p:to>
                                        <p:strVal val="visible"/>
                                      </p:to>
                                    </p:set>
                                    <p:animEffect transition="in" filter="barn(inHorizontal)">
                                      <p:cBhvr>
                                        <p:cTn id="7" dur="500"/>
                                        <p:tgtEl>
                                          <p:spTgt spid="33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p:bld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69" name="Text Box 2"/>
          <p:cNvSpPr txBox="1"/>
          <p:nvPr/>
        </p:nvSpPr>
        <p:spPr>
          <a:xfrm>
            <a:off x="-169862"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37923" name="Text Box 3"/>
          <p:cNvSpPr txBox="1">
            <a:spLocks noChangeArrowheads="1"/>
          </p:cNvSpPr>
          <p:nvPr/>
        </p:nvSpPr>
        <p:spPr bwMode="auto">
          <a:xfrm>
            <a:off x="1330325" y="201613"/>
            <a:ext cx="7129463" cy="5262563"/>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Student{</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id; </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string *p;</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 p = new string[5000];}</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~Student(){delete [] p;}</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 a;</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37926" name="AutoShape 6"/>
          <p:cNvSpPr>
            <a:spLocks noChangeArrowheads="1"/>
          </p:cNvSpPr>
          <p:nvPr/>
        </p:nvSpPr>
        <p:spPr bwMode="auto">
          <a:xfrm>
            <a:off x="4500563" y="5445125"/>
            <a:ext cx="4643438" cy="431800"/>
          </a:xfrm>
          <a:prstGeom prst="wedgeRectCallout">
            <a:avLst>
              <a:gd name="adj1" fmla="val -24108"/>
              <a:gd name="adj2" fmla="val -635142"/>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如果构造函数出错，返回途径不好处理</a:t>
            </a:r>
            <a:endParaRPr kumimoji="1" lang="zh-CN" altLang="en-US" sz="20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26"/>
                                        </p:tgtEl>
                                        <p:attrNameLst>
                                          <p:attrName>style.visibility</p:attrName>
                                        </p:attrNameLst>
                                      </p:cBhvr>
                                      <p:to>
                                        <p:strVal val="visible"/>
                                      </p:to>
                                    </p:set>
                                    <p:anim calcmode="lin" valueType="num">
                                      <p:cBhvr additive="base">
                                        <p:cTn id="7" dur="500" fill="hold"/>
                                        <p:tgtEl>
                                          <p:spTgt spid="337926"/>
                                        </p:tgtEl>
                                        <p:attrNameLst>
                                          <p:attrName>ppt_x</p:attrName>
                                        </p:attrNameLst>
                                      </p:cBhvr>
                                      <p:tavLst>
                                        <p:tav tm="0">
                                          <p:val>
                                            <p:strVal val="#ppt_x"/>
                                          </p:val>
                                        </p:tav>
                                        <p:tav tm="100000">
                                          <p:val>
                                            <p:strVal val="#ppt_x"/>
                                          </p:val>
                                        </p:tav>
                                      </p:tavLst>
                                    </p:anim>
                                    <p:anim calcmode="lin" valueType="num">
                                      <p:cBhvr additive="base">
                                        <p:cTn id="8" dur="500" fill="hold"/>
                                        <p:tgtEl>
                                          <p:spTgt spid="337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6" grpId="0" animBg="1"/>
    </p:bld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3"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66594" name="Rectangle 6"/>
          <p:cNvSpPr>
            <a:spLocks noGrp="1"/>
          </p:cNvSpPr>
          <p:nvPr>
            <p:ph idx="1"/>
          </p:nvPr>
        </p:nvSpPr>
        <p:spPr>
          <a:xfrm>
            <a:off x="1908175" y="549275"/>
            <a:ext cx="6264275" cy="5111750"/>
          </a:xfrm>
        </p:spPr>
        <p:txBody>
          <a:bodyPr vert="horz" wrap="square" lIns="92075" tIns="46037" rIns="92075" bIns="46037" anchor="t"/>
          <a:p>
            <a:pPr eaLnBrk="1" hangingPunct="1">
              <a:buNone/>
            </a:pPr>
            <a:r>
              <a:rPr lang="zh-CN" altLang="en-US" b="1" dirty="0">
                <a:solidFill>
                  <a:srgbClr val="FFFF00"/>
                </a:solidFill>
                <a:latin typeface="黑体" panose="02010609060101010101" pitchFamily="49" charset="-122"/>
                <a:ea typeface="黑体" panose="02010609060101010101" pitchFamily="49" charset="-122"/>
              </a:rPr>
              <a:t>传统的错误处理方式：</a:t>
            </a:r>
            <a:endParaRPr lang="zh-CN" altLang="en-US" b="1" dirty="0">
              <a:solidFill>
                <a:srgbClr val="FFFFFF"/>
              </a:solidFill>
              <a:latin typeface="黑体" panose="02010609060101010101" pitchFamily="49" charset="-122"/>
              <a:ea typeface="黑体" panose="02010609060101010101" pitchFamily="49" charset="-122"/>
            </a:endParaRPr>
          </a:p>
          <a:p>
            <a:pPr eaLnBrk="1" hangingPunct="1">
              <a:buNone/>
            </a:pPr>
            <a:endParaRPr lang="zh-CN" altLang="en-US" sz="2400" b="1" dirty="0">
              <a:solidFill>
                <a:srgbClr val="FFFFFF"/>
              </a:solidFill>
              <a:latin typeface="黑体" panose="02010609060101010101" pitchFamily="49" charset="-122"/>
            </a:endParaRPr>
          </a:p>
          <a:p>
            <a:pPr eaLnBrk="1" hangingPunct="1">
              <a:buNone/>
            </a:pPr>
            <a:r>
              <a:rPr lang="en-US" altLang="zh-CN" sz="2800" b="1" dirty="0">
                <a:solidFill>
                  <a:srgbClr val="FFFFFF"/>
                </a:solidFill>
                <a:latin typeface="黑体" panose="02010609060101010101" pitchFamily="49" charset="-122"/>
              </a:rPr>
              <a:t>1 </a:t>
            </a:r>
            <a:r>
              <a:rPr lang="zh-CN" altLang="en-US" sz="2800" b="1" dirty="0">
                <a:solidFill>
                  <a:srgbClr val="FFFFFF"/>
                </a:solidFill>
                <a:latin typeface="黑体" panose="02010609060101010101" pitchFamily="49" charset="-122"/>
              </a:rPr>
              <a:t>遇到错误，终止运行，</a:t>
            </a:r>
            <a:r>
              <a:rPr lang="zh-CN" altLang="en-US" sz="2800" b="1" dirty="0">
                <a:solidFill>
                  <a:srgbClr val="FFFF00"/>
                </a:solidFill>
                <a:latin typeface="黑体" panose="02010609060101010101" pitchFamily="49" charset="-122"/>
              </a:rPr>
              <a:t>低级粗暴</a:t>
            </a:r>
            <a:endParaRPr lang="zh-CN" altLang="en-US" sz="2800" b="1" dirty="0">
              <a:solidFill>
                <a:srgbClr val="FFFF00"/>
              </a:solidFill>
              <a:latin typeface="黑体" panose="02010609060101010101" pitchFamily="49" charset="-122"/>
            </a:endParaRPr>
          </a:p>
          <a:p>
            <a:pPr eaLnBrk="1" hangingPunct="1">
              <a:buNone/>
            </a:pPr>
            <a:r>
              <a:rPr lang="en-US" altLang="zh-CN" sz="2800" b="1" dirty="0">
                <a:solidFill>
                  <a:srgbClr val="FFFFFF"/>
                </a:solidFill>
                <a:latin typeface="黑体" panose="02010609060101010101" pitchFamily="49" charset="-122"/>
              </a:rPr>
              <a:t>2 </a:t>
            </a:r>
            <a:r>
              <a:rPr lang="zh-CN" altLang="en-US" sz="2800" b="1" dirty="0">
                <a:solidFill>
                  <a:srgbClr val="FFFFFF"/>
                </a:solidFill>
                <a:latin typeface="黑体" panose="02010609060101010101" pitchFamily="49" charset="-122"/>
              </a:rPr>
              <a:t>遇到错误，调用返回给上层函数错误信息，</a:t>
            </a:r>
            <a:r>
              <a:rPr lang="zh-CN" altLang="en-US" sz="2800" b="1" dirty="0">
                <a:solidFill>
                  <a:srgbClr val="FFFF00"/>
                </a:solidFill>
                <a:latin typeface="黑体" panose="02010609060101010101" pitchFamily="49" charset="-122"/>
              </a:rPr>
              <a:t>忽略了模块体系 实现代价大</a:t>
            </a:r>
            <a:endParaRPr lang="en-US" altLang="zh-CN" sz="2800" b="1" dirty="0">
              <a:solidFill>
                <a:srgbClr val="FFFF00"/>
              </a:solidFill>
              <a:latin typeface="黑体" panose="02010609060101010101" pitchFamily="49" charset="-122"/>
            </a:endParaRPr>
          </a:p>
          <a:p>
            <a:pPr eaLnBrk="1" hangingPunct="1">
              <a:buNone/>
            </a:pPr>
            <a:r>
              <a:rPr lang="en-US" altLang="zh-CN" sz="2800" b="1" dirty="0">
                <a:solidFill>
                  <a:srgbClr val="FFFFFF"/>
                </a:solidFill>
                <a:latin typeface="黑体" panose="02010609060101010101" pitchFamily="49" charset="-122"/>
              </a:rPr>
              <a:t>3 </a:t>
            </a:r>
            <a:r>
              <a:rPr lang="zh-CN" altLang="en-US" sz="2800" b="1" dirty="0">
                <a:solidFill>
                  <a:srgbClr val="FFFFFF"/>
                </a:solidFill>
                <a:latin typeface="黑体" panose="02010609060101010101" pitchFamily="49" charset="-122"/>
              </a:rPr>
              <a:t>遇到错误，改变全局错误变量的值，并函数返回，</a:t>
            </a:r>
            <a:r>
              <a:rPr lang="zh-CN" altLang="en-US" sz="2800" b="1" dirty="0">
                <a:solidFill>
                  <a:srgbClr val="FFFF00"/>
                </a:solidFill>
                <a:latin typeface="黑体" panose="02010609060101010101" pitchFamily="49" charset="-122"/>
              </a:rPr>
              <a:t>破坏了程序结构</a:t>
            </a:r>
            <a:endParaRPr lang="zh-CN" altLang="en-US" sz="2800" b="1" dirty="0">
              <a:solidFill>
                <a:srgbClr val="FFFF00"/>
              </a:solidFill>
              <a:latin typeface="黑体" panose="02010609060101010101" pitchFamily="49" charset="-122"/>
            </a:endParaRPr>
          </a:p>
          <a:p>
            <a:pPr eaLnBrk="1" hangingPunct="1">
              <a:buNone/>
            </a:pPr>
            <a:r>
              <a:rPr lang="en-US" altLang="zh-CN" sz="2800" b="1" dirty="0">
                <a:solidFill>
                  <a:srgbClr val="FFFFFF"/>
                </a:solidFill>
                <a:latin typeface="黑体" panose="02010609060101010101" pitchFamily="49" charset="-122"/>
              </a:rPr>
              <a:t>4 </a:t>
            </a:r>
            <a:r>
              <a:rPr lang="zh-CN" altLang="en-US" sz="2800" b="1" dirty="0">
                <a:solidFill>
                  <a:srgbClr val="FFFFFF"/>
                </a:solidFill>
                <a:latin typeface="黑体" panose="02010609060101010101" pitchFamily="49" charset="-122"/>
              </a:rPr>
              <a:t>遇到错误，调用事先设计好的下层错误处理函数，</a:t>
            </a:r>
            <a:r>
              <a:rPr lang="zh-CN" altLang="en-US" sz="2800" b="1" dirty="0">
                <a:solidFill>
                  <a:srgbClr val="FFFF00"/>
                </a:solidFill>
                <a:latin typeface="黑体" panose="02010609060101010101" pitchFamily="49" charset="-122"/>
              </a:rPr>
              <a:t>可惜错误往往不是自己所能解决的了的！</a:t>
            </a:r>
            <a:endParaRPr lang="zh-CN" altLang="en-US" sz="2800" b="1" dirty="0">
              <a:solidFill>
                <a:srgbClr val="FFFF00"/>
              </a:solidFill>
              <a:latin typeface="黑体" panose="02010609060101010101" pitchFamily="49" charset="-122"/>
            </a:endParaRP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7"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67618" name="Rectangle 5"/>
          <p:cNvSpPr/>
          <p:nvPr/>
        </p:nvSpPr>
        <p:spPr>
          <a:xfrm>
            <a:off x="4714875" y="44450"/>
            <a:ext cx="4897438" cy="612775"/>
          </a:xfrm>
          <a:prstGeom prst="rect">
            <a:avLst/>
          </a:prstGeom>
          <a:noFill/>
          <a:ln w="9525">
            <a:noFill/>
          </a:ln>
        </p:spPr>
        <p:txBody>
          <a:bodyPr lIns="92075" tIns="46037" rIns="92075" bIns="46037" anchor="t"/>
          <a:p>
            <a:pPr marL="342900" indent="-342900" algn="just">
              <a:spcBef>
                <a:spcPct val="20000"/>
              </a:spcBef>
              <a:buChar char="•"/>
            </a:pPr>
            <a:r>
              <a:rPr lang="zh-CN" altLang="en-US" sz="3200" dirty="0">
                <a:solidFill>
                  <a:srgbClr val="FFFF00"/>
                </a:solidFill>
                <a:latin typeface="黑体" panose="02010609060101010101" pitchFamily="49" charset="-122"/>
                <a:ea typeface="黑体" panose="02010609060101010101" pitchFamily="49" charset="-122"/>
              </a:rPr>
              <a:t>希望的错误处理示意：</a:t>
            </a:r>
            <a:endParaRPr lang="zh-CN" altLang="en-US" sz="3200" dirty="0">
              <a:solidFill>
                <a:srgbClr val="000000"/>
              </a:solidFill>
              <a:latin typeface="黑体" panose="02010609060101010101" pitchFamily="49" charset="-122"/>
              <a:ea typeface="黑体" panose="02010609060101010101" pitchFamily="49" charset="-122"/>
            </a:endParaRPr>
          </a:p>
          <a:p>
            <a:pPr marL="342900" indent="-342900">
              <a:spcBef>
                <a:spcPct val="20000"/>
              </a:spcBef>
            </a:pPr>
            <a:endParaRPr lang="en-US" altLang="zh-CN" sz="3200" dirty="0">
              <a:solidFill>
                <a:srgbClr val="000000"/>
              </a:solidFill>
              <a:latin typeface="黑体" panose="02010609060101010101" pitchFamily="49" charset="-122"/>
              <a:ea typeface="黑体" panose="02010609060101010101" pitchFamily="49" charset="-122"/>
            </a:endParaRPr>
          </a:p>
        </p:txBody>
      </p:sp>
      <p:grpSp>
        <p:nvGrpSpPr>
          <p:cNvPr id="367619" name="Group 6"/>
          <p:cNvGrpSpPr/>
          <p:nvPr/>
        </p:nvGrpSpPr>
        <p:grpSpPr>
          <a:xfrm>
            <a:off x="2628900" y="620713"/>
            <a:ext cx="6264275" cy="4284662"/>
            <a:chOff x="2062" y="1784"/>
            <a:chExt cx="3222" cy="1850"/>
          </a:xfrm>
        </p:grpSpPr>
        <p:sp>
          <p:nvSpPr>
            <p:cNvPr id="367620" name="AutoShape 7"/>
            <p:cNvSpPr/>
            <p:nvPr/>
          </p:nvSpPr>
          <p:spPr>
            <a:xfrm>
              <a:off x="3016" y="2362"/>
              <a:ext cx="1588" cy="1272"/>
            </a:xfrm>
            <a:prstGeom prst="cloudCallout">
              <a:avLst>
                <a:gd name="adj1" fmla="val 18639"/>
                <a:gd name="adj2" fmla="val 18477"/>
              </a:avLst>
            </a:prstGeom>
            <a:solidFill>
              <a:srgbClr val="FFFFFF"/>
            </a:solidFill>
            <a:ln w="9525" cap="flat" cmpd="sng">
              <a:solidFill>
                <a:srgbClr val="FF0000"/>
              </a:solidFill>
              <a:prstDash val="solid"/>
              <a:round/>
              <a:headEnd type="none" w="med" len="med"/>
              <a:tailEnd type="none" w="med" len="med"/>
            </a:ln>
          </p:spPr>
          <p:txBody>
            <a:bodyPr anchor="t"/>
            <a:p>
              <a:pPr eaLnBrk="0" hangingPunct="0"/>
              <a:endParaRPr lang="zh-CN" altLang="zh-CN" sz="1800" dirty="0">
                <a:solidFill>
                  <a:srgbClr val="000000"/>
                </a:solidFill>
                <a:latin typeface="Times New Roman" panose="02020603050405020304" pitchFamily="18" charset="0"/>
                <a:ea typeface="宋体" panose="02010600030101010101" pitchFamily="2" charset="-122"/>
              </a:endParaRPr>
            </a:p>
          </p:txBody>
        </p:sp>
        <p:sp>
          <p:nvSpPr>
            <p:cNvPr id="678920" name="Oval 8"/>
            <p:cNvSpPr>
              <a:spLocks noChangeArrowheads="1"/>
            </p:cNvSpPr>
            <p:nvPr/>
          </p:nvSpPr>
          <p:spPr bwMode="auto">
            <a:xfrm>
              <a:off x="4151" y="1784"/>
              <a:ext cx="266" cy="115"/>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1" name="Oval 9"/>
            <p:cNvSpPr>
              <a:spLocks noChangeArrowheads="1"/>
            </p:cNvSpPr>
            <p:nvPr/>
          </p:nvSpPr>
          <p:spPr bwMode="auto">
            <a:xfrm>
              <a:off x="3783" y="2130"/>
              <a:ext cx="265" cy="116"/>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2" name="Oval 10"/>
            <p:cNvSpPr>
              <a:spLocks noChangeArrowheads="1"/>
            </p:cNvSpPr>
            <p:nvPr/>
          </p:nvSpPr>
          <p:spPr bwMode="auto">
            <a:xfrm>
              <a:off x="4472" y="2130"/>
              <a:ext cx="267" cy="116"/>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3" name="Oval 11"/>
            <p:cNvSpPr>
              <a:spLocks noChangeArrowheads="1"/>
            </p:cNvSpPr>
            <p:nvPr/>
          </p:nvSpPr>
          <p:spPr bwMode="auto">
            <a:xfrm>
              <a:off x="5017" y="2153"/>
              <a:ext cx="267" cy="115"/>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4" name="Oval 12"/>
            <p:cNvSpPr>
              <a:spLocks noChangeArrowheads="1"/>
            </p:cNvSpPr>
            <p:nvPr/>
          </p:nvSpPr>
          <p:spPr bwMode="auto">
            <a:xfrm>
              <a:off x="2882" y="2466"/>
              <a:ext cx="267" cy="116"/>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5" name="Oval 13"/>
            <p:cNvSpPr>
              <a:spLocks noChangeArrowheads="1"/>
            </p:cNvSpPr>
            <p:nvPr/>
          </p:nvSpPr>
          <p:spPr bwMode="auto">
            <a:xfrm>
              <a:off x="3615" y="2477"/>
              <a:ext cx="269" cy="116"/>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6" name="Oval 14"/>
            <p:cNvSpPr>
              <a:spLocks noChangeArrowheads="1"/>
            </p:cNvSpPr>
            <p:nvPr/>
          </p:nvSpPr>
          <p:spPr bwMode="auto">
            <a:xfrm>
              <a:off x="3271" y="2824"/>
              <a:ext cx="268" cy="115"/>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7" name="Oval 15"/>
            <p:cNvSpPr>
              <a:spLocks noChangeArrowheads="1"/>
            </p:cNvSpPr>
            <p:nvPr/>
          </p:nvSpPr>
          <p:spPr bwMode="auto">
            <a:xfrm>
              <a:off x="3762" y="2824"/>
              <a:ext cx="266" cy="115"/>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8" name="Oval 16"/>
            <p:cNvSpPr>
              <a:spLocks noChangeArrowheads="1"/>
            </p:cNvSpPr>
            <p:nvPr/>
          </p:nvSpPr>
          <p:spPr bwMode="auto">
            <a:xfrm>
              <a:off x="4272" y="2803"/>
              <a:ext cx="267" cy="114"/>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29" name="Oval 17"/>
            <p:cNvSpPr>
              <a:spLocks noChangeArrowheads="1"/>
            </p:cNvSpPr>
            <p:nvPr/>
          </p:nvSpPr>
          <p:spPr bwMode="auto">
            <a:xfrm>
              <a:off x="3094" y="3171"/>
              <a:ext cx="266" cy="114"/>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0" name="Oval 18"/>
            <p:cNvSpPr>
              <a:spLocks noChangeArrowheads="1"/>
            </p:cNvSpPr>
            <p:nvPr/>
          </p:nvSpPr>
          <p:spPr bwMode="auto">
            <a:xfrm>
              <a:off x="3616" y="3171"/>
              <a:ext cx="267" cy="114"/>
            </a:xfrm>
            <a:prstGeom prst="ellipse">
              <a:avLst/>
            </a:prstGeom>
            <a:solidFill>
              <a:srgbClr val="FFFFFF"/>
            </a:solidFill>
            <a:ln w="9525">
              <a:solidFill>
                <a:srgbClr val="FF0000"/>
              </a:solidFill>
              <a:roun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1" name="Line 19"/>
            <p:cNvSpPr>
              <a:spLocks noChangeShapeType="1"/>
            </p:cNvSpPr>
            <p:nvPr/>
          </p:nvSpPr>
          <p:spPr bwMode="auto">
            <a:xfrm flipH="1">
              <a:off x="3950" y="1899"/>
              <a:ext cx="267"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2" name="Line 20"/>
            <p:cNvSpPr>
              <a:spLocks noChangeShapeType="1"/>
            </p:cNvSpPr>
            <p:nvPr/>
          </p:nvSpPr>
          <p:spPr bwMode="auto">
            <a:xfrm flipH="1">
              <a:off x="3750" y="2246"/>
              <a:ext cx="133"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3" name="Line 21"/>
            <p:cNvSpPr>
              <a:spLocks noChangeShapeType="1"/>
            </p:cNvSpPr>
            <p:nvPr/>
          </p:nvSpPr>
          <p:spPr bwMode="auto">
            <a:xfrm>
              <a:off x="4328" y="1899"/>
              <a:ext cx="267"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4" name="Line 22"/>
            <p:cNvSpPr>
              <a:spLocks noChangeShapeType="1"/>
            </p:cNvSpPr>
            <p:nvPr/>
          </p:nvSpPr>
          <p:spPr bwMode="auto">
            <a:xfrm>
              <a:off x="4395" y="1877"/>
              <a:ext cx="689" cy="276"/>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5" name="Line 23"/>
            <p:cNvSpPr>
              <a:spLocks noChangeShapeType="1"/>
            </p:cNvSpPr>
            <p:nvPr/>
          </p:nvSpPr>
          <p:spPr bwMode="auto">
            <a:xfrm flipH="1">
              <a:off x="3416" y="2593"/>
              <a:ext cx="267"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6" name="Line 24"/>
            <p:cNvSpPr>
              <a:spLocks noChangeShapeType="1"/>
            </p:cNvSpPr>
            <p:nvPr/>
          </p:nvSpPr>
          <p:spPr bwMode="auto">
            <a:xfrm>
              <a:off x="3750" y="2593"/>
              <a:ext cx="133"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7" name="Line 25"/>
            <p:cNvSpPr>
              <a:spLocks noChangeShapeType="1"/>
            </p:cNvSpPr>
            <p:nvPr/>
          </p:nvSpPr>
          <p:spPr bwMode="auto">
            <a:xfrm>
              <a:off x="3850" y="2571"/>
              <a:ext cx="534"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8" name="Line 26"/>
            <p:cNvSpPr>
              <a:spLocks noChangeShapeType="1"/>
            </p:cNvSpPr>
            <p:nvPr/>
          </p:nvSpPr>
          <p:spPr bwMode="auto">
            <a:xfrm flipH="1">
              <a:off x="3082" y="2235"/>
              <a:ext cx="740" cy="242"/>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39" name="Line 27"/>
            <p:cNvSpPr>
              <a:spLocks noChangeShapeType="1"/>
            </p:cNvSpPr>
            <p:nvPr/>
          </p:nvSpPr>
          <p:spPr bwMode="auto">
            <a:xfrm flipH="1">
              <a:off x="3227" y="2940"/>
              <a:ext cx="133"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78940" name="Line 28"/>
            <p:cNvSpPr>
              <a:spLocks noChangeShapeType="1"/>
            </p:cNvSpPr>
            <p:nvPr/>
          </p:nvSpPr>
          <p:spPr bwMode="auto">
            <a:xfrm>
              <a:off x="3483" y="2940"/>
              <a:ext cx="267" cy="231"/>
            </a:xfrm>
            <a:prstGeom prst="line">
              <a:avLst/>
            </a:prstGeom>
            <a:noFill/>
            <a:ln w="9525">
              <a:solidFill>
                <a:srgbClr val="FF0000"/>
              </a:solidFill>
              <a:round/>
              <a:tailEnd type="triangle" w="med" len="med"/>
            </a:ln>
          </p:spPr>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cxnSp>
          <p:nvCxnSpPr>
            <p:cNvPr id="367642" name="AutoShape 29"/>
            <p:cNvCxnSpPr>
              <a:stCxn id="678929" idx="2"/>
              <a:endCxn id="678921" idx="1"/>
            </p:cNvCxnSpPr>
            <p:nvPr/>
          </p:nvCxnSpPr>
          <p:spPr>
            <a:xfrm rot="-10800000" flipH="1">
              <a:off x="3094" y="2148"/>
              <a:ext cx="728" cy="1081"/>
            </a:xfrm>
            <a:prstGeom prst="curvedConnector4">
              <a:avLst>
                <a:gd name="adj1" fmla="val -36620"/>
                <a:gd name="adj2" fmla="val 126250"/>
              </a:avLst>
            </a:prstGeom>
            <a:ln w="9525" cap="flat" cmpd="sng">
              <a:solidFill>
                <a:srgbClr val="FF0000"/>
              </a:solidFill>
              <a:prstDash val="dash"/>
              <a:round/>
              <a:headEnd type="none" w="med" len="med"/>
              <a:tailEnd type="triangle" w="med" len="med"/>
            </a:ln>
          </p:spPr>
        </p:cxnSp>
        <p:sp>
          <p:nvSpPr>
            <p:cNvPr id="367643" name="Rectangle 30"/>
            <p:cNvSpPr/>
            <p:nvPr/>
          </p:nvSpPr>
          <p:spPr>
            <a:xfrm>
              <a:off x="2062" y="2189"/>
              <a:ext cx="620" cy="600"/>
            </a:xfrm>
            <a:prstGeom prst="rect">
              <a:avLst/>
            </a:prstGeom>
            <a:solidFill>
              <a:schemeClr val="bg1"/>
            </a:solidFill>
            <a:ln w="9525" cap="flat" cmpd="sng">
              <a:solidFill>
                <a:srgbClr val="FF0000"/>
              </a:solidFill>
              <a:prstDash val="solid"/>
              <a:miter/>
              <a:headEnd type="none" w="med" len="med"/>
              <a:tailEnd type="none" w="med" len="med"/>
            </a:ln>
          </p:spPr>
          <p:txBody>
            <a:bodyPr lIns="0" tIns="0" rIns="0" bIns="0" anchor="ctr"/>
            <a:p>
              <a:pPr algn="just" eaLnBrk="0" hangingPunct="0">
                <a:lnSpc>
                  <a:spcPct val="96000"/>
                </a:lnSpc>
              </a:pPr>
              <a:r>
                <a:rPr lang="zh-CN" altLang="en-US" sz="2000" b="1" dirty="0">
                  <a:solidFill>
                    <a:srgbClr val="000000"/>
                  </a:solidFill>
                  <a:latin typeface="Times New Roman" panose="02020603050405020304" pitchFamily="18" charset="0"/>
                  <a:ea typeface="宋体" panose="02010600030101010101" pitchFamily="2" charset="-122"/>
                </a:rPr>
                <a:t>放弃一棵子树，循调用链跳到祖先函数</a:t>
              </a:r>
              <a:endParaRPr lang="zh-CN" altLang="en-US" sz="2000" b="1" dirty="0">
                <a:solidFill>
                  <a:srgbClr val="000000"/>
                </a:solidFill>
                <a:latin typeface="Times New Roman" panose="02020603050405020304" pitchFamily="18" charset="0"/>
                <a:ea typeface="宋体" panose="02010600030101010101" pitchFamily="2" charset="-122"/>
              </a:endParaRPr>
            </a:p>
          </p:txBody>
        </p:sp>
        <p:sp>
          <p:nvSpPr>
            <p:cNvPr id="367644" name="Rectangle 31"/>
            <p:cNvSpPr/>
            <p:nvPr/>
          </p:nvSpPr>
          <p:spPr>
            <a:xfrm>
              <a:off x="2260" y="3287"/>
              <a:ext cx="800" cy="231"/>
            </a:xfrm>
            <a:prstGeom prst="rect">
              <a:avLst/>
            </a:prstGeom>
            <a:solidFill>
              <a:schemeClr val="bg1"/>
            </a:solidFill>
            <a:ln w="9525" cap="flat" cmpd="sng">
              <a:solidFill>
                <a:srgbClr val="FF0000"/>
              </a:solidFill>
              <a:prstDash val="solid"/>
              <a:miter/>
              <a:headEnd type="none" w="med" len="med"/>
              <a:tailEnd type="none" w="med" len="med"/>
            </a:ln>
          </p:spPr>
          <p:txBody>
            <a:bodyPr lIns="0" tIns="0" rIns="0" bIns="0" anchor="ctr"/>
            <a:p>
              <a:pPr algn="ctr" eaLnBrk="0" hangingPunct="0">
                <a:lnSpc>
                  <a:spcPct val="96000"/>
                </a:lnSpc>
              </a:pPr>
              <a:r>
                <a:rPr lang="zh-CN" altLang="en-US" sz="2000" b="1" dirty="0">
                  <a:solidFill>
                    <a:srgbClr val="000000"/>
                  </a:solidFill>
                  <a:latin typeface="Times New Roman" panose="02020603050405020304" pitchFamily="18" charset="0"/>
                  <a:ea typeface="宋体" panose="02010600030101010101" pitchFamily="2" charset="-122"/>
                </a:rPr>
                <a:t>发现错误处</a:t>
              </a:r>
              <a:endParaRPr lang="zh-CN" altLang="en-US" sz="2000" b="1" dirty="0">
                <a:solidFill>
                  <a:srgbClr val="000000"/>
                </a:solidFill>
                <a:latin typeface="Times New Roman" panose="02020603050405020304" pitchFamily="18" charset="0"/>
                <a:ea typeface="宋体" panose="02010600030101010101" pitchFamily="2" charset="-122"/>
              </a:endParaRPr>
            </a:p>
          </p:txBody>
        </p:sp>
      </p:grpSp>
      <p:sp>
        <p:nvSpPr>
          <p:cNvPr id="367645" name="Rectangle 33"/>
          <p:cNvSpPr/>
          <p:nvPr/>
        </p:nvSpPr>
        <p:spPr>
          <a:xfrm>
            <a:off x="34925" y="4906963"/>
            <a:ext cx="9109075" cy="2698750"/>
          </a:xfrm>
          <a:prstGeom prst="rect">
            <a:avLst/>
          </a:prstGeom>
          <a:noFill/>
          <a:ln w="9525">
            <a:noFill/>
          </a:ln>
        </p:spPr>
        <p:txBody>
          <a:bodyPr lIns="92075" tIns="46037" rIns="92075" bIns="46037" anchor="t"/>
          <a:p>
            <a:pPr marL="533400" indent="-533400">
              <a:spcBef>
                <a:spcPct val="20000"/>
              </a:spcBef>
              <a:buClr>
                <a:srgbClr val="FFFF00"/>
              </a:buClr>
              <a:buSzPct val="80000"/>
            </a:pPr>
            <a:r>
              <a:rPr lang="zh-CN" altLang="en-US" sz="2800" b="1" dirty="0">
                <a:solidFill>
                  <a:srgbClr val="FFFFFF"/>
                </a:solidFill>
                <a:latin typeface="Lucida Console" panose="020B0609040504020204" pitchFamily="49" charset="0"/>
                <a:ea typeface="宋体" panose="02010600030101010101" pitchFamily="2" charset="-122"/>
              </a:rPr>
              <a:t>函数机制，本质上是一种过程控制机制．</a:t>
            </a:r>
            <a:endParaRPr lang="zh-CN" altLang="en-US" sz="2800" b="1" dirty="0">
              <a:solidFill>
                <a:srgbClr val="FFFFFF"/>
              </a:solidFill>
              <a:latin typeface="Lucida Console" panose="020B0609040504020204" pitchFamily="49" charset="0"/>
              <a:ea typeface="宋体" panose="02010600030101010101" pitchFamily="2" charset="-122"/>
            </a:endParaRPr>
          </a:p>
          <a:p>
            <a:pPr marL="533400" indent="-533400">
              <a:spcBef>
                <a:spcPct val="20000"/>
              </a:spcBef>
              <a:buClr>
                <a:srgbClr val="FFFF00"/>
              </a:buClr>
              <a:buSzPct val="80000"/>
            </a:pPr>
            <a:r>
              <a:rPr lang="zh-CN" altLang="en-US" sz="2800" b="1" dirty="0">
                <a:solidFill>
                  <a:srgbClr val="FFFFFF"/>
                </a:solidFill>
                <a:latin typeface="Lucida Console" panose="020B0609040504020204" pitchFamily="49" charset="0"/>
                <a:ea typeface="宋体" panose="02010600030101010101" pitchFamily="2" charset="-122"/>
              </a:rPr>
              <a:t>对面向对象程序来说，进行从发现错误到处理错误的设计，是一个超出过程控制能力的另外控制体系．</a:t>
            </a:r>
            <a:endParaRPr lang="zh-CN" altLang="en-US" sz="2800" b="1" dirty="0">
              <a:solidFill>
                <a:srgbClr val="FFFFFF"/>
              </a:solidFill>
              <a:latin typeface="Lucida Console" panose="020B0609040504020204" pitchFamily="49" charset="0"/>
              <a:ea typeface="宋体" panose="02010600030101010101" pitchFamily="2" charset="-122"/>
            </a:endParaRP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1"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2" name="圆角矩形 1"/>
          <p:cNvSpPr/>
          <p:nvPr/>
        </p:nvSpPr>
        <p:spPr bwMode="auto">
          <a:xfrm>
            <a:off x="2339975" y="692150"/>
            <a:ext cx="4103688" cy="2808288"/>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异常描述</a:t>
            </a:r>
            <a:endParaRPr kumimoji="1" lang="en-US" altLang="zh-CN"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1</a:t>
            </a: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、特征已知  如申请空间失败</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2</a:t>
            </a: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、地点          如构造函数内部</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3</a:t>
            </a: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、条件          如指针为空</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4</a:t>
            </a: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、形式          利用对象描述特征</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5</a:t>
            </a: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、产生          抛出</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5" name="圆角矩形 4"/>
          <p:cNvSpPr/>
          <p:nvPr/>
        </p:nvSpPr>
        <p:spPr bwMode="auto">
          <a:xfrm>
            <a:off x="3635375" y="4076700"/>
            <a:ext cx="1873250" cy="576263"/>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监控范围</a:t>
            </a:r>
            <a:endParaRPr kumimoji="1" lang="en-US" altLang="zh-CN"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6" name="圆角矩形 5"/>
          <p:cNvSpPr/>
          <p:nvPr/>
        </p:nvSpPr>
        <p:spPr bwMode="auto">
          <a:xfrm>
            <a:off x="3635375" y="5229225"/>
            <a:ext cx="1873250" cy="1152525"/>
          </a:xfrm>
          <a:prstGeom prst="roundRect">
            <a:avLst/>
          </a:prstGeom>
          <a:solidFill>
            <a:schemeClr val="accent1"/>
          </a:solidFill>
          <a:ln w="9525" cap="flat" cmpd="sng" algn="ctr">
            <a:solidFill>
              <a:schemeClr val="bg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异常处理</a:t>
            </a:r>
            <a:endParaRPr kumimoji="1" lang="en-US" altLang="zh-CN" sz="28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依据对象内容</a:t>
            </a:r>
            <a:endParaRPr kumimoji="1" lang="en-US" altLang="zh-CN" sz="20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9665"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40995" name="Text Box 3"/>
          <p:cNvSpPr txBox="1">
            <a:spLocks noChangeArrowheads="1"/>
          </p:cNvSpPr>
          <p:nvPr/>
        </p:nvSpPr>
        <p:spPr bwMode="auto">
          <a:xfrm>
            <a:off x="1692275" y="188913"/>
            <a:ext cx="6983413" cy="6740525"/>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#define MAX  10</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f(</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j){</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if(j&gt;=0&amp;&amp;j&lt;MAX)</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return(a[j]);</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else</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A();//</a:t>
            </a:r>
            <a:r>
              <a:rPr kumimoji="1" lang="zh-CN" altLang="en-US"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设</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a:t>
            </a:r>
            <a:r>
              <a:rPr kumimoji="1" lang="zh-CN" altLang="en-US"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已经定义，</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a:t>
            </a:r>
            <a:r>
              <a:rPr kumimoji="1" lang="zh-CN" altLang="en-US"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为异常特征报告</a:t>
            </a:r>
            <a:endPar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j;</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a[MAX]={0};</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try{</a:t>
            </a:r>
            <a:endPar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&lt;&lt;f(a,15)&lt;&lt;</a:t>
            </a:r>
            <a:r>
              <a:rPr kumimoji="1" lang="en-US" altLang="zh-CN" sz="2400" b="1" i="0" u="none" strike="noStrike" kern="1200" cap="none" spc="0" normalizeH="0" baseline="0" noProof="0" dirty="0" err="1">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catch(A &amp; s){</a:t>
            </a:r>
            <a:endPar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&lt;&lt;s&lt;&lt;</a:t>
            </a:r>
            <a:r>
              <a:rPr kumimoji="1" lang="en-US" altLang="zh-CN" sz="2400" b="1" i="1" u="none" strike="noStrike" kern="1200" cap="none" spc="0" normalizeH="0" baseline="0" noProof="0" dirty="0" err="1">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设</a:t>
            </a: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a:t>
            </a:r>
            <a:r>
              <a:rPr kumimoji="1" lang="zh-CN" altLang="en-US"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已经重载</a:t>
            </a: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endPar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1" u="none" strike="noStrike" kern="1200" cap="none" spc="0" normalizeH="0" baseline="0" noProof="0" dirty="0">
                <a:ln>
                  <a:noFill/>
                </a:ln>
                <a:solidFill>
                  <a:srgbClr val="00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某种疾病的处理：已知病毒；检测病毒；处理病毒</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40995"/>
                                        </p:tgtEl>
                                        <p:attrNameLst>
                                          <p:attrName>style.visibility</p:attrName>
                                        </p:attrNameLst>
                                      </p:cBhvr>
                                      <p:to>
                                        <p:strVal val="visible"/>
                                      </p:to>
                                    </p:set>
                                    <p:animEffect transition="in" filter="barn(inHorizontal)">
                                      <p:cBhvr>
                                        <p:cTn id="7" dur="500"/>
                                        <p:tgtEl>
                                          <p:spTgt spid="340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p:bld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89" name="Text Box 2"/>
          <p:cNvSpPr txBox="1"/>
          <p:nvPr/>
        </p:nvSpPr>
        <p:spPr>
          <a:xfrm>
            <a:off x="-169862"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37923" name="Text Box 3"/>
          <p:cNvSpPr txBox="1">
            <a:spLocks noChangeArrowheads="1"/>
          </p:cNvSpPr>
          <p:nvPr/>
        </p:nvSpPr>
        <p:spPr bwMode="auto">
          <a:xfrm>
            <a:off x="1330325" y="73025"/>
            <a:ext cx="7129463" cy="6740525"/>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Student{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id;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string *p;</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p = new string[5000];</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if(!p)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string(“</a:t>
            </a: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构造错误</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~Student(){delete [] p;}</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Student a;</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catch(string &amp;s){</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s.str</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Rectangle 2"/>
          <p:cNvSpPr>
            <a:spLocks noChangeArrowheads="1"/>
          </p:cNvSpPr>
          <p:nvPr/>
        </p:nvSpPr>
        <p:spPr bwMode="auto">
          <a:xfrm>
            <a:off x="107950" y="2311400"/>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处理异常，可有一个以上，只捕获</a:t>
            </a:r>
            <a:r>
              <a:rPr kumimoji="0"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try</a:t>
            </a:r>
            <a:r>
              <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标记的</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44067" name="Rectangle 3"/>
          <p:cNvSpPr>
            <a:spLocks noChangeArrowheads="1"/>
          </p:cNvSpPr>
          <p:nvPr/>
        </p:nvSpPr>
        <p:spPr bwMode="auto">
          <a:xfrm>
            <a:off x="107950" y="1125538"/>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Throw</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是情报密探；</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Try</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是监控某块的值班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4068" name="Rectangle 4"/>
          <p:cNvSpPr>
            <a:spLocks noChangeArrowheads="1"/>
          </p:cNvSpPr>
          <p:nvPr/>
        </p:nvSpPr>
        <p:spPr bwMode="auto">
          <a:xfrm>
            <a:off x="107950" y="3535363"/>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只能容纳一个形参，依靠类型匹配捕获</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71716" name="Text Box 5"/>
          <p:cNvSpPr txBox="1"/>
          <p:nvPr/>
        </p:nvSpPr>
        <p:spPr>
          <a:xfrm>
            <a:off x="1835150" y="333375"/>
            <a:ext cx="6553200" cy="762000"/>
          </a:xfrm>
          <a:prstGeom prst="rect">
            <a:avLst/>
          </a:prstGeom>
          <a:noFill/>
          <a:ln w="9525">
            <a:noFill/>
          </a:ln>
        </p:spPr>
        <p:txBody>
          <a:bodyPr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44070" name="Rectangle 6"/>
          <p:cNvSpPr>
            <a:spLocks noChangeArrowheads="1"/>
          </p:cNvSpPr>
          <p:nvPr/>
        </p:nvSpPr>
        <p:spPr bwMode="auto">
          <a:xfrm>
            <a:off x="107950" y="47498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可以跨层次</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4067"/>
                                        </p:tgtEl>
                                        <p:attrNameLst>
                                          <p:attrName>style.visibility</p:attrName>
                                        </p:attrNameLst>
                                      </p:cBhvr>
                                      <p:to>
                                        <p:strVal val="visible"/>
                                      </p:to>
                                    </p:set>
                                    <p:anim calcmode="lin" valueType="num">
                                      <p:cBhvr additive="base">
                                        <p:cTn id="7" dur="2000" fill="hold"/>
                                        <p:tgtEl>
                                          <p:spTgt spid="344067"/>
                                        </p:tgtEl>
                                        <p:attrNameLst>
                                          <p:attrName>ppt_x</p:attrName>
                                        </p:attrNameLst>
                                      </p:cBhvr>
                                      <p:tavLst>
                                        <p:tav tm="0">
                                          <p:val>
                                            <p:strVal val="#ppt_x"/>
                                          </p:val>
                                        </p:tav>
                                        <p:tav tm="100000">
                                          <p:val>
                                            <p:strVal val="#ppt_x"/>
                                          </p:val>
                                        </p:tav>
                                      </p:tavLst>
                                    </p:anim>
                                    <p:anim calcmode="lin" valueType="num">
                                      <p:cBhvr additive="base">
                                        <p:cTn id="8" dur="2000" fill="hold"/>
                                        <p:tgtEl>
                                          <p:spTgt spid="3440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344066"/>
                                        </p:tgtEl>
                                        <p:attrNameLst>
                                          <p:attrName>style.visibility</p:attrName>
                                        </p:attrNameLst>
                                      </p:cBhvr>
                                      <p:to>
                                        <p:strVal val="visible"/>
                                      </p:to>
                                    </p:set>
                                    <p:anim by="(-#ppt_w*2)" calcmode="lin" valueType="num">
                                      <p:cBhvr rctx="PPT">
                                        <p:cTn id="13" dur="500" autoRev="1" fill="hold">
                                          <p:stCondLst>
                                            <p:cond delay="0"/>
                                          </p:stCondLst>
                                        </p:cTn>
                                        <p:tgtEl>
                                          <p:spTgt spid="344066"/>
                                        </p:tgtEl>
                                        <p:attrNameLst>
                                          <p:attrName>ppt_w</p:attrName>
                                        </p:attrNameLst>
                                      </p:cBhvr>
                                    </p:anim>
                                    <p:anim by="(#ppt_w*0.50)" calcmode="lin" valueType="num">
                                      <p:cBhvr>
                                        <p:cTn id="14" dur="500" decel="50000" autoRev="1" fill="hold">
                                          <p:stCondLst>
                                            <p:cond delay="0"/>
                                          </p:stCondLst>
                                        </p:cTn>
                                        <p:tgtEl>
                                          <p:spTgt spid="344066"/>
                                        </p:tgtEl>
                                        <p:attrNameLst>
                                          <p:attrName>ppt_x</p:attrName>
                                        </p:attrNameLst>
                                      </p:cBhvr>
                                    </p:anim>
                                    <p:anim from="(-#ppt_h/2)" to="(#ppt_y)" calcmode="lin" valueType="num">
                                      <p:cBhvr>
                                        <p:cTn id="15" dur="1000" fill="hold">
                                          <p:stCondLst>
                                            <p:cond delay="0"/>
                                          </p:stCondLst>
                                        </p:cTn>
                                        <p:tgtEl>
                                          <p:spTgt spid="344066"/>
                                        </p:tgtEl>
                                        <p:attrNameLst>
                                          <p:attrName>ppt_y</p:attrName>
                                        </p:attrNameLst>
                                      </p:cBhvr>
                                    </p:anim>
                                    <p:animRot by="21600000">
                                      <p:cBhvr>
                                        <p:cTn id="16" dur="1000" fill="hold">
                                          <p:stCondLst>
                                            <p:cond delay="0"/>
                                          </p:stCondLst>
                                        </p:cTn>
                                        <p:tgtEl>
                                          <p:spTgt spid="344066"/>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44068"/>
                                        </p:tgtEl>
                                        <p:attrNameLst>
                                          <p:attrName>style.visibility</p:attrName>
                                        </p:attrNameLst>
                                      </p:cBhvr>
                                      <p:to>
                                        <p:strVal val="visible"/>
                                      </p:to>
                                    </p:set>
                                    <p:anim calcmode="lin" valueType="num">
                                      <p:cBhvr additive="base">
                                        <p:cTn id="21" dur="2000" fill="hold"/>
                                        <p:tgtEl>
                                          <p:spTgt spid="344068"/>
                                        </p:tgtEl>
                                        <p:attrNameLst>
                                          <p:attrName>ppt_x</p:attrName>
                                        </p:attrNameLst>
                                      </p:cBhvr>
                                      <p:tavLst>
                                        <p:tav tm="0">
                                          <p:val>
                                            <p:strVal val="#ppt_x"/>
                                          </p:val>
                                        </p:tav>
                                        <p:tav tm="100000">
                                          <p:val>
                                            <p:strVal val="#ppt_x"/>
                                          </p:val>
                                        </p:tav>
                                      </p:tavLst>
                                    </p:anim>
                                    <p:anim calcmode="lin" valueType="num">
                                      <p:cBhvr additive="base">
                                        <p:cTn id="22" dur="2000" fill="hold"/>
                                        <p:tgtEl>
                                          <p:spTgt spid="34406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44070"/>
                                        </p:tgtEl>
                                        <p:attrNameLst>
                                          <p:attrName>style.visibility</p:attrName>
                                        </p:attrNameLst>
                                      </p:cBhvr>
                                      <p:to>
                                        <p:strVal val="visible"/>
                                      </p:to>
                                    </p:set>
                                    <p:anim calcmode="lin" valueType="num">
                                      <p:cBhvr additive="base">
                                        <p:cTn id="27" dur="2000" fill="hold"/>
                                        <p:tgtEl>
                                          <p:spTgt spid="344070"/>
                                        </p:tgtEl>
                                        <p:attrNameLst>
                                          <p:attrName>ppt_x</p:attrName>
                                        </p:attrNameLst>
                                      </p:cBhvr>
                                      <p:tavLst>
                                        <p:tav tm="0">
                                          <p:val>
                                            <p:strVal val="#ppt_x"/>
                                          </p:val>
                                        </p:tav>
                                        <p:tav tm="100000">
                                          <p:val>
                                            <p:strVal val="#ppt_x"/>
                                          </p:val>
                                        </p:tav>
                                      </p:tavLst>
                                    </p:anim>
                                    <p:anim calcmode="lin" valueType="num">
                                      <p:cBhvr additive="base">
                                        <p:cTn id="28" dur="2000" fill="hold"/>
                                        <p:tgtEl>
                                          <p:spTgt spid="344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6" grpId="0" animBg="1"/>
      <p:bldP spid="344067" grpId="0" animBg="1"/>
      <p:bldP spid="344068" grpId="0" animBg="1"/>
      <p:bldP spid="344070" grpId="0" animBg="1"/>
    </p:bld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7"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45091" name="Text Box 3"/>
          <p:cNvSpPr txBox="1">
            <a:spLocks noChangeArrowheads="1"/>
          </p:cNvSpPr>
          <p:nvPr/>
        </p:nvSpPr>
        <p:spPr bwMode="auto">
          <a:xfrm>
            <a:off x="2051050" y="44450"/>
            <a:ext cx="6551613" cy="7110413"/>
          </a:xfrm>
          <a:prstGeom prst="rect">
            <a:avLst/>
          </a:prstGeom>
          <a:noFill/>
          <a:ln>
            <a:noFill/>
          </a:ln>
          <a:effectLst/>
        </p:spPr>
        <p:txBody>
          <a:bodyPr>
            <a:spAutoFit/>
          </a:bodyPr>
          <a:lstStyle/>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Div</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double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try{</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&lt;&lt;"7.3/2.0="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Div</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2.0)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&lt;&lt;"7.3/0.0="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Div</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0.0)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&lt;&lt;"7.3/1.0="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Div</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1.0) &lt;&lt;</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endl</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a:t>
            </a:r>
            <a:r>
              <a:rPr kumimoji="1" lang="zh-CN" altLang="en-US"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全部执行完毕</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catch(double){</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&lt;&lt;"except of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deviding</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zero.\n";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&lt;&lt;"That is ok. \n";</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a:t>
            </a:r>
            <a:r>
              <a:rPr kumimoji="1" lang="en-US" altLang="zh-CN" sz="24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Div</a:t>
            </a: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(double a, double b){</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if(b==0.0)</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throw b;</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return a/b;</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4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45092" name="AutoShape 4"/>
          <p:cNvSpPr>
            <a:spLocks noChangeArrowheads="1"/>
          </p:cNvSpPr>
          <p:nvPr/>
        </p:nvSpPr>
        <p:spPr bwMode="auto">
          <a:xfrm>
            <a:off x="5580063" y="6426200"/>
            <a:ext cx="3563938" cy="431800"/>
          </a:xfrm>
          <a:prstGeom prst="wedgeRectCallout">
            <a:avLst>
              <a:gd name="adj1" fmla="val -106213"/>
              <a:gd name="adj2" fmla="val -19632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Throw</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和</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可以跨函数放置</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5093" name="AutoShape 5"/>
          <p:cNvSpPr>
            <a:spLocks noChangeArrowheads="1"/>
          </p:cNvSpPr>
          <p:nvPr/>
        </p:nvSpPr>
        <p:spPr bwMode="auto">
          <a:xfrm>
            <a:off x="4932363" y="3068638"/>
            <a:ext cx="4067175" cy="431800"/>
          </a:xfrm>
          <a:prstGeom prst="wedgeRectCallout">
            <a:avLst>
              <a:gd name="adj1" fmla="val -113620"/>
              <a:gd name="adj2" fmla="val -2574"/>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try</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和</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必须相邻；顺序不能颠倒</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5094" name="AutoShape 6"/>
          <p:cNvSpPr>
            <a:spLocks noChangeArrowheads="1"/>
          </p:cNvSpPr>
          <p:nvPr/>
        </p:nvSpPr>
        <p:spPr bwMode="auto">
          <a:xfrm>
            <a:off x="0" y="5157788"/>
            <a:ext cx="2051050" cy="1366838"/>
          </a:xfrm>
          <a:prstGeom prst="wedgeRectCallout">
            <a:avLst>
              <a:gd name="adj1" fmla="val 64009"/>
              <a:gd name="adj2" fmla="val -181241"/>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参数可以省略但是类型不能省略；建议不要使用简单类型</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5095" name="AutoShape 7"/>
          <p:cNvSpPr>
            <a:spLocks noChangeArrowheads="1"/>
          </p:cNvSpPr>
          <p:nvPr/>
        </p:nvSpPr>
        <p:spPr bwMode="auto">
          <a:xfrm>
            <a:off x="6553200" y="4581525"/>
            <a:ext cx="2339975" cy="1295400"/>
          </a:xfrm>
          <a:prstGeom prst="wedgeRectCallout">
            <a:avLst>
              <a:gd name="adj1" fmla="val -177815"/>
              <a:gd name="adj2" fmla="val 4154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类型匹配必须严格 类型相同；</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Throw</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匹配不上任何</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时</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abort</a:t>
            </a:r>
            <a:endPar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5096" name="AutoShape 8"/>
          <p:cNvSpPr>
            <a:spLocks noChangeArrowheads="1"/>
          </p:cNvSpPr>
          <p:nvPr/>
        </p:nvSpPr>
        <p:spPr bwMode="auto">
          <a:xfrm>
            <a:off x="5148263" y="549275"/>
            <a:ext cx="4067175" cy="431800"/>
          </a:xfrm>
          <a:prstGeom prst="wedgeRectCallout">
            <a:avLst>
              <a:gd name="adj1" fmla="val -112102"/>
              <a:gd name="adj2" fmla="val 117648"/>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如果发生异常则只中断</a:t>
            </a:r>
            <a:r>
              <a:rPr kumimoji="1" lang="en-US" altLang="zh-CN"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try</a:t>
            </a: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里面块</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45091"/>
                                        </p:tgtEl>
                                        <p:attrNameLst>
                                          <p:attrName>style.visibility</p:attrName>
                                        </p:attrNameLst>
                                      </p:cBhvr>
                                      <p:to>
                                        <p:strVal val="visible"/>
                                      </p:to>
                                    </p:set>
                                    <p:animEffect transition="in" filter="barn(inHorizontal)">
                                      <p:cBhvr>
                                        <p:cTn id="7" dur="500"/>
                                        <p:tgtEl>
                                          <p:spTgt spid="34509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45092"/>
                                        </p:tgtEl>
                                        <p:attrNameLst>
                                          <p:attrName>style.visibility</p:attrName>
                                        </p:attrNameLst>
                                      </p:cBhvr>
                                      <p:to>
                                        <p:strVal val="visible"/>
                                      </p:to>
                                    </p:set>
                                    <p:anim calcmode="lin" valueType="num">
                                      <p:cBhvr additive="base">
                                        <p:cTn id="12" dur="500" fill="hold"/>
                                        <p:tgtEl>
                                          <p:spTgt spid="345092"/>
                                        </p:tgtEl>
                                        <p:attrNameLst>
                                          <p:attrName>ppt_x</p:attrName>
                                        </p:attrNameLst>
                                      </p:cBhvr>
                                      <p:tavLst>
                                        <p:tav tm="0">
                                          <p:val>
                                            <p:strVal val="#ppt_x"/>
                                          </p:val>
                                        </p:tav>
                                        <p:tav tm="100000">
                                          <p:val>
                                            <p:strVal val="#ppt_x"/>
                                          </p:val>
                                        </p:tav>
                                      </p:tavLst>
                                    </p:anim>
                                    <p:anim calcmode="lin" valueType="num">
                                      <p:cBhvr additive="base">
                                        <p:cTn id="13" dur="500" fill="hold"/>
                                        <p:tgtEl>
                                          <p:spTgt spid="34509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45093"/>
                                        </p:tgtEl>
                                        <p:attrNameLst>
                                          <p:attrName>style.visibility</p:attrName>
                                        </p:attrNameLst>
                                      </p:cBhvr>
                                      <p:to>
                                        <p:strVal val="visible"/>
                                      </p:to>
                                    </p:set>
                                    <p:anim calcmode="lin" valueType="num">
                                      <p:cBhvr additive="base">
                                        <p:cTn id="18" dur="500" fill="hold"/>
                                        <p:tgtEl>
                                          <p:spTgt spid="345093"/>
                                        </p:tgtEl>
                                        <p:attrNameLst>
                                          <p:attrName>ppt_x</p:attrName>
                                        </p:attrNameLst>
                                      </p:cBhvr>
                                      <p:tavLst>
                                        <p:tav tm="0">
                                          <p:val>
                                            <p:strVal val="#ppt_x"/>
                                          </p:val>
                                        </p:tav>
                                        <p:tav tm="100000">
                                          <p:val>
                                            <p:strVal val="#ppt_x"/>
                                          </p:val>
                                        </p:tav>
                                      </p:tavLst>
                                    </p:anim>
                                    <p:anim calcmode="lin" valueType="num">
                                      <p:cBhvr additive="base">
                                        <p:cTn id="19" dur="500" fill="hold"/>
                                        <p:tgtEl>
                                          <p:spTgt spid="34509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45094"/>
                                        </p:tgtEl>
                                        <p:attrNameLst>
                                          <p:attrName>style.visibility</p:attrName>
                                        </p:attrNameLst>
                                      </p:cBhvr>
                                      <p:to>
                                        <p:strVal val="visible"/>
                                      </p:to>
                                    </p:set>
                                    <p:anim calcmode="lin" valueType="num">
                                      <p:cBhvr additive="base">
                                        <p:cTn id="24" dur="500" fill="hold"/>
                                        <p:tgtEl>
                                          <p:spTgt spid="345094"/>
                                        </p:tgtEl>
                                        <p:attrNameLst>
                                          <p:attrName>ppt_x</p:attrName>
                                        </p:attrNameLst>
                                      </p:cBhvr>
                                      <p:tavLst>
                                        <p:tav tm="0">
                                          <p:val>
                                            <p:strVal val="#ppt_x"/>
                                          </p:val>
                                        </p:tav>
                                        <p:tav tm="100000">
                                          <p:val>
                                            <p:strVal val="#ppt_x"/>
                                          </p:val>
                                        </p:tav>
                                      </p:tavLst>
                                    </p:anim>
                                    <p:anim calcmode="lin" valueType="num">
                                      <p:cBhvr additive="base">
                                        <p:cTn id="25" dur="500" fill="hold"/>
                                        <p:tgtEl>
                                          <p:spTgt spid="34509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45095"/>
                                        </p:tgtEl>
                                        <p:attrNameLst>
                                          <p:attrName>style.visibility</p:attrName>
                                        </p:attrNameLst>
                                      </p:cBhvr>
                                      <p:to>
                                        <p:strVal val="visible"/>
                                      </p:to>
                                    </p:set>
                                    <p:anim calcmode="lin" valueType="num">
                                      <p:cBhvr additive="base">
                                        <p:cTn id="30" dur="500" fill="hold"/>
                                        <p:tgtEl>
                                          <p:spTgt spid="345095"/>
                                        </p:tgtEl>
                                        <p:attrNameLst>
                                          <p:attrName>ppt_x</p:attrName>
                                        </p:attrNameLst>
                                      </p:cBhvr>
                                      <p:tavLst>
                                        <p:tav tm="0">
                                          <p:val>
                                            <p:strVal val="#ppt_x"/>
                                          </p:val>
                                        </p:tav>
                                        <p:tav tm="100000">
                                          <p:val>
                                            <p:strVal val="#ppt_x"/>
                                          </p:val>
                                        </p:tav>
                                      </p:tavLst>
                                    </p:anim>
                                    <p:anim calcmode="lin" valueType="num">
                                      <p:cBhvr additive="base">
                                        <p:cTn id="31" dur="500" fill="hold"/>
                                        <p:tgtEl>
                                          <p:spTgt spid="34509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45096"/>
                                        </p:tgtEl>
                                        <p:attrNameLst>
                                          <p:attrName>style.visibility</p:attrName>
                                        </p:attrNameLst>
                                      </p:cBhvr>
                                      <p:to>
                                        <p:strVal val="visible"/>
                                      </p:to>
                                    </p:set>
                                    <p:anim calcmode="lin" valueType="num">
                                      <p:cBhvr additive="base">
                                        <p:cTn id="36" dur="500" fill="hold"/>
                                        <p:tgtEl>
                                          <p:spTgt spid="345096"/>
                                        </p:tgtEl>
                                        <p:attrNameLst>
                                          <p:attrName>ppt_x</p:attrName>
                                        </p:attrNameLst>
                                      </p:cBhvr>
                                      <p:tavLst>
                                        <p:tav tm="0">
                                          <p:val>
                                            <p:strVal val="#ppt_x"/>
                                          </p:val>
                                        </p:tav>
                                        <p:tav tm="100000">
                                          <p:val>
                                            <p:strVal val="#ppt_x"/>
                                          </p:val>
                                        </p:tav>
                                      </p:tavLst>
                                    </p:anim>
                                    <p:anim calcmode="lin" valueType="num">
                                      <p:cBhvr additive="base">
                                        <p:cTn id="37" dur="500" fill="hold"/>
                                        <p:tgtEl>
                                          <p:spTgt spid="3450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p:bldP spid="345092" grpId="0" animBg="1"/>
      <p:bldP spid="345093" grpId="0" animBg="1"/>
      <p:bldP spid="345094" grpId="0" animBg="1"/>
      <p:bldP spid="345095" grpId="0" animBg="1"/>
      <p:bldP spid="345096" grpId="0" animBg="1"/>
    </p:bld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1"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48163" name="Text Box 3"/>
          <p:cNvSpPr txBox="1">
            <a:spLocks noChangeArrowheads="1"/>
          </p:cNvSpPr>
          <p:nvPr/>
        </p:nvSpPr>
        <p:spPr bwMode="auto">
          <a:xfrm>
            <a:off x="1403350" y="-88900"/>
            <a:ext cx="7740650" cy="7478713"/>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double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Div</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(double, double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f(){</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&lt;&lt;"7.3/0.0=" &lt;&lt;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Div</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(7.3, 0.0) &lt;&lt;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catch(double){</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&lt;&lt;"double"&lt;&lt;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endl;throw</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g(){</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 {f();}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catch(char){</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gg</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  g();}</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&lt;&lt;“</a:t>
            </a: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零做除数错误</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\n";}</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 {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缺省异常</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处理完毕”</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double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Div</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(double a, double b){</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if(b==0.0)</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b;</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return a/b;</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8165" name="AutoShape 5"/>
          <p:cNvSpPr>
            <a:spLocks noChangeArrowheads="1"/>
          </p:cNvSpPr>
          <p:nvPr/>
        </p:nvSpPr>
        <p:spPr bwMode="auto">
          <a:xfrm>
            <a:off x="0" y="4365625"/>
            <a:ext cx="1331913" cy="431800"/>
          </a:xfrm>
          <a:prstGeom prst="wedgeRectCallout">
            <a:avLst>
              <a:gd name="adj1" fmla="val 68356"/>
              <a:gd name="adj2" fmla="val -10296"/>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通用异常</a:t>
            </a:r>
            <a:endParaRPr kumimoji="1" lang="zh-CN" altLang="en-US" sz="20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48163"/>
                                        </p:tgtEl>
                                        <p:attrNameLst>
                                          <p:attrName>style.visibility</p:attrName>
                                        </p:attrNameLst>
                                      </p:cBhvr>
                                      <p:to>
                                        <p:strVal val="visible"/>
                                      </p:to>
                                    </p:set>
                                    <p:animEffect transition="in" filter="barn(inHorizontal)">
                                      <p:cBhvr>
                                        <p:cTn id="7" dur="500"/>
                                        <p:tgtEl>
                                          <p:spTgt spid="34816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48165"/>
                                        </p:tgtEl>
                                        <p:attrNameLst>
                                          <p:attrName>style.visibility</p:attrName>
                                        </p:attrNameLst>
                                      </p:cBhvr>
                                      <p:to>
                                        <p:strVal val="visible"/>
                                      </p:to>
                                    </p:set>
                                    <p:anim calcmode="lin" valueType="num">
                                      <p:cBhvr additive="base">
                                        <p:cTn id="12" dur="500" fill="hold"/>
                                        <p:tgtEl>
                                          <p:spTgt spid="348165"/>
                                        </p:tgtEl>
                                        <p:attrNameLst>
                                          <p:attrName>ppt_x</p:attrName>
                                        </p:attrNameLst>
                                      </p:cBhvr>
                                      <p:tavLst>
                                        <p:tav tm="0">
                                          <p:val>
                                            <p:strVal val="#ppt_x"/>
                                          </p:val>
                                        </p:tav>
                                        <p:tav tm="100000">
                                          <p:val>
                                            <p:strVal val="#ppt_x"/>
                                          </p:val>
                                        </p:tav>
                                      </p:tavLst>
                                    </p:anim>
                                    <p:anim calcmode="lin" valueType="num">
                                      <p:cBhvr additive="base">
                                        <p:cTn id="13" dur="500" fill="hold"/>
                                        <p:tgtEl>
                                          <p:spTgt spid="348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p:bldP spid="348165" grpId="0" animBg="1"/>
    </p:bld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5"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74786" name="Rectangle 7"/>
          <p:cNvSpPr>
            <a:spLocks noGrp="1"/>
          </p:cNvSpPr>
          <p:nvPr>
            <p:ph idx="1"/>
          </p:nvPr>
        </p:nvSpPr>
        <p:spPr>
          <a:xfrm>
            <a:off x="1403350" y="1196975"/>
            <a:ext cx="7740650" cy="5148263"/>
          </a:xfrm>
        </p:spPr>
        <p:txBody>
          <a:bodyPr vert="horz" wrap="square" lIns="92075" tIns="46037" rIns="92075" bIns="46037" anchor="t"/>
          <a:p>
            <a:pPr marL="533400" indent="-533400" eaLnBrk="1" hangingPunct="1">
              <a:lnSpc>
                <a:spcPct val="90000"/>
              </a:lnSpc>
              <a:buNone/>
            </a:pPr>
            <a:r>
              <a:rPr lang="en-US" altLang="zh-CN" sz="2400" b="1" dirty="0">
                <a:solidFill>
                  <a:srgbClr val="FFFFFF"/>
                </a:solidFill>
                <a:latin typeface="Courier New" panose="02070309020205020404" pitchFamily="49" charset="0"/>
              </a:rPr>
              <a:t>void f0(){..; throw string(“</a:t>
            </a:r>
            <a:r>
              <a:rPr lang="zh-CN" altLang="en-US" sz="2400" b="1" dirty="0">
                <a:solidFill>
                  <a:srgbClr val="FFFFFF"/>
                </a:solidFill>
                <a:latin typeface="Courier New" panose="02070309020205020404" pitchFamily="49" charset="0"/>
              </a:rPr>
              <a:t>请处理</a:t>
            </a:r>
            <a:r>
              <a:rPr lang="en-US" altLang="zh-CN" sz="2400" b="1" dirty="0">
                <a:solidFill>
                  <a:srgbClr val="FFFFFF"/>
                </a:solidFill>
                <a:latin typeface="Courier New" panose="02070309020205020404" pitchFamily="49" charset="0"/>
              </a:rPr>
              <a:t>\n”);…;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void f1(){..; f0();…;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void f2(){..; f1();…;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void f3(){..; f2();…;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void f4(){..; f3();…;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void f5(){..; f4();…;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int main(){</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  try{..; f5();…;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  catch(string &amp;s){</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    cout&lt;&lt;s.c_str()&lt;&lt;endl;</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  }</a:t>
            </a:r>
            <a:endParaRPr lang="en-US" altLang="zh-CN" sz="2400" b="1" dirty="0">
              <a:solidFill>
                <a:srgbClr val="FFFFFF"/>
              </a:solidFill>
              <a:latin typeface="Courier New" panose="02070309020205020404" pitchFamily="49" charset="0"/>
            </a:endParaRPr>
          </a:p>
          <a:p>
            <a:pPr marL="533400" indent="-533400" eaLnBrk="1" hangingPunct="1">
              <a:lnSpc>
                <a:spcPct val="90000"/>
              </a:lnSpc>
              <a:buNone/>
            </a:pPr>
            <a:r>
              <a:rPr lang="en-US" altLang="zh-CN" sz="2400" b="1" dirty="0">
                <a:solidFill>
                  <a:srgbClr val="FFFFFF"/>
                </a:solidFill>
                <a:latin typeface="Courier New" panose="02070309020205020404" pitchFamily="49" charset="0"/>
              </a:rPr>
              <a:t>}</a:t>
            </a:r>
            <a:endParaRPr lang="en-US" altLang="zh-CN" sz="2400" b="1" dirty="0">
              <a:solidFill>
                <a:srgbClr val="FFFFFF"/>
              </a:solidFill>
              <a:latin typeface="Courier New" panose="02070309020205020404" pitchFamily="49" charset="0"/>
            </a:endParaRP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09"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75810" name="Rectangle 6"/>
          <p:cNvSpPr/>
          <p:nvPr/>
        </p:nvSpPr>
        <p:spPr>
          <a:xfrm>
            <a:off x="1908175" y="188913"/>
            <a:ext cx="6948488" cy="6119812"/>
          </a:xfrm>
          <a:prstGeom prst="rect">
            <a:avLst/>
          </a:prstGeom>
          <a:noFill/>
          <a:ln w="9525">
            <a:noFill/>
          </a:ln>
        </p:spPr>
        <p:txBody>
          <a:bodyPr lIns="92075" tIns="46037" rIns="92075" bIns="46037" anchor="t"/>
          <a:p>
            <a:pPr marL="342900" indent="-342900" algn="just">
              <a:spcBef>
                <a:spcPct val="20000"/>
              </a:spcBef>
            </a:pPr>
            <a:r>
              <a:rPr lang="zh-CN" altLang="en-US" sz="2800" b="1" dirty="0">
                <a:solidFill>
                  <a:srgbClr val="FFFF00"/>
                </a:solidFill>
                <a:latin typeface="宋体" panose="02010600030101010101" pitchFamily="2" charset="-122"/>
                <a:ea typeface="宋体" panose="02010600030101010101" pitchFamily="2" charset="-122"/>
              </a:rPr>
              <a:t>类型匹配</a:t>
            </a:r>
            <a:endParaRPr lang="zh-CN" altLang="en-US" sz="2800" b="1" dirty="0">
              <a:solidFill>
                <a:srgbClr val="FFFF00"/>
              </a:solidFill>
              <a:latin typeface="宋体" panose="02010600030101010101" pitchFamily="2" charset="-122"/>
              <a:ea typeface="宋体" panose="02010600030101010101" pitchFamily="2" charset="-122"/>
            </a:endParaRPr>
          </a:p>
          <a:p>
            <a:pPr marL="342900" indent="-342900" algn="just">
              <a:spcBef>
                <a:spcPct val="70000"/>
              </a:spcBef>
            </a:pPr>
            <a:r>
              <a:rPr lang="zh-CN" altLang="en-US" sz="2000" b="1" dirty="0">
                <a:solidFill>
                  <a:srgbClr val="FFFFFF"/>
                </a:solidFill>
                <a:latin typeface="宋体" panose="02010600030101010101" pitchFamily="2" charset="-122"/>
                <a:ea typeface="宋体" panose="02010600030101010101" pitchFamily="2" charset="-122"/>
              </a:rPr>
              <a:t>异常捕捉的类型匹配之苛刻程度可以和模板的类型匹配相当</a:t>
            </a:r>
            <a:r>
              <a:rPr lang="en-US" altLang="zh-CN" sz="2000" b="1" dirty="0">
                <a:solidFill>
                  <a:srgbClr val="FFFFFF"/>
                </a:solidFill>
                <a:latin typeface="宋体" panose="02010600030101010101" pitchFamily="2" charset="-122"/>
                <a:ea typeface="宋体" panose="02010600030101010101" pitchFamily="2" charset="-122"/>
              </a:rPr>
              <a:t>,</a:t>
            </a:r>
            <a:r>
              <a:rPr lang="zh-CN" altLang="en-US" sz="2000" b="1" dirty="0">
                <a:solidFill>
                  <a:srgbClr val="FFFFFF"/>
                </a:solidFill>
                <a:latin typeface="宋体" panose="02010600030101010101" pitchFamily="2" charset="-122"/>
                <a:ea typeface="宋体" panose="02010600030101010101" pitchFamily="2" charset="-122"/>
              </a:rPr>
              <a:t>它不允许相容类型的隐式转换</a:t>
            </a:r>
            <a:r>
              <a:rPr lang="en-US" altLang="zh-CN" sz="2000" b="1" dirty="0">
                <a:solidFill>
                  <a:srgbClr val="FFFFFF"/>
                </a:solidFill>
                <a:latin typeface="宋体" panose="02010600030101010101" pitchFamily="2" charset="-122"/>
                <a:ea typeface="宋体" panose="02010600030101010101" pitchFamily="2" charset="-122"/>
              </a:rPr>
              <a:t>,</a:t>
            </a:r>
            <a:r>
              <a:rPr lang="zh-CN" altLang="en-US" sz="2000" b="1" dirty="0">
                <a:solidFill>
                  <a:srgbClr val="FFFFFF"/>
                </a:solidFill>
                <a:latin typeface="宋体" panose="02010600030101010101" pitchFamily="2" charset="-122"/>
                <a:ea typeface="宋体" panose="02010600030101010101" pitchFamily="2" charset="-122"/>
              </a:rPr>
              <a:t>比如</a:t>
            </a:r>
            <a:r>
              <a:rPr lang="en-US" altLang="zh-CN" sz="2000" b="1" dirty="0">
                <a:solidFill>
                  <a:srgbClr val="FFFFFF"/>
                </a:solidFill>
                <a:latin typeface="宋体" panose="02010600030101010101" pitchFamily="2" charset="-122"/>
                <a:ea typeface="宋体" panose="02010600030101010101" pitchFamily="2" charset="-122"/>
              </a:rPr>
              <a:t>,</a:t>
            </a:r>
            <a:r>
              <a:rPr lang="zh-CN" altLang="en-US" sz="2000" b="1" dirty="0">
                <a:solidFill>
                  <a:srgbClr val="FFFFFF"/>
                </a:solidFill>
                <a:latin typeface="宋体" panose="02010600030101010101" pitchFamily="2" charset="-122"/>
                <a:ea typeface="宋体" panose="02010600030101010101" pitchFamily="2" charset="-122"/>
              </a:rPr>
              <a:t>抛掷</a:t>
            </a:r>
            <a:r>
              <a:rPr lang="en-US" altLang="zh-CN" sz="2000" b="1" dirty="0">
                <a:solidFill>
                  <a:srgbClr val="FFFFFF"/>
                </a:solidFill>
                <a:latin typeface="宋体" panose="02010600030101010101" pitchFamily="2" charset="-122"/>
                <a:ea typeface="宋体" panose="02010600030101010101" pitchFamily="2" charset="-122"/>
              </a:rPr>
              <a:t>char</a:t>
            </a:r>
            <a:r>
              <a:rPr lang="zh-CN" altLang="en-US" sz="2000" b="1" dirty="0">
                <a:solidFill>
                  <a:srgbClr val="FFFFFF"/>
                </a:solidFill>
                <a:latin typeface="宋体" panose="02010600030101010101" pitchFamily="2" charset="-122"/>
                <a:ea typeface="宋体" panose="02010600030101010101" pitchFamily="2" charset="-122"/>
              </a:rPr>
              <a:t>类型用</a:t>
            </a:r>
            <a:r>
              <a:rPr lang="en-US" altLang="zh-CN" sz="2000" b="1" dirty="0">
                <a:solidFill>
                  <a:srgbClr val="FFFFFF"/>
                </a:solidFill>
                <a:latin typeface="宋体" panose="02010600030101010101" pitchFamily="2" charset="-122"/>
                <a:ea typeface="宋体" panose="02010600030101010101" pitchFamily="2" charset="-122"/>
              </a:rPr>
              <a:t>int</a:t>
            </a:r>
            <a:r>
              <a:rPr lang="zh-CN" altLang="en-US" sz="2000" b="1" dirty="0">
                <a:solidFill>
                  <a:srgbClr val="FFFFFF"/>
                </a:solidFill>
                <a:latin typeface="宋体" panose="02010600030101010101" pitchFamily="2" charset="-122"/>
                <a:ea typeface="宋体" panose="02010600030101010101" pitchFamily="2" charset="-122"/>
              </a:rPr>
              <a:t>型就捕捉不到．</a:t>
            </a:r>
            <a:endParaRPr lang="en-US" altLang="zh-CN" sz="2000" b="1" dirty="0">
              <a:solidFill>
                <a:srgbClr val="FFFFFF"/>
              </a:solidFill>
              <a:latin typeface="宋体" panose="02010600030101010101" pitchFamily="2" charset="-122"/>
              <a:ea typeface="宋体" panose="02010600030101010101" pitchFamily="2" charset="-122"/>
            </a:endParaRPr>
          </a:p>
          <a:p>
            <a:pPr marL="342900" indent="-342900" algn="just">
              <a:spcBef>
                <a:spcPct val="70000"/>
              </a:spcBef>
            </a:pPr>
            <a:r>
              <a:rPr lang="zh-CN" altLang="en-US" sz="2000" b="1" dirty="0">
                <a:solidFill>
                  <a:srgbClr val="FFFFFF"/>
                </a:solidFill>
                <a:latin typeface="宋体" panose="02010600030101010101" pitchFamily="2" charset="-122"/>
                <a:ea typeface="宋体" panose="02010600030101010101" pitchFamily="2" charset="-122"/>
              </a:rPr>
              <a:t>例如下列代码不会输出“</a:t>
            </a:r>
            <a:r>
              <a:rPr lang="en-US" altLang="zh-CN" sz="2000" b="1" dirty="0">
                <a:solidFill>
                  <a:srgbClr val="FFFFFF"/>
                </a:solidFill>
                <a:latin typeface="宋体" panose="02010600030101010101" pitchFamily="2" charset="-122"/>
                <a:ea typeface="宋体" panose="02010600030101010101" pitchFamily="2" charset="-122"/>
              </a:rPr>
              <a:t>int exception.”</a:t>
            </a:r>
            <a:r>
              <a:rPr lang="zh-CN" altLang="en-US" sz="2000" b="1" dirty="0">
                <a:solidFill>
                  <a:srgbClr val="FFFFFF"/>
                </a:solidFill>
                <a:latin typeface="宋体" panose="02010600030101010101" pitchFamily="2" charset="-122"/>
                <a:ea typeface="宋体" panose="02010600030101010101" pitchFamily="2" charset="-122"/>
              </a:rPr>
              <a:t>，当然也不会输出“</a:t>
            </a:r>
            <a:r>
              <a:rPr lang="en-US" altLang="zh-CN" sz="2000" b="1" dirty="0">
                <a:solidFill>
                  <a:srgbClr val="FFFFFF"/>
                </a:solidFill>
                <a:latin typeface="宋体" panose="02010600030101010101" pitchFamily="2" charset="-122"/>
                <a:ea typeface="宋体" panose="02010600030101010101" pitchFamily="2" charset="-122"/>
              </a:rPr>
              <a:t>That’s ok.”</a:t>
            </a:r>
            <a:r>
              <a:rPr lang="zh-CN" altLang="en-US" sz="2000" b="1" dirty="0">
                <a:solidFill>
                  <a:srgbClr val="FFFFFF"/>
                </a:solidFill>
                <a:latin typeface="宋体" panose="02010600030101010101" pitchFamily="2" charset="-122"/>
                <a:ea typeface="宋体" panose="02010600030101010101" pitchFamily="2" charset="-122"/>
              </a:rPr>
              <a:t>，</a:t>
            </a:r>
            <a:r>
              <a:rPr lang="en-US" altLang="zh-CN" sz="2000" b="1" dirty="0">
                <a:solidFill>
                  <a:srgbClr val="FFFFFF"/>
                </a:solidFill>
                <a:latin typeface="宋体" panose="02010600030101010101" pitchFamily="2" charset="-122"/>
                <a:ea typeface="宋体" panose="02010600030101010101" pitchFamily="2" charset="-122"/>
              </a:rPr>
              <a:t>Abort</a:t>
            </a:r>
            <a:r>
              <a:rPr lang="zh-CN" altLang="en-US" sz="2000" b="1" dirty="0">
                <a:solidFill>
                  <a:srgbClr val="FFFFFF"/>
                </a:solidFill>
                <a:latin typeface="宋体" panose="02010600030101010101" pitchFamily="2" charset="-122"/>
                <a:ea typeface="宋体" panose="02010600030101010101" pitchFamily="2" charset="-122"/>
              </a:rPr>
              <a:t>（）进程被调用。      因为异常没有被捕获。</a:t>
            </a:r>
            <a:endParaRPr lang="zh-CN" altLang="en-US" sz="20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int main(){</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try{</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throw ‘H’;</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catch(int){</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cout&lt;&lt;"int exception.\n";</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  cout&lt;&lt;"That's ok.\n";</a:t>
            </a:r>
            <a:endParaRPr lang="en-US" altLang="zh-CN" sz="2400" b="1" dirty="0">
              <a:solidFill>
                <a:srgbClr val="FFFFFF"/>
              </a:solidFill>
              <a:latin typeface="宋体" panose="02010600030101010101" pitchFamily="2" charset="-122"/>
              <a:ea typeface="宋体" panose="02010600030101010101" pitchFamily="2" charset="-122"/>
            </a:endParaRPr>
          </a:p>
          <a:p>
            <a:pPr marL="342900" indent="-342900">
              <a:spcBef>
                <a:spcPct val="20000"/>
              </a:spcBef>
            </a:pPr>
            <a:r>
              <a:rPr lang="en-US" altLang="zh-CN" sz="2400" b="1" dirty="0">
                <a:solidFill>
                  <a:srgbClr val="FFFFFF"/>
                </a:solidFill>
                <a:latin typeface="宋体" panose="02010600030101010101" pitchFamily="2" charset="-122"/>
                <a:ea typeface="宋体" panose="02010600030101010101" pitchFamily="2" charset="-122"/>
              </a:rPr>
              <a:t>}</a:t>
            </a:r>
            <a:endParaRPr lang="en-US" altLang="zh-CN" sz="2400" b="1" dirty="0">
              <a:solidFill>
                <a:srgbClr val="FFFFFF"/>
              </a:solidFill>
              <a:latin typeface="宋体" panose="02010600030101010101" pitchFamily="2" charset="-122"/>
              <a:ea typeface="宋体" panose="02010600030101010101" pitchFamily="2" charset="-122"/>
            </a:endParaRP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428035" name="Text Box 3"/>
          <p:cNvSpPr txBox="1">
            <a:spLocks noChangeArrowheads="1"/>
          </p:cNvSpPr>
          <p:nvPr/>
        </p:nvSpPr>
        <p:spPr bwMode="auto">
          <a:xfrm>
            <a:off x="2124075" y="188913"/>
            <a:ext cx="6769100" cy="6740525"/>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A{</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&lt;&lt;"erase A object."&lt;&lt;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private:</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k;</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f(){</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 s;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5; </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&lt;&lt;"f() doing"&lt;&lt;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main(){</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try{f();}</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&lt;&lt;"f() error"&lt;&lt;</a:t>
            </a:r>
            <a:r>
              <a:rPr kumimoji="1" lang="en-US" altLang="zh-CN" sz="24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endl</a:t>
            </a: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428036" name="AutoShape 4"/>
          <p:cNvSpPr>
            <a:spLocks noChangeArrowheads="1"/>
          </p:cNvSpPr>
          <p:nvPr/>
        </p:nvSpPr>
        <p:spPr bwMode="auto">
          <a:xfrm>
            <a:off x="3313113" y="2636838"/>
            <a:ext cx="5795963" cy="503238"/>
          </a:xfrm>
          <a:prstGeom prst="wedgeRectCallout">
            <a:avLst>
              <a:gd name="adj1" fmla="val -53649"/>
              <a:gd name="adj2" fmla="val 177643"/>
            </a:avLst>
          </a:prstGeom>
          <a:solidFill>
            <a:srgbClr val="0000FF"/>
          </a:solidFill>
          <a:ln w="9525" algn="ctr">
            <a:solidFill>
              <a:schemeClr val="bg1"/>
            </a:solid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异常被处理后各函数对象被释放；其它语句不执行</a:t>
            </a:r>
            <a:endParaRPr kumimoji="1" lang="zh-CN" altLang="en-US" sz="2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28035"/>
                                        </p:tgtEl>
                                        <p:attrNameLst>
                                          <p:attrName>style.visibility</p:attrName>
                                        </p:attrNameLst>
                                      </p:cBhvr>
                                      <p:to>
                                        <p:strVal val="visible"/>
                                      </p:to>
                                    </p:set>
                                    <p:animEffect transition="in" filter="barn(inHorizontal)">
                                      <p:cBhvr>
                                        <p:cTn id="7" dur="500"/>
                                        <p:tgtEl>
                                          <p:spTgt spid="42803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28036"/>
                                        </p:tgtEl>
                                        <p:attrNameLst>
                                          <p:attrName>style.visibility</p:attrName>
                                        </p:attrNameLst>
                                      </p:cBhvr>
                                      <p:to>
                                        <p:strVal val="visible"/>
                                      </p:to>
                                    </p:set>
                                    <p:anim calcmode="lin" valueType="num">
                                      <p:cBhvr additive="base">
                                        <p:cTn id="12" dur="500" fill="hold"/>
                                        <p:tgtEl>
                                          <p:spTgt spid="428036"/>
                                        </p:tgtEl>
                                        <p:attrNameLst>
                                          <p:attrName>ppt_x</p:attrName>
                                        </p:attrNameLst>
                                      </p:cBhvr>
                                      <p:tavLst>
                                        <p:tav tm="0">
                                          <p:val>
                                            <p:strVal val="#ppt_x"/>
                                          </p:val>
                                        </p:tav>
                                        <p:tav tm="100000">
                                          <p:val>
                                            <p:strVal val="#ppt_x"/>
                                          </p:val>
                                        </p:tav>
                                      </p:tavLst>
                                    </p:anim>
                                    <p:anim calcmode="lin" valueType="num">
                                      <p:cBhvr additive="base">
                                        <p:cTn id="13" dur="500" fill="hold"/>
                                        <p:tgtEl>
                                          <p:spTgt spid="428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p:bldP spid="428036" grpId="0" animBg="1"/>
    </p:bld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7"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519171" name="Text Box 3"/>
          <p:cNvSpPr txBox="1">
            <a:spLocks noChangeArrowheads="1"/>
          </p:cNvSpPr>
          <p:nvPr/>
        </p:nvSpPr>
        <p:spPr bwMode="auto">
          <a:xfrm>
            <a:off x="971550" y="-26987"/>
            <a:ext cx="8172450" cy="6492875"/>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A{</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char net[20];</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A(char * net){</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strcpy</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(this-&gt;</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net,net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B:public A{</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long card;</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B(long </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card,char</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net):A(net){this-&gt;card=card;}</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C:public B{</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port;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C(</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port,long</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card,char</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 net):B(</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card,net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){this-&gt;port=port;}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net(){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B(1,“202.198.22.26");</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try{net();}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catch(C){</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端口错误</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catch(B){</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网卡错误</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catch(A){</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t>
            </a:r>
            <a:r>
              <a:rPr kumimoji="1"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网络错误”</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放到最前面如何？</a:t>
            </a:r>
            <a:endParaRPr kumimoji="1" lang="zh-CN" altLang="en-US" sz="2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9171"/>
                                        </p:tgtEl>
                                        <p:attrNameLst>
                                          <p:attrName>style.visibility</p:attrName>
                                        </p:attrNameLst>
                                      </p:cBhvr>
                                      <p:to>
                                        <p:strVal val="visible"/>
                                      </p:to>
                                    </p:set>
                                    <p:animEffect transition="in" filter="barn(inHorizontal)">
                                      <p:cBhvr>
                                        <p:cTn id="7" dur="500"/>
                                        <p:tgtEl>
                                          <p:spTgt spid="51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p:bld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9186" name="Rectangle 2"/>
          <p:cNvSpPr>
            <a:spLocks noChangeArrowheads="1"/>
          </p:cNvSpPr>
          <p:nvPr/>
        </p:nvSpPr>
        <p:spPr bwMode="auto">
          <a:xfrm>
            <a:off x="107950" y="3094038"/>
            <a:ext cx="8964613" cy="1127125"/>
          </a:xfrm>
          <a:prstGeom prst="rect">
            <a:avLst/>
          </a:prstGeom>
          <a:gradFill rotWithShape="0">
            <a:gsLst>
              <a:gs pos="0">
                <a:schemeClr val="accent1">
                  <a:gamma/>
                  <a:shade val="56078"/>
                  <a:invGamma/>
                </a:schemeClr>
              </a:gs>
              <a:gs pos="100000">
                <a:schemeClr val="accent1"/>
              </a:gs>
            </a:gsLst>
            <a:lin ang="5400000" scaled="1"/>
          </a:gradFill>
          <a:ln w="12700">
            <a:solidFill>
              <a:schemeClr val="accent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基类指针类型</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能够捕获</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throw </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派生类指针 </a:t>
            </a:r>
            <a:endParaRPr kumimoji="0" lang="zh-CN"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49187" name="Rectangle 3"/>
          <p:cNvSpPr>
            <a:spLocks noChangeArrowheads="1"/>
          </p:cNvSpPr>
          <p:nvPr/>
        </p:nvSpPr>
        <p:spPr bwMode="auto">
          <a:xfrm>
            <a:off x="107950" y="1908175"/>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基类类型</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能够捕获</a:t>
            </a:r>
            <a:r>
              <a:rPr kumimoji="0" lang="en-US" altLang="zh-CN"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throw </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派生类对象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9188" name="Rectangle 4"/>
          <p:cNvSpPr>
            <a:spLocks noChangeArrowheads="1"/>
          </p:cNvSpPr>
          <p:nvPr/>
        </p:nvSpPr>
        <p:spPr bwMode="auto">
          <a:xfrm>
            <a:off x="107950" y="4318000"/>
            <a:ext cx="8964613" cy="1127125"/>
          </a:xfrm>
          <a:prstGeom prst="rect">
            <a:avLst/>
          </a:prstGeom>
          <a:gradFill rotWithShape="0">
            <a:gsLst>
              <a:gs pos="0">
                <a:schemeClr val="folHlink">
                  <a:gamma/>
                  <a:shade val="56078"/>
                  <a:invGamma/>
                </a:schemeClr>
              </a:gs>
              <a:gs pos="100000">
                <a:schemeClr val="folHlink"/>
              </a:gs>
            </a:gsLst>
            <a:lin ang="5400000" scaled="1"/>
          </a:gradFill>
          <a:ln w="12700">
            <a:solidFill>
              <a:srgbClr val="C0C0C0"/>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反之不可以；所以</a:t>
            </a: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基类</a:t>
            </a: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总放在</a:t>
            </a: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catch(</a:t>
            </a: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派生类</a:t>
            </a:r>
            <a:r>
              <a:rPr kumimoji="0" lang="en-US" altLang="zh-CN"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后面</a:t>
            </a:r>
            <a:r>
              <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endParaRPr kumimoji="0" lang="zh-CN" altLang="en-US" sz="3200" b="0"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78884" name="Text Box 5"/>
          <p:cNvSpPr txBox="1"/>
          <p:nvPr/>
        </p:nvSpPr>
        <p:spPr>
          <a:xfrm>
            <a:off x="1835150" y="333375"/>
            <a:ext cx="6553200" cy="762000"/>
          </a:xfrm>
          <a:prstGeom prst="rect">
            <a:avLst/>
          </a:prstGeom>
          <a:noFill/>
          <a:ln w="9525">
            <a:noFill/>
          </a:ln>
        </p:spPr>
        <p:txBody>
          <a:bodyPr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9187"/>
                                        </p:tgtEl>
                                        <p:attrNameLst>
                                          <p:attrName>style.visibility</p:attrName>
                                        </p:attrNameLst>
                                      </p:cBhvr>
                                      <p:to>
                                        <p:strVal val="visible"/>
                                      </p:to>
                                    </p:set>
                                    <p:anim calcmode="lin" valueType="num">
                                      <p:cBhvr additive="base">
                                        <p:cTn id="7" dur="2000" fill="hold"/>
                                        <p:tgtEl>
                                          <p:spTgt spid="349187"/>
                                        </p:tgtEl>
                                        <p:attrNameLst>
                                          <p:attrName>ppt_x</p:attrName>
                                        </p:attrNameLst>
                                      </p:cBhvr>
                                      <p:tavLst>
                                        <p:tav tm="0">
                                          <p:val>
                                            <p:strVal val="#ppt_x"/>
                                          </p:val>
                                        </p:tav>
                                        <p:tav tm="100000">
                                          <p:val>
                                            <p:strVal val="#ppt_x"/>
                                          </p:val>
                                        </p:tav>
                                      </p:tavLst>
                                    </p:anim>
                                    <p:anim calcmode="lin" valueType="num">
                                      <p:cBhvr additive="base">
                                        <p:cTn id="8" dur="2000" fill="hold"/>
                                        <p:tgtEl>
                                          <p:spTgt spid="3491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6" presetClass="entr" presetSubtype="0" fill="hold" grpId="0" nodeType="clickEffect">
                                  <p:stCondLst>
                                    <p:cond delay="0"/>
                                  </p:stCondLst>
                                  <p:iterate type="lt">
                                    <p:tmPct val="10000"/>
                                  </p:iterate>
                                  <p:childTnLst>
                                    <p:set>
                                      <p:cBhvr>
                                        <p:cTn id="12" dur="1" fill="hold">
                                          <p:stCondLst>
                                            <p:cond delay="0"/>
                                          </p:stCondLst>
                                        </p:cTn>
                                        <p:tgtEl>
                                          <p:spTgt spid="349186"/>
                                        </p:tgtEl>
                                        <p:attrNameLst>
                                          <p:attrName>style.visibility</p:attrName>
                                        </p:attrNameLst>
                                      </p:cBhvr>
                                      <p:to>
                                        <p:strVal val="visible"/>
                                      </p:to>
                                    </p:set>
                                    <p:anim by="(-#ppt_w*2)" calcmode="lin" valueType="num">
                                      <p:cBhvr rctx="PPT">
                                        <p:cTn id="13" dur="500" autoRev="1" fill="hold">
                                          <p:stCondLst>
                                            <p:cond delay="0"/>
                                          </p:stCondLst>
                                        </p:cTn>
                                        <p:tgtEl>
                                          <p:spTgt spid="349186"/>
                                        </p:tgtEl>
                                        <p:attrNameLst>
                                          <p:attrName>ppt_w</p:attrName>
                                        </p:attrNameLst>
                                      </p:cBhvr>
                                    </p:anim>
                                    <p:anim by="(#ppt_w*0.50)" calcmode="lin" valueType="num">
                                      <p:cBhvr>
                                        <p:cTn id="14" dur="500" decel="50000" autoRev="1" fill="hold">
                                          <p:stCondLst>
                                            <p:cond delay="0"/>
                                          </p:stCondLst>
                                        </p:cTn>
                                        <p:tgtEl>
                                          <p:spTgt spid="349186"/>
                                        </p:tgtEl>
                                        <p:attrNameLst>
                                          <p:attrName>ppt_x</p:attrName>
                                        </p:attrNameLst>
                                      </p:cBhvr>
                                    </p:anim>
                                    <p:anim from="(-#ppt_h/2)" to="(#ppt_y)" calcmode="lin" valueType="num">
                                      <p:cBhvr>
                                        <p:cTn id="15" dur="1000" fill="hold">
                                          <p:stCondLst>
                                            <p:cond delay="0"/>
                                          </p:stCondLst>
                                        </p:cTn>
                                        <p:tgtEl>
                                          <p:spTgt spid="349186"/>
                                        </p:tgtEl>
                                        <p:attrNameLst>
                                          <p:attrName>ppt_y</p:attrName>
                                        </p:attrNameLst>
                                      </p:cBhvr>
                                    </p:anim>
                                    <p:animRot by="21600000">
                                      <p:cBhvr>
                                        <p:cTn id="16" dur="1000" fill="hold">
                                          <p:stCondLst>
                                            <p:cond delay="0"/>
                                          </p:stCondLst>
                                        </p:cTn>
                                        <p:tgtEl>
                                          <p:spTgt spid="349186"/>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49188"/>
                                        </p:tgtEl>
                                        <p:attrNameLst>
                                          <p:attrName>style.visibility</p:attrName>
                                        </p:attrNameLst>
                                      </p:cBhvr>
                                      <p:to>
                                        <p:strVal val="visible"/>
                                      </p:to>
                                    </p:set>
                                    <p:anim calcmode="lin" valueType="num">
                                      <p:cBhvr additive="base">
                                        <p:cTn id="21" dur="2000" fill="hold"/>
                                        <p:tgtEl>
                                          <p:spTgt spid="349188"/>
                                        </p:tgtEl>
                                        <p:attrNameLst>
                                          <p:attrName>ppt_x</p:attrName>
                                        </p:attrNameLst>
                                      </p:cBhvr>
                                      <p:tavLst>
                                        <p:tav tm="0">
                                          <p:val>
                                            <p:strVal val="#ppt_x"/>
                                          </p:val>
                                        </p:tav>
                                        <p:tav tm="100000">
                                          <p:val>
                                            <p:strVal val="#ppt_x"/>
                                          </p:val>
                                        </p:tav>
                                      </p:tavLst>
                                    </p:anim>
                                    <p:anim calcmode="lin" valueType="num">
                                      <p:cBhvr additive="base">
                                        <p:cTn id="22" dur="2000" fill="hold"/>
                                        <p:tgtEl>
                                          <p:spTgt spid="349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6" grpId="0" animBg="1"/>
      <p:bldP spid="349187" grpId="0" animBg="1"/>
      <p:bldP spid="349188" grpId="0" animBg="1"/>
    </p:bld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5"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84035" name="Text Box 3"/>
          <p:cNvSpPr txBox="1">
            <a:spLocks noChangeArrowheads="1"/>
          </p:cNvSpPr>
          <p:nvPr/>
        </p:nvSpPr>
        <p:spPr bwMode="auto">
          <a:xfrm>
            <a:off x="2916238" y="0"/>
            <a:ext cx="5327650" cy="6492875"/>
          </a:xfrm>
          <a:prstGeom prst="rect">
            <a:avLst/>
          </a:prstGeom>
          <a:noFill/>
          <a:ln>
            <a:noFill/>
          </a:ln>
          <a:effectLst/>
        </p:spPr>
        <p:txBody>
          <a:bodyPr>
            <a:spAutoFit/>
          </a:bodyPr>
          <a:lstStyle>
            <a:lvl1pPr eaLnBrk="0" hangingPunct="0">
              <a:defRPr kumimoji="1" sz="1600">
                <a:solidFill>
                  <a:schemeClr val="bg1"/>
                </a:solidFill>
                <a:latin typeface="Times New Roman" panose="02020603050405020304" pitchFamily="18" charset="0"/>
                <a:ea typeface="宋体" panose="02010600030101010101" pitchFamily="2" charset="-122"/>
              </a:defRPr>
            </a:lvl1pPr>
            <a:lvl2pPr marL="742950" indent="-285750" eaLnBrk="0" hangingPunct="0">
              <a:defRPr kumimoji="1" sz="1600">
                <a:solidFill>
                  <a:schemeClr val="bg1"/>
                </a:solidFill>
                <a:latin typeface="Times New Roman" panose="02020603050405020304" pitchFamily="18" charset="0"/>
                <a:ea typeface="宋体" panose="02010600030101010101" pitchFamily="2" charset="-122"/>
              </a:defRPr>
            </a:lvl2pPr>
            <a:lvl3pPr marL="1143000" indent="-228600" eaLnBrk="0" hangingPunct="0">
              <a:defRPr kumimoji="1" sz="1600">
                <a:solidFill>
                  <a:schemeClr val="bg1"/>
                </a:solidFill>
                <a:latin typeface="Times New Roman" panose="02020603050405020304" pitchFamily="18" charset="0"/>
                <a:ea typeface="宋体" panose="02010600030101010101" pitchFamily="2" charset="-122"/>
              </a:defRPr>
            </a:lvl3pPr>
            <a:lvl4pPr marL="1600200" indent="-228600" eaLnBrk="0" hangingPunct="0">
              <a:defRPr kumimoji="1" sz="1600">
                <a:solidFill>
                  <a:schemeClr val="bg1"/>
                </a:solidFill>
                <a:latin typeface="Times New Roman" panose="02020603050405020304" pitchFamily="18" charset="0"/>
                <a:ea typeface="宋体" panose="02010600030101010101" pitchFamily="2" charset="-122"/>
              </a:defRPr>
            </a:lvl4pPr>
            <a:lvl5pPr marL="2057400" indent="-228600" eaLnBrk="0" hangingPunct="0">
              <a:defRPr kumimoji="1" sz="1600">
                <a:solidFill>
                  <a:schemeClr val="bg1"/>
                </a:solidFill>
                <a:latin typeface="Times New Roman" panose="02020603050405020304" pitchFamily="18" charset="0"/>
                <a:ea typeface="宋体" panose="02010600030101010101" pitchFamily="2" charset="-122"/>
              </a:defRPr>
            </a:lvl5pPr>
            <a:lvl6pPr marL="25146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6pPr>
            <a:lvl7pPr marL="29718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7pPr>
            <a:lvl8pPr marL="34290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8pPr>
            <a:lvl9pPr marL="3886200" indent="-228600" algn="just" eaLnBrk="0" fontAlgn="base" hangingPunct="0">
              <a:spcBef>
                <a:spcPct val="0"/>
              </a:spcBef>
              <a:spcAft>
                <a:spcPct val="0"/>
              </a:spcAft>
              <a:defRPr kumimoji="1" sz="1600">
                <a:solidFill>
                  <a:schemeClr val="bg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A{</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char net[20];</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virtual  void x(){</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&lt;&lt;"A";}</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B:public A{</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long card;</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void x(){</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&lt;&lt;"B";}</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class C:public B{</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int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port;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public:	</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void x(){</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cout</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&lt;&lt;"C";}</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net(){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throw B();}</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void main(){</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try{net();}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catch(A &amp; s){</a:t>
            </a:r>
            <a:r>
              <a:rPr kumimoji="1" lang="en-US" altLang="zh-CN" sz="2000" b="1" i="0" u="none" strike="noStrike" kern="1200" cap="none" spc="0" normalizeH="0" baseline="0" noProof="0" dirty="0" err="1">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s.x</a:t>
            </a: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多态调用</a:t>
            </a:r>
            <a:endParaRPr kumimoji="1"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endParaRPr kumimoji="1" lang="en-US" altLang="zh-CN"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84035"/>
                                        </p:tgtEl>
                                        <p:attrNameLst>
                                          <p:attrName>style.visibility</p:attrName>
                                        </p:attrNameLst>
                                      </p:cBhvr>
                                      <p:to>
                                        <p:strVal val="visible"/>
                                      </p:to>
                                    </p:set>
                                    <p:animEffect transition="in" filter="barn(inHorizontal)">
                                      <p:cBhvr>
                                        <p:cTn id="7" dur="500"/>
                                        <p:tgtEl>
                                          <p:spTgt spid="684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5" grpId="0"/>
    </p:bld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29" name="Text Box 2"/>
          <p:cNvSpPr txBox="1"/>
          <p:nvPr/>
        </p:nvSpPr>
        <p:spPr>
          <a:xfrm>
            <a:off x="10795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685059" name="Text Box 3"/>
          <p:cNvSpPr txBox="1">
            <a:spLocks noChangeArrowheads="1"/>
          </p:cNvSpPr>
          <p:nvPr/>
        </p:nvSpPr>
        <p:spPr bwMode="auto">
          <a:xfrm>
            <a:off x="2916238" y="-100012"/>
            <a:ext cx="6408738" cy="7102475"/>
          </a:xfrm>
          <a:prstGeom prst="rect">
            <a:avLst/>
          </a:prstGeom>
          <a:noFill/>
          <a:ln>
            <a:noFill/>
          </a:ln>
          <a:effectLst/>
        </p:spPr>
        <p:txBody>
          <a:bodyPr>
            <a:spAutoFit/>
          </a:bodyPr>
          <a:lstStyle/>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A{</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char net[20];</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virtual  void x(){</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&lt;&lt;"A";}</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B:public A{</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long card;</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void x(){</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&lt;&lt;"B";}</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class C:public B{</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int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port;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public:	</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x(){</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cout</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&lt;&lt;"C";}</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net(){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throw B();}</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net() throw(A,B,C);  //</a:t>
            </a:r>
            <a:r>
              <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异常申述（异常声明）</a:t>
            </a:r>
            <a:endParaRPr kumimoji="1" lang="zh-CN" altLang="en-US"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void main(){</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try{net();}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catch(A &amp; s){</a:t>
            </a:r>
            <a:r>
              <a:rPr kumimoji="1" lang="en-US" altLang="zh-CN" sz="2000" b="1" kern="1200" cap="none" spc="0" normalizeH="0" baseline="0" noProof="0" dirty="0" err="1">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s.x</a:t>
            </a: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defRPr/>
            </a:pPr>
            <a:r>
              <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000" b="1" kern="1200" cap="none" spc="0" normalizeH="0" baseline="0" noProof="0" dirty="0">
              <a:solidFill>
                <a:srgbClr val="FFFF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85059"/>
                                        </p:tgtEl>
                                        <p:attrNameLst>
                                          <p:attrName>style.visibility</p:attrName>
                                        </p:attrNameLst>
                                      </p:cBhvr>
                                      <p:to>
                                        <p:strVal val="visible"/>
                                      </p:to>
                                    </p:set>
                                    <p:animEffect transition="in" filter="barn(inHorizontal)">
                                      <p:cBhvr>
                                        <p:cTn id="7" dur="500"/>
                                        <p:tgtEl>
                                          <p:spTgt spid="68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59" grpId="0"/>
    </p:bld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3" name="Text Box 2"/>
          <p:cNvSpPr txBox="1"/>
          <p:nvPr/>
        </p:nvSpPr>
        <p:spPr>
          <a:xfrm>
            <a:off x="622300" y="404813"/>
            <a:ext cx="854075" cy="5616575"/>
          </a:xfrm>
          <a:prstGeom prst="rect">
            <a:avLst/>
          </a:prstGeom>
          <a:noFill/>
          <a:ln w="9525">
            <a:noFill/>
          </a:ln>
        </p:spPr>
        <p:txBody>
          <a:bodyPr vert="eaVert" anchor="t">
            <a:spAutoFit/>
          </a:bodyPr>
          <a:p>
            <a:pPr algn="just">
              <a:spcBef>
                <a:spcPct val="50000"/>
              </a:spcBef>
            </a:pPr>
            <a:r>
              <a:rPr lang="zh-CN" altLang="en-US" sz="4400" b="1" dirty="0">
                <a:solidFill>
                  <a:srgbClr val="FFFF00"/>
                </a:solidFill>
                <a:latin typeface="Times New Roman" panose="02020603050405020304" pitchFamily="18" charset="0"/>
                <a:ea typeface="华文行楷" panose="02010800040101010101" pitchFamily="2" charset="-122"/>
              </a:rPr>
              <a:t>异常处理  </a:t>
            </a:r>
            <a:endParaRPr lang="zh-CN" altLang="en-US" sz="4400" b="1" dirty="0">
              <a:solidFill>
                <a:srgbClr val="FFFF00"/>
              </a:solidFill>
              <a:latin typeface="Times New Roman" panose="02020603050405020304" pitchFamily="18" charset="0"/>
              <a:ea typeface="华文行楷" panose="02010800040101010101" pitchFamily="2" charset="-122"/>
            </a:endParaRPr>
          </a:p>
        </p:txBody>
      </p:sp>
      <p:sp>
        <p:nvSpPr>
          <p:cNvPr id="381954" name="Rectangle 6"/>
          <p:cNvSpPr>
            <a:spLocks noGrp="1"/>
          </p:cNvSpPr>
          <p:nvPr>
            <p:ph idx="1"/>
          </p:nvPr>
        </p:nvSpPr>
        <p:spPr>
          <a:xfrm>
            <a:off x="3635375" y="908050"/>
            <a:ext cx="5329238" cy="5076825"/>
          </a:xfrm>
        </p:spPr>
        <p:txBody>
          <a:bodyPr vert="horz" wrap="square" lIns="92075" tIns="46037" rIns="92075" bIns="46037" anchor="t"/>
          <a:p>
            <a:pPr marL="533400" indent="-533400" eaLnBrk="1" hangingPunct="1">
              <a:lnSpc>
                <a:spcPct val="80000"/>
              </a:lnSpc>
              <a:buNone/>
            </a:pPr>
            <a:r>
              <a:rPr lang="en-US" altLang="zh-CN" sz="2000" b="1" dirty="0">
                <a:solidFill>
                  <a:srgbClr val="FFFFFF"/>
                </a:solidFill>
                <a:latin typeface="Courier New" panose="02070309020205020404" pitchFamily="49" charset="0"/>
              </a:rPr>
              <a:t>class A{};</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void f3(){</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if(...) throw A; // </a:t>
            </a:r>
            <a:r>
              <a:rPr lang="zh-CN" altLang="en-US" sz="2000" b="1" dirty="0">
                <a:solidFill>
                  <a:srgbClr val="FFFFFF"/>
                </a:solidFill>
                <a:latin typeface="Courier New" panose="02070309020205020404" pitchFamily="49" charset="0"/>
              </a:rPr>
              <a:t>退出</a:t>
            </a:r>
            <a:r>
              <a:rPr lang="en-US" altLang="zh-CN" sz="2000" b="1" dirty="0">
                <a:solidFill>
                  <a:srgbClr val="FFFFFF"/>
                </a:solidFill>
                <a:latin typeface="Courier New" panose="02070309020205020404" pitchFamily="49" charset="0"/>
              </a:rPr>
              <a:t>for</a:t>
            </a:r>
            <a:r>
              <a:rPr lang="zh-CN" altLang="en-US" sz="2000" b="1" dirty="0">
                <a:solidFill>
                  <a:srgbClr val="FFFFFF"/>
                </a:solidFill>
                <a:latin typeface="Courier New" panose="02070309020205020404" pitchFamily="49" charset="0"/>
              </a:rPr>
              <a:t>循环</a:t>
            </a:r>
            <a:endParaRPr lang="zh-CN" altLang="en-US"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void f2(){</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f3();</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void f1(){</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f2();</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int main(){</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try{</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for(...; ...; ...)</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f1();</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catch(A){</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    //</a:t>
            </a:r>
            <a:r>
              <a:rPr lang="zh-CN" altLang="en-US" sz="2000" b="1" dirty="0">
                <a:solidFill>
                  <a:srgbClr val="FFFFFF"/>
                </a:solidFill>
                <a:latin typeface="Courier New" panose="02070309020205020404" pitchFamily="49" charset="0"/>
              </a:rPr>
              <a:t>输出循环结果</a:t>
            </a:r>
            <a:endParaRPr lang="zh-CN" altLang="en-US" sz="2000" b="1" dirty="0">
              <a:solidFill>
                <a:srgbClr val="FFFFFF"/>
              </a:solidFill>
              <a:latin typeface="Courier New" panose="02070309020205020404" pitchFamily="49" charset="0"/>
            </a:endParaRPr>
          </a:p>
          <a:p>
            <a:pPr marL="533400" indent="-533400" eaLnBrk="1" hangingPunct="1">
              <a:lnSpc>
                <a:spcPct val="80000"/>
              </a:lnSpc>
              <a:buNone/>
            </a:pPr>
            <a:r>
              <a:rPr lang="zh-CN" altLang="en-US" sz="2000" b="1" dirty="0">
                <a:solidFill>
                  <a:srgbClr val="FFFFFF"/>
                </a:solidFill>
                <a:latin typeface="Courier New" panose="02070309020205020404" pitchFamily="49" charset="0"/>
              </a:rPr>
              <a:t>  </a:t>
            </a:r>
            <a:r>
              <a:rPr lang="en-US" altLang="zh-CN" sz="2000" b="1" dirty="0">
                <a:solidFill>
                  <a:srgbClr val="FFFFFF"/>
                </a:solidFill>
                <a:latin typeface="Courier New" panose="02070309020205020404" pitchFamily="49" charset="0"/>
              </a:rPr>
              <a:t>}</a:t>
            </a:r>
            <a:endParaRPr lang="en-US" altLang="zh-CN" sz="2000" b="1" dirty="0">
              <a:solidFill>
                <a:srgbClr val="FFFFFF"/>
              </a:solidFill>
              <a:latin typeface="Courier New" panose="02070309020205020404" pitchFamily="49" charset="0"/>
            </a:endParaRPr>
          </a:p>
          <a:p>
            <a:pPr marL="533400" indent="-533400" eaLnBrk="1" hangingPunct="1">
              <a:lnSpc>
                <a:spcPct val="80000"/>
              </a:lnSpc>
              <a:buNone/>
            </a:pPr>
            <a:r>
              <a:rPr lang="en-US" altLang="zh-CN" sz="2000" b="1" dirty="0">
                <a:solidFill>
                  <a:srgbClr val="FFFFFF"/>
                </a:solidFill>
                <a:latin typeface="Courier New" panose="02070309020205020404" pitchFamily="49" charset="0"/>
              </a:rPr>
              <a:t>}</a:t>
            </a:r>
            <a:endParaRPr lang="en-US" altLang="zh-CN" sz="2000" b="1" dirty="0">
              <a:solidFill>
                <a:srgbClr val="FFFFFF"/>
              </a:solidFill>
              <a:latin typeface="Courier New" panose="02070309020205020404" pitchFamily="49" charset="0"/>
            </a:endParaRPr>
          </a:p>
        </p:txBody>
      </p:sp>
      <p:sp>
        <p:nvSpPr>
          <p:cNvPr id="595975" name="Freeform 7"/>
          <p:cNvSpPr/>
          <p:nvPr/>
        </p:nvSpPr>
        <p:spPr bwMode="auto">
          <a:xfrm>
            <a:off x="5435600" y="1592263"/>
            <a:ext cx="1404938" cy="3205163"/>
          </a:xfrm>
          <a:custGeom>
            <a:avLst/>
            <a:gdLst>
              <a:gd name="T0" fmla="*/ 476 w 744"/>
              <a:gd name="T1" fmla="*/ 4 h 1863"/>
              <a:gd name="T2" fmla="*/ 680 w 744"/>
              <a:gd name="T3" fmla="*/ 208 h 1863"/>
              <a:gd name="T4" fmla="*/ 703 w 744"/>
              <a:gd name="T5" fmla="*/ 1251 h 1863"/>
              <a:gd name="T6" fmla="*/ 431 w 744"/>
              <a:gd name="T7" fmla="*/ 1727 h 1863"/>
              <a:gd name="T8" fmla="*/ 0 w 744"/>
              <a:gd name="T9" fmla="*/ 1863 h 1863"/>
            </a:gdLst>
            <a:ahLst/>
            <a:cxnLst>
              <a:cxn ang="0">
                <a:pos x="T0" y="T1"/>
              </a:cxn>
              <a:cxn ang="0">
                <a:pos x="T2" y="T3"/>
              </a:cxn>
              <a:cxn ang="0">
                <a:pos x="T4" y="T5"/>
              </a:cxn>
              <a:cxn ang="0">
                <a:pos x="T6" y="T7"/>
              </a:cxn>
              <a:cxn ang="0">
                <a:pos x="T8" y="T9"/>
              </a:cxn>
            </a:cxnLst>
            <a:rect l="0" t="0" r="r" b="b"/>
            <a:pathLst>
              <a:path w="744" h="1863">
                <a:moveTo>
                  <a:pt x="476" y="4"/>
                </a:moveTo>
                <a:cubicBezTo>
                  <a:pt x="559" y="2"/>
                  <a:pt x="642" y="0"/>
                  <a:pt x="680" y="208"/>
                </a:cubicBezTo>
                <a:cubicBezTo>
                  <a:pt x="718" y="416"/>
                  <a:pt x="744" y="998"/>
                  <a:pt x="703" y="1251"/>
                </a:cubicBezTo>
                <a:cubicBezTo>
                  <a:pt x="662" y="1504"/>
                  <a:pt x="548" y="1625"/>
                  <a:pt x="431" y="1727"/>
                </a:cubicBezTo>
                <a:cubicBezTo>
                  <a:pt x="314" y="1829"/>
                  <a:pt x="157" y="1846"/>
                  <a:pt x="0" y="1863"/>
                </a:cubicBezTo>
              </a:path>
            </a:pathLst>
          </a:custGeom>
          <a:noFill/>
          <a:ln w="9525" cap="flat" cmpd="sng">
            <a:solidFill>
              <a:srgbClr val="FF9900"/>
            </a:solidFill>
            <a:prstDash val="solid"/>
            <a:round/>
            <a:tailEnd type="triangle" w="med" len="med"/>
          </a:ln>
          <a:effectLst/>
        </p:spPr>
        <p:txBody>
          <a:bodyPr lIns="0" tIns="0" rIns="0" bIns="0"/>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2977" name="Group 5"/>
          <p:cNvGrpSpPr/>
          <p:nvPr/>
        </p:nvGrpSpPr>
        <p:grpSpPr>
          <a:xfrm>
            <a:off x="152400" y="87313"/>
            <a:ext cx="8597900" cy="831850"/>
            <a:chOff x="165" y="55"/>
            <a:chExt cx="5347" cy="524"/>
          </a:xfrm>
        </p:grpSpPr>
        <p:grpSp>
          <p:nvGrpSpPr>
            <p:cNvPr id="382978" name="Group 6"/>
            <p:cNvGrpSpPr/>
            <p:nvPr/>
          </p:nvGrpSpPr>
          <p:grpSpPr>
            <a:xfrm>
              <a:off x="664" y="104"/>
              <a:ext cx="4848" cy="432"/>
              <a:chOff x="664" y="104"/>
              <a:chExt cx="4848" cy="432"/>
            </a:xfrm>
          </p:grpSpPr>
          <p:sp>
            <p:nvSpPr>
              <p:cNvPr id="84999" name="Freeform 7"/>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Lst>
                <a:ahLst/>
                <a:cxnLst>
                  <a:cxn ang="0">
                    <a:pos x="T0" y="T1"/>
                  </a:cxn>
                  <a:cxn ang="0">
                    <a:pos x="T2" y="T3"/>
                  </a:cxn>
                  <a:cxn ang="0">
                    <a:pos x="T4" y="T5"/>
                  </a:cxn>
                  <a:cxn ang="0">
                    <a:pos x="T6" y="T7"/>
                  </a:cxn>
                  <a:cxn ang="0">
                    <a:pos x="T8" y="T9"/>
                  </a:cxn>
                  <a:cxn ang="0">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nvGrpSpPr>
              <p:cNvPr id="382980" name="Group 8"/>
              <p:cNvGrpSpPr/>
              <p:nvPr/>
            </p:nvGrpSpPr>
            <p:grpSpPr>
              <a:xfrm>
                <a:off x="1195" y="104"/>
                <a:ext cx="3827" cy="429"/>
                <a:chOff x="1021" y="240"/>
                <a:chExt cx="3827" cy="429"/>
              </a:xfrm>
            </p:grpSpPr>
            <p:grpSp>
              <p:nvGrpSpPr>
                <p:cNvPr id="382981" name="Group 9"/>
                <p:cNvGrpSpPr/>
                <p:nvPr/>
              </p:nvGrpSpPr>
              <p:grpSpPr>
                <a:xfrm>
                  <a:off x="1021" y="241"/>
                  <a:ext cx="2208" cy="427"/>
                  <a:chOff x="1021" y="241"/>
                  <a:chExt cx="2208" cy="427"/>
                </a:xfrm>
              </p:grpSpPr>
              <p:sp>
                <p:nvSpPr>
                  <p:cNvPr id="85002" name="Freeform 10"/>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Lst>
                    <a:ahLst/>
                    <a:cxnLst>
                      <a:cxn ang="0">
                        <a:pos x="T0" y="T1"/>
                      </a:cxn>
                      <a:cxn ang="0">
                        <a:pos x="T2" y="T3"/>
                      </a:cxn>
                      <a:cxn ang="0">
                        <a:pos x="T4" y="T5"/>
                      </a:cxn>
                      <a:cxn ang="0">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3" name="Freeform 11"/>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Lst>
                    <a:ahLst/>
                    <a:cxnLst>
                      <a:cxn ang="0">
                        <a:pos x="T0" y="T1"/>
                      </a:cxn>
                      <a:cxn ang="0">
                        <a:pos x="T2" y="T3"/>
                      </a:cxn>
                      <a:cxn ang="0">
                        <a:pos x="T4" y="T5"/>
                      </a:cxn>
                      <a:cxn ang="0">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4" name="Freeform 12"/>
                  <p:cNvSpPr/>
                  <p:nvPr/>
                </p:nvSpPr>
                <p:spPr bwMode="ltGray">
                  <a:xfrm>
                    <a:off x="2120" y="616"/>
                    <a:ext cx="39"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Lst>
                    <a:ahLst/>
                    <a:cxnLst>
                      <a:cxn ang="0">
                        <a:pos x="T0" y="T1"/>
                      </a:cxn>
                      <a:cxn ang="0">
                        <a:pos x="T2" y="T3"/>
                      </a:cxn>
                      <a:cxn ang="0">
                        <a:pos x="T4" y="T5"/>
                      </a:cxn>
                      <a:cxn ang="0">
                        <a:pos x="T6" y="T7"/>
                      </a:cxn>
                      <a:cxn ang="0">
                        <a:pos x="T8" y="T9"/>
                      </a:cxn>
                      <a:cxn ang="0">
                        <a:pos x="T10" y="T11"/>
                      </a:cxn>
                      <a:cxn ang="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5" name="Freeform 13"/>
                  <p:cNvSpPr/>
                  <p:nvPr/>
                </p:nvSpPr>
                <p:spPr bwMode="ltGray">
                  <a:xfrm>
                    <a:off x="1967" y="629"/>
                    <a:ext cx="39" cy="5"/>
                  </a:xfrm>
                  <a:custGeom>
                    <a:avLst/>
                    <a:gdLst>
                      <a:gd name="T0" fmla="*/ 15 w 25"/>
                      <a:gd name="T1" fmla="*/ 16 h 16"/>
                      <a:gd name="T2" fmla="*/ 3 w 25"/>
                      <a:gd name="T3" fmla="*/ 8 h 16"/>
                      <a:gd name="T4" fmla="*/ 15 w 25"/>
                      <a:gd name="T5" fmla="*/ 0 h 16"/>
                      <a:gd name="T6" fmla="*/ 15 w 25"/>
                      <a:gd name="T7" fmla="*/ 16 h 16"/>
                    </a:gdLst>
                    <a:ahLst/>
                    <a:cxnLst>
                      <a:cxn ang="0">
                        <a:pos x="T0" y="T1"/>
                      </a:cxn>
                      <a:cxn ang="0">
                        <a:pos x="T2" y="T3"/>
                      </a:cxn>
                      <a:cxn ang="0">
                        <a:pos x="T4" y="T5"/>
                      </a:cxn>
                      <a:cxn ang="0">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6" name="Freeform 14"/>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7" name="Freeform 15"/>
                  <p:cNvSpPr/>
                  <p:nvPr/>
                </p:nvSpPr>
                <p:spPr bwMode="ltGray">
                  <a:xfrm>
                    <a:off x="1890" y="634"/>
                    <a:ext cx="3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8" name="Freeform 16"/>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09" name="Freeform 17"/>
                  <p:cNvSpPr/>
                  <p:nvPr/>
                </p:nvSpPr>
                <p:spPr bwMode="ltGray">
                  <a:xfrm>
                    <a:off x="1827" y="541"/>
                    <a:ext cx="39"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0" name="Freeform 18"/>
                  <p:cNvSpPr/>
                  <p:nvPr/>
                </p:nvSpPr>
                <p:spPr bwMode="ltGray">
                  <a:xfrm>
                    <a:off x="189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1" name="Freeform 19"/>
                  <p:cNvSpPr/>
                  <p:nvPr/>
                </p:nvSpPr>
                <p:spPr bwMode="ltGray">
                  <a:xfrm>
                    <a:off x="1890" y="588"/>
                    <a:ext cx="39"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2" name="Freeform 20"/>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3" name="Freeform 21"/>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Lst>
                    <a:ahLst/>
                    <a:cxnLst>
                      <a:cxn ang="0">
                        <a:pos x="T0" y="T1"/>
                      </a:cxn>
                      <a:cxn ang="0">
                        <a:pos x="T2" y="T3"/>
                      </a:cxn>
                      <a:cxn ang="0">
                        <a:pos x="T4" y="T5"/>
                      </a:cxn>
                      <a:cxn ang="0">
                        <a:pos x="T6" y="T7"/>
                      </a:cxn>
                      <a:cxn ang="0">
                        <a:pos x="T8" y="T9"/>
                      </a:cxn>
                      <a:cxn ang="0">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4" name="Freeform 22"/>
                  <p:cNvSpPr/>
                  <p:nvPr/>
                </p:nvSpPr>
                <p:spPr bwMode="ltGray">
                  <a:xfrm>
                    <a:off x="1967" y="585"/>
                    <a:ext cx="39"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5" name="Freeform 23"/>
                  <p:cNvSpPr/>
                  <p:nvPr/>
                </p:nvSpPr>
                <p:spPr bwMode="ltGray">
                  <a:xfrm>
                    <a:off x="1976" y="593"/>
                    <a:ext cx="116"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6" name="Freeform 24"/>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7" name="Freeform 25"/>
                  <p:cNvSpPr/>
                  <p:nvPr/>
                </p:nvSpPr>
                <p:spPr bwMode="ltGray">
                  <a:xfrm>
                    <a:off x="2152" y="544"/>
                    <a:ext cx="8" cy="6"/>
                  </a:xfrm>
                  <a:custGeom>
                    <a:avLst/>
                    <a:gdLst>
                      <a:gd name="T0" fmla="*/ 3 w 17"/>
                      <a:gd name="T1" fmla="*/ 4 h 18"/>
                      <a:gd name="T2" fmla="*/ 3 w 17"/>
                      <a:gd name="T3" fmla="*/ 14 h 18"/>
                      <a:gd name="T4" fmla="*/ 3 w 17"/>
                      <a:gd name="T5" fmla="*/ 4 h 18"/>
                    </a:gdLst>
                    <a:ahLst/>
                    <a:cxnLst>
                      <a:cxn ang="0">
                        <a:pos x="T0" y="T1"/>
                      </a:cxn>
                      <a:cxn ang="0">
                        <a:pos x="T2" y="T3"/>
                      </a:cxn>
                      <a:cxn ang="0">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8" name="Freeform 26"/>
                  <p:cNvSpPr/>
                  <p:nvPr/>
                </p:nvSpPr>
                <p:spPr bwMode="ltGray">
                  <a:xfrm>
                    <a:off x="2194" y="584"/>
                    <a:ext cx="39" cy="8"/>
                  </a:xfrm>
                  <a:custGeom>
                    <a:avLst/>
                    <a:gdLst>
                      <a:gd name="T0" fmla="*/ 8 w 26"/>
                      <a:gd name="T1" fmla="*/ 14 h 22"/>
                      <a:gd name="T2" fmla="*/ 14 w 26"/>
                      <a:gd name="T3" fmla="*/ 0 h 22"/>
                      <a:gd name="T4" fmla="*/ 14 w 26"/>
                      <a:gd name="T5" fmla="*/ 22 h 22"/>
                      <a:gd name="T6" fmla="*/ 8 w 26"/>
                      <a:gd name="T7" fmla="*/ 14 h 22"/>
                    </a:gdLst>
                    <a:ahLst/>
                    <a:cxnLst>
                      <a:cxn ang="0">
                        <a:pos x="T0" y="T1"/>
                      </a:cxn>
                      <a:cxn ang="0">
                        <a:pos x="T2" y="T3"/>
                      </a:cxn>
                      <a:cxn ang="0">
                        <a:pos x="T4" y="T5"/>
                      </a:cxn>
                      <a:cxn ang="0">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19" name="Freeform 27"/>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0" name="Freeform 28"/>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1" name="Freeform 29"/>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2" name="Freeform 30"/>
                  <p:cNvSpPr/>
                  <p:nvPr/>
                </p:nvSpPr>
                <p:spPr bwMode="ltGray">
                  <a:xfrm>
                    <a:off x="1899" y="466"/>
                    <a:ext cx="39"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3" name="Freeform 31"/>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4" name="Freeform 32"/>
                  <p:cNvSpPr/>
                  <p:nvPr/>
                </p:nvSpPr>
                <p:spPr bwMode="ltGray">
                  <a:xfrm>
                    <a:off x="1881" y="512"/>
                    <a:ext cx="3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Lst>
                    <a:ahLst/>
                    <a:cxnLst>
                      <a:cxn ang="0">
                        <a:pos x="T0" y="T1"/>
                      </a:cxn>
                      <a:cxn ang="0">
                        <a:pos x="T2" y="T3"/>
                      </a:cxn>
                      <a:cxn ang="0">
                        <a:pos x="T4" y="T5"/>
                      </a:cxn>
                      <a:cxn ang="0">
                        <a:pos x="T6" y="T7"/>
                      </a:cxn>
                      <a:cxn ang="0">
                        <a:pos x="T8" y="T9"/>
                      </a:cxn>
                      <a:cxn ang="0">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5" name="Freeform 33"/>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6" name="Freeform 34"/>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7" name="Freeform 35"/>
                  <p:cNvSpPr/>
                  <p:nvPr/>
                </p:nvSpPr>
                <p:spPr bwMode="ltGray">
                  <a:xfrm>
                    <a:off x="2405" y="445"/>
                    <a:ext cx="15" cy="16"/>
                  </a:xfrm>
                  <a:custGeom>
                    <a:avLst/>
                    <a:gdLst>
                      <a:gd name="T0" fmla="*/ 6 w 36"/>
                      <a:gd name="T1" fmla="*/ 28 h 48"/>
                      <a:gd name="T2" fmla="*/ 10 w 36"/>
                      <a:gd name="T3" fmla="*/ 48 h 48"/>
                      <a:gd name="T4" fmla="*/ 6 w 36"/>
                      <a:gd name="T5" fmla="*/ 28 h 48"/>
                    </a:gdLst>
                    <a:ahLst/>
                    <a:cxnLst>
                      <a:cxn ang="0">
                        <a:pos x="T0" y="T1"/>
                      </a:cxn>
                      <a:cxn ang="0">
                        <a:pos x="T2" y="T3"/>
                      </a:cxn>
                      <a:cxn ang="0">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8" name="Freeform 36"/>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Lst>
                    <a:ahLst/>
                    <a:cxnLst>
                      <a:cxn ang="0">
                        <a:pos x="T0" y="T1"/>
                      </a:cxn>
                      <a:cxn ang="0">
                        <a:pos x="T2" y="T3"/>
                      </a:cxn>
                      <a:cxn ang="0">
                        <a:pos x="T4" y="T5"/>
                      </a:cxn>
                      <a:cxn ang="0">
                        <a:pos x="T6" y="T7"/>
                      </a:cxn>
                      <a:cxn ang="0">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29" name="Freeform 37"/>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0" name="Freeform 38"/>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1" name="Freeform 39"/>
                  <p:cNvSpPr/>
                  <p:nvPr/>
                </p:nvSpPr>
                <p:spPr bwMode="ltGray">
                  <a:xfrm>
                    <a:off x="2924" y="441"/>
                    <a:ext cx="24" cy="14"/>
                  </a:xfrm>
                  <a:custGeom>
                    <a:avLst/>
                    <a:gdLst>
                      <a:gd name="T0" fmla="*/ 17 w 57"/>
                      <a:gd name="T1" fmla="*/ 25 h 42"/>
                      <a:gd name="T2" fmla="*/ 37 w 57"/>
                      <a:gd name="T3" fmla="*/ 13 h 42"/>
                      <a:gd name="T4" fmla="*/ 17 w 57"/>
                      <a:gd name="T5" fmla="*/ 25 h 42"/>
                    </a:gdLst>
                    <a:ahLst/>
                    <a:cxnLst>
                      <a:cxn ang="0">
                        <a:pos x="T0" y="T1"/>
                      </a:cxn>
                      <a:cxn ang="0">
                        <a:pos x="T2" y="T3"/>
                      </a:cxn>
                      <a:cxn ang="0">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2" name="Freeform 40"/>
                  <p:cNvSpPr/>
                  <p:nvPr/>
                </p:nvSpPr>
                <p:spPr bwMode="ltGray">
                  <a:xfrm>
                    <a:off x="2908" y="398"/>
                    <a:ext cx="16" cy="18"/>
                  </a:xfrm>
                  <a:custGeom>
                    <a:avLst/>
                    <a:gdLst>
                      <a:gd name="T0" fmla="*/ 19 w 39"/>
                      <a:gd name="T1" fmla="*/ 32 h 52"/>
                      <a:gd name="T2" fmla="*/ 19 w 39"/>
                      <a:gd name="T3" fmla="*/ 0 h 52"/>
                      <a:gd name="T4" fmla="*/ 19 w 39"/>
                      <a:gd name="T5" fmla="*/ 32 h 52"/>
                    </a:gdLst>
                    <a:ahLst/>
                    <a:cxnLst>
                      <a:cxn ang="0">
                        <a:pos x="T0" y="T1"/>
                      </a:cxn>
                      <a:cxn ang="0">
                        <a:pos x="T2" y="T3"/>
                      </a:cxn>
                      <a:cxn ang="0">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3" name="Freeform 41"/>
                  <p:cNvSpPr/>
                  <p:nvPr/>
                </p:nvSpPr>
                <p:spPr bwMode="ltGray">
                  <a:xfrm>
                    <a:off x="3035" y="452"/>
                    <a:ext cx="3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Lst>
                    <a:ahLst/>
                    <a:cxnLst>
                      <a:cxn ang="0">
                        <a:pos x="T0" y="T1"/>
                      </a:cxn>
                      <a:cxn ang="0">
                        <a:pos x="T2" y="T3"/>
                      </a:cxn>
                      <a:cxn ang="0">
                        <a:pos x="T4" y="T5"/>
                      </a:cxn>
                      <a:cxn ang="0">
                        <a:pos x="T6" y="T7"/>
                      </a:cxn>
                      <a:cxn ang="0">
                        <a:pos x="T8" y="T9"/>
                      </a:cxn>
                      <a:cxn ang="0">
                        <a:pos x="T10" y="T11"/>
                      </a:cxn>
                      <a:cxn ang="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4" name="Freeform 42"/>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5" name="Freeform 43"/>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Lst>
                    <a:ahLst/>
                    <a:cxnLst>
                      <a:cxn ang="0">
                        <a:pos x="T0" y="T1"/>
                      </a:cxn>
                      <a:cxn ang="0">
                        <a:pos x="T2" y="T3"/>
                      </a:cxn>
                      <a:cxn ang="0">
                        <a:pos x="T4" y="T5"/>
                      </a:cxn>
                      <a:cxn ang="0">
                        <a:pos x="T6" y="T7"/>
                      </a:cxn>
                      <a:cxn ang="0">
                        <a:pos x="T8" y="T9"/>
                      </a:cxn>
                      <a:cxn ang="0">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6" name="Freeform 44"/>
                  <p:cNvSpPr/>
                  <p:nvPr/>
                </p:nvSpPr>
                <p:spPr bwMode="ltGray">
                  <a:xfrm>
                    <a:off x="2096" y="275"/>
                    <a:ext cx="18" cy="10"/>
                  </a:xfrm>
                  <a:custGeom>
                    <a:avLst/>
                    <a:gdLst>
                      <a:gd name="T0" fmla="*/ 0 w 41"/>
                      <a:gd name="T1" fmla="*/ 25 h 29"/>
                      <a:gd name="T2" fmla="*/ 12 w 41"/>
                      <a:gd name="T3" fmla="*/ 29 h 29"/>
                      <a:gd name="T4" fmla="*/ 0 w 41"/>
                      <a:gd name="T5" fmla="*/ 25 h 29"/>
                    </a:gdLst>
                    <a:ahLst/>
                    <a:cxnLst>
                      <a:cxn ang="0">
                        <a:pos x="T0" y="T1"/>
                      </a:cxn>
                      <a:cxn ang="0">
                        <a:pos x="T2" y="T3"/>
                      </a:cxn>
                      <a:cxn ang="0">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7" name="Freeform 45"/>
                  <p:cNvSpPr/>
                  <p:nvPr/>
                </p:nvSpPr>
                <p:spPr bwMode="ltGray">
                  <a:xfrm>
                    <a:off x="1606" y="246"/>
                    <a:ext cx="42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8" name="Freeform 46"/>
                  <p:cNvSpPr/>
                  <p:nvPr/>
                </p:nvSpPr>
                <p:spPr bwMode="ltGray">
                  <a:xfrm>
                    <a:off x="2043" y="241"/>
                    <a:ext cx="39"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39" name="Freeform 47"/>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0" name="Freeform 48"/>
                  <p:cNvSpPr/>
                  <p:nvPr/>
                </p:nvSpPr>
                <p:spPr bwMode="ltGray">
                  <a:xfrm>
                    <a:off x="1967"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1" name="Freeform 49"/>
                  <p:cNvSpPr/>
                  <p:nvPr/>
                </p:nvSpPr>
                <p:spPr bwMode="ltGray">
                  <a:xfrm>
                    <a:off x="2021" y="340"/>
                    <a:ext cx="6" cy="4"/>
                  </a:xfrm>
                  <a:custGeom>
                    <a:avLst/>
                    <a:gdLst>
                      <a:gd name="T0" fmla="*/ 0 w 13"/>
                      <a:gd name="T1" fmla="*/ 9 h 13"/>
                      <a:gd name="T2" fmla="*/ 4 w 13"/>
                      <a:gd name="T3" fmla="*/ 13 h 13"/>
                      <a:gd name="T4" fmla="*/ 0 w 13"/>
                      <a:gd name="T5" fmla="*/ 9 h 13"/>
                    </a:gdLst>
                    <a:ahLst/>
                    <a:cxnLst>
                      <a:cxn ang="0">
                        <a:pos x="T0" y="T1"/>
                      </a:cxn>
                      <a:cxn ang="0">
                        <a:pos x="T2" y="T3"/>
                      </a:cxn>
                      <a:cxn ang="0">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2" name="Freeform 50"/>
                  <p:cNvSpPr/>
                  <p:nvPr/>
                </p:nvSpPr>
                <p:spPr bwMode="ltGray">
                  <a:xfrm>
                    <a:off x="1573" y="389"/>
                    <a:ext cx="349"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3" name="Freeform 51"/>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Lst>
                    <a:ahLst/>
                    <a:cxnLst>
                      <a:cxn ang="0">
                        <a:pos x="T0" y="T1"/>
                      </a:cxn>
                      <a:cxn ang="0">
                        <a:pos x="T2" y="T3"/>
                      </a:cxn>
                      <a:cxn ang="0">
                        <a:pos x="T4" y="T5"/>
                      </a:cxn>
                      <a:cxn ang="0">
                        <a:pos x="T6" y="T7"/>
                      </a:cxn>
                      <a:cxn ang="0">
                        <a:pos x="T8" y="T9"/>
                      </a:cxn>
                      <a:cxn ang="0">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4" name="Freeform 52"/>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5" name="Freeform 53"/>
                  <p:cNvSpPr/>
                  <p:nvPr/>
                </p:nvSpPr>
                <p:spPr bwMode="ltGray">
                  <a:xfrm>
                    <a:off x="1951" y="409"/>
                    <a:ext cx="9" cy="10"/>
                  </a:xfrm>
                  <a:custGeom>
                    <a:avLst/>
                    <a:gdLst>
                      <a:gd name="T0" fmla="*/ 7 w 20"/>
                      <a:gd name="T1" fmla="*/ 16 h 30"/>
                      <a:gd name="T2" fmla="*/ 5 w 20"/>
                      <a:gd name="T3" fmla="*/ 30 h 30"/>
                      <a:gd name="T4" fmla="*/ 7 w 20"/>
                      <a:gd name="T5" fmla="*/ 16 h 30"/>
                    </a:gdLst>
                    <a:ahLst/>
                    <a:cxnLst>
                      <a:cxn ang="0">
                        <a:pos x="T0" y="T1"/>
                      </a:cxn>
                      <a:cxn ang="0">
                        <a:pos x="T2" y="T3"/>
                      </a:cxn>
                      <a:cxn ang="0">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6" name="Freeform 54"/>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7" name="Freeform 55"/>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8" name="Freeform 56"/>
                  <p:cNvSpPr/>
                  <p:nvPr/>
                </p:nvSpPr>
                <p:spPr bwMode="ltGray">
                  <a:xfrm>
                    <a:off x="1476" y="611"/>
                    <a:ext cx="7" cy="12"/>
                  </a:xfrm>
                  <a:custGeom>
                    <a:avLst/>
                    <a:gdLst>
                      <a:gd name="T0" fmla="*/ 7 w 19"/>
                      <a:gd name="T1" fmla="*/ 25 h 37"/>
                      <a:gd name="T2" fmla="*/ 19 w 19"/>
                      <a:gd name="T3" fmla="*/ 21 h 37"/>
                      <a:gd name="T4" fmla="*/ 7 w 19"/>
                      <a:gd name="T5" fmla="*/ 25 h 37"/>
                    </a:gdLst>
                    <a:ahLst/>
                    <a:cxnLst>
                      <a:cxn ang="0">
                        <a:pos x="T0" y="T1"/>
                      </a:cxn>
                      <a:cxn ang="0">
                        <a:pos x="T2" y="T3"/>
                      </a:cxn>
                      <a:cxn ang="0">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49" name="Freeform 57"/>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Lst>
                    <a:ahLst/>
                    <a:cxnLst>
                      <a:cxn ang="0">
                        <a:pos x="T0" y="T1"/>
                      </a:cxn>
                      <a:cxn ang="0">
                        <a:pos x="T2" y="T3"/>
                      </a:cxn>
                      <a:cxn ang="0">
                        <a:pos x="T4" y="T5"/>
                      </a:cxn>
                      <a:cxn ang="0">
                        <a:pos x="T6" y="T7"/>
                      </a:cxn>
                      <a:cxn ang="0">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0" name="Freeform 58"/>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Lst>
                    <a:ahLst/>
                    <a:cxnLst>
                      <a:cxn ang="0">
                        <a:pos x="T0" y="T1"/>
                      </a:cxn>
                      <a:cxn ang="0">
                        <a:pos x="T2" y="T3"/>
                      </a:cxn>
                      <a:cxn ang="0">
                        <a:pos x="T4" y="T5"/>
                      </a:cxn>
                      <a:cxn ang="0">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1" name="Freeform 59"/>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2" name="Freeform 60"/>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3" name="Freeform 61"/>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Lst>
                    <a:ahLst/>
                    <a:cxnLst>
                      <a:cxn ang="0">
                        <a:pos x="T0" y="T1"/>
                      </a:cxn>
                      <a:cxn ang="0">
                        <a:pos x="T2" y="T3"/>
                      </a:cxn>
                      <a:cxn ang="0">
                        <a:pos x="T4" y="T5"/>
                      </a:cxn>
                      <a:cxn ang="0">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4" name="Freeform 62"/>
                  <p:cNvSpPr/>
                  <p:nvPr/>
                </p:nvSpPr>
                <p:spPr bwMode="ltGray">
                  <a:xfrm>
                    <a:off x="1270" y="296"/>
                    <a:ext cx="39" cy="11"/>
                  </a:xfrm>
                  <a:custGeom>
                    <a:avLst/>
                    <a:gdLst>
                      <a:gd name="T0" fmla="*/ 6 w 44"/>
                      <a:gd name="T1" fmla="*/ 32 h 32"/>
                      <a:gd name="T2" fmla="*/ 22 w 44"/>
                      <a:gd name="T3" fmla="*/ 0 h 32"/>
                      <a:gd name="T4" fmla="*/ 38 w 44"/>
                      <a:gd name="T5" fmla="*/ 4 h 32"/>
                      <a:gd name="T6" fmla="*/ 6 w 44"/>
                      <a:gd name="T7" fmla="*/ 32 h 32"/>
                    </a:gdLst>
                    <a:ahLst/>
                    <a:cxnLst>
                      <a:cxn ang="0">
                        <a:pos x="T0" y="T1"/>
                      </a:cxn>
                      <a:cxn ang="0">
                        <a:pos x="T2" y="T3"/>
                      </a:cxn>
                      <a:cxn ang="0">
                        <a:pos x="T4" y="T5"/>
                      </a:cxn>
                      <a:cxn ang="0">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5" name="Freeform 63"/>
                  <p:cNvSpPr/>
                  <p:nvPr/>
                </p:nvSpPr>
                <p:spPr bwMode="ltGray">
                  <a:xfrm>
                    <a:off x="1340" y="337"/>
                    <a:ext cx="39" cy="6"/>
                  </a:xfrm>
                  <a:custGeom>
                    <a:avLst/>
                    <a:gdLst>
                      <a:gd name="T0" fmla="*/ 37 w 76"/>
                      <a:gd name="T1" fmla="*/ 18 h 18"/>
                      <a:gd name="T2" fmla="*/ 25 w 76"/>
                      <a:gd name="T3" fmla="*/ 2 h 18"/>
                      <a:gd name="T4" fmla="*/ 37 w 76"/>
                      <a:gd name="T5" fmla="*/ 18 h 18"/>
                    </a:gdLst>
                    <a:ahLst/>
                    <a:cxnLst>
                      <a:cxn ang="0">
                        <a:pos x="T0" y="T1"/>
                      </a:cxn>
                      <a:cxn ang="0">
                        <a:pos x="T2" y="T3"/>
                      </a:cxn>
                      <a:cxn ang="0">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6" name="Freeform 64"/>
                  <p:cNvSpPr/>
                  <p:nvPr/>
                </p:nvSpPr>
                <p:spPr bwMode="ltGray">
                  <a:xfrm>
                    <a:off x="1395" y="336"/>
                    <a:ext cx="18" cy="15"/>
                  </a:xfrm>
                  <a:custGeom>
                    <a:avLst/>
                    <a:gdLst>
                      <a:gd name="T0" fmla="*/ 0 w 42"/>
                      <a:gd name="T1" fmla="*/ 21 h 44"/>
                      <a:gd name="T2" fmla="*/ 12 w 42"/>
                      <a:gd name="T3" fmla="*/ 9 h 44"/>
                      <a:gd name="T4" fmla="*/ 0 w 42"/>
                      <a:gd name="T5" fmla="*/ 21 h 44"/>
                    </a:gdLst>
                    <a:ahLst/>
                    <a:cxnLst>
                      <a:cxn ang="0">
                        <a:pos x="T0" y="T1"/>
                      </a:cxn>
                      <a:cxn ang="0">
                        <a:pos x="T2" y="T3"/>
                      </a:cxn>
                      <a:cxn ang="0">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57" name="Freeform 65"/>
                  <p:cNvSpPr/>
                  <p:nvPr/>
                </p:nvSpPr>
                <p:spPr bwMode="ltGray">
                  <a:xfrm>
                    <a:off x="1248" y="295"/>
                    <a:ext cx="14" cy="10"/>
                  </a:xfrm>
                  <a:custGeom>
                    <a:avLst/>
                    <a:gdLst>
                      <a:gd name="T0" fmla="*/ 7 w 31"/>
                      <a:gd name="T1" fmla="*/ 22 h 30"/>
                      <a:gd name="T2" fmla="*/ 31 w 31"/>
                      <a:gd name="T3" fmla="*/ 10 h 30"/>
                      <a:gd name="T4" fmla="*/ 7 w 31"/>
                      <a:gd name="T5" fmla="*/ 22 h 30"/>
                    </a:gdLst>
                    <a:ahLst/>
                    <a:cxnLst>
                      <a:cxn ang="0">
                        <a:pos x="T0" y="T1"/>
                      </a:cxn>
                      <a:cxn ang="0">
                        <a:pos x="T2" y="T3"/>
                      </a:cxn>
                      <a:cxn ang="0">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83038" name="Group 66"/>
                <p:cNvGrpSpPr/>
                <p:nvPr/>
              </p:nvGrpSpPr>
              <p:grpSpPr>
                <a:xfrm>
                  <a:off x="3709" y="240"/>
                  <a:ext cx="1139" cy="429"/>
                  <a:chOff x="3709" y="240"/>
                  <a:chExt cx="1139" cy="429"/>
                </a:xfrm>
              </p:grpSpPr>
              <p:sp>
                <p:nvSpPr>
                  <p:cNvPr id="85059" name="Freeform 67"/>
                  <p:cNvSpPr/>
                  <p:nvPr/>
                </p:nvSpPr>
                <p:spPr bwMode="ltGray">
                  <a:xfrm>
                    <a:off x="4808" y="616"/>
                    <a:ext cx="39"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Lst>
                    <a:ahLst/>
                    <a:cxnLst>
                      <a:cxn ang="0">
                        <a:pos x="T0" y="T1"/>
                      </a:cxn>
                      <a:cxn ang="0">
                        <a:pos x="T2" y="T3"/>
                      </a:cxn>
                      <a:cxn ang="0">
                        <a:pos x="T4" y="T5"/>
                      </a:cxn>
                      <a:cxn ang="0">
                        <a:pos x="T6" y="T7"/>
                      </a:cxn>
                      <a:cxn ang="0">
                        <a:pos x="T8" y="T9"/>
                      </a:cxn>
                      <a:cxn ang="0">
                        <a:pos x="T10" y="T11"/>
                      </a:cxn>
                      <a:cxn ang="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0" name="Freeform 68"/>
                  <p:cNvSpPr/>
                  <p:nvPr/>
                </p:nvSpPr>
                <p:spPr bwMode="ltGray">
                  <a:xfrm>
                    <a:off x="4655" y="629"/>
                    <a:ext cx="39" cy="5"/>
                  </a:xfrm>
                  <a:custGeom>
                    <a:avLst/>
                    <a:gdLst>
                      <a:gd name="T0" fmla="*/ 15 w 25"/>
                      <a:gd name="T1" fmla="*/ 16 h 16"/>
                      <a:gd name="T2" fmla="*/ 3 w 25"/>
                      <a:gd name="T3" fmla="*/ 8 h 16"/>
                      <a:gd name="T4" fmla="*/ 15 w 25"/>
                      <a:gd name="T5" fmla="*/ 0 h 16"/>
                      <a:gd name="T6" fmla="*/ 15 w 25"/>
                      <a:gd name="T7" fmla="*/ 16 h 16"/>
                    </a:gdLst>
                    <a:ahLst/>
                    <a:cxnLst>
                      <a:cxn ang="0">
                        <a:pos x="T0" y="T1"/>
                      </a:cxn>
                      <a:cxn ang="0">
                        <a:pos x="T2" y="T3"/>
                      </a:cxn>
                      <a:cxn ang="0">
                        <a:pos x="T4" y="T5"/>
                      </a:cxn>
                      <a:cxn ang="0">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1" name="Freeform 69"/>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2" name="Freeform 70"/>
                  <p:cNvSpPr/>
                  <p:nvPr/>
                </p:nvSpPr>
                <p:spPr bwMode="ltGray">
                  <a:xfrm>
                    <a:off x="4580" y="634"/>
                    <a:ext cx="3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3" name="Freeform 71"/>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4" name="Freeform 72"/>
                  <p:cNvSpPr/>
                  <p:nvPr/>
                </p:nvSpPr>
                <p:spPr bwMode="ltGray">
                  <a:xfrm>
                    <a:off x="4524" y="541"/>
                    <a:ext cx="39"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5" name="Freeform 73"/>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6" name="Freeform 74"/>
                  <p:cNvSpPr/>
                  <p:nvPr/>
                </p:nvSpPr>
                <p:spPr bwMode="ltGray">
                  <a:xfrm>
                    <a:off x="4578" y="588"/>
                    <a:ext cx="39"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7" name="Freeform 75"/>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8" name="Freeform 76"/>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Lst>
                    <a:ahLst/>
                    <a:cxnLst>
                      <a:cxn ang="0">
                        <a:pos x="T0" y="T1"/>
                      </a:cxn>
                      <a:cxn ang="0">
                        <a:pos x="T2" y="T3"/>
                      </a:cxn>
                      <a:cxn ang="0">
                        <a:pos x="T4" y="T5"/>
                      </a:cxn>
                      <a:cxn ang="0">
                        <a:pos x="T6" y="T7"/>
                      </a:cxn>
                      <a:cxn ang="0">
                        <a:pos x="T8" y="T9"/>
                      </a:cxn>
                      <a:cxn ang="0">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69" name="Freeform 77"/>
                  <p:cNvSpPr/>
                  <p:nvPr/>
                </p:nvSpPr>
                <p:spPr bwMode="ltGray">
                  <a:xfrm>
                    <a:off x="4657" y="585"/>
                    <a:ext cx="39"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0" name="Freeform 78"/>
                  <p:cNvSpPr/>
                  <p:nvPr/>
                </p:nvSpPr>
                <p:spPr bwMode="ltGray">
                  <a:xfrm>
                    <a:off x="4679" y="593"/>
                    <a:ext cx="116"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1" name="Freeform 79"/>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2" name="Freeform 80"/>
                  <p:cNvSpPr/>
                  <p:nvPr/>
                </p:nvSpPr>
                <p:spPr bwMode="ltGray">
                  <a:xfrm>
                    <a:off x="4840" y="544"/>
                    <a:ext cx="8" cy="6"/>
                  </a:xfrm>
                  <a:custGeom>
                    <a:avLst/>
                    <a:gdLst>
                      <a:gd name="T0" fmla="*/ 3 w 17"/>
                      <a:gd name="T1" fmla="*/ 4 h 18"/>
                      <a:gd name="T2" fmla="*/ 3 w 17"/>
                      <a:gd name="T3" fmla="*/ 14 h 18"/>
                      <a:gd name="T4" fmla="*/ 3 w 17"/>
                      <a:gd name="T5" fmla="*/ 4 h 18"/>
                    </a:gdLst>
                    <a:ahLst/>
                    <a:cxnLst>
                      <a:cxn ang="0">
                        <a:pos x="T0" y="T1"/>
                      </a:cxn>
                      <a:cxn ang="0">
                        <a:pos x="T2" y="T3"/>
                      </a:cxn>
                      <a:cxn ang="0">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3" name="Freeform 81"/>
                  <p:cNvSpPr/>
                  <p:nvPr/>
                </p:nvSpPr>
                <p:spPr bwMode="ltGray">
                  <a:xfrm>
                    <a:off x="4757" y="494"/>
                    <a:ext cx="8" cy="5"/>
                  </a:xfrm>
                  <a:custGeom>
                    <a:avLst/>
                    <a:gdLst>
                      <a:gd name="T0" fmla="*/ 7 w 20"/>
                      <a:gd name="T1" fmla="*/ 12 h 15"/>
                      <a:gd name="T2" fmla="*/ 17 w 20"/>
                      <a:gd name="T3" fmla="*/ 2 h 15"/>
                      <a:gd name="T4" fmla="*/ 9 w 20"/>
                      <a:gd name="T5" fmla="*/ 12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4" name="Freeform 82"/>
                  <p:cNvSpPr/>
                  <p:nvPr/>
                </p:nvSpPr>
                <p:spPr bwMode="ltGray">
                  <a:xfrm>
                    <a:off x="4679" y="536"/>
                    <a:ext cx="8" cy="5"/>
                  </a:xfrm>
                  <a:custGeom>
                    <a:avLst/>
                    <a:gdLst>
                      <a:gd name="T0" fmla="*/ 7 w 20"/>
                      <a:gd name="T1" fmla="*/ 12 h 15"/>
                      <a:gd name="T2" fmla="*/ 15 w 20"/>
                      <a:gd name="T3" fmla="*/ 2 h 15"/>
                      <a:gd name="T4" fmla="*/ 15 w 20"/>
                      <a:gd name="T5" fmla="*/ 14 h 15"/>
                      <a:gd name="T6" fmla="*/ 7 w 20"/>
                      <a:gd name="T7" fmla="*/ 12 h 15"/>
                    </a:gdLst>
                    <a:ahLst/>
                    <a:cxnLst>
                      <a:cxn ang="0">
                        <a:pos x="T0" y="T1"/>
                      </a:cxn>
                      <a:cxn ang="0">
                        <a:pos x="T2" y="T3"/>
                      </a:cxn>
                      <a:cxn ang="0">
                        <a:pos x="T4" y="T5"/>
                      </a:cxn>
                      <a:cxn ang="0">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5" name="Freeform 83"/>
                  <p:cNvSpPr/>
                  <p:nvPr/>
                </p:nvSpPr>
                <p:spPr bwMode="ltGray">
                  <a:xfrm>
                    <a:off x="4602"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6" name="Freeform 84"/>
                  <p:cNvSpPr/>
                  <p:nvPr/>
                </p:nvSpPr>
                <p:spPr bwMode="ltGray">
                  <a:xfrm>
                    <a:off x="4602" y="466"/>
                    <a:ext cx="39"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7" name="Freeform 85"/>
                  <p:cNvSpPr/>
                  <p:nvPr/>
                </p:nvSpPr>
                <p:spPr bwMode="ltGray">
                  <a:xfrm>
                    <a:off x="4602"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8" name="Freeform 86"/>
                  <p:cNvSpPr/>
                  <p:nvPr/>
                </p:nvSpPr>
                <p:spPr bwMode="ltGray">
                  <a:xfrm>
                    <a:off x="4569" y="512"/>
                    <a:ext cx="3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Lst>
                    <a:ahLst/>
                    <a:cxnLst>
                      <a:cxn ang="0">
                        <a:pos x="T0" y="T1"/>
                      </a:cxn>
                      <a:cxn ang="0">
                        <a:pos x="T2" y="T3"/>
                      </a:cxn>
                      <a:cxn ang="0">
                        <a:pos x="T4" y="T5"/>
                      </a:cxn>
                      <a:cxn ang="0">
                        <a:pos x="T6" y="T7"/>
                      </a:cxn>
                      <a:cxn ang="0">
                        <a:pos x="T8" y="T9"/>
                      </a:cxn>
                      <a:cxn ang="0">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79" name="Freeform 87"/>
                  <p:cNvSpPr/>
                  <p:nvPr/>
                </p:nvSpPr>
                <p:spPr bwMode="ltGray">
                  <a:xfrm>
                    <a:off x="4784" y="275"/>
                    <a:ext cx="18" cy="10"/>
                  </a:xfrm>
                  <a:custGeom>
                    <a:avLst/>
                    <a:gdLst>
                      <a:gd name="T0" fmla="*/ 0 w 41"/>
                      <a:gd name="T1" fmla="*/ 25 h 29"/>
                      <a:gd name="T2" fmla="*/ 12 w 41"/>
                      <a:gd name="T3" fmla="*/ 29 h 29"/>
                      <a:gd name="T4" fmla="*/ 0 w 41"/>
                      <a:gd name="T5" fmla="*/ 25 h 29"/>
                    </a:gdLst>
                    <a:ahLst/>
                    <a:cxnLst>
                      <a:cxn ang="0">
                        <a:pos x="T0" y="T1"/>
                      </a:cxn>
                      <a:cxn ang="0">
                        <a:pos x="T2" y="T3"/>
                      </a:cxn>
                      <a:cxn ang="0">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0" name="Freeform 88"/>
                  <p:cNvSpPr/>
                  <p:nvPr/>
                </p:nvSpPr>
                <p:spPr bwMode="ltGray">
                  <a:xfrm>
                    <a:off x="4293" y="246"/>
                    <a:ext cx="426"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1" name="Freeform 89"/>
                  <p:cNvSpPr/>
                  <p:nvPr/>
                </p:nvSpPr>
                <p:spPr bwMode="ltGray">
                  <a:xfrm>
                    <a:off x="4731" y="240"/>
                    <a:ext cx="39"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2" name="Freeform 90"/>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3" name="Freeform 91"/>
                  <p:cNvSpPr/>
                  <p:nvPr/>
                </p:nvSpPr>
                <p:spPr bwMode="ltGray">
                  <a:xfrm>
                    <a:off x="4656" y="319"/>
                    <a:ext cx="116"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4" name="Freeform 92"/>
                  <p:cNvSpPr/>
                  <p:nvPr/>
                </p:nvSpPr>
                <p:spPr bwMode="ltGray">
                  <a:xfrm>
                    <a:off x="4709" y="340"/>
                    <a:ext cx="6" cy="4"/>
                  </a:xfrm>
                  <a:custGeom>
                    <a:avLst/>
                    <a:gdLst>
                      <a:gd name="T0" fmla="*/ 0 w 13"/>
                      <a:gd name="T1" fmla="*/ 9 h 13"/>
                      <a:gd name="T2" fmla="*/ 4 w 13"/>
                      <a:gd name="T3" fmla="*/ 13 h 13"/>
                      <a:gd name="T4" fmla="*/ 0 w 13"/>
                      <a:gd name="T5" fmla="*/ 9 h 13"/>
                    </a:gdLst>
                    <a:ahLst/>
                    <a:cxnLst>
                      <a:cxn ang="0">
                        <a:pos x="T0" y="T1"/>
                      </a:cxn>
                      <a:cxn ang="0">
                        <a:pos x="T2" y="T3"/>
                      </a:cxn>
                      <a:cxn ang="0">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5" name="Freeform 93"/>
                  <p:cNvSpPr/>
                  <p:nvPr/>
                </p:nvSpPr>
                <p:spPr bwMode="ltGray">
                  <a:xfrm>
                    <a:off x="4261" y="389"/>
                    <a:ext cx="349"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6" name="Freeform 94"/>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Lst>
                    <a:ahLst/>
                    <a:cxnLst>
                      <a:cxn ang="0">
                        <a:pos x="T0" y="T1"/>
                      </a:cxn>
                      <a:cxn ang="0">
                        <a:pos x="T2" y="T3"/>
                      </a:cxn>
                      <a:cxn ang="0">
                        <a:pos x="T4" y="T5"/>
                      </a:cxn>
                      <a:cxn ang="0">
                        <a:pos x="T6" y="T7"/>
                      </a:cxn>
                      <a:cxn ang="0">
                        <a:pos x="T8" y="T9"/>
                      </a:cxn>
                      <a:cxn ang="0">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7" name="Freeform 95"/>
                  <p:cNvSpPr/>
                  <p:nvPr/>
                </p:nvSpPr>
                <p:spPr bwMode="ltGray">
                  <a:xfrm>
                    <a:off x="4602"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8" name="Freeform 96"/>
                  <p:cNvSpPr/>
                  <p:nvPr/>
                </p:nvSpPr>
                <p:spPr bwMode="ltGray">
                  <a:xfrm>
                    <a:off x="4639" y="409"/>
                    <a:ext cx="9" cy="10"/>
                  </a:xfrm>
                  <a:custGeom>
                    <a:avLst/>
                    <a:gdLst>
                      <a:gd name="T0" fmla="*/ 7 w 20"/>
                      <a:gd name="T1" fmla="*/ 16 h 30"/>
                      <a:gd name="T2" fmla="*/ 5 w 20"/>
                      <a:gd name="T3" fmla="*/ 30 h 30"/>
                      <a:gd name="T4" fmla="*/ 7 w 20"/>
                      <a:gd name="T5" fmla="*/ 16 h 30"/>
                    </a:gdLst>
                    <a:ahLst/>
                    <a:cxnLst>
                      <a:cxn ang="0">
                        <a:pos x="T0" y="T1"/>
                      </a:cxn>
                      <a:cxn ang="0">
                        <a:pos x="T2" y="T3"/>
                      </a:cxn>
                      <a:cxn ang="0">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89" name="Freeform 97"/>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0" name="Freeform 98"/>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1" name="Freeform 99"/>
                  <p:cNvSpPr/>
                  <p:nvPr/>
                </p:nvSpPr>
                <p:spPr bwMode="ltGray">
                  <a:xfrm>
                    <a:off x="4164" y="611"/>
                    <a:ext cx="7" cy="12"/>
                  </a:xfrm>
                  <a:custGeom>
                    <a:avLst/>
                    <a:gdLst>
                      <a:gd name="T0" fmla="*/ 7 w 19"/>
                      <a:gd name="T1" fmla="*/ 25 h 37"/>
                      <a:gd name="T2" fmla="*/ 19 w 19"/>
                      <a:gd name="T3" fmla="*/ 21 h 37"/>
                      <a:gd name="T4" fmla="*/ 7 w 19"/>
                      <a:gd name="T5" fmla="*/ 25 h 37"/>
                    </a:gdLst>
                    <a:ahLst/>
                    <a:cxnLst>
                      <a:cxn ang="0">
                        <a:pos x="T0" y="T1"/>
                      </a:cxn>
                      <a:cxn ang="0">
                        <a:pos x="T2" y="T3"/>
                      </a:cxn>
                      <a:cxn ang="0">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2" name="Freeform 100"/>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Lst>
                    <a:ahLst/>
                    <a:cxnLst>
                      <a:cxn ang="0">
                        <a:pos x="T0" y="T1"/>
                      </a:cxn>
                      <a:cxn ang="0">
                        <a:pos x="T2" y="T3"/>
                      </a:cxn>
                      <a:cxn ang="0">
                        <a:pos x="T4" y="T5"/>
                      </a:cxn>
                      <a:cxn ang="0">
                        <a:pos x="T6" y="T7"/>
                      </a:cxn>
                      <a:cxn ang="0">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3" name="Freeform 101"/>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Lst>
                    <a:ahLst/>
                    <a:cxnLst>
                      <a:cxn ang="0">
                        <a:pos x="T0" y="T1"/>
                      </a:cxn>
                      <a:cxn ang="0">
                        <a:pos x="T2" y="T3"/>
                      </a:cxn>
                      <a:cxn ang="0">
                        <a:pos x="T4" y="T5"/>
                      </a:cxn>
                      <a:cxn ang="0">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4" name="Freeform 102"/>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5" name="Freeform 103"/>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6" name="Freeform 104"/>
                  <p:cNvSpPr/>
                  <p:nvPr/>
                </p:nvSpPr>
                <p:spPr bwMode="ltGray">
                  <a:xfrm>
                    <a:off x="3982" y="282"/>
                    <a:ext cx="13" cy="10"/>
                  </a:xfrm>
                  <a:custGeom>
                    <a:avLst/>
                    <a:gdLst>
                      <a:gd name="T0" fmla="*/ 3 w 31"/>
                      <a:gd name="T1" fmla="*/ 28 h 30"/>
                      <a:gd name="T2" fmla="*/ 31 w 31"/>
                      <a:gd name="T3" fmla="*/ 0 h 30"/>
                      <a:gd name="T4" fmla="*/ 19 w 31"/>
                      <a:gd name="T5" fmla="*/ 24 h 30"/>
                      <a:gd name="T6" fmla="*/ 3 w 31"/>
                      <a:gd name="T7" fmla="*/ 28 h 30"/>
                    </a:gdLst>
                    <a:ahLst/>
                    <a:cxnLst>
                      <a:cxn ang="0">
                        <a:pos x="T0" y="T1"/>
                      </a:cxn>
                      <a:cxn ang="0">
                        <a:pos x="T2" y="T3"/>
                      </a:cxn>
                      <a:cxn ang="0">
                        <a:pos x="T4" y="T5"/>
                      </a:cxn>
                      <a:cxn ang="0">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7" name="Freeform 105"/>
                  <p:cNvSpPr/>
                  <p:nvPr/>
                </p:nvSpPr>
                <p:spPr bwMode="ltGray">
                  <a:xfrm>
                    <a:off x="3966" y="296"/>
                    <a:ext cx="39" cy="11"/>
                  </a:xfrm>
                  <a:custGeom>
                    <a:avLst/>
                    <a:gdLst>
                      <a:gd name="T0" fmla="*/ 6 w 44"/>
                      <a:gd name="T1" fmla="*/ 32 h 32"/>
                      <a:gd name="T2" fmla="*/ 22 w 44"/>
                      <a:gd name="T3" fmla="*/ 0 h 32"/>
                      <a:gd name="T4" fmla="*/ 38 w 44"/>
                      <a:gd name="T5" fmla="*/ 4 h 32"/>
                      <a:gd name="T6" fmla="*/ 6 w 44"/>
                      <a:gd name="T7" fmla="*/ 32 h 32"/>
                    </a:gdLst>
                    <a:ahLst/>
                    <a:cxnLst>
                      <a:cxn ang="0">
                        <a:pos x="T0" y="T1"/>
                      </a:cxn>
                      <a:cxn ang="0">
                        <a:pos x="T2" y="T3"/>
                      </a:cxn>
                      <a:cxn ang="0">
                        <a:pos x="T4" y="T5"/>
                      </a:cxn>
                      <a:cxn ang="0">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8" name="Freeform 106"/>
                  <p:cNvSpPr/>
                  <p:nvPr/>
                </p:nvSpPr>
                <p:spPr bwMode="ltGray">
                  <a:xfrm>
                    <a:off x="4028" y="337"/>
                    <a:ext cx="39" cy="6"/>
                  </a:xfrm>
                  <a:custGeom>
                    <a:avLst/>
                    <a:gdLst>
                      <a:gd name="T0" fmla="*/ 37 w 76"/>
                      <a:gd name="T1" fmla="*/ 18 h 18"/>
                      <a:gd name="T2" fmla="*/ 25 w 76"/>
                      <a:gd name="T3" fmla="*/ 2 h 18"/>
                      <a:gd name="T4" fmla="*/ 37 w 76"/>
                      <a:gd name="T5" fmla="*/ 18 h 18"/>
                    </a:gdLst>
                    <a:ahLst/>
                    <a:cxnLst>
                      <a:cxn ang="0">
                        <a:pos x="T0" y="T1"/>
                      </a:cxn>
                      <a:cxn ang="0">
                        <a:pos x="T2" y="T3"/>
                      </a:cxn>
                      <a:cxn ang="0">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099" name="Freeform 107"/>
                  <p:cNvSpPr/>
                  <p:nvPr/>
                </p:nvSpPr>
                <p:spPr bwMode="ltGray">
                  <a:xfrm>
                    <a:off x="4083" y="336"/>
                    <a:ext cx="18" cy="15"/>
                  </a:xfrm>
                  <a:custGeom>
                    <a:avLst/>
                    <a:gdLst>
                      <a:gd name="T0" fmla="*/ 0 w 42"/>
                      <a:gd name="T1" fmla="*/ 21 h 44"/>
                      <a:gd name="T2" fmla="*/ 12 w 42"/>
                      <a:gd name="T3" fmla="*/ 9 h 44"/>
                      <a:gd name="T4" fmla="*/ 0 w 42"/>
                      <a:gd name="T5" fmla="*/ 21 h 44"/>
                    </a:gdLst>
                    <a:ahLst/>
                    <a:cxnLst>
                      <a:cxn ang="0">
                        <a:pos x="T0" y="T1"/>
                      </a:cxn>
                      <a:cxn ang="0">
                        <a:pos x="T2" y="T3"/>
                      </a:cxn>
                      <a:cxn ang="0">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0" name="Freeform 108"/>
                  <p:cNvSpPr/>
                  <p:nvPr/>
                </p:nvSpPr>
                <p:spPr bwMode="ltGray">
                  <a:xfrm>
                    <a:off x="3936" y="295"/>
                    <a:ext cx="14" cy="10"/>
                  </a:xfrm>
                  <a:custGeom>
                    <a:avLst/>
                    <a:gdLst>
                      <a:gd name="T0" fmla="*/ 7 w 31"/>
                      <a:gd name="T1" fmla="*/ 22 h 30"/>
                      <a:gd name="T2" fmla="*/ 31 w 31"/>
                      <a:gd name="T3" fmla="*/ 10 h 30"/>
                      <a:gd name="T4" fmla="*/ 7 w 31"/>
                      <a:gd name="T5" fmla="*/ 22 h 30"/>
                    </a:gdLst>
                    <a:ahLst/>
                    <a:cxnLst>
                      <a:cxn ang="0">
                        <a:pos x="T0" y="T1"/>
                      </a:cxn>
                      <a:cxn ang="0">
                        <a:pos x="T2" y="T3"/>
                      </a:cxn>
                      <a:cxn ang="0">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grpSp>
            <p:nvGrpSpPr>
              <p:cNvPr id="383081" name="Group 109"/>
              <p:cNvGrpSpPr/>
              <p:nvPr/>
            </p:nvGrpSpPr>
            <p:grpSpPr>
              <a:xfrm>
                <a:off x="798" y="111"/>
                <a:ext cx="4702" cy="418"/>
                <a:chOff x="798" y="255"/>
                <a:chExt cx="4702" cy="418"/>
              </a:xfrm>
            </p:grpSpPr>
            <p:sp>
              <p:nvSpPr>
                <p:cNvPr id="85102" name="Line 110"/>
                <p:cNvSpPr>
                  <a:spLocks noChangeShapeType="1"/>
                </p:cNvSpPr>
                <p:nvPr/>
              </p:nvSpPr>
              <p:spPr bwMode="white">
                <a:xfrm>
                  <a:off x="798" y="476"/>
                  <a:ext cx="4702" cy="0"/>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3" name="Line 111"/>
                <p:cNvSpPr>
                  <a:spLocks noChangeShapeType="1"/>
                </p:cNvSpPr>
                <p:nvPr/>
              </p:nvSpPr>
              <p:spPr bwMode="white">
                <a:xfrm>
                  <a:off x="102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4" name="Line 112"/>
                <p:cNvSpPr>
                  <a:spLocks noChangeShapeType="1"/>
                </p:cNvSpPr>
                <p:nvPr/>
              </p:nvSpPr>
              <p:spPr bwMode="white">
                <a:xfrm>
                  <a:off x="125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5" name="Line 113"/>
                <p:cNvSpPr>
                  <a:spLocks noChangeShapeType="1"/>
                </p:cNvSpPr>
                <p:nvPr/>
              </p:nvSpPr>
              <p:spPr bwMode="white">
                <a:xfrm>
                  <a:off x="148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6" name="Line 114"/>
                <p:cNvSpPr>
                  <a:spLocks noChangeShapeType="1"/>
                </p:cNvSpPr>
                <p:nvPr/>
              </p:nvSpPr>
              <p:spPr bwMode="white">
                <a:xfrm>
                  <a:off x="171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7" name="Line 115"/>
                <p:cNvSpPr>
                  <a:spLocks noChangeShapeType="1"/>
                </p:cNvSpPr>
                <p:nvPr/>
              </p:nvSpPr>
              <p:spPr bwMode="white">
                <a:xfrm>
                  <a:off x="193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8" name="Line 116"/>
                <p:cNvSpPr>
                  <a:spLocks noChangeShapeType="1"/>
                </p:cNvSpPr>
                <p:nvPr/>
              </p:nvSpPr>
              <p:spPr bwMode="white">
                <a:xfrm>
                  <a:off x="216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09" name="Line 117"/>
                <p:cNvSpPr>
                  <a:spLocks noChangeShapeType="1"/>
                </p:cNvSpPr>
                <p:nvPr/>
              </p:nvSpPr>
              <p:spPr bwMode="white">
                <a:xfrm>
                  <a:off x="239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0" name="Line 118"/>
                <p:cNvSpPr>
                  <a:spLocks noChangeShapeType="1"/>
                </p:cNvSpPr>
                <p:nvPr/>
              </p:nvSpPr>
              <p:spPr bwMode="white">
                <a:xfrm>
                  <a:off x="262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1" name="Line 119"/>
                <p:cNvSpPr>
                  <a:spLocks noChangeShapeType="1"/>
                </p:cNvSpPr>
                <p:nvPr/>
              </p:nvSpPr>
              <p:spPr bwMode="white">
                <a:xfrm>
                  <a:off x="285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2" name="Line 120"/>
                <p:cNvSpPr>
                  <a:spLocks noChangeShapeType="1"/>
                </p:cNvSpPr>
                <p:nvPr/>
              </p:nvSpPr>
              <p:spPr bwMode="white">
                <a:xfrm>
                  <a:off x="307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3" name="Line 121"/>
                <p:cNvSpPr>
                  <a:spLocks noChangeShapeType="1"/>
                </p:cNvSpPr>
                <p:nvPr/>
              </p:nvSpPr>
              <p:spPr bwMode="white">
                <a:xfrm>
                  <a:off x="330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4" name="Line 122"/>
                <p:cNvSpPr>
                  <a:spLocks noChangeShapeType="1"/>
                </p:cNvSpPr>
                <p:nvPr/>
              </p:nvSpPr>
              <p:spPr bwMode="white">
                <a:xfrm>
                  <a:off x="353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5" name="Line 123"/>
                <p:cNvSpPr>
                  <a:spLocks noChangeShapeType="1"/>
                </p:cNvSpPr>
                <p:nvPr/>
              </p:nvSpPr>
              <p:spPr bwMode="white">
                <a:xfrm>
                  <a:off x="376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6" name="Line 124"/>
                <p:cNvSpPr>
                  <a:spLocks noChangeShapeType="1"/>
                </p:cNvSpPr>
                <p:nvPr/>
              </p:nvSpPr>
              <p:spPr bwMode="white">
                <a:xfrm>
                  <a:off x="399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7" name="Line 125"/>
                <p:cNvSpPr>
                  <a:spLocks noChangeShapeType="1"/>
                </p:cNvSpPr>
                <p:nvPr/>
              </p:nvSpPr>
              <p:spPr bwMode="white">
                <a:xfrm>
                  <a:off x="421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8" name="Line 126"/>
                <p:cNvSpPr>
                  <a:spLocks noChangeShapeType="1"/>
                </p:cNvSpPr>
                <p:nvPr/>
              </p:nvSpPr>
              <p:spPr bwMode="white">
                <a:xfrm>
                  <a:off x="4446"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19" name="Line 127"/>
                <p:cNvSpPr>
                  <a:spLocks noChangeShapeType="1"/>
                </p:cNvSpPr>
                <p:nvPr/>
              </p:nvSpPr>
              <p:spPr bwMode="white">
                <a:xfrm>
                  <a:off x="4674"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0" name="Line 128"/>
                <p:cNvSpPr>
                  <a:spLocks noChangeShapeType="1"/>
                </p:cNvSpPr>
                <p:nvPr/>
              </p:nvSpPr>
              <p:spPr bwMode="white">
                <a:xfrm>
                  <a:off x="4902"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1" name="Line 129"/>
                <p:cNvSpPr>
                  <a:spLocks noChangeShapeType="1"/>
                </p:cNvSpPr>
                <p:nvPr/>
              </p:nvSpPr>
              <p:spPr bwMode="white">
                <a:xfrm>
                  <a:off x="5130"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2" name="Line 130"/>
                <p:cNvSpPr>
                  <a:spLocks noChangeShapeType="1"/>
                </p:cNvSpPr>
                <p:nvPr/>
              </p:nvSpPr>
              <p:spPr bwMode="white">
                <a:xfrm>
                  <a:off x="5358" y="255"/>
                  <a:ext cx="0" cy="418"/>
                </a:xfrm>
                <a:prstGeom prst="line">
                  <a:avLst/>
                </a:prstGeom>
                <a:noFill/>
                <a:ln w="9525">
                  <a:solidFill>
                    <a:schemeClr val="fo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nvGrpSpPr>
              <p:cNvPr id="383103" name="Group 131"/>
              <p:cNvGrpSpPr/>
              <p:nvPr/>
            </p:nvGrpSpPr>
            <p:grpSpPr>
              <a:xfrm>
                <a:off x="1208" y="109"/>
                <a:ext cx="3694" cy="423"/>
                <a:chOff x="1034" y="245"/>
                <a:chExt cx="3694" cy="423"/>
              </a:xfrm>
            </p:grpSpPr>
            <p:sp>
              <p:nvSpPr>
                <p:cNvPr id="85124" name="Line 132"/>
                <p:cNvSpPr>
                  <a:spLocks noChangeShapeType="1"/>
                </p:cNvSpPr>
                <p:nvPr/>
              </p:nvSpPr>
              <p:spPr bwMode="ltGray">
                <a:xfrm>
                  <a:off x="2665" y="246"/>
                  <a:ext cx="0" cy="14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5" name="Line 133"/>
                <p:cNvSpPr>
                  <a:spLocks noChangeShapeType="1"/>
                </p:cNvSpPr>
                <p:nvPr/>
              </p:nvSpPr>
              <p:spPr bwMode="ltGray">
                <a:xfrm>
                  <a:off x="2798" y="468"/>
                  <a:ext cx="7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6" name="Line 134"/>
                <p:cNvSpPr>
                  <a:spLocks noChangeShapeType="1"/>
                </p:cNvSpPr>
                <p:nvPr/>
              </p:nvSpPr>
              <p:spPr bwMode="ltGray">
                <a:xfrm>
                  <a:off x="2897" y="486"/>
                  <a:ext cx="0" cy="28"/>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7" name="Line 135"/>
                <p:cNvSpPr>
                  <a:spLocks noChangeShapeType="1"/>
                </p:cNvSpPr>
                <p:nvPr/>
              </p:nvSpPr>
              <p:spPr bwMode="ltGray">
                <a:xfrm>
                  <a:off x="3130" y="586"/>
                  <a:ext cx="0" cy="79"/>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8" name="Line 136"/>
                <p:cNvSpPr>
                  <a:spLocks noChangeShapeType="1"/>
                </p:cNvSpPr>
                <p:nvPr/>
              </p:nvSpPr>
              <p:spPr bwMode="ltGray">
                <a:xfrm>
                  <a:off x="3816" y="358"/>
                  <a:ext cx="0" cy="18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29" name="Line 137"/>
                <p:cNvSpPr>
                  <a:spLocks noChangeShapeType="1"/>
                </p:cNvSpPr>
                <p:nvPr/>
              </p:nvSpPr>
              <p:spPr bwMode="ltGray">
                <a:xfrm>
                  <a:off x="3722" y="468"/>
                  <a:ext cx="34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0" name="Line 138"/>
                <p:cNvSpPr>
                  <a:spLocks noChangeShapeType="1"/>
                </p:cNvSpPr>
                <p:nvPr/>
              </p:nvSpPr>
              <p:spPr bwMode="ltGray">
                <a:xfrm>
                  <a:off x="4044" y="372"/>
                  <a:ext cx="0" cy="294"/>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1" name="Line 139"/>
                <p:cNvSpPr>
                  <a:spLocks noChangeShapeType="1"/>
                </p:cNvSpPr>
                <p:nvPr/>
              </p:nvSpPr>
              <p:spPr bwMode="ltGray">
                <a:xfrm flipV="1">
                  <a:off x="4046" y="248"/>
                  <a:ext cx="0" cy="5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2" name="Line 140"/>
                <p:cNvSpPr>
                  <a:spLocks noChangeShapeType="1"/>
                </p:cNvSpPr>
                <p:nvPr/>
              </p:nvSpPr>
              <p:spPr bwMode="ltGray">
                <a:xfrm flipV="1">
                  <a:off x="4272" y="246"/>
                  <a:ext cx="0" cy="18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3" name="Line 141"/>
                <p:cNvSpPr>
                  <a:spLocks noChangeShapeType="1"/>
                </p:cNvSpPr>
                <p:nvPr/>
              </p:nvSpPr>
              <p:spPr bwMode="ltGray">
                <a:xfrm flipH="1">
                  <a:off x="4422" y="468"/>
                  <a:ext cx="7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4" name="Line 142"/>
                <p:cNvSpPr>
                  <a:spLocks noChangeShapeType="1"/>
                </p:cNvSpPr>
                <p:nvPr/>
              </p:nvSpPr>
              <p:spPr bwMode="ltGray">
                <a:xfrm flipH="1">
                  <a:off x="4290" y="468"/>
                  <a:ext cx="62"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5" name="Line 143"/>
                <p:cNvSpPr>
                  <a:spLocks noChangeShapeType="1"/>
                </p:cNvSpPr>
                <p:nvPr/>
              </p:nvSpPr>
              <p:spPr bwMode="ltGray">
                <a:xfrm flipV="1">
                  <a:off x="4500" y="246"/>
                  <a:ext cx="0" cy="27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6" name="Line 144"/>
                <p:cNvSpPr>
                  <a:spLocks noChangeShapeType="1"/>
                </p:cNvSpPr>
                <p:nvPr/>
              </p:nvSpPr>
              <p:spPr bwMode="ltGray">
                <a:xfrm>
                  <a:off x="4728" y="606"/>
                  <a:ext cx="0" cy="34"/>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7" name="Line 145"/>
                <p:cNvSpPr>
                  <a:spLocks noChangeShapeType="1"/>
                </p:cNvSpPr>
                <p:nvPr/>
              </p:nvSpPr>
              <p:spPr bwMode="ltGray">
                <a:xfrm>
                  <a:off x="1967" y="250"/>
                  <a:ext cx="0" cy="6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8" name="Line 146"/>
                <p:cNvSpPr>
                  <a:spLocks noChangeShapeType="1"/>
                </p:cNvSpPr>
                <p:nvPr/>
              </p:nvSpPr>
              <p:spPr bwMode="ltGray">
                <a:xfrm>
                  <a:off x="1735" y="247"/>
                  <a:ext cx="0" cy="337"/>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39" name="Line 147"/>
                <p:cNvSpPr>
                  <a:spLocks noChangeShapeType="1"/>
                </p:cNvSpPr>
                <p:nvPr/>
              </p:nvSpPr>
              <p:spPr bwMode="ltGray">
                <a:xfrm flipH="1">
                  <a:off x="1735" y="468"/>
                  <a:ext cx="68"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0" name="Line 148"/>
                <p:cNvSpPr>
                  <a:spLocks noChangeShapeType="1"/>
                </p:cNvSpPr>
                <p:nvPr/>
              </p:nvSpPr>
              <p:spPr bwMode="ltGray">
                <a:xfrm>
                  <a:off x="1580" y="468"/>
                  <a:ext cx="6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1" name="Line 149"/>
                <p:cNvSpPr>
                  <a:spLocks noChangeShapeType="1"/>
                </p:cNvSpPr>
                <p:nvPr/>
              </p:nvSpPr>
              <p:spPr bwMode="ltGray">
                <a:xfrm flipH="1">
                  <a:off x="1404" y="468"/>
                  <a:ext cx="82"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2" name="Line 150"/>
                <p:cNvSpPr>
                  <a:spLocks noChangeShapeType="1"/>
                </p:cNvSpPr>
                <p:nvPr/>
              </p:nvSpPr>
              <p:spPr bwMode="ltGray">
                <a:xfrm>
                  <a:off x="1034" y="468"/>
                  <a:ext cx="349"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3" name="Line 151"/>
                <p:cNvSpPr>
                  <a:spLocks noChangeShapeType="1"/>
                </p:cNvSpPr>
                <p:nvPr/>
              </p:nvSpPr>
              <p:spPr bwMode="ltGray">
                <a:xfrm>
                  <a:off x="1306" y="370"/>
                  <a:ext cx="0" cy="298"/>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4" name="Line 152"/>
                <p:cNvSpPr>
                  <a:spLocks noChangeShapeType="1"/>
                </p:cNvSpPr>
                <p:nvPr/>
              </p:nvSpPr>
              <p:spPr bwMode="ltGray">
                <a:xfrm>
                  <a:off x="1080" y="388"/>
                  <a:ext cx="0" cy="156"/>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5" name="Line 153"/>
                <p:cNvSpPr>
                  <a:spLocks noChangeShapeType="1"/>
                </p:cNvSpPr>
                <p:nvPr/>
              </p:nvSpPr>
              <p:spPr bwMode="ltGray">
                <a:xfrm flipH="1" flipV="1">
                  <a:off x="1308" y="245"/>
                  <a:ext cx="0" cy="27"/>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6" name="Line 154"/>
                <p:cNvSpPr>
                  <a:spLocks noChangeShapeType="1"/>
                </p:cNvSpPr>
                <p:nvPr/>
              </p:nvSpPr>
              <p:spPr bwMode="ltGray">
                <a:xfrm>
                  <a:off x="1536" y="316"/>
                  <a:ext cx="0" cy="96"/>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7" name="Line 155"/>
                <p:cNvSpPr>
                  <a:spLocks noChangeShapeType="1"/>
                </p:cNvSpPr>
                <p:nvPr/>
              </p:nvSpPr>
              <p:spPr bwMode="ltGray">
                <a:xfrm flipV="1">
                  <a:off x="1536" y="247"/>
                  <a:ext cx="0" cy="22"/>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sp>
              <p:nvSpPr>
                <p:cNvPr id="85148" name="Line 156"/>
                <p:cNvSpPr>
                  <a:spLocks noChangeShapeType="1"/>
                </p:cNvSpPr>
                <p:nvPr/>
              </p:nvSpPr>
              <p:spPr bwMode="ltGray">
                <a:xfrm>
                  <a:off x="4095" y="467"/>
                  <a:ext cx="80" cy="0"/>
                </a:xfrm>
                <a:prstGeom prst="line">
                  <a:avLst/>
                </a:prstGeom>
                <a:noFill/>
                <a:ln w="9525">
                  <a:solidFill>
                    <a:schemeClr val="hlink"/>
                  </a:solidFill>
                  <a:round/>
                </a:ln>
                <a:effectLst/>
              </p:spPr>
              <p:txBody>
                <a:bodyPr wrap="none" anchor="ct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endParaRPr>
                </a:p>
              </p:txBody>
            </p:sp>
          </p:grpSp>
        </p:grpSp>
        <p:pic>
          <p:nvPicPr>
            <p:cNvPr id="383129" name="Picture 157" descr="earth"/>
            <p:cNvPicPr>
              <a:picLocks noChangeAspect="1"/>
            </p:cNvPicPr>
            <p:nvPr/>
          </p:nvPicPr>
          <p:blipFill>
            <a:blip r:embed="rId1">
              <a:clrChange>
                <a:clrFrom>
                  <a:srgbClr val="000000"/>
                </a:clrFrom>
                <a:clrTo>
                  <a:srgbClr val="000000">
                    <a:alpha val="0"/>
                  </a:srgbClr>
                </a:clrTo>
              </a:clrChange>
            </a:blip>
            <a:stretch>
              <a:fillRect/>
            </a:stretch>
          </p:blipFill>
          <p:spPr>
            <a:xfrm>
              <a:off x="165" y="55"/>
              <a:ext cx="562" cy="524"/>
            </a:xfrm>
            <a:prstGeom prst="rect">
              <a:avLst/>
            </a:prstGeom>
            <a:noFill/>
            <a:ln w="9525">
              <a:noFill/>
            </a:ln>
          </p:spPr>
        </p:pic>
      </p:grpSp>
      <p:sp>
        <p:nvSpPr>
          <p:cNvPr id="84994" name="Text Box 2"/>
          <p:cNvSpPr txBox="1"/>
          <p:nvPr/>
        </p:nvSpPr>
        <p:spPr>
          <a:xfrm>
            <a:off x="971550" y="2743200"/>
            <a:ext cx="7181850" cy="1555750"/>
          </a:xfrm>
          <a:prstGeom prst="rect">
            <a:avLst/>
          </a:prstGeom>
          <a:noFill/>
          <a:ln w="9525">
            <a:noFill/>
          </a:ln>
        </p:spPr>
        <p:txBody>
          <a:bodyPr anchor="t">
            <a:spAutoFit/>
          </a:bodyPr>
          <a:p>
            <a:pPr algn="ctr">
              <a:spcBef>
                <a:spcPct val="50000"/>
              </a:spcBef>
            </a:pPr>
            <a:r>
              <a:rPr lang="zh-CN" altLang="en-US" sz="9600" dirty="0">
                <a:solidFill>
                  <a:srgbClr val="FFFFFF"/>
                </a:solidFill>
                <a:latin typeface="Times New Roman" panose="02020603050405020304" pitchFamily="18" charset="0"/>
                <a:ea typeface="幼圆" panose="02010509060101010101" pitchFamily="49" charset="-122"/>
              </a:rPr>
              <a:t>谢谢！</a:t>
            </a:r>
            <a:endParaRPr lang="zh-CN" altLang="en-US" sz="9600" dirty="0">
              <a:solidFill>
                <a:srgbClr val="FFFFFF"/>
              </a:solidFill>
              <a:latin typeface="Times New Roman" panose="02020603050405020304" pitchFamily="18" charset="0"/>
              <a:ea typeface="幼圆" panose="02010509060101010101" pitchFamily="49" charset="-122"/>
            </a:endParaRPr>
          </a:p>
        </p:txBody>
      </p:sp>
      <p:graphicFrame>
        <p:nvGraphicFramePr>
          <p:cNvPr id="383131" name="Object 158"/>
          <p:cNvGraphicFramePr>
            <a:graphicFrameLocks noChangeAspect="1"/>
          </p:cNvGraphicFramePr>
          <p:nvPr/>
        </p:nvGraphicFramePr>
        <p:xfrm>
          <a:off x="3200400" y="152400"/>
          <a:ext cx="2514600" cy="685800"/>
        </p:xfrm>
        <a:graphic>
          <a:graphicData uri="http://schemas.openxmlformats.org/presentationml/2006/ole">
            <mc:AlternateContent xmlns:mc="http://schemas.openxmlformats.org/markup-compatibility/2006">
              <mc:Choice xmlns:v="urn:schemas-microsoft-com:vml" Requires="v">
                <p:oleObj spid="_x0000_s3079" name="" r:id="rId2" imgW="1409700" imgH="381000" progId="Paint.Picture">
                  <p:embed/>
                </p:oleObj>
              </mc:Choice>
              <mc:Fallback>
                <p:oleObj name="" r:id="rId2" imgW="1409700" imgH="381000" progId="Paint.Picture">
                  <p:embed/>
                  <p:pic>
                    <p:nvPicPr>
                      <p:cNvPr id="0" name="图片 3078"/>
                      <p:cNvPicPr/>
                      <p:nvPr/>
                    </p:nvPicPr>
                    <p:blipFill>
                      <a:blip r:embed="rId3">
                        <a:clrChange>
                          <a:clrFrom>
                            <a:srgbClr val="FFFFFF"/>
                          </a:clrFrom>
                          <a:clrTo>
                            <a:srgbClr val="FFFFFF">
                              <a:alpha val="0"/>
                            </a:srgbClr>
                          </a:clrTo>
                        </a:clrChange>
                      </a:blip>
                      <a:stretch>
                        <a:fillRect/>
                      </a:stretch>
                    </p:blipFill>
                    <p:spPr>
                      <a:xfrm>
                        <a:off x="3200400" y="152400"/>
                        <a:ext cx="2514600" cy="6858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afterEffect">
                                  <p:stCondLst>
                                    <p:cond delay="0"/>
                                  </p:stCondLst>
                                  <p:childTnLst>
                                    <p:set>
                                      <p:cBhvr>
                                        <p:cTn id="6" dur="1" fill="hold">
                                          <p:stCondLst>
                                            <p:cond delay="0"/>
                                          </p:stCondLst>
                                        </p:cTn>
                                        <p:tgtEl>
                                          <p:spTgt spid="84994"/>
                                        </p:tgtEl>
                                        <p:attrNameLst>
                                          <p:attrName>style.visibility</p:attrName>
                                        </p:attrNameLst>
                                      </p:cBhvr>
                                      <p:to>
                                        <p:strVal val="visible"/>
                                      </p:to>
                                    </p:set>
                                    <p:anim calcmode="lin" valueType="num">
                                      <p:cBhvr>
                                        <p:cTn id="7" dur="5000" fill="hold"/>
                                        <p:tgtEl>
                                          <p:spTgt spid="84994"/>
                                        </p:tgtEl>
                                        <p:attrNameLst>
                                          <p:attrName>ppt_w</p:attrName>
                                        </p:attrNameLst>
                                      </p:cBhvr>
                                      <p:tavLst>
                                        <p:tav tm="0" fmla="#ppt_w*sin(2.5*pi*$)">
                                          <p:val>
                                            <p:fltVal val="0.000000"/>
                                          </p:val>
                                        </p:tav>
                                        <p:tav tm="100000">
                                          <p:val>
                                            <p:fltVal val="1.000000"/>
                                          </p:val>
                                        </p:tav>
                                      </p:tavLst>
                                    </p:anim>
                                    <p:anim calcmode="lin" valueType="num">
                                      <p:cBhvr>
                                        <p:cTn id="8" dur="5000" fill="hold"/>
                                        <p:tgtEl>
                                          <p:spTgt spid="849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35" y="-63500"/>
            <a:ext cx="9142730" cy="4892675"/>
          </a:xfrm>
          <a:prstGeom prst="rect">
            <a:avLst/>
          </a:prstGeom>
          <a:noFill/>
        </p:spPr>
        <p:txBody>
          <a:bodyPr wrap="square" rtlCol="0" anchor="t">
            <a:spAutoFit/>
          </a:bodyPr>
          <a:p>
            <a:r>
              <a:rPr sz="2600"/>
              <a:t>5、</a:t>
            </a:r>
            <a:r>
              <a:rPr lang="zh-CN" sz="2600"/>
              <a:t>调试</a:t>
            </a:r>
            <a:r>
              <a:rPr lang="en-US" altLang="zh-CN" sz="2600"/>
              <a:t>PPT</a:t>
            </a:r>
            <a:r>
              <a:rPr lang="zh-CN" altLang="en-US" sz="2600"/>
              <a:t>中</a:t>
            </a:r>
            <a:r>
              <a:rPr lang="zh-CN" sz="2600"/>
              <a:t>装饰模式例子</a:t>
            </a:r>
            <a:r>
              <a:rPr sz="2600"/>
              <a:t>。</a:t>
            </a:r>
            <a:endParaRPr sz="2600"/>
          </a:p>
          <a:p>
            <a:r>
              <a:rPr sz="2600"/>
              <a:t>（1）</a:t>
            </a:r>
            <a:r>
              <a:rPr lang="zh-CN" sz="2600"/>
              <a:t>继承体系可以简化</a:t>
            </a:r>
            <a:endParaRPr sz="2600"/>
          </a:p>
          <a:p>
            <a:r>
              <a:rPr sz="2600"/>
              <a:t>（2）</a:t>
            </a:r>
            <a:r>
              <a:rPr lang="zh-CN" sz="2600"/>
              <a:t>不局限于运来</a:t>
            </a:r>
            <a:r>
              <a:rPr lang="en-US" altLang="zh-CN" sz="2600"/>
              <a:t>main</a:t>
            </a:r>
            <a:r>
              <a:rPr lang="zh-CN" altLang="en-US" sz="2600"/>
              <a:t>函数</a:t>
            </a:r>
            <a:endParaRPr sz="2600"/>
          </a:p>
          <a:p>
            <a:endParaRPr sz="2600"/>
          </a:p>
          <a:p>
            <a:r>
              <a:rPr sz="2600"/>
              <a:t>报告格式：</a:t>
            </a:r>
            <a:endParaRPr sz="2600"/>
          </a:p>
          <a:p>
            <a:r>
              <a:rPr sz="2600"/>
              <a:t>（1）详细分类描述题目要求；</a:t>
            </a:r>
            <a:endParaRPr sz="2600"/>
          </a:p>
          <a:p>
            <a:r>
              <a:rPr sz="2600"/>
              <a:t>（2）画出通信、并发工作主要流程图，并给出必要的文字说明；</a:t>
            </a:r>
            <a:endParaRPr sz="2600"/>
          </a:p>
          <a:p>
            <a:r>
              <a:rPr sz="2600"/>
              <a:t>（3）分析程序难点，并讨论解决问题思路。</a:t>
            </a:r>
            <a:endParaRPr sz="2600"/>
          </a:p>
          <a:p>
            <a:r>
              <a:rPr sz="2600"/>
              <a:t>（4）思考如何实现多人聊天？</a:t>
            </a:r>
            <a:endParaRPr sz="2600"/>
          </a:p>
          <a:p>
            <a:r>
              <a:rPr sz="2600"/>
              <a:t>（5）TCP和UDP是什么关系？UDP可以用到微信中吗？</a:t>
            </a:r>
            <a:endParaRPr sz="2600"/>
          </a:p>
          <a:p>
            <a:r>
              <a:rPr sz="2600"/>
              <a:t>（6）如果你接替项目主管张小龙，你还有那些工作需要完成。</a:t>
            </a:r>
            <a:endParaRPr sz="2600"/>
          </a:p>
        </p:txBody>
      </p:sp>
    </p:spTree>
  </p:cSld>
  <p:clrMapOvr>
    <a:masterClrMapping/>
  </p:clrMapOvr>
</p:sld>
</file>

<file path=ppt/tags/tag1.xml><?xml version="1.0" encoding="utf-8"?>
<p:tagLst xmlns:p="http://schemas.openxmlformats.org/presentationml/2006/main">
  <p:tag name="TIMING" val="|487.0|29.6|102.3"/>
</p:tagLst>
</file>

<file path=ppt/tags/tag2.xml><?xml version="1.0" encoding="utf-8"?>
<p:tagLst xmlns:p="http://schemas.openxmlformats.org/presentationml/2006/main">
  <p:tag name="TIMING" val="|0.0|8.0|3.1|14.4|13.1|4.0|8.5"/>
</p:tagLst>
</file>

<file path=ppt/tags/tag3.xml><?xml version="1.0" encoding="utf-8"?>
<p:tagLst xmlns:p="http://schemas.openxmlformats.org/presentationml/2006/main">
  <p:tag name="TIMING" val="|0.0|8.0|3.1|14.4|13.1|4.0|8.5"/>
</p:tagLst>
</file>

<file path=ppt/tags/tag4.xml><?xml version="1.0" encoding="utf-8"?>
<p:tagLst xmlns:p="http://schemas.openxmlformats.org/presentationml/2006/main">
  <p:tag name="TIMING" val="|0.0|8.0|3.1|14.4|13.1|4.0|8.5"/>
</p:tagLst>
</file>

<file path=ppt/tags/tag5.xml><?xml version="1.0" encoding="utf-8"?>
<p:tagLst xmlns:p="http://schemas.openxmlformats.org/presentationml/2006/main">
  <p:tag name="TIMING" val="|0.0|8.0|3.1|14.4|13.1|4.0|8.5"/>
</p:tagLst>
</file>

<file path=ppt/tags/tag6.xml><?xml version="1.0" encoding="utf-8"?>
<p:tagLst xmlns:p="http://schemas.openxmlformats.org/presentationml/2006/main">
  <p:tag name="TIMING" val="|128.4|39.0"/>
</p:tagLst>
</file>

<file path=ppt/tags/tag7.xml><?xml version="1.0" encoding="utf-8"?>
<p:tagLst xmlns:p="http://schemas.openxmlformats.org/presentationml/2006/main">
  <p:tag name="COMMONDATA" val="eyJoZGlkIjoiNGQzOGM3Yzg3MWZmYWQ5YTNiMWJmMzJjNjE4OGI0ODA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通用信息">
  <a:themeElements>
    <a:clrScheme name="通用信息 1">
      <a:dk1>
        <a:srgbClr val="800000"/>
      </a:dk1>
      <a:lt1>
        <a:srgbClr val="FFFFFF"/>
      </a:lt1>
      <a:dk2>
        <a:srgbClr val="000000"/>
      </a:dk2>
      <a:lt2>
        <a:srgbClr val="FFFFCC"/>
      </a:lt2>
      <a:accent1>
        <a:srgbClr val="777777"/>
      </a:accent1>
      <a:accent2>
        <a:srgbClr val="0033CC"/>
      </a:accent2>
      <a:accent3>
        <a:srgbClr val="AAAAAA"/>
      </a:accent3>
      <a:accent4>
        <a:srgbClr val="DADADA"/>
      </a:accent4>
      <a:accent5>
        <a:srgbClr val="BDBDBD"/>
      </a:accent5>
      <a:accent6>
        <a:srgbClr val="002DB9"/>
      </a:accent6>
      <a:hlink>
        <a:srgbClr val="800000"/>
      </a:hlink>
      <a:folHlink>
        <a:srgbClr val="660066"/>
      </a:folHlink>
    </a:clrScheme>
    <a:fontScheme name="通用信息">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通用信息 1">
        <a:dk1>
          <a:srgbClr val="800000"/>
        </a:dk1>
        <a:lt1>
          <a:srgbClr val="FFFFFF"/>
        </a:lt1>
        <a:dk2>
          <a:srgbClr val="000000"/>
        </a:dk2>
        <a:lt2>
          <a:srgbClr val="FFFFCC"/>
        </a:lt2>
        <a:accent1>
          <a:srgbClr val="777777"/>
        </a:accent1>
        <a:accent2>
          <a:srgbClr val="0033CC"/>
        </a:accent2>
        <a:accent3>
          <a:srgbClr val="AAAAAA"/>
        </a:accent3>
        <a:accent4>
          <a:srgbClr val="DADADA"/>
        </a:accent4>
        <a:accent5>
          <a:srgbClr val="BDBDBD"/>
        </a:accent5>
        <a:accent6>
          <a:srgbClr val="002DB9"/>
        </a:accent6>
        <a:hlink>
          <a:srgbClr val="800000"/>
        </a:hlink>
        <a:folHlink>
          <a:srgbClr val="660066"/>
        </a:folHlink>
      </a:clrScheme>
      <a:clrMap bg1="dk2" tx1="lt1" bg2="dk1" tx2="lt2" accent1="accent1" accent2="accent2" accent3="accent3" accent4="accent4" accent5="accent5" accent6="accent6" hlink="hlink" folHlink="folHlink"/>
    </a:extraClrScheme>
    <a:extraClrScheme>
      <a:clrScheme name="通用信息 2">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clrMap bg1="lt1" tx1="dk1" bg2="lt2" tx2="dk2" accent1="accent1" accent2="accent2" accent3="accent3" accent4="accent4" accent5="accent5" accent6="accent6" hlink="hlink" folHlink="folHlink"/>
    </a:extraClrScheme>
    <a:extraClrScheme>
      <a:clrScheme name="通用信息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spPr>
      <a:bodyPr vert="horz" wrap="square" lIns="91440" tIns="45720" rIns="91440" bIns="45720" numCol="1" anchor="t"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1" lang="zh-CN" altLang="en-US" sz="16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85795</Words>
  <Application>WPS 演示</Application>
  <PresentationFormat>全屏显示(4:3)</PresentationFormat>
  <Paragraphs>7516</Paragraphs>
  <Slides>350</Slides>
  <Notes>2</Notes>
  <HiddenSlides>0</HiddenSlides>
  <MMClips>0</MMClips>
  <ScaleCrop>false</ScaleCrop>
  <HeadingPairs>
    <vt:vector size="8" baseType="variant">
      <vt:variant>
        <vt:lpstr>已用的字体</vt:lpstr>
      </vt:variant>
      <vt:variant>
        <vt:i4>17</vt:i4>
      </vt:variant>
      <vt:variant>
        <vt:lpstr>主题</vt:lpstr>
      </vt:variant>
      <vt:variant>
        <vt:i4>6</vt:i4>
      </vt:variant>
      <vt:variant>
        <vt:lpstr>嵌入 OLE 服务器</vt:lpstr>
      </vt:variant>
      <vt:variant>
        <vt:i4>5</vt:i4>
      </vt:variant>
      <vt:variant>
        <vt:lpstr>幻灯片标题</vt:lpstr>
      </vt:variant>
      <vt:variant>
        <vt:i4>350</vt:i4>
      </vt:variant>
    </vt:vector>
  </HeadingPairs>
  <TitlesOfParts>
    <vt:vector size="378" baseType="lpstr">
      <vt:lpstr>Arial</vt:lpstr>
      <vt:lpstr>宋体</vt:lpstr>
      <vt:lpstr>Wingdings</vt:lpstr>
      <vt:lpstr>Times New Roman</vt:lpstr>
      <vt:lpstr>Arial Narrow</vt:lpstr>
      <vt:lpstr>华文行楷</vt:lpstr>
      <vt:lpstr>黑体</vt:lpstr>
      <vt:lpstr>Arial</vt:lpstr>
      <vt:lpstr>微软雅黑</vt:lpstr>
      <vt:lpstr>Arial Unicode MS</vt:lpstr>
      <vt:lpstr>Calibri</vt:lpstr>
      <vt:lpstr>隶书</vt:lpstr>
      <vt:lpstr>Courier New</vt:lpstr>
      <vt:lpstr>华文仿宋</vt:lpstr>
      <vt:lpstr>Symbol</vt:lpstr>
      <vt:lpstr>Lucida Console</vt:lpstr>
      <vt:lpstr>幼圆</vt:lpstr>
      <vt:lpstr>默认设计模板</vt:lpstr>
      <vt:lpstr>1_通用信息</vt:lpstr>
      <vt:lpstr>1_默认设计模板</vt:lpstr>
      <vt:lpstr>2_默认设计模板</vt:lpstr>
      <vt:lpstr>3_默认设计模板</vt:lpstr>
      <vt:lpstr>4_默认设计模板</vt:lpstr>
      <vt:lpstr>Paint.Picture</vt:lpstr>
      <vt:lpstr>Excel.Chart.8</vt:lpstr>
      <vt:lpstr>Excel.Chart.8</vt:lpstr>
      <vt:lpstr>Excel.Chart.8</vt:lpstr>
      <vt:lpstr>Paint.Picture</vt:lpstr>
      <vt:lpstr>面向对象程序设计</vt:lpstr>
      <vt:lpstr>课程的一些情况</vt:lpstr>
      <vt:lpstr> 几个问题</vt:lpstr>
      <vt:lpstr>课程的地位</vt:lpstr>
      <vt:lpstr> C的特点</vt:lpstr>
      <vt:lpstr> C++的特点</vt:lpstr>
      <vt:lpstr>课程的内容</vt:lpstr>
      <vt:lpstr>课程的学习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从结构到类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类树对象的管理者</vt:lpstr>
      <vt:lpstr>3.  类树对象的通用管理者（1）</vt:lpstr>
      <vt:lpstr>3.  类树对象的通用管理者（2）</vt:lpstr>
      <vt:lpstr>4.  继承与指针（1）</vt:lpstr>
      <vt:lpstr>PowerPoint 演示文稿</vt:lpstr>
      <vt:lpstr>4.  继承与指针（2）</vt:lpstr>
      <vt:lpstr>4.  继承与指针（3）</vt:lpstr>
      <vt:lpstr>4.  继承与指针（4）</vt:lpstr>
      <vt:lpstr>PowerPoint 演示文稿</vt:lpstr>
      <vt:lpstr>5.  覆盖（1）</vt:lpstr>
      <vt:lpstr>5.  覆盖（2）</vt:lpstr>
      <vt:lpstr>6.  同化效应</vt:lpstr>
      <vt:lpstr>7.  多态（期望…）</vt:lpstr>
      <vt:lpstr>PowerPoint 演示文稿</vt:lpstr>
      <vt:lpstr>8.  困惑的解决方案</vt:lpstr>
      <vt:lpstr>9.  引入虚函数支持多态</vt:lpstr>
      <vt:lpstr>10.  多态编程体验</vt:lpstr>
      <vt:lpstr>PowerPoint 演示文稿</vt:lpstr>
      <vt:lpstr>   （1）是追求用指针管理继承体系对象的结果。     （2）多态性使得应用程序使用类体系中的不同层次对象共存的复杂局面达到了一种可管理的境界；         程序员从使用孤立的类，到使用分层的类，让各种对象“同场竞技”,并且能充分展现其个性。      （3）不支持多态的语言不能称为面向对象的语言。</vt:lpstr>
      <vt:lpstr>烟花的例子</vt:lpstr>
      <vt:lpstr>13. 虚函数的工作机理（1） </vt:lpstr>
      <vt:lpstr>13. 虚函数的工作机理（2） </vt:lpstr>
      <vt:lpstr>13. 虚函数的工作机理（3） </vt:lpstr>
      <vt:lpstr>13. 虚函数的工作机理（4） </vt:lpstr>
      <vt:lpstr>13. 虚函数的工作机理（5） </vt:lpstr>
      <vt:lpstr>13. 虚函数的工作机理（6） </vt:lpstr>
      <vt:lpstr>15.  一个拷贝的例子</vt:lpstr>
      <vt:lpstr>PowerPoint 演示文稿</vt:lpstr>
      <vt:lpstr>16.关于析构函数</vt:lpstr>
      <vt:lpstr>17. 多态应用的三种场景</vt:lpstr>
      <vt:lpstr>18. 构造函数、析构函数调用虚函数不支持多态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jut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并行协同设计系统</dc:title>
  <dc:creator>server</dc:creator>
  <cp:lastModifiedBy>旺财</cp:lastModifiedBy>
  <cp:revision>3729</cp:revision>
  <dcterms:created xsi:type="dcterms:W3CDTF">2001-09-13T01:59:00Z</dcterms:created>
  <dcterms:modified xsi:type="dcterms:W3CDTF">2022-05-15T14:41:07Z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commondata">
    <vt:lpwstr>eyJoZGlkIjoiNGQzOGM3Yzg3MWZmYWQ5YTNiMWJmMzJjNjE4OGI0ODAifQ==</vt:lpwstr>
  </property>
  <property fmtid="{D5CDD505-2E9C-101B-9397-08002B2CF9AE}" pid="4" name="ICV">
    <vt:lpwstr>7F57C72EB6C444C6B6552B8DEB1179F5</vt:lpwstr>
  </property>
</Properties>
</file>